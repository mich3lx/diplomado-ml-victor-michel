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1" r:id="rId2"/>
    <p:sldId id="282" r:id="rId3"/>
    <p:sldId id="256" r:id="rId4"/>
    <p:sldId id="257" r:id="rId5"/>
    <p:sldId id="258" r:id="rId6"/>
    <p:sldId id="269" r:id="rId7"/>
    <p:sldId id="270" r:id="rId8"/>
    <p:sldId id="284" r:id="rId9"/>
    <p:sldId id="271" r:id="rId10"/>
    <p:sldId id="285" r:id="rId11"/>
    <p:sldId id="286" r:id="rId12"/>
    <p:sldId id="289" r:id="rId13"/>
    <p:sldId id="290" r:id="rId14"/>
    <p:sldId id="291" r:id="rId15"/>
    <p:sldId id="292" r:id="rId16"/>
    <p:sldId id="28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Eugenia Medina Diaz" userId="31c1db5119534f48" providerId="LiveId" clId="{5C899618-0CE1-4E3A-ADD1-06091A6D8A5C}"/>
    <pc:docChg chg="custSel delSld modSld">
      <pc:chgData name="Karla Eugenia Medina Diaz" userId="31c1db5119534f48" providerId="LiveId" clId="{5C899618-0CE1-4E3A-ADD1-06091A6D8A5C}" dt="2026-05-16T13:03:52.157" v="2" actId="478"/>
      <pc:docMkLst>
        <pc:docMk/>
      </pc:docMkLst>
      <pc:sldChg chg="delSp mod">
        <pc:chgData name="Karla Eugenia Medina Diaz" userId="31c1db5119534f48" providerId="LiveId" clId="{5C899618-0CE1-4E3A-ADD1-06091A6D8A5C}" dt="2026-05-16T13:03:52.157" v="2" actId="478"/>
        <pc:sldMkLst>
          <pc:docMk/>
          <pc:sldMk cId="0" sldId="269"/>
        </pc:sldMkLst>
        <pc:spChg chg="del">
          <ac:chgData name="Karla Eugenia Medina Diaz" userId="31c1db5119534f48" providerId="LiveId" clId="{5C899618-0CE1-4E3A-ADD1-06091A6D8A5C}" dt="2026-05-16T13:03:52.157" v="2" actId="478"/>
          <ac:spMkLst>
            <pc:docMk/>
            <pc:sldMk cId="0" sldId="269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70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3420-6E75-A375-DECE-62816D89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3E02C-A56C-7A9B-E4BC-73E0AB8AB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4D9E9-D253-765E-3DF6-2F9F8E43F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2B80C-95B8-7FD5-FD9D-02DAC2B7B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5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EA9E-B575-FBF9-5FBD-1564F560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1F25D-0364-A381-2575-BC518828C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790D-B88E-527B-205F-44122146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25B8-146E-4095-873F-BF4BC532E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5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FCB2-9C8A-E7E1-1C6D-739150164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FEFD1-4266-8B2F-E5D1-2BC5D7FB5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F1326-5878-CAE5-526E-B9094AAF5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87D5D-BA7D-A08B-112B-C661E0F91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74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9BBE-AD28-8856-EF17-504F616C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E3869-8285-183B-4A26-FD63DBA93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21E94-B774-CEB8-CE85-29335601E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7EAC0-666F-1FEB-7CDD-7A2C6CB93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76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C105-6D5A-1267-83EA-D2C51238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2EF5F-2BA0-A788-A0A0-10626A6AC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F4405-E2A7-5760-E44C-BDB55B9EB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D5126-59AF-17E1-C0D8-D7FE5574A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56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37B6-96FA-9E44-599E-1A1B6C54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3F0D7-667D-1C85-1DD3-D3220A699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CC9D5-65A1-4B58-8C26-D96AB3AAE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D7C9C-3B5F-9354-F091-689F94213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01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60CB5-897F-900C-D547-EE4609E4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9938D-71D9-F759-3224-17B3FE001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4AB61-ACCF-7163-5BA1-01B2383FD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C415D-84E3-678E-2B53-E5328D6AE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6A893-214A-959A-F78C-E5B7F929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76602-F5AE-EEAA-4F77-3BD86E1A9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DDC17-3E9F-338B-D6DF-4E119FBB7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7311A-C5DD-86AF-CA23-13673C0874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69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AC1C-26B1-15D3-4EA0-0B7D6E5D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6AD23A-A01B-BD84-43C9-90AAACABECC1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76FC3F-E642-2178-4C89-6939E1E19E55}"/>
              </a:ext>
            </a:extLst>
          </p:cNvPr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8250AE-C86B-F63A-02B4-570C4201354B}"/>
              </a:ext>
            </a:extLst>
          </p:cNvPr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</a:p>
          <a:p>
            <a:pPr marL="0" indent="0">
              <a:buNone/>
            </a:pPr>
            <a:r>
              <a:rPr lang="en-US" sz="4200" b="1" kern="0" spc="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4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84431E-C184-5794-F14D-6CA3E23E80E2}"/>
              </a:ext>
            </a:extLst>
          </p:cNvPr>
          <p:cNvSpPr/>
          <p:nvPr/>
        </p:nvSpPr>
        <p:spPr>
          <a:xfrm>
            <a:off x="91440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9CD7F3-EC1A-F52F-D1B6-C7BE43A3E0EB}"/>
              </a:ext>
            </a:extLst>
          </p:cNvPr>
          <p:cNvSpPr/>
          <p:nvPr/>
        </p:nvSpPr>
        <p:spPr>
          <a:xfrm>
            <a:off x="914400" y="301752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B7780F3-9D6D-90AE-9332-79C67C9C5E3D}"/>
              </a:ext>
            </a:extLst>
          </p:cNvPr>
          <p:cNvSpPr/>
          <p:nvPr/>
        </p:nvSpPr>
        <p:spPr>
          <a:xfrm>
            <a:off x="914400" y="3218687"/>
            <a:ext cx="7772400" cy="924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 may - 20 may)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 may – 27 may)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(29 may – 03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(05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10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estadísticasTemario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17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01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68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0116D-A5FA-5FA5-712A-70D256B2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5A4A77-89C9-1574-C8B5-0BC036760AF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A98277-C3AE-4768-92D7-536B438BCA0F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E5269D-4A20-BF7A-F161-0960346BDEE2}"/>
              </a:ext>
            </a:extLst>
          </p:cNvPr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9CB7DD-2FB6-35C6-8825-9F8EC1550E6F}"/>
              </a:ext>
            </a:extLst>
          </p:cNvPr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  <a:endParaRPr lang="en-US" sz="4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0DC2BC-E8F2-5562-2D8E-D7FD3622E629}"/>
              </a:ext>
            </a:extLst>
          </p:cNvPr>
          <p:cNvSpPr/>
          <p:nvPr/>
        </p:nvSpPr>
        <p:spPr>
          <a:xfrm>
            <a:off x="457200" y="2424215"/>
            <a:ext cx="8229600" cy="1987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</a:t>
            </a:r>
            <a:endParaRPr lang="en-US" sz="2600" dirty="0">
              <a:solidFill>
                <a:srgbClr val="A8D8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Medina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Hernández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 Zamora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Bello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DA70E3-FF0B-D937-7FDC-304443351C6E}"/>
              </a:ext>
            </a:extLst>
          </p:cNvPr>
          <p:cNvSpPr txBox="1"/>
          <p:nvPr/>
        </p:nvSpPr>
        <p:spPr>
          <a:xfrm>
            <a:off x="4452426" y="2424215"/>
            <a:ext cx="4382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Actuaría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Finanzas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Ciencias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Doctora en Economía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Turismo Sostenible</a:t>
            </a:r>
          </a:p>
        </p:txBody>
      </p:sp>
    </p:spTree>
    <p:extLst>
      <p:ext uri="{BB962C8B-B14F-4D97-AF65-F5344CB8AC3E}">
        <p14:creationId xmlns:p14="http://schemas.microsoft.com/office/powerpoint/2010/main" val="391260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Datos Aseguradores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· Visualización · Estrategias de Manejo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10 horas  |  Nivel Actuarial y Seguros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Temas: Métodos Estadísticos · Visualización · Manejo · Aplicaciones en Seguros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Curso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outlier? Importancia en seguros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Estadísticos: Z-Score, MAD, IQR, Percentiles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67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Boxplots, Scatterplots, Q-Q, Densidad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709160" y="118872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70916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Manejo: Eliminación, Winsorización, Transformaciones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709160" y="228600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70916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Seguros: Frecuencia/Severidad, Pareto, Por línea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709160" y="3383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767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prácticos con Python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Valor Atípico (Outlier)?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observación que se desvía significativamente del resto del conjunto de datos.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96596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incorrecta, error de digitación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9659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51460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Reclamaciones falsas o infladas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600200"/>
            <a:ext cx="1965960" cy="54864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Extremo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Catástrofes naturales, mega-siniestros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812280" y="1600200"/>
            <a:ext cx="19659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81228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Tendencia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tendencias o mercados emergentes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seguros, no todos los outliers son errores. Algunos representan riesgos catastróficos reales que deben modelarse con cuidado.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68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Manejo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Outliers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Eliminación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Winsorización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Transformaciones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ESTRATEGIAS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Eliminación (Remoción Completa)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0FFF4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Cuándo ES apropiado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Error de ingreso de datos comprobado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671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Datos de fuente desacreditada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2549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Número de póliza inexistente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838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Información claramente fraudulenta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56616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8006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Cuándo NO es apropiado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Evento catastrófico legítimo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1671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Siniestro histórico extremo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82549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Riesgo comercial genuino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48386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Datos regulados o auditados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En seguros: eliminar un siniestro catastrófico legítimo puede generar reservas insuficientes.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13B1-2900-2910-9F90-A078C8F5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3455CC-CDC5-959C-BE77-308A66E86AA6}"/>
              </a:ext>
            </a:extLst>
          </p:cNvPr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C9DC54-EF86-6550-DC33-5EE138BE5B8A}"/>
              </a:ext>
            </a:extLst>
          </p:cNvPr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ESTRATEGIAS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3438C2-3A60-7B19-16BC-DAB250954959}"/>
              </a:ext>
            </a:extLst>
          </p:cNvPr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Eliminación (Remoción Completa)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FBA850-5F45-4BF0-0351-B19973B1A02A}"/>
              </a:ext>
            </a:extLst>
          </p:cNvPr>
          <p:cNvSpPr/>
          <p:nvPr/>
        </p:nvSpPr>
        <p:spPr>
          <a:xfrm>
            <a:off x="365760" y="1005840"/>
            <a:ext cx="4023360" cy="1709928"/>
          </a:xfrm>
          <a:prstGeom prst="rect">
            <a:avLst/>
          </a:prstGeom>
          <a:solidFill>
            <a:srgbClr val="F0FFF4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896F11-2E7D-917E-61EF-A8CD3BCE0F54}"/>
              </a:ext>
            </a:extLst>
          </p:cNvPr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3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</a:t>
            </a: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$4’200,000 de </a:t>
            </a:r>
            <a:r>
              <a:rPr lang="en-US" sz="13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</a:t>
            </a: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autos con </a:t>
            </a:r>
            <a:r>
              <a:rPr lang="en-US" sz="13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$500,000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8556E9-DF21-923E-EDFF-77696DA9ED58}"/>
              </a:ext>
            </a:extLst>
          </p:cNvPr>
          <p:cNvSpPr/>
          <p:nvPr/>
        </p:nvSpPr>
        <p:spPr>
          <a:xfrm>
            <a:off x="50292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200" dirty="0" err="1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un error?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CBE8DC-FB39-EE6B-BFAA-682ACADAE60F}"/>
              </a:ext>
            </a:extLst>
          </p:cNvPr>
          <p:cNvSpPr/>
          <p:nvPr/>
        </p:nvSpPr>
        <p:spPr>
          <a:xfrm>
            <a:off x="502920" y="21671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66C46B2-1181-B662-CFC4-BF89FAB18FA0}"/>
              </a:ext>
            </a:extLst>
          </p:cNvPr>
          <p:cNvSpPr/>
          <p:nvPr/>
        </p:nvSpPr>
        <p:spPr>
          <a:xfrm>
            <a:off x="4663440" y="1005840"/>
            <a:ext cx="4114800" cy="1709928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3AC169-F9A1-5644-E963-068308BFBB54}"/>
              </a:ext>
            </a:extLst>
          </p:cNvPr>
          <p:cNvSpPr/>
          <p:nvPr/>
        </p:nvSpPr>
        <p:spPr>
          <a:xfrm>
            <a:off x="48006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sz="13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$3’800,000 </a:t>
            </a:r>
            <a:r>
              <a:rPr lang="en-US" sz="13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RC Empresarial con </a:t>
            </a:r>
            <a:r>
              <a:rPr lang="en-US" sz="13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$5M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6A3C04-30FB-E4EC-130E-8F63216B89FD}"/>
              </a:ext>
            </a:extLst>
          </p:cNvPr>
          <p:cNvSpPr/>
          <p:nvPr/>
        </p:nvSpPr>
        <p:spPr>
          <a:xfrm>
            <a:off x="48006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200" dirty="0" err="1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real?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E57F223-0287-40A5-99DB-3919FA42E218}"/>
              </a:ext>
            </a:extLst>
          </p:cNvPr>
          <p:cNvSpPr/>
          <p:nvPr/>
        </p:nvSpPr>
        <p:spPr>
          <a:xfrm>
            <a:off x="4800600" y="21671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51950CD-501E-E4D0-9C26-B1A935E2D360}"/>
              </a:ext>
            </a:extLst>
          </p:cNvPr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D73AB71-0DD1-8830-758A-136ABD0E46F6}"/>
              </a:ext>
            </a:extLst>
          </p:cNvPr>
          <p:cNvSpPr/>
          <p:nvPr/>
        </p:nvSpPr>
        <p:spPr>
          <a:xfrm>
            <a:off x="228600" y="281353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i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Reservas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38096C8-A8E3-6CF5-CB23-D3341DBF48DF}"/>
                  </a:ext>
                </a:extLst>
              </p:cNvPr>
              <p:cNvSpPr txBox="1"/>
              <p:nvPr/>
            </p:nvSpPr>
            <p:spPr>
              <a:xfrm>
                <a:off x="1425167" y="3327969"/>
                <a:ext cx="5974263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𝐼𝑚𝑝𝑎𝑐𝑡𝑜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%=</m:t>
                      </m:r>
                      <m:d>
                        <m:dPr>
                          <m:begChr m:val="|"/>
                          <m:endChr m:val="|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𝑅𝑒𝑠𝑒𝑟𝑣𝑎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𝑂𝑟𝑖𝑔𝑖𝑛𝑎𝑙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𝑅𝑒𝑠𝑒𝑟𝑣𝑎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𝐿𝑖𝑚𝑝𝑖𝑎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𝑅𝑒𝑠𝑒𝑟𝑣𝑎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𝑂𝑟𝑖𝑔𝑖𝑛𝑎𝑙</m:t>
                              </m:r>
                            </m:den>
                          </m:f>
                        </m:e>
                      </m:d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38096C8-A8E3-6CF5-CB23-D3341DBF4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167" y="3327969"/>
                <a:ext cx="5974263" cy="616259"/>
              </a:xfrm>
              <a:prstGeom prst="rect">
                <a:avLst/>
              </a:prstGeom>
              <a:blipFill>
                <a:blip r:embed="rId3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38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ESTRATEGIAS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Winsorización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valores extremos con un percentil determinado (generalmente P95 o P99)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550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00" i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proviene del estadístico Charles P. Winsor (1895-1951)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DF06D5C-4877-1A95-56EB-07D1B2941711}"/>
                  </a:ext>
                </a:extLst>
              </p:cNvPr>
              <p:cNvSpPr txBox="1"/>
              <p:nvPr/>
            </p:nvSpPr>
            <p:spPr>
              <a:xfrm>
                <a:off x="3010486" y="2628749"/>
                <a:ext cx="2825965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DF06D5C-4877-1A95-56EB-07D1B2941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486" y="2628749"/>
                <a:ext cx="2825965" cy="884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5CE9AD8F-803B-E0AA-CFD8-8F134A07FE70}"/>
              </a:ext>
            </a:extLst>
          </p:cNvPr>
          <p:cNvSpPr txBox="1"/>
          <p:nvPr/>
        </p:nvSpPr>
        <p:spPr>
          <a:xfrm>
            <a:off x="738554" y="3717250"/>
            <a:ext cx="5394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Donde</a:t>
            </a:r>
          </a:p>
          <a:p>
            <a:r>
              <a:rPr lang="es-MX" sz="1200" dirty="0"/>
              <a:t>L=Percentil inferior (P5)</a:t>
            </a:r>
          </a:p>
          <a:p>
            <a:r>
              <a:rPr lang="es-MX" sz="1200" dirty="0"/>
              <a:t>U=Percentil Superior (P95)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D747-53A0-8A92-9212-320CE068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D89BC8-D325-1B14-99BA-0770CF187D4A}"/>
              </a:ext>
            </a:extLst>
          </p:cNvPr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A1AE9A-B53E-A6CF-1479-255067351DFE}"/>
              </a:ext>
            </a:extLst>
          </p:cNvPr>
          <p:cNvSpPr/>
          <p:nvPr/>
        </p:nvSpPr>
        <p:spPr>
          <a:xfrm>
            <a:off x="513471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ESTRATEGIAS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932C09-0D20-65FC-C061-E43965DF7CB6}"/>
              </a:ext>
            </a:extLst>
          </p:cNvPr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Winsorización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8986C0-0165-0E43-27B4-F8E6F579432A}"/>
              </a:ext>
            </a:extLst>
          </p:cNvPr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0820C0-5427-95D5-8CEE-3BEEE2C4E3B6}"/>
              </a:ext>
            </a:extLst>
          </p:cNvPr>
          <p:cNvSpPr/>
          <p:nvPr/>
        </p:nvSpPr>
        <p:spPr>
          <a:xfrm>
            <a:off x="502920" y="10515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valores extremos con un percentil determinado (generalmente P95 o P99)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AED6B92-4868-4B8D-0AA5-49D7AED4D782}"/>
              </a:ext>
            </a:extLst>
          </p:cNvPr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X &lt; Límite Inferior  →  usar L      |      Si L ≤ X ≤ U  →  mantener X      |      Si X &gt; U  →  usar U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31D442-A0A7-02F8-B7AE-B68ED3D0710F}"/>
              </a:ext>
            </a:extLst>
          </p:cNvPr>
          <p:cNvSpPr/>
          <p:nvPr/>
        </p:nvSpPr>
        <p:spPr>
          <a:xfrm>
            <a:off x="365760" y="228600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D584A93-5B23-DAF2-09FB-0B62A6E16758}"/>
              </a:ext>
            </a:extLst>
          </p:cNvPr>
          <p:cNvSpPr/>
          <p:nvPr/>
        </p:nvSpPr>
        <p:spPr>
          <a:xfrm>
            <a:off x="365760" y="2286000"/>
            <a:ext cx="411480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6A795B8-CBCA-ADD5-C845-60CB3170CE10}"/>
              </a:ext>
            </a:extLst>
          </p:cNvPr>
          <p:cNvSpPr/>
          <p:nvPr/>
        </p:nvSpPr>
        <p:spPr>
          <a:xfrm>
            <a:off x="45720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Ventajas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621B39-6564-A7D3-461D-C247DF8DB3A2}"/>
              </a:ext>
            </a:extLst>
          </p:cNvPr>
          <p:cNvSpPr/>
          <p:nvPr/>
        </p:nvSpPr>
        <p:spPr>
          <a:xfrm>
            <a:off x="502920" y="2743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Preserva tamaño de muestra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25A7DE-0B8F-59C2-865D-51012A2F6255}"/>
              </a:ext>
            </a:extLst>
          </p:cNvPr>
          <p:cNvSpPr/>
          <p:nvPr/>
        </p:nvSpPr>
        <p:spPr>
          <a:xfrm>
            <a:off x="502920" y="32186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Mantiene correlaciones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1DA3139-DA8F-300D-0377-3F9E7AC4ECCD}"/>
              </a:ext>
            </a:extLst>
          </p:cNvPr>
          <p:cNvSpPr/>
          <p:nvPr/>
        </p:nvSpPr>
        <p:spPr>
          <a:xfrm>
            <a:off x="502920" y="36941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Menos volátil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986DB35-F199-4D8C-6A7E-E97741665E5A}"/>
              </a:ext>
            </a:extLst>
          </p:cNvPr>
          <p:cNvSpPr/>
          <p:nvPr/>
        </p:nvSpPr>
        <p:spPr>
          <a:xfrm>
            <a:off x="502920" y="41696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Simple de aplicar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ED1F99-9782-C2AF-793A-5642D20939F1}"/>
              </a:ext>
            </a:extLst>
          </p:cNvPr>
          <p:cNvSpPr/>
          <p:nvPr/>
        </p:nvSpPr>
        <p:spPr>
          <a:xfrm>
            <a:off x="4709160" y="228600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A8E326D-16D5-680A-F070-F96F31ECAAAB}"/>
              </a:ext>
            </a:extLst>
          </p:cNvPr>
          <p:cNvSpPr/>
          <p:nvPr/>
        </p:nvSpPr>
        <p:spPr>
          <a:xfrm>
            <a:off x="4709160" y="2286000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4CE2E7-147C-D583-997F-93CFDAC551C3}"/>
              </a:ext>
            </a:extLst>
          </p:cNvPr>
          <p:cNvSpPr/>
          <p:nvPr/>
        </p:nvSpPr>
        <p:spPr>
          <a:xfrm>
            <a:off x="480060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Desventajas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871349F-74F5-58DF-2367-0C2819B63DEE}"/>
              </a:ext>
            </a:extLst>
          </p:cNvPr>
          <p:cNvSpPr/>
          <p:nvPr/>
        </p:nvSpPr>
        <p:spPr>
          <a:xfrm>
            <a:off x="4846320" y="2743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Crea datos artificiales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7BB65A2-234D-E74B-196F-A86E6CDF1AE4}"/>
              </a:ext>
            </a:extLst>
          </p:cNvPr>
          <p:cNvSpPr/>
          <p:nvPr/>
        </p:nvSpPr>
        <p:spPr>
          <a:xfrm>
            <a:off x="4846320" y="32186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Subestima riesgo de cola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AB264D6-BB40-41E3-6BD3-D250BF8EE2E2}"/>
              </a:ext>
            </a:extLst>
          </p:cNvPr>
          <p:cNvSpPr/>
          <p:nvPr/>
        </p:nvSpPr>
        <p:spPr>
          <a:xfrm>
            <a:off x="4846320" y="36941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Posible problema regulatorio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C76A3F3-DB3E-E703-A1F4-BFD4F22358C9}"/>
              </a:ext>
            </a:extLst>
          </p:cNvPr>
          <p:cNvSpPr/>
          <p:nvPr/>
        </p:nvSpPr>
        <p:spPr>
          <a:xfrm>
            <a:off x="4846320" y="41696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Pierde información extrema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584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6F416-CDFC-D3F0-35CB-6BEC07D1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07F61E-7858-4A01-D013-4557DD45EFF2}"/>
              </a:ext>
            </a:extLst>
          </p:cNvPr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F1B25B-B00A-2FC2-E5BF-7C470A307FF2}"/>
              </a:ext>
            </a:extLst>
          </p:cNvPr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ESTRATEGIAS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859DF0-A4D2-682B-F383-33A859BD6D9B}"/>
              </a:ext>
            </a:extLst>
          </p:cNvPr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Winsorización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74B103-676D-4E7F-F020-A016E0888413}"/>
              </a:ext>
            </a:extLst>
          </p:cNvPr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01A4AE-2527-C338-3CC0-C148229423B6}"/>
              </a:ext>
            </a:extLst>
          </p:cNvPr>
          <p:cNvSpPr/>
          <p:nvPr/>
        </p:nvSpPr>
        <p:spPr>
          <a:xfrm>
            <a:off x="502920" y="10515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usar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9F2605D-5B6A-F586-48F1-F8FEF0042393}"/>
              </a:ext>
            </a:extLst>
          </p:cNvPr>
          <p:cNvSpPr/>
          <p:nvPr/>
        </p:nvSpPr>
        <p:spPr>
          <a:xfrm>
            <a:off x="365760" y="228600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0031F1-B58C-AE0C-F464-85E3D6481C51}"/>
              </a:ext>
            </a:extLst>
          </p:cNvPr>
          <p:cNvSpPr/>
          <p:nvPr/>
        </p:nvSpPr>
        <p:spPr>
          <a:xfrm>
            <a:off x="45720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pricing (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prima pura)</a:t>
            </a:r>
            <a:endParaRPr lang="en-US" sz="13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C99B62C-1E36-C5F3-2140-2C2C91F040C2}"/>
              </a:ext>
            </a:extLst>
          </p:cNvPr>
          <p:cNvSpPr/>
          <p:nvPr/>
        </p:nvSpPr>
        <p:spPr>
          <a:xfrm>
            <a:off x="457200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</a:t>
            </a:r>
            <a:endParaRPr lang="en-US" sz="13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EEB0E9A7-29FF-4D32-5804-E68BD49A2F9F}"/>
              </a:ext>
            </a:extLst>
          </p:cNvPr>
          <p:cNvSpPr/>
          <p:nvPr/>
        </p:nvSpPr>
        <p:spPr>
          <a:xfrm>
            <a:off x="45720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Regresiones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estimar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factores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3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478F6FE-F481-A2AA-24A7-147C0383198E}"/>
              </a:ext>
            </a:extLst>
          </p:cNvPr>
          <p:cNvSpPr/>
          <p:nvPr/>
        </p:nvSpPr>
        <p:spPr>
          <a:xfrm>
            <a:off x="457200" y="36210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Cuando se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necesita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típico</a:t>
            </a:r>
            <a:endParaRPr lang="en-US" sz="13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E1ABC764-8C50-E701-8E78-3D2330422E30}"/>
              </a:ext>
            </a:extLst>
          </p:cNvPr>
          <p:cNvSpPr/>
          <p:nvPr/>
        </p:nvSpPr>
        <p:spPr>
          <a:xfrm>
            <a:off x="4632960" y="228600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C233C8B-17AD-5303-B077-08F287467742}"/>
              </a:ext>
            </a:extLst>
          </p:cNvPr>
          <p:cNvSpPr/>
          <p:nvPr/>
        </p:nvSpPr>
        <p:spPr>
          <a:xfrm>
            <a:off x="472440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reaseguro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(la cola es lo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importa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22D608A-BC01-CF1D-4244-2A27DED90185}"/>
              </a:ext>
            </a:extLst>
          </p:cNvPr>
          <p:cNvSpPr/>
          <p:nvPr/>
        </p:nvSpPr>
        <p:spPr>
          <a:xfrm>
            <a:off x="4724400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catastróficas</a:t>
            </a:r>
            <a:endParaRPr lang="en-US" sz="13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B668940-784A-8E7B-73A9-A1279B7688A2}"/>
              </a:ext>
            </a:extLst>
          </p:cNvPr>
          <p:cNvSpPr/>
          <p:nvPr/>
        </p:nvSpPr>
        <p:spPr>
          <a:xfrm>
            <a:off x="4724400" y="3317279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frauds (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extremos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son la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señal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pic>
        <p:nvPicPr>
          <p:cNvPr id="32" name="Gráfico 31" descr="Casilla cruzada con relleno sólido">
            <a:extLst>
              <a:ext uri="{FF2B5EF4-FFF2-40B4-BE49-F238E27FC236}">
                <a16:creationId xmlns:a16="http://schemas.microsoft.com/office/drawing/2014/main" id="{4C69C150-CCB5-2367-26EA-210CFC6F9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400" y="2286000"/>
            <a:ext cx="347472" cy="347472"/>
          </a:xfrm>
          <a:prstGeom prst="rect">
            <a:avLst/>
          </a:prstGeom>
        </p:spPr>
      </p:pic>
      <p:pic>
        <p:nvPicPr>
          <p:cNvPr id="33" name="Gráfico 32" descr="Casilla cruzada con relleno sólido">
            <a:extLst>
              <a:ext uri="{FF2B5EF4-FFF2-40B4-BE49-F238E27FC236}">
                <a16:creationId xmlns:a16="http://schemas.microsoft.com/office/drawing/2014/main" id="{A1BCDCD7-C1DB-F455-5DE6-B7858317E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400" y="2756916"/>
            <a:ext cx="347472" cy="347472"/>
          </a:xfrm>
          <a:prstGeom prst="rect">
            <a:avLst/>
          </a:prstGeom>
        </p:spPr>
      </p:pic>
      <p:pic>
        <p:nvPicPr>
          <p:cNvPr id="34" name="Gráfico 33" descr="Casilla cruzada con relleno sólido">
            <a:extLst>
              <a:ext uri="{FF2B5EF4-FFF2-40B4-BE49-F238E27FC236}">
                <a16:creationId xmlns:a16="http://schemas.microsoft.com/office/drawing/2014/main" id="{A124FF78-4E33-0592-0325-59A47D4F0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400" y="3191373"/>
            <a:ext cx="347472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5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488" y="172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7490"/>
                </a:solidFill>
              </a:rPr>
              <a:t>TEMA 3 · ESTRATEGIAS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3.3 Transformaciones: ¿Por qué transformar?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Las variables monetarias en seguros (siniestros, primas, reservas) tienen distribuciones con cola derecha pesada. Esto distorsiona promedios, infla varianza y viola los supuestos de modelos como regresión lineal y redes neuronales.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413308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4133088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235000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</a:rPr>
              <a:t>📊  Reducir Asimetría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697480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Distribuciones sesgadas dificultan la detección correcta de outliers con Z-Score y IQR.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36008" y="2240280"/>
            <a:ext cx="413308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36008" y="2240280"/>
            <a:ext cx="4133088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745736" y="235000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</a:rPr>
              <a:t>🔬  Normalizar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45736" y="2697480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Muchos modelos estadísticos asumen normalidad. Transformar acerca los datos a distribución normal.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410712"/>
            <a:ext cx="413308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20040" y="3410712"/>
            <a:ext cx="4133088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29768" y="352044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</a:rPr>
              <a:t>⚖️  Homogeneizar Varianza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" y="3867912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Homocedasticidad: varianza constante a lo largo del rango. Esencial para regresión.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36008" y="3410712"/>
            <a:ext cx="413308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636008" y="3410712"/>
            <a:ext cx="4133088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745736" y="352044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</a:rPr>
              <a:t>🎯  Comprimir Extremos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45736" y="3867912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Reduce la influencia de mega-siniestros sin eliminarlos. Preserva información.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57200" y="4645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</a:rPr>
              <a:t>💡  En seguros, no todos los outliers deben eliminarse. Transformar permite analizarlos sin distorsionar el modelo.</a:t>
            </a:r>
            <a:endParaRPr lang="en-US" sz="11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0F14E404-F959-412A-B3EE-C74BEC2CE9A9}"/>
              </a:ext>
            </a:extLst>
          </p:cNvPr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73152" cy="36576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75488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7490"/>
                </a:solidFill>
              </a:rPr>
              <a:t>TEMA 3 · ESTRATEGIAS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3.3 </a:t>
            </a:r>
            <a:r>
              <a:rPr lang="en-US" sz="3000" b="1" dirty="0" err="1">
                <a:solidFill>
                  <a:srgbClr val="0D2137"/>
                </a:solidFill>
              </a:rPr>
              <a:t>Transformación-Raíz</a:t>
            </a:r>
            <a:r>
              <a:rPr lang="en-US" sz="3000" b="1" dirty="0">
                <a:solidFill>
                  <a:srgbClr val="0D2137"/>
                </a:solidFill>
              </a:rPr>
              <a:t> Cuadrada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548640"/>
          </a:xfrm>
          <a:prstGeom prst="rect">
            <a:avLst/>
          </a:prstGeom>
          <a:solidFill>
            <a:srgbClr val="EFF8FA"/>
          </a:solidFill>
          <a:ln w="12700">
            <a:solidFill>
              <a:srgbClr val="D1E7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20040" y="1417320"/>
                <a:ext cx="85039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𝒚</m:t>
                    </m:r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radPr>
                      <m:deg/>
                      <m:e>
                        <m: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𝒙</m:t>
                        </m:r>
                      </m:e>
                    </m:rad>
                  </m:oMath>
                </a14:m>
                <a:r>
                  <a:rPr lang="en-US" sz="1800" b="1" dirty="0">
                    <a:solidFill>
                      <a:srgbClr val="0D21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    |        </a:t>
                </a:r>
                <a14:m>
                  <m:oMath xmlns:m="http://schemas.openxmlformats.org/officeDocument/2006/math"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𝒚</m:t>
                    </m:r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sSup>
                      <m:sSupPr>
                        <m:ctrlP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𝒙</m:t>
                        </m:r>
                      </m:e>
                      <m:sup>
                        <m: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𝟏</m:t>
                        </m:r>
                        <m: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/</m:t>
                        </m:r>
                        <m: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𝟐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417320"/>
                <a:ext cx="8503920" cy="548640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320040" y="2103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Ideal para datos con asimetría moderada y conteos.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41148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490"/>
                </a:solidFill>
              </a:rPr>
              <a:t>Efecto de compresión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2999232"/>
          <a:ext cx="3657600" cy="1295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Original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Raíz Cuad.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$10,000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2.30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$100,000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316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4.61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$1,000,000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6.91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$10,000,000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3,162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9.21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09160" y="2560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709160" y="2560320"/>
            <a:ext cx="411480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484632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</a:rPr>
              <a:t>Cuándo usar en seguros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Datos de conteo (frecuencia de siniestros)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Asimetría moderada (skewness 1-3)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Datos que incluyen ceros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Cuando log comprime demasiado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✘ No funciona con valores negativos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✘ Menos potente que Box-Cox para colas pesadas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✘ No normaliza distribuciones muy sesgadas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4645152"/>
            <a:ext cx="850392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457200" y="46451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</a:rPr>
              <a:t>💡  La raíz cuadrada es un caso especial de Box-Cox con λ=0.5. Es el punto intermedio entre identidad y logaritmo.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3B3E-D511-7D1A-3766-DA637D5E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866212-0E98-2282-A6D1-A3959D647944}"/>
              </a:ext>
            </a:extLst>
          </p:cNvPr>
          <p:cNvSpPr/>
          <p:nvPr/>
        </p:nvSpPr>
        <p:spPr>
          <a:xfrm>
            <a:off x="320040" y="228600"/>
            <a:ext cx="73152" cy="36576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F53A77-ADC3-EDD0-5224-BD91D84CD7CA}"/>
              </a:ext>
            </a:extLst>
          </p:cNvPr>
          <p:cNvSpPr/>
          <p:nvPr/>
        </p:nvSpPr>
        <p:spPr>
          <a:xfrm>
            <a:off x="475488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7490"/>
                </a:solidFill>
              </a:rPr>
              <a:t>TEMA 3 · ESTRATEGIAS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14E49A-5296-1413-2022-45FEED7678E3}"/>
              </a:ext>
            </a:extLst>
          </p:cNvPr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3.3 </a:t>
            </a:r>
            <a:r>
              <a:rPr lang="en-US" sz="3000" b="1" dirty="0" err="1">
                <a:solidFill>
                  <a:srgbClr val="0D2137"/>
                </a:solidFill>
              </a:rPr>
              <a:t>Transformación</a:t>
            </a:r>
            <a:r>
              <a:rPr lang="en-US" sz="3000" b="1" dirty="0">
                <a:solidFill>
                  <a:srgbClr val="0D2137"/>
                </a:solidFill>
              </a:rPr>
              <a:t>-arco </a:t>
            </a:r>
            <a:r>
              <a:rPr lang="en-US" sz="3000" b="1" dirty="0" err="1">
                <a:solidFill>
                  <a:srgbClr val="0D2137"/>
                </a:solidFill>
              </a:rPr>
              <a:t>seno</a:t>
            </a:r>
            <a:r>
              <a:rPr lang="en-US" sz="3000" b="1" dirty="0">
                <a:solidFill>
                  <a:srgbClr val="0D2137"/>
                </a:solidFill>
              </a:rPr>
              <a:t> de </a:t>
            </a:r>
            <a:r>
              <a:rPr lang="en-US" sz="3000" b="1" dirty="0" err="1">
                <a:solidFill>
                  <a:srgbClr val="0D2137"/>
                </a:solidFill>
              </a:rPr>
              <a:t>Raíz</a:t>
            </a:r>
            <a:r>
              <a:rPr lang="en-US" sz="3000" b="1" dirty="0">
                <a:solidFill>
                  <a:srgbClr val="0D2137"/>
                </a:solidFill>
              </a:rPr>
              <a:t> Cuadrada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8E216E-E10C-6197-9686-D72E4660F0D9}"/>
              </a:ext>
            </a:extLst>
          </p:cNvPr>
          <p:cNvSpPr/>
          <p:nvPr/>
        </p:nvSpPr>
        <p:spPr>
          <a:xfrm>
            <a:off x="320040" y="1261872"/>
            <a:ext cx="850392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49AE3B-B388-E7CC-A9AD-BEC78F8A48EE}"/>
              </a:ext>
            </a:extLst>
          </p:cNvPr>
          <p:cNvSpPr/>
          <p:nvPr/>
        </p:nvSpPr>
        <p:spPr>
          <a:xfrm>
            <a:off x="320040" y="1417320"/>
            <a:ext cx="8503920" cy="548640"/>
          </a:xfrm>
          <a:prstGeom prst="rect">
            <a:avLst/>
          </a:prstGeom>
          <a:solidFill>
            <a:srgbClr val="EFF8FA"/>
          </a:solidFill>
          <a:ln w="12700">
            <a:solidFill>
              <a:srgbClr val="D1E7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4CF8921B-E1E5-CEAD-1B3C-F976F7096FEA}"/>
                  </a:ext>
                </a:extLst>
              </p:cNvPr>
              <p:cNvSpPr/>
              <p:nvPr/>
            </p:nvSpPr>
            <p:spPr>
              <a:xfrm>
                <a:off x="320040" y="1417320"/>
                <a:ext cx="85039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𝒚</m:t>
                    </m:r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𝒂𝒓𝒄𝒔𝒊𝒏</m:t>
                    </m:r>
                    <m:d>
                      <m:dPr>
                        <m:ctrlP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MX" b="1" i="1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s-MX" b="1" i="1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𝒙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1800" b="1" dirty="0">
                    <a:solidFill>
                      <a:srgbClr val="0D21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    |        </a:t>
                </a:r>
                <a14:m>
                  <m:oMath xmlns:m="http://schemas.openxmlformats.org/officeDocument/2006/math"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𝒚</m:t>
                    </m:r>
                    <m:r>
                      <a:rPr lang="es-MX" sz="1800" b="1" i="1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es-MX" sz="1800" b="1" i="0" smtClean="0">
                        <a:solidFill>
                          <a:srgbClr val="0D21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𝐚𝐫𝐜𝐬𝐢𝐧</m:t>
                    </m:r>
                    <m:d>
                      <m:dPr>
                        <m:ctrlPr>
                          <a:rPr lang="es-MX" sz="1800" b="1" i="1" smtClean="0">
                            <a:solidFill>
                              <a:srgbClr val="0D2137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1800" b="1" i="1" smtClean="0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s-MX" sz="1800" b="1" i="1" smtClean="0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𝒙</m:t>
                            </m:r>
                          </m:e>
                          <m:sup>
                            <m:r>
                              <a:rPr lang="es-MX" sz="1800" b="1" i="1" smtClean="0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𝟏</m:t>
                            </m:r>
                            <m:r>
                              <a:rPr lang="es-MX" sz="1800" b="1" i="1" smtClean="0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/</m:t>
                            </m:r>
                            <m:r>
                              <a:rPr lang="es-MX" sz="1800" b="1" i="1" smtClean="0">
                                <a:solidFill>
                                  <a:srgbClr val="0D2137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4CF8921B-E1E5-CEAD-1B3C-F976F7096F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417320"/>
                <a:ext cx="8503920" cy="548640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>
            <a:extLst>
              <a:ext uri="{FF2B5EF4-FFF2-40B4-BE49-F238E27FC236}">
                <a16:creationId xmlns:a16="http://schemas.microsoft.com/office/drawing/2014/main" id="{B77B1671-514D-76E8-4267-9EAF1F96F8C8}"/>
              </a:ext>
            </a:extLst>
          </p:cNvPr>
          <p:cNvSpPr/>
          <p:nvPr/>
        </p:nvSpPr>
        <p:spPr>
          <a:xfrm>
            <a:off x="320040" y="2103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Ideal para </a:t>
            </a:r>
            <a:r>
              <a:rPr lang="en-US" sz="1300" dirty="0" err="1">
                <a:solidFill>
                  <a:srgbClr val="64748B"/>
                </a:solidFill>
              </a:rPr>
              <a:t>tasas</a:t>
            </a:r>
            <a:r>
              <a:rPr lang="en-US" sz="1300" dirty="0">
                <a:solidFill>
                  <a:srgbClr val="64748B"/>
                </a:solidFill>
              </a:rPr>
              <a:t> o </a:t>
            </a:r>
            <a:r>
              <a:rPr lang="en-US" sz="1300" dirty="0" err="1">
                <a:solidFill>
                  <a:srgbClr val="64748B"/>
                </a:solidFill>
              </a:rPr>
              <a:t>proporciones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F6E2975-3937-43BA-EA7F-7A7FA3CD1ED5}"/>
              </a:ext>
            </a:extLst>
          </p:cNvPr>
          <p:cNvSpPr/>
          <p:nvPr/>
        </p:nvSpPr>
        <p:spPr>
          <a:xfrm>
            <a:off x="320040" y="2560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3E3B3C1-4D87-8C6C-597C-E4E08B157A68}"/>
              </a:ext>
            </a:extLst>
          </p:cNvPr>
          <p:cNvSpPr/>
          <p:nvPr/>
        </p:nvSpPr>
        <p:spPr>
          <a:xfrm>
            <a:off x="320040" y="2560320"/>
            <a:ext cx="41148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C477571-ECA9-A9FC-D48B-74995219C49B}"/>
              </a:ext>
            </a:extLst>
          </p:cNvPr>
          <p:cNvSpPr/>
          <p:nvPr/>
        </p:nvSpPr>
        <p:spPr>
          <a:xfrm>
            <a:off x="4709160" y="2560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13F1A06-83C2-2994-3B6B-766BC03FD9C5}"/>
              </a:ext>
            </a:extLst>
          </p:cNvPr>
          <p:cNvSpPr/>
          <p:nvPr/>
        </p:nvSpPr>
        <p:spPr>
          <a:xfrm>
            <a:off x="4709160" y="2560320"/>
            <a:ext cx="411480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42BF5EF-FFB9-B60A-D852-39EB3C53A28D}"/>
              </a:ext>
            </a:extLst>
          </p:cNvPr>
          <p:cNvSpPr/>
          <p:nvPr/>
        </p:nvSpPr>
        <p:spPr>
          <a:xfrm>
            <a:off x="484632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</a:rPr>
              <a:t>Cuándo usar en seguros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8C70C53-64A3-BA03-B869-56BA86886226}"/>
              </a:ext>
            </a:extLst>
          </p:cNvPr>
          <p:cNvSpPr/>
          <p:nvPr/>
        </p:nvSpPr>
        <p:spPr>
          <a:xfrm>
            <a:off x="4846320" y="29718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Tasa de </a:t>
            </a:r>
            <a:r>
              <a:rPr lang="en-US" sz="1100" dirty="0" err="1">
                <a:solidFill>
                  <a:srgbClr val="64748B"/>
                </a:solidFill>
              </a:rPr>
              <a:t>siniestralidad</a:t>
            </a:r>
            <a:r>
              <a:rPr lang="en-US" sz="1100" dirty="0">
                <a:solidFill>
                  <a:srgbClr val="64748B"/>
                </a:solidFill>
              </a:rPr>
              <a:t> (loss ratio)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</a:t>
            </a:r>
            <a:r>
              <a:rPr lang="en-US" sz="1100" dirty="0" err="1">
                <a:solidFill>
                  <a:srgbClr val="64748B"/>
                </a:solidFill>
              </a:rPr>
              <a:t>Probabilidad</a:t>
            </a:r>
            <a:r>
              <a:rPr lang="en-US" sz="1100" dirty="0">
                <a:solidFill>
                  <a:srgbClr val="64748B"/>
                </a:solidFill>
              </a:rPr>
              <a:t> de </a:t>
            </a:r>
            <a:r>
              <a:rPr lang="en-US" sz="1100" dirty="0" err="1">
                <a:solidFill>
                  <a:srgbClr val="64748B"/>
                </a:solidFill>
              </a:rPr>
              <a:t>cancelación</a:t>
            </a:r>
            <a:r>
              <a:rPr lang="en-US" sz="1100" dirty="0">
                <a:solidFill>
                  <a:srgbClr val="64748B"/>
                </a:solidFill>
              </a:rPr>
              <a:t> (lapse rate)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</a:t>
            </a:r>
            <a:r>
              <a:rPr lang="en-US" sz="1100" dirty="0" err="1">
                <a:solidFill>
                  <a:srgbClr val="64748B"/>
                </a:solidFill>
              </a:rPr>
              <a:t>Penetración</a:t>
            </a:r>
            <a:r>
              <a:rPr lang="en-US" sz="1100" dirty="0">
                <a:solidFill>
                  <a:srgbClr val="64748B"/>
                </a:solidFill>
              </a:rPr>
              <a:t> de la </a:t>
            </a:r>
            <a:r>
              <a:rPr lang="en-US" sz="1100" dirty="0" err="1">
                <a:solidFill>
                  <a:srgbClr val="64748B"/>
                </a:solidFill>
              </a:rPr>
              <a:t>cobertura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Tasa de </a:t>
            </a:r>
            <a:r>
              <a:rPr lang="en-US" sz="1100" dirty="0" err="1">
                <a:solidFill>
                  <a:srgbClr val="64748B"/>
                </a:solidFill>
              </a:rPr>
              <a:t>frecuencia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normalizada</a:t>
            </a:r>
            <a:r>
              <a:rPr lang="en-US" sz="1100" dirty="0">
                <a:solidFill>
                  <a:srgbClr val="64748B"/>
                </a:solidFill>
              </a:rPr>
              <a:t> (</a:t>
            </a:r>
            <a:r>
              <a:rPr lang="en-US" sz="1100" dirty="0" err="1">
                <a:solidFill>
                  <a:srgbClr val="64748B"/>
                </a:solidFill>
              </a:rPr>
              <a:t>comparación</a:t>
            </a:r>
            <a:r>
              <a:rPr lang="en-US" sz="1100" dirty="0">
                <a:solidFill>
                  <a:srgbClr val="64748B"/>
                </a:solidFill>
              </a:rPr>
              <a:t> entre </a:t>
            </a:r>
            <a:r>
              <a:rPr lang="en-US" sz="1100" dirty="0" err="1">
                <a:solidFill>
                  <a:srgbClr val="64748B"/>
                </a:solidFill>
              </a:rPr>
              <a:t>grupos</a:t>
            </a:r>
            <a:r>
              <a:rPr lang="en-US" sz="1100" dirty="0">
                <a:solidFill>
                  <a:srgbClr val="64748B"/>
                </a:solidFill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✘ No </a:t>
            </a:r>
            <a:r>
              <a:rPr lang="en-US" sz="1100" dirty="0" err="1">
                <a:solidFill>
                  <a:srgbClr val="64748B"/>
                </a:solidFill>
              </a:rPr>
              <a:t>funciona</a:t>
            </a:r>
            <a:r>
              <a:rPr lang="en-US" sz="1100" dirty="0">
                <a:solidFill>
                  <a:srgbClr val="64748B"/>
                </a:solidFill>
              </a:rPr>
              <a:t> para </a:t>
            </a:r>
            <a:r>
              <a:rPr lang="en-US" sz="1100" dirty="0" err="1">
                <a:solidFill>
                  <a:srgbClr val="64748B"/>
                </a:solidFill>
              </a:rPr>
              <a:t>montos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✘ Para </a:t>
            </a:r>
            <a:r>
              <a:rPr lang="en-US" sz="1100" dirty="0" err="1">
                <a:solidFill>
                  <a:srgbClr val="64748B"/>
                </a:solidFill>
              </a:rPr>
              <a:t>proporciones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cercanas</a:t>
            </a:r>
            <a:r>
              <a:rPr lang="en-US" sz="1100" dirty="0">
                <a:solidFill>
                  <a:srgbClr val="64748B"/>
                </a:solidFill>
              </a:rPr>
              <a:t> a 0 o 1, </a:t>
            </a:r>
            <a:r>
              <a:rPr lang="en-US" sz="1100" dirty="0" err="1">
                <a:solidFill>
                  <a:srgbClr val="64748B"/>
                </a:solidFill>
              </a:rPr>
              <a:t>mejor</a:t>
            </a:r>
            <a:r>
              <a:rPr lang="en-US" sz="1100" dirty="0">
                <a:solidFill>
                  <a:srgbClr val="64748B"/>
                </a:solidFill>
              </a:rPr>
              <a:t> usar logit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✘ En </a:t>
            </a:r>
            <a:r>
              <a:rPr lang="en-US" sz="1100" dirty="0" err="1">
                <a:solidFill>
                  <a:srgbClr val="64748B"/>
                </a:solidFill>
              </a:rPr>
              <a:t>muestras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muy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pequeñas</a:t>
            </a:r>
            <a:r>
              <a:rPr lang="en-US" sz="1100" dirty="0">
                <a:solidFill>
                  <a:srgbClr val="64748B"/>
                </a:solidFill>
              </a:rPr>
              <a:t>, la </a:t>
            </a:r>
            <a:r>
              <a:rPr lang="en-US" sz="1100" dirty="0" err="1">
                <a:solidFill>
                  <a:srgbClr val="64748B"/>
                </a:solidFill>
              </a:rPr>
              <a:t>aproximación</a:t>
            </a:r>
            <a:r>
              <a:rPr lang="en-US" sz="1100" dirty="0">
                <a:solidFill>
                  <a:srgbClr val="64748B"/>
                </a:solidFill>
              </a:rPr>
              <a:t> de </a:t>
            </a:r>
            <a:r>
              <a:rPr lang="en-US" sz="1100" dirty="0" err="1">
                <a:solidFill>
                  <a:srgbClr val="64748B"/>
                </a:solidFill>
              </a:rPr>
              <a:t>varianza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constanteno</a:t>
            </a:r>
            <a:r>
              <a:rPr lang="en-US" sz="1100" dirty="0">
                <a:solidFill>
                  <a:srgbClr val="64748B"/>
                </a:solidFill>
              </a:rPr>
              <a:t> se </a:t>
            </a:r>
            <a:r>
              <a:rPr lang="en-US" sz="1100" dirty="0" err="1">
                <a:solidFill>
                  <a:srgbClr val="64748B"/>
                </a:solidFill>
              </a:rPr>
              <a:t>cumple</a:t>
            </a:r>
            <a:r>
              <a:rPr lang="en-US" sz="1100" dirty="0">
                <a:solidFill>
                  <a:srgbClr val="64748B"/>
                </a:solidFill>
              </a:rPr>
              <a:t> bien.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E6804A4-74F1-F87A-54FE-B23F9C621AD0}"/>
              </a:ext>
            </a:extLst>
          </p:cNvPr>
          <p:cNvSpPr/>
          <p:nvPr/>
        </p:nvSpPr>
        <p:spPr>
          <a:xfrm>
            <a:off x="320040" y="4645152"/>
            <a:ext cx="850392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A7C88FF-76EF-C533-4FF4-55FA4A61E94F}"/>
              </a:ext>
            </a:extLst>
          </p:cNvPr>
          <p:cNvSpPr txBox="1"/>
          <p:nvPr/>
        </p:nvSpPr>
        <p:spPr>
          <a:xfrm>
            <a:off x="393192" y="2757268"/>
            <a:ext cx="38833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solidFill>
                  <a:srgbClr val="64748B"/>
                </a:solidFill>
              </a:rPr>
              <a:t>Transformación angular o transformación de Freeman Tukey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solidFill>
                  <a:srgbClr val="64748B"/>
                </a:solidFill>
              </a:rPr>
              <a:t>Toma valores entre 0 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solidFill>
                  <a:srgbClr val="64748B"/>
                </a:solidFill>
              </a:rPr>
              <a:t>Lo transforma a un espacio con varianza constante e independiente de la media</a:t>
            </a:r>
          </a:p>
        </p:txBody>
      </p:sp>
    </p:spTree>
    <p:extLst>
      <p:ext uri="{BB962C8B-B14F-4D97-AF65-F5344CB8AC3E}">
        <p14:creationId xmlns:p14="http://schemas.microsoft.com/office/powerpoint/2010/main" val="2438490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A1BB0-3F6A-0CD6-9724-F63F1953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83246E-6DC1-FC2B-9D65-1AA389A0D25B}"/>
              </a:ext>
            </a:extLst>
          </p:cNvPr>
          <p:cNvSpPr/>
          <p:nvPr/>
        </p:nvSpPr>
        <p:spPr>
          <a:xfrm>
            <a:off x="320040" y="228600"/>
            <a:ext cx="73152" cy="36576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4BC8C4-BF0E-95DF-AAE8-50B2D0775CEA}"/>
              </a:ext>
            </a:extLst>
          </p:cNvPr>
          <p:cNvSpPr/>
          <p:nvPr/>
        </p:nvSpPr>
        <p:spPr>
          <a:xfrm>
            <a:off x="475488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7490"/>
                </a:solidFill>
              </a:rPr>
              <a:t>TEMA 3 · ESTRATEGIAS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F465D2-366C-556E-CF88-3A1B9CEAECCD}"/>
              </a:ext>
            </a:extLst>
          </p:cNvPr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3.3 Transformación-SINH⁻¹ (ARCOSENO HIPERBÓLICO)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A30CD0-B946-87C6-4CFA-152091F148A7}"/>
              </a:ext>
            </a:extLst>
          </p:cNvPr>
          <p:cNvSpPr/>
          <p:nvPr/>
        </p:nvSpPr>
        <p:spPr>
          <a:xfrm>
            <a:off x="320040" y="1261872"/>
            <a:ext cx="850392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E7F1E0B-B094-64C5-4944-A1A316B9854C}"/>
              </a:ext>
            </a:extLst>
          </p:cNvPr>
          <p:cNvSpPr/>
          <p:nvPr/>
        </p:nvSpPr>
        <p:spPr>
          <a:xfrm>
            <a:off x="320040" y="1417320"/>
            <a:ext cx="8503920" cy="548640"/>
          </a:xfrm>
          <a:prstGeom prst="rect">
            <a:avLst/>
          </a:prstGeom>
          <a:solidFill>
            <a:srgbClr val="EFF8FA"/>
          </a:solidFill>
          <a:ln w="12700">
            <a:solidFill>
              <a:srgbClr val="D1E7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D40E9774-9342-1519-0F9A-98EEA2B6083E}"/>
                  </a:ext>
                </a:extLst>
              </p:cNvPr>
              <p:cNvSpPr/>
              <p:nvPr/>
            </p:nvSpPr>
            <p:spPr>
              <a:xfrm>
                <a:off x="320040" y="1417320"/>
                <a:ext cx="85039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0D2137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𝒚</m:t>
                      </m:r>
                      <m:r>
                        <a:rPr lang="es-MX" sz="1800" b="1" i="1" smtClean="0">
                          <a:solidFill>
                            <a:srgbClr val="0D2137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𝒔𝒊𝒏𝒉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−</m:t>
                          </m:r>
                          <m: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MX" b="1" i="1">
                                  <a:solidFill>
                                    <a:srgbClr val="0D2137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MX" b="1" i="1">
                                  <a:solidFill>
                                    <a:srgbClr val="0D2137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𝒙</m:t>
                              </m:r>
                            </m:e>
                          </m:rad>
                        </m:e>
                      </m:d>
                      <m:r>
                        <a:rPr lang="es-MX" sz="1800" b="1" i="1" smtClean="0">
                          <a:solidFill>
                            <a:srgbClr val="0D2137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r>
                        <a:rPr lang="es-MX" sz="1800" b="1" i="1" smtClean="0">
                          <a:solidFill>
                            <a:srgbClr val="0D2137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𝒍𝒏</m:t>
                      </m:r>
                      <m:d>
                        <m:dPr>
                          <m:ctrlP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𝒙</m:t>
                          </m:r>
                          <m:r>
                            <a:rPr lang="es-MX" sz="1800" b="1" i="1" smtClean="0">
                              <a:solidFill>
                                <a:srgbClr val="0D2137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s-MX" sz="1800" b="1" i="1" smtClean="0">
                                  <a:solidFill>
                                    <a:srgbClr val="0D2137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rgbClr val="0D2137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800" b="1" i="1" smtClean="0">
                                          <a:solidFill>
                                            <a:srgbClr val="0D2137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800" b="1" i="1" smtClean="0">
                                          <a:solidFill>
                                            <a:srgbClr val="0D2137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s-MX" sz="1800" b="1" i="1" smtClean="0">
                                          <a:solidFill>
                                            <a:srgbClr val="0D2137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s-MX" sz="1800" b="1" i="1" smtClean="0">
                                      <a:solidFill>
                                        <a:srgbClr val="0D2137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+</m:t>
                                  </m:r>
                                  <m:r>
                                    <a:rPr lang="es-MX" sz="1800" b="1" i="1" smtClean="0">
                                      <a:solidFill>
                                        <a:srgbClr val="0D2137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</m:rad>
                        </m:e>
                      </m:d>
                    </m:oMath>
                  </m:oMathPara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D40E9774-9342-1519-0F9A-98EEA2B60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417320"/>
                <a:ext cx="850392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>
            <a:extLst>
              <a:ext uri="{FF2B5EF4-FFF2-40B4-BE49-F238E27FC236}">
                <a16:creationId xmlns:a16="http://schemas.microsoft.com/office/drawing/2014/main" id="{FF4A44CE-07D7-12BB-26B2-536C1A66E7C3}"/>
              </a:ext>
            </a:extLst>
          </p:cNvPr>
          <p:cNvSpPr/>
          <p:nvPr/>
        </p:nvSpPr>
        <p:spPr>
          <a:xfrm>
            <a:off x="320040" y="21031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</a:rPr>
              <a:t>Reemplazo</a:t>
            </a:r>
            <a:r>
              <a:rPr lang="en-US" sz="1300" dirty="0">
                <a:solidFill>
                  <a:srgbClr val="64748B"/>
                </a:solidFill>
              </a:rPr>
              <a:t> de log con ceros/</a:t>
            </a:r>
            <a:r>
              <a:rPr lang="en-US" sz="1300" dirty="0" err="1">
                <a:solidFill>
                  <a:srgbClr val="64748B"/>
                </a:solidFill>
              </a:rPr>
              <a:t>negativos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F4D1E98-DB87-0E1E-ED32-60162EE5C85F}"/>
              </a:ext>
            </a:extLst>
          </p:cNvPr>
          <p:cNvSpPr/>
          <p:nvPr/>
        </p:nvSpPr>
        <p:spPr>
          <a:xfrm>
            <a:off x="320040" y="2560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F2655F6-3D57-2DFD-33A8-0A2C9E895826}"/>
              </a:ext>
            </a:extLst>
          </p:cNvPr>
          <p:cNvSpPr/>
          <p:nvPr/>
        </p:nvSpPr>
        <p:spPr>
          <a:xfrm>
            <a:off x="320040" y="2560320"/>
            <a:ext cx="41148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E60076B-ADE6-E471-A2DF-FBA6A9EF8EAA}"/>
              </a:ext>
            </a:extLst>
          </p:cNvPr>
          <p:cNvSpPr/>
          <p:nvPr/>
        </p:nvSpPr>
        <p:spPr>
          <a:xfrm>
            <a:off x="4709160" y="25603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E9DE4F8-F756-249D-9C28-8917AFEC42E8}"/>
              </a:ext>
            </a:extLst>
          </p:cNvPr>
          <p:cNvSpPr/>
          <p:nvPr/>
        </p:nvSpPr>
        <p:spPr>
          <a:xfrm>
            <a:off x="4709160" y="2560320"/>
            <a:ext cx="411480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41A7DE2-4508-8144-E7E1-BD6F5203CB48}"/>
              </a:ext>
            </a:extLst>
          </p:cNvPr>
          <p:cNvSpPr/>
          <p:nvPr/>
        </p:nvSpPr>
        <p:spPr>
          <a:xfrm>
            <a:off x="484632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</a:rPr>
              <a:t>Cuándo usar en seguros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67D0058-3655-825E-6DB7-316422B1C9B0}"/>
              </a:ext>
            </a:extLst>
          </p:cNvPr>
          <p:cNvSpPr/>
          <p:nvPr/>
        </p:nvSpPr>
        <p:spPr>
          <a:xfrm>
            <a:off x="4846320" y="29718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Cambio de prima entre </a:t>
            </a:r>
            <a:r>
              <a:rPr lang="en-US" sz="1100" dirty="0" err="1">
                <a:solidFill>
                  <a:srgbClr val="64748B"/>
                </a:solidFill>
              </a:rPr>
              <a:t>años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</a:t>
            </a:r>
            <a:r>
              <a:rPr lang="en-US" sz="1100" dirty="0" err="1">
                <a:solidFill>
                  <a:srgbClr val="64748B"/>
                </a:solidFill>
              </a:rPr>
              <a:t>Variaciones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en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reservas</a:t>
            </a:r>
            <a:r>
              <a:rPr lang="en-US" sz="1100" dirty="0">
                <a:solidFill>
                  <a:srgbClr val="64748B"/>
                </a:solidFill>
              </a:rPr>
              <a:t> IBNR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 </a:t>
            </a:r>
            <a:r>
              <a:rPr lang="en-US" sz="1100" dirty="0" err="1">
                <a:solidFill>
                  <a:srgbClr val="64748B"/>
                </a:solidFill>
              </a:rPr>
              <a:t>Resultado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técnico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neto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✔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89BDC14-BB3C-E489-30BA-C14891EAB409}"/>
              </a:ext>
            </a:extLst>
          </p:cNvPr>
          <p:cNvSpPr/>
          <p:nvPr/>
        </p:nvSpPr>
        <p:spPr>
          <a:xfrm>
            <a:off x="320040" y="4645152"/>
            <a:ext cx="850392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162FCF8-1487-1172-73FE-A22304744BBF}"/>
              </a:ext>
            </a:extLst>
          </p:cNvPr>
          <p:cNvSpPr txBox="1"/>
          <p:nvPr/>
        </p:nvSpPr>
        <p:spPr>
          <a:xfrm>
            <a:off x="393192" y="2757268"/>
            <a:ext cx="388338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solidFill>
                  <a:srgbClr val="64748B"/>
                </a:solidFill>
              </a:rPr>
              <a:t>Funciona con cualquier valor real, incluyendo ceros y negativos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 err="1">
                <a:solidFill>
                  <a:srgbClr val="64748B"/>
                </a:solidFill>
              </a:rPr>
              <a:t>Facil</a:t>
            </a:r>
            <a:r>
              <a:rPr lang="es-MX" sz="1100" dirty="0">
                <a:solidFill>
                  <a:srgbClr val="64748B"/>
                </a:solidFill>
              </a:rPr>
              <a:t> de sacar el inverso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>
                <a:solidFill>
                  <a:srgbClr val="64748B"/>
                </a:solidFill>
              </a:rPr>
              <a:t>Para valores grandes se comporta como ln(2x), pero cerca de cero se comporta linealmente</a:t>
            </a:r>
          </a:p>
        </p:txBody>
      </p:sp>
    </p:spTree>
    <p:extLst>
      <p:ext uri="{BB962C8B-B14F-4D97-AF65-F5344CB8AC3E}">
        <p14:creationId xmlns:p14="http://schemas.microsoft.com/office/powerpoint/2010/main" val="2214716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FB702-5C8F-D52C-9C22-6108B387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07C733-63D5-131D-BAAA-10D115FAD167}"/>
              </a:ext>
            </a:extLst>
          </p:cNvPr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10F116-A504-4A69-BE7F-75C0A9A6E538}"/>
              </a:ext>
            </a:extLst>
          </p:cNvPr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ESTRATEGIAS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128759-D876-2E6E-E1B9-CFFF3B24004F}"/>
              </a:ext>
            </a:extLst>
          </p:cNvPr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Transformaciones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F5CE335-E68E-5B21-E9AE-962EA9A37268}"/>
              </a:ext>
            </a:extLst>
          </p:cNvPr>
          <p:cNvSpPr/>
          <p:nvPr/>
        </p:nvSpPr>
        <p:spPr>
          <a:xfrm>
            <a:off x="365759" y="1005840"/>
            <a:ext cx="7730197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C48DB7-607D-D63B-7A64-05DD0C91EFDC}"/>
              </a:ext>
            </a:extLst>
          </p:cNvPr>
          <p:cNvSpPr/>
          <p:nvPr/>
        </p:nvSpPr>
        <p:spPr>
          <a:xfrm flipV="1">
            <a:off x="365760" y="960121"/>
            <a:ext cx="7730196" cy="45719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750A1C1-28C0-8B24-05E2-272602B2ADB1}"/>
              </a:ext>
            </a:extLst>
          </p:cNvPr>
          <p:cNvSpPr txBox="1"/>
          <p:nvPr/>
        </p:nvSpPr>
        <p:spPr>
          <a:xfrm>
            <a:off x="502920" y="1555209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transformación tiene un nicho específico en el análisis actuarial. La elección debe basarse en: </a:t>
            </a:r>
          </a:p>
          <a:p>
            <a:pPr marL="342900" indent="-342900">
              <a:buAutoNum type="arabicParenR"/>
            </a:pPr>
            <a:r>
              <a:rPr lang="es-MX" sz="14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 la variable, </a:t>
            </a:r>
          </a:p>
          <a:p>
            <a:pPr marL="342900" indent="-342900">
              <a:buAutoNum type="arabicParenR"/>
            </a:pPr>
            <a:r>
              <a:rPr lang="es-MX" sz="14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modelo que se va a ajustar, </a:t>
            </a:r>
          </a:p>
          <a:p>
            <a:pPr marL="342900" indent="-342900">
              <a:buAutoNum type="arabicParenR"/>
            </a:pPr>
            <a:r>
              <a:rPr lang="es-MX" sz="1400" b="1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s-MX" sz="14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interpretabilidad de los coeficientes, </a:t>
            </a:r>
            <a:r>
              <a:rPr lang="es-MX" sz="1400" b="1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</a:p>
          <a:p>
            <a:pPr marL="342900" indent="-342900">
              <a:buAutoNum type="arabicParenR"/>
            </a:pPr>
            <a:r>
              <a:rPr lang="es-MX" sz="1400" b="1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MX" sz="14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regulatorio del análisis</a:t>
            </a:r>
          </a:p>
        </p:txBody>
      </p:sp>
    </p:spTree>
    <p:extLst>
      <p:ext uri="{BB962C8B-B14F-4D97-AF65-F5344CB8AC3E}">
        <p14:creationId xmlns:p14="http://schemas.microsoft.com/office/powerpoint/2010/main" val="1604307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</TotalTime>
  <Words>1140</Words>
  <Application>Microsoft Office PowerPoint</Application>
  <PresentationFormat>Presentación en pantalla (16:9)</PresentationFormat>
  <Paragraphs>215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Valores Atípicos en Seguros</dc:title>
  <dc:subject>PptxGenJS Presentation</dc:subject>
  <dc:creator>PptxGenJS</dc:creator>
  <cp:lastModifiedBy>Karla Eugenia Medina Diaz</cp:lastModifiedBy>
  <cp:revision>4</cp:revision>
  <dcterms:created xsi:type="dcterms:W3CDTF">2026-05-07T02:09:17Z</dcterms:created>
  <dcterms:modified xsi:type="dcterms:W3CDTF">2026-05-16T13:04:03Z</dcterms:modified>
</cp:coreProperties>
</file>