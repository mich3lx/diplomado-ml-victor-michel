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75" r:id="rId9"/>
    <p:sldId id="27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a Eugenia Medina Diaz" userId="31c1db5119534f48" providerId="LiveId" clId="{5C899618-0CE1-4E3A-ADD1-06091A6D8A5C}"/>
    <pc:docChg chg="undo custSel delSld modSld">
      <pc:chgData name="Karla Eugenia Medina Diaz" userId="31c1db5119534f48" providerId="LiveId" clId="{5C899618-0CE1-4E3A-ADD1-06091A6D8A5C}" dt="2026-05-23T15:14:08.163" v="125" actId="20577"/>
      <pc:docMkLst>
        <pc:docMk/>
      </pc:docMkLst>
      <pc:sldChg chg="modSp mod">
        <pc:chgData name="Karla Eugenia Medina Diaz" userId="31c1db5119534f48" providerId="LiveId" clId="{5C899618-0CE1-4E3A-ADD1-06091A6D8A5C}" dt="2026-05-23T15:12:38.009" v="58" actId="20577"/>
        <pc:sldMkLst>
          <pc:docMk/>
          <pc:sldMk cId="0" sldId="256"/>
        </pc:sldMkLst>
        <pc:spChg chg="mod">
          <ac:chgData name="Karla Eugenia Medina Diaz" userId="31c1db5119534f48" providerId="LiveId" clId="{5C899618-0CE1-4E3A-ADD1-06091A6D8A5C}" dt="2026-05-23T15:12:38.009" v="58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4:07:30.168" v="42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">
        <pc:chgData name="Karla Eugenia Medina Diaz" userId="31c1db5119534f48" providerId="LiveId" clId="{5C899618-0CE1-4E3A-ADD1-06091A6D8A5C}" dt="2026-05-23T15:12:57.636" v="68" actId="20577"/>
        <pc:sldMkLst>
          <pc:docMk/>
          <pc:sldMk cId="0" sldId="257"/>
        </pc:sldMkLst>
        <pc:spChg chg="mod">
          <ac:chgData name="Karla Eugenia Medina Diaz" userId="31c1db5119534f48" providerId="LiveId" clId="{5C899618-0CE1-4E3A-ADD1-06091A6D8A5C}" dt="2026-05-23T15:12:42.999" v="60" actId="20577"/>
          <ac:spMkLst>
            <pc:docMk/>
            <pc:sldMk cId="0" sldId="257"/>
            <ac:spMk id="8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34.075" v="43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40.217" v="44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15:12:47.073" v="62" actId="20577"/>
          <ac:spMkLst>
            <pc:docMk/>
            <pc:sldMk cId="0" sldId="257"/>
            <ac:spMk id="15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41.443" v="45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42.688" v="46" actId="478"/>
          <ac:spMkLst>
            <pc:docMk/>
            <pc:sldMk cId="0" sldId="257"/>
            <ac:spMk id="18" creationId="{00000000-0000-0000-0000-000000000000}"/>
          </ac:spMkLst>
        </pc:spChg>
        <pc:spChg chg="add del">
          <ac:chgData name="Karla Eugenia Medina Diaz" userId="31c1db5119534f48" providerId="LiveId" clId="{5C899618-0CE1-4E3A-ADD1-06091A6D8A5C}" dt="2026-05-23T04:07:47.988" v="49" actId="478"/>
          <ac:spMkLst>
            <pc:docMk/>
            <pc:sldMk cId="0" sldId="257"/>
            <ac:spMk id="19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15:12:50.773" v="64" actId="20577"/>
          <ac:spMkLst>
            <pc:docMk/>
            <pc:sldMk cId="0" sldId="257"/>
            <ac:spMk id="22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43.604" v="47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50.682" v="50" actId="478"/>
          <ac:spMkLst>
            <pc:docMk/>
            <pc:sldMk cId="0" sldId="257"/>
            <ac:spMk id="25" creationId="{00000000-0000-0000-0000-000000000000}"/>
          </ac:spMkLst>
        </pc:spChg>
        <pc:spChg chg="add del">
          <ac:chgData name="Karla Eugenia Medina Diaz" userId="31c1db5119534f48" providerId="LiveId" clId="{5C899618-0CE1-4E3A-ADD1-06091A6D8A5C}" dt="2026-05-23T04:07:53.652" v="52" actId="478"/>
          <ac:spMkLst>
            <pc:docMk/>
            <pc:sldMk cId="0" sldId="257"/>
            <ac:spMk id="26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15:12:53.817" v="66" actId="20577"/>
          <ac:spMkLst>
            <pc:docMk/>
            <pc:sldMk cId="0" sldId="257"/>
            <ac:spMk id="29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55.237" v="53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56.687" v="54" actId="478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15:12:57.636" v="68" actId="20577"/>
          <ac:spMkLst>
            <pc:docMk/>
            <pc:sldMk cId="0" sldId="257"/>
            <ac:spMk id="36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59.429" v="56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3T04:07:58.185" v="55" actId="478"/>
          <ac:spMkLst>
            <pc:docMk/>
            <pc:sldMk cId="0" sldId="257"/>
            <ac:spMk id="39" creationId="{00000000-0000-0000-0000-000000000000}"/>
          </ac:spMkLst>
        </pc:spChg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59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0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1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2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3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4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5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6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7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8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69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0" sldId="270"/>
        </pc:sldMkLst>
      </pc:sldChg>
      <pc:sldChg chg="modSp mod">
        <pc:chgData name="Karla Eugenia Medina Diaz" userId="31c1db5119534f48" providerId="LiveId" clId="{5C899618-0CE1-4E3A-ADD1-06091A6D8A5C}" dt="2026-05-23T15:13:02.316" v="70" actId="20577"/>
        <pc:sldMkLst>
          <pc:docMk/>
          <pc:sldMk cId="0" sldId="271"/>
        </pc:sldMkLst>
        <pc:spChg chg="mod">
          <ac:chgData name="Karla Eugenia Medina Diaz" userId="31c1db5119534f48" providerId="LiveId" clId="{5C899618-0CE1-4E3A-ADD1-06091A6D8A5C}" dt="2026-05-23T15:13:02.316" v="70" actId="20577"/>
          <ac:spMkLst>
            <pc:docMk/>
            <pc:sldMk cId="0" sldId="271"/>
            <ac:spMk id="5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3T15:13:07.133" v="72" actId="20577"/>
        <pc:sldMkLst>
          <pc:docMk/>
          <pc:sldMk cId="0" sldId="272"/>
        </pc:sldMkLst>
        <pc:spChg chg="mod">
          <ac:chgData name="Karla Eugenia Medina Diaz" userId="31c1db5119534f48" providerId="LiveId" clId="{5C899618-0CE1-4E3A-ADD1-06091A6D8A5C}" dt="2026-05-23T15:13:07.133" v="72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3T15:13:10.378" v="74" actId="20577"/>
        <pc:sldMkLst>
          <pc:docMk/>
          <pc:sldMk cId="0" sldId="273"/>
        </pc:sldMkLst>
        <pc:spChg chg="mod">
          <ac:chgData name="Karla Eugenia Medina Diaz" userId="31c1db5119534f48" providerId="LiveId" clId="{5C899618-0CE1-4E3A-ADD1-06091A6D8A5C}" dt="2026-05-23T15:13:10.378" v="74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3T15:14:08.163" v="125" actId="20577"/>
        <pc:sldMkLst>
          <pc:docMk/>
          <pc:sldMk cId="0" sldId="274"/>
        </pc:sldMkLst>
        <pc:spChg chg="mod">
          <ac:chgData name="Karla Eugenia Medina Diaz" userId="31c1db5119534f48" providerId="LiveId" clId="{5C899618-0CE1-4E3A-ADD1-06091A6D8A5C}" dt="2026-05-23T15:13:14.266" v="76" actId="20577"/>
          <ac:spMkLst>
            <pc:docMk/>
            <pc:sldMk cId="0" sldId="274"/>
            <ac:spMk id="3" creationId="{00000000-0000-0000-0000-000000000000}"/>
          </ac:spMkLst>
        </pc:spChg>
        <pc:graphicFrameChg chg="modGraphic">
          <ac:chgData name="Karla Eugenia Medina Diaz" userId="31c1db5119534f48" providerId="LiveId" clId="{5C899618-0CE1-4E3A-ADD1-06091A6D8A5C}" dt="2026-05-23T15:14:08.163" v="125" actId="20577"/>
          <ac:graphicFrameMkLst>
            <pc:docMk/>
            <pc:sldMk cId="0" sldId="274"/>
            <ac:graphicFrameMk id="20" creationId="{00000000-0000-0000-0000-000000000000}"/>
          </ac:graphicFrameMkLst>
        </pc:graphicFrameChg>
      </pc:sldChg>
      <pc:sldChg chg="del">
        <pc:chgData name="Karla Eugenia Medina Diaz" userId="31c1db5119534f48" providerId="LiveId" clId="{5C899618-0CE1-4E3A-ADD1-06091A6D8A5C}" dt="2026-05-22T02:18:15.476" v="1" actId="47"/>
        <pc:sldMkLst>
          <pc:docMk/>
          <pc:sldMk cId="0" sldId="277"/>
        </pc:sldMkLst>
      </pc:sldChg>
      <pc:sldChg chg="del">
        <pc:chgData name="Karla Eugenia Medina Diaz" userId="31c1db5119534f48" providerId="LiveId" clId="{5C899618-0CE1-4E3A-ADD1-06091A6D8A5C}" dt="2026-05-22T02:17:49.526" v="0" actId="47"/>
        <pc:sldMkLst>
          <pc:docMk/>
          <pc:sldMk cId="3934853724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00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583680" y="2286000"/>
            <a:ext cx="2926080" cy="2926080"/>
          </a:xfrm>
          <a:prstGeom prst="ellipse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TEMA 2 DE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de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Modelos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</a:t>
            </a:r>
            <a:r>
              <a:rPr lang="en-US" sz="1400" i="1" dirty="0" err="1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Learning para </a:t>
            </a:r>
            <a:r>
              <a:rPr lang="en-US" sz="1400" i="1" dirty="0" err="1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201168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⏱  10 horas de clase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BC9C">
              <a:alpha val="4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Módulo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09728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73152" cy="69494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457200" cy="457200"/>
          </a:xfrm>
          <a:prstGeom prst="ellipse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97840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Escalamiento y Normalización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73152" cy="69494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457200" cy="4572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1773936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Transformaciones Log, Box-Cox y Yeo-Johnson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459736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65760" y="2459736"/>
            <a:ext cx="73152" cy="6949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502920" y="2578608"/>
            <a:ext cx="457200" cy="4572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029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2569464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Codificación de Variables Categóricas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255264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65760" y="3255264"/>
            <a:ext cx="73152" cy="6949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502920" y="3374136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029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3364992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Variables Dummy y Derivadas Actuariales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4050792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365760" y="4050792"/>
            <a:ext cx="73152" cy="69494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502920" y="4169664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5029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" y="416052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Feature Engineering Actuarial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</a:rPr>
              <a:t>¿Por Qué Transformar los Datos?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46304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</a:rPr>
              <a:t>Los datos crudos rara vez están listos para ser usados directamente en modelos. Las transformaciones mejoran la calidad, comparabilidad e interpretabilidad de las variables.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Escala Comparable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3774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Variables en distintas unidades (edad en años vs. monto en millones) distorsionan los modelos.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1508760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218688" y="150876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218688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0128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Distribución Adecuada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23774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Muchos modelos asumen normalidad. Datos asimétricos de siniestros requieren transformación.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3056" y="1508760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163056" y="150876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163056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54496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Variables Categóricas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23774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Los algoritmos matemáticos no entienden texto. Se debe convertir 'Tipo de Seguro' a números.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172968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274320" y="3172968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274320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Crear Nuevas Variables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La antigüedad del cliente, la exposición y la edad derivada son más informativas que las fechas crudas.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8688" y="3172968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218688" y="3172968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218688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10128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Capturar Patrones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28416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La estacionalidad, efectos de día de semana y tendencias mejoran la predicción de siniestros.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63056" y="3172968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6163056" y="3172968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163056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54496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Reducir Sesgo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Variables con outliers extremos (montos de siniestros) pueden dominar y distorsionar el modelo.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6C3483">
              <a:alpha val="40000"/>
            </a:srgbClr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4114800" cy="4114800"/>
          </a:xfrm>
          <a:prstGeom prst="ellipse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2.5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BC9C"/>
                </a:solidFill>
              </a:rPr>
              <a:t>Segmentación de riesgo · Efectos calendario · Estacionalidad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1ABC9C">
              <a:alpha val="4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44AD"/>
                </a:solidFill>
              </a:rPr>
              <a:t>2.5 — Segmentación de Riesgo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Crear bandas o grupos de riesgo a partir de variables continuas para capturar relaciones no lineales y facilitar la interpretación actuarial.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8595360" cy="3520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Continua (valor)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Segmento de Riesgo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Lógica Actuarial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Edad conductor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16–25 años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Riesgo ALTO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Inexperiencia y comportamiento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Edad conductor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26–60 años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Riesgo NORMAL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Referencia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Edad conductor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61–70 años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Riesgo MODERADO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Inicio de deterioro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Edad conductor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71+ años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Riesgo ALTO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Reflejos y visión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IMC (salud)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&lt; 18.5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Riesgo MODERADO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Bajo peso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IMC (salud)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18.5–24.9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Riesgo BAJO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Normal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IMC (salud)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25.0–29.9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Riesgo MODERADO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Sobrepeso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IMC (salud)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≥ 30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Riesgo ALTO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Obesidad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solidFill>
            <a:srgbClr val="8E44AD">
              <a:alpha val="12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44AD"/>
                </a:solidFill>
              </a:rPr>
              <a:t>💡  Código Python: pd.cut(df['edad'], bins=[16,25,60,70,120], labels=['Alto','Normal','Moderado','Alto'])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44AD"/>
                </a:solidFill>
              </a:rPr>
              <a:t>2.5 — Efectos Calendario y Estacionalidad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El tiempo tiene patrones que impactan la siniestralidad. Extraer variables del calendario es una práctica fundamental en actuaría.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2788920" cy="36118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278892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Variables Temporales Básicas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691640"/>
            <a:ext cx="2560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• Mes del año (1-12)
• Día de la semana (Lunes=0)
• Trimestre (1-4)
• Semana del año (1-52)
• ¿Es fin de semana? (0/1)
• ¿Es festivo? (0/1)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207008"/>
            <a:ext cx="2788920" cy="36118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218688" y="1207008"/>
            <a:ext cx="27889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310128" y="12070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🚗 Estacionalidad en Autos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691640"/>
            <a:ext cx="2560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• Dic-Ene: +30% siniestros (lluvia, posadas)
• Semana Santa: +25% (carreteras)
• Verano: más viajes largos
• Lunes: mayor frecuencia de reportes
• Viernes noche: mayor severidad
• Madrugada: siniestros más severos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207008"/>
            <a:ext cx="2788920" cy="36118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163056" y="1207008"/>
            <a:ext cx="278892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254496" y="12070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🏥 Estacionalidad en Salud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2784" y="1691640"/>
            <a:ext cx="2560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• Dic-Ene: gripe, enfermedades respiratorias
• Mar-Abr: alergias primaverales
• Jul-Ago: accidentes de verano
• Fin de año: picos de cirugías electivas
• Enero: reactivación médica
• Mayo: revisiones preventivas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Variables de tiempo se extraen de la fecha con: df['mes'] = df['fecha'].dt.month  |  df['dia_semana'] = df['fecha'].dt.dayofweek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44AD"/>
                </a:solidFill>
              </a:rPr>
              <a:t>2.5 — Feature Engineering: Ratios y Combinaciones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035041"/>
              </p:ext>
            </p:extLst>
          </p:nvPr>
        </p:nvGraphicFramePr>
        <p:xfrm>
          <a:off x="274320" y="749808"/>
          <a:ext cx="8595360" cy="37673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Nueva Variable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Fórmula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¿Por qué es útil?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8E44AD"/>
                          </a:solidFill>
                        </a:rPr>
                        <a:t>Frecuencia_Siniestros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N_Siniestros / Exposición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Tasa de siniestros comparable entre asegurados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8E44AD"/>
                          </a:solidFill>
                        </a:rPr>
                        <a:t>Severidad_Media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Monto_Total / N_Siniestros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Costo promedio por siniestro del asegurado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8E44AD"/>
                          </a:solidFill>
                        </a:rPr>
                        <a:t>Índice_Combinado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(Siniestros + Gastos) / Prima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Rentabilidad de la póliza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8E44AD"/>
                          </a:solidFill>
                        </a:rPr>
                        <a:t>Ratio_Prima_SA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Prima_Anual / Suma_Asegurada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Detección de subvaluación o sobrevaluación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8E44AD"/>
                          </a:solidFill>
                        </a:rPr>
                        <a:t>Tasa de Perdida (loss ratio)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Monto_Siniestros / Prima_Devengada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Eficiencia técnica del portafolio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8E44AD"/>
                          </a:solidFill>
                        </a:rPr>
                        <a:t>NCD_Score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Años_sin_siniestro × 0.05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Descuento No-Claims: penaliza historial malo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8E44AD"/>
                          </a:solidFill>
                        </a:rPr>
                        <a:t>Edad_Vehículo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Año_Actual − Año_Modelo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</a:rPr>
                        <a:t>Depreciation y riesgo de falla mecánica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solidFill>
            <a:srgbClr val="1ABC9C">
              <a:alpha val="1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3D62"/>
                </a:solidFill>
              </a:rPr>
              <a:t>🔑  Principio: El conocimiento del negocio (dominio actuarial) guía la creación de features. Un buen feature puede valer más que 10 variables crudas.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3D62"/>
                </a:solidFill>
              </a:rPr>
              <a:t>Resumen: ¿Cuándo usar cada técnica?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201168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42519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Técnica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¿Cuándo?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¿Cuándo NO?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Ejemplo Actuarial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A3D62"/>
                          </a:solidFill>
                        </a:rPr>
                        <a:t>Min-Max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Rango conocido, sin outliers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Datos con outliers extremos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Edad (18-80), # coberturas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A3D62"/>
                          </a:solidFill>
                        </a:rPr>
                        <a:t>Z-Score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Datos ~ normales, comparación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Distribuciones muy asimétricas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Años antigüedad cliente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A3D62"/>
                          </a:solidFill>
                        </a:rPr>
                        <a:t>Log(Y+1)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Y&gt;0 asimétrica, cola derecha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Y puede ser negativo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Monto siniestros autos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A3D62"/>
                          </a:solidFill>
                        </a:rPr>
                        <a:t>Box-Cox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Y&gt;0, asimetría variable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Y=0 o Y&lt;0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Prima anual, suma asegurada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A3D62"/>
                          </a:solidFill>
                        </a:rPr>
                        <a:t>Yeo-Johnson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Cualquier valor de 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Cuando se necesita interpretabilidad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Cambio en reservas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A3D62"/>
                          </a:solidFill>
                        </a:rPr>
                        <a:t>One-Hot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Categorías sin orden, pocas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Alta cardinalidad (&gt;20 cat.)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Tipo de cobertura, sexo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A3D62"/>
                          </a:solidFill>
                        </a:rPr>
                        <a:t>Label Enc.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Variables ordinales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Categorías nominales sin orden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Nivel riesgo: Bajo/Medio/Alto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A3D62"/>
                          </a:solidFill>
                        </a:rPr>
                        <a:t>Target Enc.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Alta cardinalidad + target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Datos insuficientes por categoría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Municipio, código postal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A3D62"/>
                          </a:solidFill>
                        </a:rPr>
                        <a:t>Segmentación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Relación no lineal con target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Si relación es lineal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</a:rPr>
                        <a:t>Edad conductor → riesgo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3D62"/>
                </a:solidFill>
              </a:rPr>
              <a:t>Pipeline de Transformación Actuarial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201168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1005840" cy="1005840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56032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" y="2148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F8C8D"/>
                </a:solidFill>
              </a:rPr>
              <a:t>Datos Crudos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4592" y="2532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Fechas, textos,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montos en bruto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61872" y="1554480"/>
            <a:ext cx="23774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499616" y="1051560"/>
            <a:ext cx="1005840" cy="10058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499616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08176" y="2148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9C12"/>
                </a:solidFill>
              </a:rPr>
              <a:t>Derivadas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08176" y="2532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Edad, exposición,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antigüedad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05456" y="1554480"/>
            <a:ext cx="23774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2743200" y="1051560"/>
            <a:ext cx="1005840" cy="10058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74320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51760" y="2148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BC9C"/>
                </a:solidFill>
              </a:rPr>
              <a:t>Codificación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2532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One-Hot, Label,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Target Encoding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1554480"/>
            <a:ext cx="23774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986784" y="1051560"/>
            <a:ext cx="1005840" cy="10058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986784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95344" y="2148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6CA8"/>
                </a:solidFill>
              </a:rPr>
              <a:t>Transformación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95344" y="2532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Log, Box-Cox,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Yeo-Johnson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92624" y="1554480"/>
            <a:ext cx="23774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5230368" y="1051560"/>
            <a:ext cx="1005840" cy="1005840"/>
          </a:xfrm>
          <a:prstGeom prst="ellipse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230368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38928" y="2148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62"/>
                </a:solidFill>
              </a:rPr>
              <a:t>Escalamiento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38928" y="2532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Z-Score 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Min-Max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6208" y="1554480"/>
            <a:ext cx="23774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6473952" y="1051560"/>
            <a:ext cx="1005840" cy="10058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473952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82512" y="2148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E44AD"/>
                </a:solidFill>
              </a:rPr>
              <a:t>FE Avanzado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82512" y="2532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Ratios, calendario,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segmentación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79792" y="1554480"/>
            <a:ext cx="23774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7717536" y="1051560"/>
            <a:ext cx="1005840" cy="10058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7717536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626096" y="2148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</a:rPr>
              <a:t>Datos Listos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626096" y="2532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Dataset preparado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para modelo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31272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</a:rPr>
              <a:t>Orden Recomendado y Reglas de Oro: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3547872"/>
            <a:ext cx="256032" cy="25603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41148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" y="35478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Primero derivar variables actuariales (antes de escalar)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3858768"/>
            <a:ext cx="256032" cy="25603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411480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" y="38587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Codificar categóricas antes de escalar (para no mezclar tipos)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4169664"/>
            <a:ext cx="256032" cy="25603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41148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" y="416966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Transformar asimetría antes de escalar (para que el escalado sea efectivo)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480" y="4480560"/>
            <a:ext cx="256032" cy="25603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41148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7240" y="4480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Escalar al final, justo antes de entrenar el modelo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4791456"/>
            <a:ext cx="256032" cy="25603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411480" y="4791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7240" y="479145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NUNCA calcular parámetros de escala con datos de prueba — solo con datos de entrenamiento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1018</Words>
  <Application>Microsoft Office PowerPoint</Application>
  <PresentationFormat>Presentación en pantalla (16:9)</PresentationFormat>
  <Paragraphs>205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3: Transformaciones de Datos para Modelos Predictivos</dc:title>
  <dc:subject>PptxGenJS Presentation</dc:subject>
  <dc:creator>Diplomado de Ciencia Actuarial</dc:creator>
  <cp:lastModifiedBy>Karla Eugenia Medina Diaz</cp:lastModifiedBy>
  <cp:revision>2</cp:revision>
  <dcterms:created xsi:type="dcterms:W3CDTF">2026-05-22T01:16:30Z</dcterms:created>
  <dcterms:modified xsi:type="dcterms:W3CDTF">2026-05-23T15:14:16Z</dcterms:modified>
</cp:coreProperties>
</file>