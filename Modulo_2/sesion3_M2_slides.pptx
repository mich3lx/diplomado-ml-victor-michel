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1" r:id="rId2"/>
    <p:sldId id="282" r:id="rId3"/>
    <p:sldId id="256" r:id="rId4"/>
    <p:sldId id="257" r:id="rId5"/>
    <p:sldId id="258" r:id="rId6"/>
    <p:sldId id="273" r:id="rId7"/>
    <p:sldId id="274" r:id="rId8"/>
    <p:sldId id="275" r:id="rId9"/>
    <p:sldId id="288" r:id="rId10"/>
    <p:sldId id="276" r:id="rId11"/>
    <p:sldId id="278" r:id="rId12"/>
    <p:sldId id="279" r:id="rId13"/>
    <p:sldId id="28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D5D58-303F-4B16-A945-113E7BC363F8}" v="1" dt="2026-05-21T02:10:48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Eugenia Medina Diaz" userId="31c1db5119534f48" providerId="LiveId" clId="{5C899618-0CE1-4E3A-ADD1-06091A6D8A5C}"/>
    <pc:docChg chg="custSel addSld delSld modSld">
      <pc:chgData name="Karla Eugenia Medina Diaz" userId="31c1db5119534f48" providerId="LiveId" clId="{5C899618-0CE1-4E3A-ADD1-06091A6D8A5C}" dt="2026-05-21T02:32:29.329" v="23" actId="47"/>
      <pc:docMkLst>
        <pc:docMk/>
      </pc:docMkLst>
      <pc:sldChg chg="del">
        <pc:chgData name="Karla Eugenia Medina Diaz" userId="31c1db5119534f48" providerId="LiveId" clId="{5C899618-0CE1-4E3A-ADD1-06091A6D8A5C}" dt="2026-05-21T00:12:07.983" v="1" actId="47"/>
        <pc:sldMkLst>
          <pc:docMk/>
          <pc:sldMk cId="0" sldId="277"/>
        </pc:sldMkLst>
      </pc:sldChg>
      <pc:sldChg chg="delSp mod">
        <pc:chgData name="Karla Eugenia Medina Diaz" userId="31c1db5119534f48" providerId="LiveId" clId="{5C899618-0CE1-4E3A-ADD1-06091A6D8A5C}" dt="2026-05-21T00:12:26.001" v="5" actId="478"/>
        <pc:sldMkLst>
          <pc:docMk/>
          <pc:sldMk cId="0" sldId="279"/>
        </pc:sldMkLst>
        <pc:spChg chg="del">
          <ac:chgData name="Karla Eugenia Medina Diaz" userId="31c1db5119534f48" providerId="LiveId" clId="{5C899618-0CE1-4E3A-ADD1-06091A6D8A5C}" dt="2026-05-21T00:12:18.020" v="2" actId="478"/>
          <ac:spMkLst>
            <pc:docMk/>
            <pc:sldMk cId="0" sldId="279"/>
            <ac:spMk id="13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1T00:12:26.001" v="5" actId="478"/>
          <ac:spMkLst>
            <pc:docMk/>
            <pc:sldMk cId="0" sldId="279"/>
            <ac:spMk id="14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1T00:12:19.706" v="3" actId="478"/>
          <ac:spMkLst>
            <pc:docMk/>
            <pc:sldMk cId="0" sldId="279"/>
            <ac:spMk id="15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1T00:12:22.912" v="4" actId="478"/>
          <ac:spMkLst>
            <pc:docMk/>
            <pc:sldMk cId="0" sldId="279"/>
            <ac:spMk id="16" creationId="{00000000-0000-0000-0000-000000000000}"/>
          </ac:spMkLst>
        </pc:spChg>
      </pc:sldChg>
      <pc:sldChg chg="addSp modSp new del mod">
        <pc:chgData name="Karla Eugenia Medina Diaz" userId="31c1db5119534f48" providerId="LiveId" clId="{5C899618-0CE1-4E3A-ADD1-06091A6D8A5C}" dt="2026-05-21T02:32:26.476" v="21" actId="47"/>
        <pc:sldMkLst>
          <pc:docMk/>
          <pc:sldMk cId="916565688" sldId="289"/>
        </pc:sldMkLst>
        <pc:spChg chg="add mod">
          <ac:chgData name="Karla Eugenia Medina Diaz" userId="31c1db5119534f48" providerId="LiveId" clId="{5C899618-0CE1-4E3A-ADD1-06091A6D8A5C}" dt="2026-05-21T02:10:05.295" v="10" actId="1076"/>
          <ac:spMkLst>
            <pc:docMk/>
            <pc:sldMk cId="916565688" sldId="289"/>
            <ac:spMk id="5" creationId="{7ABA81FD-6C34-2852-AEEF-6CF371A7F678}"/>
          </ac:spMkLst>
        </pc:spChg>
        <pc:picChg chg="add mod">
          <ac:chgData name="Karla Eugenia Medina Diaz" userId="31c1db5119534f48" providerId="LiveId" clId="{5C899618-0CE1-4E3A-ADD1-06091A6D8A5C}" dt="2026-05-21T02:10:02.579" v="9" actId="14100"/>
          <ac:picMkLst>
            <pc:docMk/>
            <pc:sldMk cId="916565688" sldId="289"/>
            <ac:picMk id="3" creationId="{D28A4AE7-D1F5-7BA2-961F-E08B305144BC}"/>
          </ac:picMkLst>
        </pc:picChg>
      </pc:sldChg>
      <pc:sldChg chg="addSp modSp new del mod">
        <pc:chgData name="Karla Eugenia Medina Diaz" userId="31c1db5119534f48" providerId="LiveId" clId="{5C899618-0CE1-4E3A-ADD1-06091A6D8A5C}" dt="2026-05-21T02:32:27.791" v="22" actId="47"/>
        <pc:sldMkLst>
          <pc:docMk/>
          <pc:sldMk cId="72170066" sldId="290"/>
        </pc:sldMkLst>
        <pc:picChg chg="add mod">
          <ac:chgData name="Karla Eugenia Medina Diaz" userId="31c1db5119534f48" providerId="LiveId" clId="{5C899618-0CE1-4E3A-ADD1-06091A6D8A5C}" dt="2026-05-21T02:10:58.186" v="19" actId="1076"/>
          <ac:picMkLst>
            <pc:docMk/>
            <pc:sldMk cId="72170066" sldId="290"/>
            <ac:picMk id="3" creationId="{54C19D8D-6F8B-1CE3-8BE6-F3F4C755B291}"/>
          </ac:picMkLst>
        </pc:picChg>
        <pc:picChg chg="add mod">
          <ac:chgData name="Karla Eugenia Medina Diaz" userId="31c1db5119534f48" providerId="LiveId" clId="{5C899618-0CE1-4E3A-ADD1-06091A6D8A5C}" dt="2026-05-21T02:10:53.791" v="17" actId="14100"/>
          <ac:picMkLst>
            <pc:docMk/>
            <pc:sldMk cId="72170066" sldId="290"/>
            <ac:picMk id="4" creationId="{5BCB962A-3AD5-0DE5-925C-BFBC9612056E}"/>
          </ac:picMkLst>
        </pc:picChg>
      </pc:sldChg>
      <pc:sldChg chg="new del">
        <pc:chgData name="Karla Eugenia Medina Diaz" userId="31c1db5119534f48" providerId="LiveId" clId="{5C899618-0CE1-4E3A-ADD1-06091A6D8A5C}" dt="2026-05-21T02:32:29.329" v="23" actId="47"/>
        <pc:sldMkLst>
          <pc:docMk/>
          <pc:sldMk cId="3830218086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70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3420-6E75-A375-DECE-62816D89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3E02C-A56C-7A9B-E4BC-73E0AB8AB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4D9E9-D253-765E-3DF6-2F9F8E43F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2B80C-95B8-7FD5-FD9D-02DAC2B7B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5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EA9E-B575-FBF9-5FBD-1564F560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1F25D-0364-A381-2575-BC518828C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790D-B88E-527B-205F-44122146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25B8-146E-4095-873F-BF4BC532E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5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A303-1C0B-160E-71FA-09AA0F31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C505C-B59C-59D4-A338-8D601BD4B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3F68F-050A-2FDC-0D1C-354B76071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B3B42-251E-6376-8731-9BBB54E0A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95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AC1C-26B1-15D3-4EA0-0B7D6E5D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6AD23A-A01B-BD84-43C9-90AAACABECC1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76FC3F-E642-2178-4C89-6939E1E19E55}"/>
              </a:ext>
            </a:extLst>
          </p:cNvPr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8250AE-C86B-F63A-02B4-570C4201354B}"/>
              </a:ext>
            </a:extLst>
          </p:cNvPr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</a:p>
          <a:p>
            <a:pPr marL="0" indent="0">
              <a:buNone/>
            </a:pPr>
            <a:r>
              <a:rPr lang="en-US" sz="4200" b="1" kern="0" spc="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4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84431E-C184-5794-F14D-6CA3E23E80E2}"/>
              </a:ext>
            </a:extLst>
          </p:cNvPr>
          <p:cNvSpPr/>
          <p:nvPr/>
        </p:nvSpPr>
        <p:spPr>
          <a:xfrm>
            <a:off x="91440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9CD7F3-EC1A-F52F-D1B6-C7BE43A3E0EB}"/>
              </a:ext>
            </a:extLst>
          </p:cNvPr>
          <p:cNvSpPr/>
          <p:nvPr/>
        </p:nvSpPr>
        <p:spPr>
          <a:xfrm>
            <a:off x="914400" y="301752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B7780F3-9D6D-90AE-9332-79C67C9C5E3D}"/>
              </a:ext>
            </a:extLst>
          </p:cNvPr>
          <p:cNvSpPr/>
          <p:nvPr/>
        </p:nvSpPr>
        <p:spPr>
          <a:xfrm>
            <a:off x="914400" y="3218687"/>
            <a:ext cx="7772400" cy="924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 may - 20 may)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 may – 27 may)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(29 may – 03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(05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10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estadísticasTemario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17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01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68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0116D-A5FA-5FA5-712A-70D256B2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5A4A77-89C9-1574-C8B5-0BC036760AF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A98277-C3AE-4768-92D7-536B438BCA0F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E5269D-4A20-BF7A-F161-0960346BDEE2}"/>
              </a:ext>
            </a:extLst>
          </p:cNvPr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9CB7DD-2FB6-35C6-8825-9F8EC1550E6F}"/>
              </a:ext>
            </a:extLst>
          </p:cNvPr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  <a:endParaRPr lang="en-US" sz="4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0DC2BC-E8F2-5562-2D8E-D7FD3622E629}"/>
              </a:ext>
            </a:extLst>
          </p:cNvPr>
          <p:cNvSpPr/>
          <p:nvPr/>
        </p:nvSpPr>
        <p:spPr>
          <a:xfrm>
            <a:off x="457200" y="2424215"/>
            <a:ext cx="8229600" cy="1987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</a:t>
            </a:r>
            <a:endParaRPr lang="en-US" sz="2600" dirty="0">
              <a:solidFill>
                <a:srgbClr val="A8D8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Medina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Hernández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 Zamora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Bello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DA70E3-FF0B-D937-7FDC-304443351C6E}"/>
              </a:ext>
            </a:extLst>
          </p:cNvPr>
          <p:cNvSpPr txBox="1"/>
          <p:nvPr/>
        </p:nvSpPr>
        <p:spPr>
          <a:xfrm>
            <a:off x="4452426" y="2424215"/>
            <a:ext cx="4382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Actuaría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Finanzas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Ciencias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Doctora en Economía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Turismo Sostenible</a:t>
            </a:r>
          </a:p>
        </p:txBody>
      </p:sp>
    </p:spTree>
    <p:extLst>
      <p:ext uri="{BB962C8B-B14F-4D97-AF65-F5344CB8AC3E}">
        <p14:creationId xmlns:p14="http://schemas.microsoft.com/office/powerpoint/2010/main" val="391260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Datos Aseguradores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· Visualización · Estrategias de Manejo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10 horas  |  Nivel Actuarial y Seguros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Temas: Métodos Estadísticos · Visualización · Manejo · Aplicaciones en Seguros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Curso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outlier? Importancia en seguros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Estadísticos: Z-Score, MAD, IQR, Percentiles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67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Boxplots, Scatterplots, Q-Q, Densidad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709160" y="118872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70916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Manejo: Eliminación, Winsorización, Transformaciones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709160" y="228600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70916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Seguros: Frecuencia/Severidad, Pareto, Por línea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709160" y="3383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767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prácticos con Python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Valor Atípico (Outlier)?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observación que se desvía significativamente del resto del conjunto de datos.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96596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incorrecta, error de digitación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9659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51460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Reclamaciones falsas o infladas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600200"/>
            <a:ext cx="1965960" cy="54864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Extremo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Catástrofes naturales, mega-siniestros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812280" y="1600200"/>
            <a:ext cx="19659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81228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Tendencia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tendencias o mercados emergentes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seguros, no todos los outliers son errores. Algunos representan riesgos catastróficos reales que deben modelarse con cuidado.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Datos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Frecuencia vs Severidad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Outliers por Tipo de Seguro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Regla de Pareto 80/20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SEGUROS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Frecuencia vs. Severidad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57200" y="1024128"/>
                <a:ext cx="82296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A234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Siniestralidad= Número de Siniestros × </a:t>
                </a:r>
                <a:r>
                  <a:rPr lang="en-US" sz="1500" b="1" dirty="0" err="1">
                    <a:solidFill>
                      <a:srgbClr val="0A234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Severidad</a:t>
                </a:r>
                <a:r>
                  <a:rPr lang="en-US" sz="1500" b="1" dirty="0">
                    <a:solidFill>
                      <a:srgbClr val="0A234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500" b="1" dirty="0" err="1">
                    <a:solidFill>
                      <a:srgbClr val="0A234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Promedio</a:t>
                </a:r>
                <a:r>
                  <a:rPr lang="en-US" sz="1500" b="1" dirty="0">
                    <a:solidFill>
                      <a:srgbClr val="0A234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</a:t>
                </a:r>
                <a14:m>
                  <m:oMath xmlns:m="http://schemas.openxmlformats.org/officeDocument/2006/math">
                    <m:r>
                      <a:rPr lang="es-MX" sz="1500" b="1" i="1" smtClean="0">
                        <a:solidFill>
                          <a:srgbClr val="0A234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𝒏</m:t>
                    </m:r>
                    <m:r>
                      <a:rPr lang="es-MX" sz="1500" b="1" i="1" smtClean="0">
                        <a:solidFill>
                          <a:srgbClr val="0A234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s-MX" sz="1500" b="1" i="1" smtClean="0">
                        <a:solidFill>
                          <a:srgbClr val="0A234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𝑬</m:t>
                    </m:r>
                    <m:d>
                      <m:dPr>
                        <m:ctrlPr>
                          <a:rPr lang="es-MX" sz="1500" b="1" i="1" smtClean="0">
                            <a:solidFill>
                              <a:srgbClr val="0A234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s-MX" sz="1500" b="1" i="1" smtClean="0">
                            <a:solidFill>
                              <a:srgbClr val="0A234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𝒙</m:t>
                        </m:r>
                      </m:e>
                    </m:d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24128"/>
                <a:ext cx="8229600" cy="475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36576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FRECUENCIA: BAJA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ALTA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Catástrofes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huracán → pérdida $500M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27832" y="1691640"/>
            <a:ext cx="274320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27832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19272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FRECUENCIA: ALTA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BAJA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menores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9272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auto · $15000 c/u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89904" y="1691640"/>
            <a:ext cx="274320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089904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81344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FRECUENCIA: ALTA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ALTA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1344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Pánico / Crisis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81344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Pandemia: muchas reclamaciones, montos altos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9.4</a:t>
            </a:r>
            <a:endParaRPr lang="en-US" sz="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SEGUROS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</a:t>
            </a:r>
            <a:r>
              <a:rPr lang="en-US" sz="24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24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2400" dirty="0"/>
          </a:p>
        </p:txBody>
      </p: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id="{77A759D5-5FB9-033E-9A4F-BA36173A9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62062"/>
              </p:ext>
            </p:extLst>
          </p:nvPr>
        </p:nvGraphicFramePr>
        <p:xfrm>
          <a:off x="429768" y="1278303"/>
          <a:ext cx="7951764" cy="1569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3419">
                  <a:extLst>
                    <a:ext uri="{9D8B030D-6E8A-4147-A177-3AD203B41FA5}">
                      <a16:colId xmlns:a16="http://schemas.microsoft.com/office/drawing/2014/main" val="373635576"/>
                    </a:ext>
                  </a:extLst>
                </a:gridCol>
                <a:gridCol w="3228536">
                  <a:extLst>
                    <a:ext uri="{9D8B030D-6E8A-4147-A177-3AD203B41FA5}">
                      <a16:colId xmlns:a16="http://schemas.microsoft.com/office/drawing/2014/main" val="1420378510"/>
                    </a:ext>
                  </a:extLst>
                </a:gridCol>
                <a:gridCol w="2869809">
                  <a:extLst>
                    <a:ext uri="{9D8B030D-6E8A-4147-A177-3AD203B41FA5}">
                      <a16:colId xmlns:a16="http://schemas.microsoft.com/office/drawing/2014/main" val="3532576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Distribución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Cuándo usar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 err="1">
                          <a:solidFill>
                            <a:schemeClr val="bg1"/>
                          </a:solidFill>
                        </a:rPr>
                        <a:t>Outlier</a:t>
                      </a:r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 como…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90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/>
                        <a:t>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Número de siniestros con tasa constante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Un año con 3x más siniestros de lo habitual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4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/>
                        <a:t>Binomial Negativa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Cuando hay </a:t>
                      </a:r>
                      <a:r>
                        <a:rPr lang="es-MX" sz="1200" dirty="0" err="1"/>
                        <a:t>sobredispersión</a:t>
                      </a:r>
                      <a:r>
                        <a:rPr lang="es-MX" sz="1200" dirty="0"/>
                        <a:t> (varianza&gt;media)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Cluster de siniestros inusuales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099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/>
                        <a:t>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Número de eventos en población fija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Una póliza con múltiples siniestros pequeños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919743"/>
                  </a:ext>
                </a:extLst>
              </a:tr>
            </a:tbl>
          </a:graphicData>
        </a:graphic>
      </p:graphicFrame>
      <p:sp>
        <p:nvSpPr>
          <p:cNvPr id="54" name="Text 4">
            <a:extLst>
              <a:ext uri="{FF2B5EF4-FFF2-40B4-BE49-F238E27FC236}">
                <a16:creationId xmlns:a16="http://schemas.microsoft.com/office/drawing/2014/main" id="{48B2924D-1B4F-69FB-FDD0-1FDEB87E223D}"/>
              </a:ext>
            </a:extLst>
          </p:cNvPr>
          <p:cNvSpPr/>
          <p:nvPr/>
        </p:nvSpPr>
        <p:spPr>
          <a:xfrm>
            <a:off x="429768" y="878654"/>
            <a:ext cx="554900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</a:t>
            </a: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Comunes</a:t>
            </a:r>
            <a:endParaRPr lang="en-US" sz="1500" dirty="0"/>
          </a:p>
        </p:txBody>
      </p:sp>
      <p:graphicFrame>
        <p:nvGraphicFramePr>
          <p:cNvPr id="55" name="Tabla 54">
            <a:extLst>
              <a:ext uri="{FF2B5EF4-FFF2-40B4-BE49-F238E27FC236}">
                <a16:creationId xmlns:a16="http://schemas.microsoft.com/office/drawing/2014/main" id="{ABA9FF1C-7C4F-0085-9B13-5F5BD77B8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907382"/>
              </p:ext>
            </p:extLst>
          </p:nvPr>
        </p:nvGraphicFramePr>
        <p:xfrm>
          <a:off x="429768" y="3247672"/>
          <a:ext cx="795176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3419">
                  <a:extLst>
                    <a:ext uri="{9D8B030D-6E8A-4147-A177-3AD203B41FA5}">
                      <a16:colId xmlns:a16="http://schemas.microsoft.com/office/drawing/2014/main" val="373635576"/>
                    </a:ext>
                  </a:extLst>
                </a:gridCol>
                <a:gridCol w="3228536">
                  <a:extLst>
                    <a:ext uri="{9D8B030D-6E8A-4147-A177-3AD203B41FA5}">
                      <a16:colId xmlns:a16="http://schemas.microsoft.com/office/drawing/2014/main" val="1420378510"/>
                    </a:ext>
                  </a:extLst>
                </a:gridCol>
                <a:gridCol w="2869809">
                  <a:extLst>
                    <a:ext uri="{9D8B030D-6E8A-4147-A177-3AD203B41FA5}">
                      <a16:colId xmlns:a16="http://schemas.microsoft.com/office/drawing/2014/main" val="3532576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Distribución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Aplicación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Manejo de </a:t>
                      </a:r>
                      <a:r>
                        <a:rPr lang="es-MX" sz="1200" dirty="0" err="1">
                          <a:solidFill>
                            <a:schemeClr val="bg1"/>
                          </a:solidFill>
                        </a:rPr>
                        <a:t>outliers</a:t>
                      </a:r>
                      <a:endParaRPr lang="es-MX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90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 err="1"/>
                        <a:t>Lognormal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Siniestros de propiedad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Log transforma bien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4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/>
                        <a:t>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Catástrofes, colas pesadas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No </a:t>
                      </a:r>
                      <a:r>
                        <a:rPr lang="es-MX" sz="1200" dirty="0" err="1"/>
                        <a:t>winsorizarla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099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Siniestros de autos (moderada)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Log o Box-Cox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91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200" dirty="0"/>
                        <a:t>GPD (Pareto Generalizada)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Valores sobre umbral alto (EVT)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Modela </a:t>
                      </a:r>
                      <a:r>
                        <a:rPr lang="es-MX" sz="1200"/>
                        <a:t>explicitamente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260359"/>
                  </a:ext>
                </a:extLst>
              </a:tr>
            </a:tbl>
          </a:graphicData>
        </a:graphic>
      </p:graphicFrame>
      <p:sp>
        <p:nvSpPr>
          <p:cNvPr id="56" name="Text 4">
            <a:extLst>
              <a:ext uri="{FF2B5EF4-FFF2-40B4-BE49-F238E27FC236}">
                <a16:creationId xmlns:a16="http://schemas.microsoft.com/office/drawing/2014/main" id="{3E627B95-12DC-2D20-6D06-FEEF80CAAC51}"/>
              </a:ext>
            </a:extLst>
          </p:cNvPr>
          <p:cNvSpPr/>
          <p:nvPr/>
        </p:nvSpPr>
        <p:spPr>
          <a:xfrm>
            <a:off x="429768" y="2848023"/>
            <a:ext cx="554900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</a:t>
            </a: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C693-0847-127D-26E9-E9A184A4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7A6787-D659-32BD-0AEC-22970C2054AC}"/>
              </a:ext>
            </a:extLst>
          </p:cNvPr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0DDDD5-238B-B99E-4D67-2EBAE848EBA6}"/>
              </a:ext>
            </a:extLst>
          </p:cNvPr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SEGUROS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078343-8538-9A2C-75D0-8BA7B6B4E248}"/>
              </a:ext>
            </a:extLst>
          </p:cNvPr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Outliers por Tipo de Seguro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75A276-988C-B54A-0E46-6F000EFD483F}"/>
              </a:ext>
            </a:extLst>
          </p:cNvPr>
          <p:cNvSpPr/>
          <p:nvPr/>
        </p:nvSpPr>
        <p:spPr>
          <a:xfrm>
            <a:off x="365760" y="1005840"/>
            <a:ext cx="137160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9CB186-9542-8209-D2A2-4E0AE9DD02EB}"/>
              </a:ext>
            </a:extLst>
          </p:cNvPr>
          <p:cNvSpPr/>
          <p:nvPr/>
        </p:nvSpPr>
        <p:spPr>
          <a:xfrm>
            <a:off x="41148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E6E16E5-0DDC-BA32-4732-3776EE3590A7}"/>
              </a:ext>
            </a:extLst>
          </p:cNvPr>
          <p:cNvSpPr/>
          <p:nvPr/>
        </p:nvSpPr>
        <p:spPr>
          <a:xfrm>
            <a:off x="1737360" y="1005840"/>
            <a:ext cx="182880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CB0DFF-4B3E-BB33-7256-D68A33B6DDC7}"/>
              </a:ext>
            </a:extLst>
          </p:cNvPr>
          <p:cNvSpPr/>
          <p:nvPr/>
        </p:nvSpPr>
        <p:spPr>
          <a:xfrm>
            <a:off x="1783080" y="1005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Típico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36CDA9F-8AFA-7542-E08A-246C2CE4C18E}"/>
              </a:ext>
            </a:extLst>
          </p:cNvPr>
          <p:cNvSpPr/>
          <p:nvPr/>
        </p:nvSpPr>
        <p:spPr>
          <a:xfrm>
            <a:off x="3566160" y="1005840"/>
            <a:ext cx="274320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BCBDEE-EA0C-CD41-8E84-8E806EC5EDCC}"/>
              </a:ext>
            </a:extLst>
          </p:cNvPr>
          <p:cNvSpPr/>
          <p:nvPr/>
        </p:nvSpPr>
        <p:spPr>
          <a:xfrm>
            <a:off x="361188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FF6C92-2196-75B9-7AAD-A5839ACF64FA}"/>
              </a:ext>
            </a:extLst>
          </p:cNvPr>
          <p:cNvSpPr/>
          <p:nvPr/>
        </p:nvSpPr>
        <p:spPr>
          <a:xfrm>
            <a:off x="6309360" y="1005840"/>
            <a:ext cx="23774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FAAAC4E-C02B-A1FB-781C-6E9A60EBC410}"/>
              </a:ext>
            </a:extLst>
          </p:cNvPr>
          <p:cNvSpPr/>
          <p:nvPr/>
        </p:nvSpPr>
        <p:spPr>
          <a:xfrm>
            <a:off x="635508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11F1360-8DB5-51C7-7FEC-5DE8DCF3360B}"/>
              </a:ext>
            </a:extLst>
          </p:cNvPr>
          <p:cNvSpPr/>
          <p:nvPr/>
        </p:nvSpPr>
        <p:spPr>
          <a:xfrm>
            <a:off x="365760" y="1353312"/>
            <a:ext cx="1371600" cy="621792"/>
          </a:xfrm>
          <a:prstGeom prst="rect">
            <a:avLst/>
          </a:prstGeom>
          <a:solidFill>
            <a:srgbClr val="12687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5EF8DB-6025-60AF-616D-AC83B8D064A8}"/>
              </a:ext>
            </a:extLst>
          </p:cNvPr>
          <p:cNvSpPr/>
          <p:nvPr/>
        </p:nvSpPr>
        <p:spPr>
          <a:xfrm>
            <a:off x="429768" y="1389888"/>
            <a:ext cx="1243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CAA3E76-D54A-5DE6-116E-FFD9C3E42623}"/>
              </a:ext>
            </a:extLst>
          </p:cNvPr>
          <p:cNvSpPr/>
          <p:nvPr/>
        </p:nvSpPr>
        <p:spPr>
          <a:xfrm>
            <a:off x="1737360" y="1353312"/>
            <a:ext cx="18288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BFA06EC-27E1-0897-83F5-CC7045D6ACED}"/>
              </a:ext>
            </a:extLst>
          </p:cNvPr>
          <p:cNvSpPr/>
          <p:nvPr/>
        </p:nvSpPr>
        <p:spPr>
          <a:xfrm>
            <a:off x="1801368" y="1389888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$50K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81125CE-1A48-C425-D311-D20F4EE4CEE7}"/>
              </a:ext>
            </a:extLst>
          </p:cNvPr>
          <p:cNvSpPr/>
          <p:nvPr/>
        </p:nvSpPr>
        <p:spPr>
          <a:xfrm>
            <a:off x="3566160" y="1353312"/>
            <a:ext cx="27432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8A8353-6A27-F16C-85CB-AF7A0C18020A}"/>
              </a:ext>
            </a:extLst>
          </p:cNvPr>
          <p:cNvSpPr/>
          <p:nvPr/>
        </p:nvSpPr>
        <p:spPr>
          <a:xfrm>
            <a:off x="3630168" y="1389888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 múltiple vehículos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09669F2-6F90-0ED0-75A2-8E64A844BBCD}"/>
              </a:ext>
            </a:extLst>
          </p:cNvPr>
          <p:cNvSpPr/>
          <p:nvPr/>
        </p:nvSpPr>
        <p:spPr>
          <a:xfrm>
            <a:off x="6309360" y="1353312"/>
            <a:ext cx="237744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C8A2954-6A64-5310-7274-E27875A0CCA0}"/>
              </a:ext>
            </a:extLst>
          </p:cNvPr>
          <p:cNvSpPr/>
          <p:nvPr/>
        </p:nvSpPr>
        <p:spPr>
          <a:xfrm>
            <a:off x="6373368" y="1389888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fraude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F5B8727-E3CD-E4FB-4A09-636ABAE0E88F}"/>
              </a:ext>
            </a:extLst>
          </p:cNvPr>
          <p:cNvSpPr/>
          <p:nvPr/>
        </p:nvSpPr>
        <p:spPr>
          <a:xfrm>
            <a:off x="365760" y="2011680"/>
            <a:ext cx="1371600" cy="621792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A9331BA-8F67-5FE1-6B55-169381A6E831}"/>
              </a:ext>
            </a:extLst>
          </p:cNvPr>
          <p:cNvSpPr/>
          <p:nvPr/>
        </p:nvSpPr>
        <p:spPr>
          <a:xfrm>
            <a:off x="429768" y="2048256"/>
            <a:ext cx="1243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715DAA3-4E35-496D-244B-6F46A17EF4CE}"/>
              </a:ext>
            </a:extLst>
          </p:cNvPr>
          <p:cNvSpPr/>
          <p:nvPr/>
        </p:nvSpPr>
        <p:spPr>
          <a:xfrm>
            <a:off x="1737360" y="2011680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AA2B9D0-27FD-C5FE-8355-E18F6614DD68}"/>
              </a:ext>
            </a:extLst>
          </p:cNvPr>
          <p:cNvSpPr/>
          <p:nvPr/>
        </p:nvSpPr>
        <p:spPr>
          <a:xfrm>
            <a:off x="1801368" y="2048256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$500K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B955056-847B-8BEE-4A9F-4DB1FA0976E7}"/>
              </a:ext>
            </a:extLst>
          </p:cNvPr>
          <p:cNvSpPr/>
          <p:nvPr/>
        </p:nvSpPr>
        <p:spPr>
          <a:xfrm>
            <a:off x="3566160" y="2011680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7CCD7C5-9DAB-556A-F0FC-FEC1183F3250}"/>
              </a:ext>
            </a:extLst>
          </p:cNvPr>
          <p:cNvSpPr/>
          <p:nvPr/>
        </p:nvSpPr>
        <p:spPr>
          <a:xfrm>
            <a:off x="3630168" y="2048256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Incendio, robo mayor</a:t>
            </a:r>
            <a:endParaRPr lang="en-US" sz="11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8666DC6-9BD4-018F-0C19-8772F17EB45E}"/>
              </a:ext>
            </a:extLst>
          </p:cNvPr>
          <p:cNvSpPr/>
          <p:nvPr/>
        </p:nvSpPr>
        <p:spPr>
          <a:xfrm>
            <a:off x="6309360" y="2011680"/>
            <a:ext cx="2377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5DAA44D-1D47-BA69-6545-544F7A30C631}"/>
              </a:ext>
            </a:extLst>
          </p:cNvPr>
          <p:cNvSpPr/>
          <p:nvPr/>
        </p:nvSpPr>
        <p:spPr>
          <a:xfrm>
            <a:off x="6373368" y="2048256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Catastrófico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36315D6-DEC1-07E2-F871-FAE1F881D2E5}"/>
              </a:ext>
            </a:extLst>
          </p:cNvPr>
          <p:cNvSpPr/>
          <p:nvPr/>
        </p:nvSpPr>
        <p:spPr>
          <a:xfrm>
            <a:off x="365760" y="2670048"/>
            <a:ext cx="1371600" cy="621792"/>
          </a:xfrm>
          <a:prstGeom prst="rect">
            <a:avLst/>
          </a:prstGeom>
          <a:solidFill>
            <a:srgbClr val="E67E2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F9F2D34-5256-1C77-22A9-2C407510C339}"/>
              </a:ext>
            </a:extLst>
          </p:cNvPr>
          <p:cNvSpPr/>
          <p:nvPr/>
        </p:nvSpPr>
        <p:spPr>
          <a:xfrm>
            <a:off x="429768" y="2706624"/>
            <a:ext cx="1243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5352EAB-9A4D-BD02-6A06-1E74843A4A7B}"/>
              </a:ext>
            </a:extLst>
          </p:cNvPr>
          <p:cNvSpPr/>
          <p:nvPr/>
        </p:nvSpPr>
        <p:spPr>
          <a:xfrm>
            <a:off x="1737360" y="2670048"/>
            <a:ext cx="18288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5ACE1F1-B80A-EE85-023A-3B87B453D2D4}"/>
              </a:ext>
            </a:extLst>
          </p:cNvPr>
          <p:cNvSpPr/>
          <p:nvPr/>
        </p:nvSpPr>
        <p:spPr>
          <a:xfrm>
            <a:off x="1801368" y="270662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Muerte joven</a:t>
            </a:r>
            <a:endParaRPr lang="en-US" sz="11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353EBB7-6405-E802-9BA7-A725060B610E}"/>
              </a:ext>
            </a:extLst>
          </p:cNvPr>
          <p:cNvSpPr/>
          <p:nvPr/>
        </p:nvSpPr>
        <p:spPr>
          <a:xfrm>
            <a:off x="3566160" y="2670048"/>
            <a:ext cx="27432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DB96010-049A-650E-0114-415EE237E5EA}"/>
              </a:ext>
            </a:extLst>
          </p:cNvPr>
          <p:cNvSpPr/>
          <p:nvPr/>
        </p:nvSpPr>
        <p:spPr>
          <a:xfrm>
            <a:off x="3630168" y="2706624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omisión en solicitud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9810E2F-0A80-C255-B7A8-EA0E54664EBD}"/>
              </a:ext>
            </a:extLst>
          </p:cNvPr>
          <p:cNvSpPr/>
          <p:nvPr/>
        </p:nvSpPr>
        <p:spPr>
          <a:xfrm>
            <a:off x="6309360" y="2670048"/>
            <a:ext cx="237744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23808C7-94FC-76D5-EAEC-456DB89698FE}"/>
              </a:ext>
            </a:extLst>
          </p:cNvPr>
          <p:cNvSpPr/>
          <p:nvPr/>
        </p:nvSpPr>
        <p:spPr>
          <a:xfrm>
            <a:off x="6373368" y="2706624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causa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4C6B0D4-0C6F-EEC6-2C89-A654AD304F9F}"/>
              </a:ext>
            </a:extLst>
          </p:cNvPr>
          <p:cNvSpPr/>
          <p:nvPr/>
        </p:nvSpPr>
        <p:spPr>
          <a:xfrm>
            <a:off x="365760" y="3328416"/>
            <a:ext cx="1371600" cy="621792"/>
          </a:xfrm>
          <a:prstGeom prst="rect">
            <a:avLst/>
          </a:prstGeom>
          <a:solidFill>
            <a:srgbClr val="2ECC7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6A46AA5-DDA4-5C76-6650-78BC281BEED0}"/>
              </a:ext>
            </a:extLst>
          </p:cNvPr>
          <p:cNvSpPr/>
          <p:nvPr/>
        </p:nvSpPr>
        <p:spPr>
          <a:xfrm>
            <a:off x="429768" y="3364992"/>
            <a:ext cx="1243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4D2B167-767F-1017-7C59-7F36A0F0AE40}"/>
              </a:ext>
            </a:extLst>
          </p:cNvPr>
          <p:cNvSpPr/>
          <p:nvPr/>
        </p:nvSpPr>
        <p:spPr>
          <a:xfrm>
            <a:off x="1737360" y="3328416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72BB0AE-AFFB-D39D-E3FF-0EDD6133B4F9}"/>
              </a:ext>
            </a:extLst>
          </p:cNvPr>
          <p:cNvSpPr/>
          <p:nvPr/>
        </p:nvSpPr>
        <p:spPr>
          <a:xfrm>
            <a:off x="1801368" y="3364992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Hospitaliz. alta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CA3C7C8-7B4A-966A-4E18-1476C03E7AF2}"/>
              </a:ext>
            </a:extLst>
          </p:cNvPr>
          <p:cNvSpPr/>
          <p:nvPr/>
        </p:nvSpPr>
        <p:spPr>
          <a:xfrm>
            <a:off x="3566160" y="332841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1AD1B7E-A88F-FDBE-3CCA-4C1DEE346BC7}"/>
              </a:ext>
            </a:extLst>
          </p:cNvPr>
          <p:cNvSpPr/>
          <p:nvPr/>
        </p:nvSpPr>
        <p:spPr>
          <a:xfrm>
            <a:off x="3630168" y="336499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grave, cirugía</a:t>
            </a:r>
            <a:endParaRPr lang="en-US" sz="11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9D1FEE7-2E9F-E905-0585-CA4CFF03AC6E}"/>
              </a:ext>
            </a:extLst>
          </p:cNvPr>
          <p:cNvSpPr/>
          <p:nvPr/>
        </p:nvSpPr>
        <p:spPr>
          <a:xfrm>
            <a:off x="6309360" y="3328416"/>
            <a:ext cx="2377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76C1A2C-95F8-AED5-6E9D-7CEB5C649761}"/>
              </a:ext>
            </a:extLst>
          </p:cNvPr>
          <p:cNvSpPr/>
          <p:nvPr/>
        </p:nvSpPr>
        <p:spPr>
          <a:xfrm>
            <a:off x="6373368" y="3364992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esperado</a:t>
            </a:r>
            <a:endParaRPr lang="en-US" sz="11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B58029F-0E02-8888-7EA1-D3A694BAAA0C}"/>
              </a:ext>
            </a:extLst>
          </p:cNvPr>
          <p:cNvSpPr/>
          <p:nvPr/>
        </p:nvSpPr>
        <p:spPr>
          <a:xfrm>
            <a:off x="365760" y="3986784"/>
            <a:ext cx="1371600" cy="621792"/>
          </a:xfrm>
          <a:prstGeom prst="rect">
            <a:avLst/>
          </a:prstGeom>
          <a:solidFill>
            <a:srgbClr val="E74C3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F3345D11-113E-1F1F-014A-10904B458F04}"/>
              </a:ext>
            </a:extLst>
          </p:cNvPr>
          <p:cNvSpPr/>
          <p:nvPr/>
        </p:nvSpPr>
        <p:spPr>
          <a:xfrm>
            <a:off x="429768" y="4023360"/>
            <a:ext cx="1243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1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A904F73-A889-9E90-4B6D-C39F5CD88C52}"/>
              </a:ext>
            </a:extLst>
          </p:cNvPr>
          <p:cNvSpPr/>
          <p:nvPr/>
        </p:nvSpPr>
        <p:spPr>
          <a:xfrm>
            <a:off x="1737360" y="3986784"/>
            <a:ext cx="18288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40C8445-D74B-4117-6E8F-7E1E2D153B68}"/>
              </a:ext>
            </a:extLst>
          </p:cNvPr>
          <p:cNvSpPr/>
          <p:nvPr/>
        </p:nvSpPr>
        <p:spPr>
          <a:xfrm>
            <a:off x="1801368" y="40233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cobertura</a:t>
            </a:r>
            <a:endParaRPr lang="en-US" sz="11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51F6183-B78E-BCAD-7176-7655B2E51112}"/>
              </a:ext>
            </a:extLst>
          </p:cNvPr>
          <p:cNvSpPr/>
          <p:nvPr/>
        </p:nvSpPr>
        <p:spPr>
          <a:xfrm>
            <a:off x="3566160" y="3986784"/>
            <a:ext cx="27432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E2B8C7B-27CD-8603-9BF6-5F4D7B1CF0A6}"/>
              </a:ext>
            </a:extLst>
          </p:cNvPr>
          <p:cNvSpPr/>
          <p:nvPr/>
        </p:nvSpPr>
        <p:spPr>
          <a:xfrm>
            <a:off x="3630168" y="4023360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 muy alta</a:t>
            </a:r>
            <a:endParaRPr lang="en-US" sz="11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AF3A92E-FD65-7EAA-D4BF-97ACBD95DB24}"/>
              </a:ext>
            </a:extLst>
          </p:cNvPr>
          <p:cNvSpPr/>
          <p:nvPr/>
        </p:nvSpPr>
        <p:spPr>
          <a:xfrm>
            <a:off x="6309360" y="3986784"/>
            <a:ext cx="237744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99E53CE-F2A0-EB72-323F-1BAC2C8C3B06}"/>
              </a:ext>
            </a:extLst>
          </p:cNvPr>
          <p:cNvSpPr/>
          <p:nvPr/>
        </p:nvSpPr>
        <p:spPr>
          <a:xfrm>
            <a:off x="6373368" y="402336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Litigio prolongado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52550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SEGUROS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Regla de Pareto en Seguros (80/20)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754880" cy="3474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480560" cy="1371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Pérdida Total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448056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Siniestros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en Seguros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Foco en la cola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70992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análisis en el 20% de siniestros más altos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2951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Reservas adecuadas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5877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capital de cola requiere modelado especial (distribuciones Pareto, Weibull)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172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Reaseguro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46557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definen las capas de reaseguro y retención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4050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Detección temprana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43434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20% superior previene sorpresas en reservas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Aprendizajes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1031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30175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514600" y="1005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65760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532120" y="10058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no aplicar correctamente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35024"/>
            <a:ext cx="2103120" cy="457200"/>
          </a:xfrm>
          <a:prstGeom prst="rect">
            <a:avLst/>
          </a:prstGeom>
          <a:solidFill>
            <a:srgbClr val="12687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29768" y="1335024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335024"/>
            <a:ext cx="30175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532888" y="1335024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rápida y sencilla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335024"/>
            <a:ext cx="36576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550408" y="1335024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en datos sesgados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2103120" cy="457200"/>
          </a:xfrm>
          <a:prstGeom prst="rect">
            <a:avLst/>
          </a:prstGeom>
          <a:solidFill>
            <a:srgbClr val="12687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29768" y="18288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Z-Modificado (MAD)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82880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532888" y="182880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Robusto, no asume normalidad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182880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550408" y="1828800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complejo de explicar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322576"/>
            <a:ext cx="2103120" cy="45720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29768" y="2322576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2322576"/>
            <a:ext cx="30175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2532888" y="2322576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estándar y robusto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322576"/>
            <a:ext cx="36576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550408" y="2322576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omitir sutilezas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816352"/>
            <a:ext cx="2103120" cy="457200"/>
          </a:xfrm>
          <a:prstGeom prst="rect">
            <a:avLst/>
          </a:prstGeom>
          <a:solidFill>
            <a:srgbClr val="2ECC7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29768" y="2816352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2816352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532888" y="2816352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clara e intuitiva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2816352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550408" y="2816352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errónea si no se conoce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310128"/>
            <a:ext cx="2103120" cy="457200"/>
          </a:xfrm>
          <a:prstGeom prst="rect">
            <a:avLst/>
          </a:prstGeom>
          <a:solidFill>
            <a:srgbClr val="E67E2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29768" y="331012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Winsorización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3310128"/>
            <a:ext cx="30175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2532888" y="3310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muestra, reduce volatilidad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3310128"/>
            <a:ext cx="36576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5550408" y="3310128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información extrema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803904"/>
            <a:ext cx="2103120" cy="457200"/>
          </a:xfrm>
          <a:prstGeom prst="rect">
            <a:avLst/>
          </a:prstGeom>
          <a:solidFill>
            <a:srgbClr val="E67E2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29768" y="3803904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Log-Transformación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68880" y="3803904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2532888" y="3803904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distribuciones sesgadas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803904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5550408" y="3803904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 interpretación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297680"/>
            <a:ext cx="2103120" cy="457200"/>
          </a:xfrm>
          <a:prstGeom prst="rect">
            <a:avLst/>
          </a:prstGeom>
          <a:solidFill>
            <a:srgbClr val="E74C3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429768" y="429768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Pareto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68880" y="4297680"/>
            <a:ext cx="30175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2532888" y="42976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 concentrado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0" y="4297680"/>
            <a:ext cx="36576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5550408" y="4297680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Subestimar la cola si no se modela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y Recursos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5204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520440" cy="5029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Libros Fundamentales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33009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(1977) — Exploratory Data Analysis · Addison-Wesley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Barnett &amp; Lewis (1994) — Outliers in Statistical Data · John Wiley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Klugman, Panjer &amp; Willmot (2012) — Loss Models · 4th 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Wüthrich (2019) — Machine Learning for Actuarial Science · Springer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005840"/>
            <a:ext cx="26060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069080" y="1005840"/>
            <a:ext cx="2606040" cy="50292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178808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Recursos Online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353312"/>
            <a:ext cx="23865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— Estadística y Z-Score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StatQuest (YouTube) — Boxplots y visualización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Handbook — jakevdp.github.io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OpenCourseWare — Cursos de estadística gratuitos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Datasets — Datos reales de seguros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recursos citados son de acceso académico o abierto. Los códigos Python se encuentran en el material de apoyo del curso.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un outlier no siempre es un error.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seguros, puede ser la pérdida más importante que debas modelar.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 en Datos Aseguradores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horas · 4 módulos · 3 actividades prácticas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876</Words>
  <Application>Microsoft Office PowerPoint</Application>
  <PresentationFormat>Presentación en pantalla (16:9)</PresentationFormat>
  <Paragraphs>223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Valores Atípicos en Seguros</dc:title>
  <dc:subject>PptxGenJS Presentation</dc:subject>
  <dc:creator>PptxGenJS</dc:creator>
  <cp:lastModifiedBy>Karla Eugenia Medina Diaz</cp:lastModifiedBy>
  <cp:revision>4</cp:revision>
  <dcterms:created xsi:type="dcterms:W3CDTF">2026-05-07T02:09:17Z</dcterms:created>
  <dcterms:modified xsi:type="dcterms:W3CDTF">2026-05-21T02:32:34Z</dcterms:modified>
</cp:coreProperties>
</file>