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69" r:id="rId9"/>
    <p:sldId id="270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la Eugenia Medina Diaz" userId="31c1db5119534f48" providerId="LiveId" clId="{5C899618-0CE1-4E3A-ADD1-06091A6D8A5C}"/>
    <pc:docChg chg="custSel delSld modSld">
      <pc:chgData name="Karla Eugenia Medina Diaz" userId="31c1db5119534f48" providerId="LiveId" clId="{5C899618-0CE1-4E3A-ADD1-06091A6D8A5C}" dt="2026-05-23T04:21:30.451" v="60" actId="20577"/>
      <pc:docMkLst>
        <pc:docMk/>
      </pc:docMkLst>
      <pc:sldChg chg="modSp mod">
        <pc:chgData name="Karla Eugenia Medina Diaz" userId="31c1db5119534f48" providerId="LiveId" clId="{5C899618-0CE1-4E3A-ADD1-06091A6D8A5C}" dt="2026-05-23T04:06:53.172" v="40" actId="20577"/>
        <pc:sldMkLst>
          <pc:docMk/>
          <pc:sldMk cId="0" sldId="256"/>
        </pc:sldMkLst>
        <pc:spChg chg="mod">
          <ac:chgData name="Karla Eugenia Medina Diaz" userId="31c1db5119534f48" providerId="LiveId" clId="{5C899618-0CE1-4E3A-ADD1-06091A6D8A5C}" dt="2026-05-23T04:06:53.172" v="40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04:06:43.142" v="38" actId="20577"/>
          <ac:spMkLst>
            <pc:docMk/>
            <pc:sldMk cId="0" sldId="256"/>
            <ac:spMk id="8" creationId="{00000000-0000-0000-0000-000000000000}"/>
          </ac:spMkLst>
        </pc:spChg>
      </pc:sldChg>
      <pc:sldChg chg="delSp modSp mod">
        <pc:chgData name="Karla Eugenia Medina Diaz" userId="31c1db5119534f48" providerId="LiveId" clId="{5C899618-0CE1-4E3A-ADD1-06091A6D8A5C}" dt="2026-05-23T04:20:59.385" v="48" actId="20577"/>
        <pc:sldMkLst>
          <pc:docMk/>
          <pc:sldMk cId="0" sldId="257"/>
        </pc:sldMkLst>
        <pc:spChg chg="mod">
          <ac:chgData name="Karla Eugenia Medina Diaz" userId="31c1db5119534f48" providerId="LiveId" clId="{5C899618-0CE1-4E3A-ADD1-06091A6D8A5C}" dt="2026-05-23T04:20:47.111" v="42" actId="20577"/>
          <ac:spMkLst>
            <pc:docMk/>
            <pc:sldMk cId="0" sldId="257"/>
            <ac:spMk id="8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07.524" v="2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09.910" v="3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04:20:50.371" v="44" actId="20577"/>
          <ac:spMkLst>
            <pc:docMk/>
            <pc:sldMk cId="0" sldId="257"/>
            <ac:spMk id="15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10.880" v="4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12.403" v="5" actId="478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04:20:52.954" v="46" actId="20577"/>
          <ac:spMkLst>
            <pc:docMk/>
            <pc:sldMk cId="0" sldId="257"/>
            <ac:spMk id="22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13.588" v="6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16.456" v="7" actId="478"/>
          <ac:spMkLst>
            <pc:docMk/>
            <pc:sldMk cId="0" sldId="257"/>
            <ac:spMk id="25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04:20:55.248" v="47" actId="20577"/>
          <ac:spMkLst>
            <pc:docMk/>
            <pc:sldMk cId="0" sldId="257"/>
            <ac:spMk id="29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18.564" v="8" actId="478"/>
          <ac:spMkLst>
            <pc:docMk/>
            <pc:sldMk cId="0" sldId="257"/>
            <ac:spMk id="31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20.275" v="9" actId="478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04:20:59.385" v="48" actId="20577"/>
          <ac:spMkLst>
            <pc:docMk/>
            <pc:sldMk cId="0" sldId="257"/>
            <ac:spMk id="36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21.524" v="10" actId="478"/>
          <ac:spMkLst>
            <pc:docMk/>
            <pc:sldMk cId="0" sldId="257"/>
            <ac:spMk id="38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23.125" v="11" actId="478"/>
          <ac:spMkLst>
            <pc:docMk/>
            <pc:sldMk cId="0" sldId="257"/>
            <ac:spMk id="39" creationId="{00000000-0000-0000-0000-000000000000}"/>
          </ac:spMkLst>
        </pc:spChg>
      </pc:sldChg>
      <pc:sldChg chg="del">
        <pc:chgData name="Karla Eugenia Medina Diaz" userId="31c1db5119534f48" providerId="LiveId" clId="{5C899618-0CE1-4E3A-ADD1-06091A6D8A5C}" dt="2026-05-22T02:16:52.192" v="0" actId="47"/>
        <pc:sldMkLst>
          <pc:docMk/>
          <pc:sldMk cId="0" sldId="259"/>
        </pc:sldMkLst>
      </pc:sldChg>
      <pc:sldChg chg="del">
        <pc:chgData name="Karla Eugenia Medina Diaz" userId="31c1db5119534f48" providerId="LiveId" clId="{5C899618-0CE1-4E3A-ADD1-06091A6D8A5C}" dt="2026-05-22T02:16:52.192" v="0" actId="47"/>
        <pc:sldMkLst>
          <pc:docMk/>
          <pc:sldMk cId="0" sldId="260"/>
        </pc:sldMkLst>
      </pc:sldChg>
      <pc:sldChg chg="del">
        <pc:chgData name="Karla Eugenia Medina Diaz" userId="31c1db5119534f48" providerId="LiveId" clId="{5C899618-0CE1-4E3A-ADD1-06091A6D8A5C}" dt="2026-05-22T02:16:52.192" v="0" actId="47"/>
        <pc:sldMkLst>
          <pc:docMk/>
          <pc:sldMk cId="0" sldId="261"/>
        </pc:sldMkLst>
      </pc:sldChg>
      <pc:sldChg chg="del">
        <pc:chgData name="Karla Eugenia Medina Diaz" userId="31c1db5119534f48" providerId="LiveId" clId="{5C899618-0CE1-4E3A-ADD1-06091A6D8A5C}" dt="2026-05-22T02:16:52.192" v="0" actId="47"/>
        <pc:sldMkLst>
          <pc:docMk/>
          <pc:sldMk cId="0" sldId="262"/>
        </pc:sldMkLst>
      </pc:sldChg>
      <pc:sldChg chg="del">
        <pc:chgData name="Karla Eugenia Medina Diaz" userId="31c1db5119534f48" providerId="LiveId" clId="{5C899618-0CE1-4E3A-ADD1-06091A6D8A5C}" dt="2026-05-22T02:16:52.192" v="0" actId="47"/>
        <pc:sldMkLst>
          <pc:docMk/>
          <pc:sldMk cId="0" sldId="263"/>
        </pc:sldMkLst>
      </pc:sldChg>
      <pc:sldChg chg="del">
        <pc:chgData name="Karla Eugenia Medina Diaz" userId="31c1db5119534f48" providerId="LiveId" clId="{5C899618-0CE1-4E3A-ADD1-06091A6D8A5C}" dt="2026-05-22T02:16:52.192" v="0" actId="47"/>
        <pc:sldMkLst>
          <pc:docMk/>
          <pc:sldMk cId="0" sldId="264"/>
        </pc:sldMkLst>
      </pc:sldChg>
      <pc:sldChg chg="modSp mod">
        <pc:chgData name="Karla Eugenia Medina Diaz" userId="31c1db5119534f48" providerId="LiveId" clId="{5C899618-0CE1-4E3A-ADD1-06091A6D8A5C}" dt="2026-05-23T04:21:03.610" v="50" actId="20577"/>
        <pc:sldMkLst>
          <pc:docMk/>
          <pc:sldMk cId="0" sldId="265"/>
        </pc:sldMkLst>
        <pc:spChg chg="mod">
          <ac:chgData name="Karla Eugenia Medina Diaz" userId="31c1db5119534f48" providerId="LiveId" clId="{5C899618-0CE1-4E3A-ADD1-06091A6D8A5C}" dt="2026-05-23T04:21:03.610" v="50" actId="20577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Karla Eugenia Medina Diaz" userId="31c1db5119534f48" providerId="LiveId" clId="{5C899618-0CE1-4E3A-ADD1-06091A6D8A5C}" dt="2026-05-23T04:21:10.424" v="52" actId="20577"/>
        <pc:sldMkLst>
          <pc:docMk/>
          <pc:sldMk cId="0" sldId="266"/>
        </pc:sldMkLst>
        <pc:spChg chg="mod">
          <ac:chgData name="Karla Eugenia Medina Diaz" userId="31c1db5119534f48" providerId="LiveId" clId="{5C899618-0CE1-4E3A-ADD1-06091A6D8A5C}" dt="2026-05-23T04:21:10.424" v="52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Karla Eugenia Medina Diaz" userId="31c1db5119534f48" providerId="LiveId" clId="{5C899618-0CE1-4E3A-ADD1-06091A6D8A5C}" dt="2026-05-23T04:21:14.469" v="54" actId="20577"/>
        <pc:sldMkLst>
          <pc:docMk/>
          <pc:sldMk cId="0" sldId="267"/>
        </pc:sldMkLst>
        <pc:spChg chg="mod">
          <ac:chgData name="Karla Eugenia Medina Diaz" userId="31c1db5119534f48" providerId="LiveId" clId="{5C899618-0CE1-4E3A-ADD1-06091A6D8A5C}" dt="2026-05-23T04:21:14.469" v="54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Karla Eugenia Medina Diaz" userId="31c1db5119534f48" providerId="LiveId" clId="{5C899618-0CE1-4E3A-ADD1-06091A6D8A5C}" dt="2026-05-23T04:21:20.322" v="56" actId="20577"/>
        <pc:sldMkLst>
          <pc:docMk/>
          <pc:sldMk cId="0" sldId="268"/>
        </pc:sldMkLst>
        <pc:spChg chg="mod">
          <ac:chgData name="Karla Eugenia Medina Diaz" userId="31c1db5119534f48" providerId="LiveId" clId="{5C899618-0CE1-4E3A-ADD1-06091A6D8A5C}" dt="2026-05-23T04:21:20.322" v="56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 mod">
        <pc:chgData name="Karla Eugenia Medina Diaz" userId="31c1db5119534f48" providerId="LiveId" clId="{5C899618-0CE1-4E3A-ADD1-06091A6D8A5C}" dt="2026-05-23T04:21:26.761" v="58" actId="20577"/>
        <pc:sldMkLst>
          <pc:docMk/>
          <pc:sldMk cId="0" sldId="269"/>
        </pc:sldMkLst>
        <pc:spChg chg="mod">
          <ac:chgData name="Karla Eugenia Medina Diaz" userId="31c1db5119534f48" providerId="LiveId" clId="{5C899618-0CE1-4E3A-ADD1-06091A6D8A5C}" dt="2026-05-23T04:21:26.761" v="58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Karla Eugenia Medina Diaz" userId="31c1db5119534f48" providerId="LiveId" clId="{5C899618-0CE1-4E3A-ADD1-06091A6D8A5C}" dt="2026-05-23T04:21:30.451" v="60" actId="20577"/>
        <pc:sldMkLst>
          <pc:docMk/>
          <pc:sldMk cId="0" sldId="270"/>
        </pc:sldMkLst>
        <pc:spChg chg="mod">
          <ac:chgData name="Karla Eugenia Medina Diaz" userId="31c1db5119534f48" providerId="LiveId" clId="{5C899618-0CE1-4E3A-ADD1-06091A6D8A5C}" dt="2026-05-23T04:21:30.451" v="60" actId="20577"/>
          <ac:spMkLst>
            <pc:docMk/>
            <pc:sldMk cId="0" sldId="270"/>
            <ac:spMk id="3" creationId="{00000000-0000-0000-0000-000000000000}"/>
          </ac:spMkLst>
        </pc:spChg>
      </pc:sldChg>
      <pc:sldChg chg="del">
        <pc:chgData name="Karla Eugenia Medina Diaz" userId="31c1db5119534f48" providerId="LiveId" clId="{5C899618-0CE1-4E3A-ADD1-06091A6D8A5C}" dt="2026-05-22T02:17:11.582" v="1" actId="47"/>
        <pc:sldMkLst>
          <pc:docMk/>
          <pc:sldMk cId="0" sldId="271"/>
        </pc:sldMkLst>
      </pc:sldChg>
      <pc:sldChg chg="del">
        <pc:chgData name="Karla Eugenia Medina Diaz" userId="31c1db5119534f48" providerId="LiveId" clId="{5C899618-0CE1-4E3A-ADD1-06091A6D8A5C}" dt="2026-05-22T02:17:11.582" v="1" actId="47"/>
        <pc:sldMkLst>
          <pc:docMk/>
          <pc:sldMk cId="0" sldId="272"/>
        </pc:sldMkLst>
      </pc:sldChg>
      <pc:sldChg chg="del">
        <pc:chgData name="Karla Eugenia Medina Diaz" userId="31c1db5119534f48" providerId="LiveId" clId="{5C899618-0CE1-4E3A-ADD1-06091A6D8A5C}" dt="2026-05-22T02:17:11.582" v="1" actId="47"/>
        <pc:sldMkLst>
          <pc:docMk/>
          <pc:sldMk cId="0" sldId="273"/>
        </pc:sldMkLst>
      </pc:sldChg>
      <pc:sldChg chg="del">
        <pc:chgData name="Karla Eugenia Medina Diaz" userId="31c1db5119534f48" providerId="LiveId" clId="{5C899618-0CE1-4E3A-ADD1-06091A6D8A5C}" dt="2026-05-22T02:17:11.582" v="1" actId="47"/>
        <pc:sldMkLst>
          <pc:docMk/>
          <pc:sldMk cId="0" sldId="274"/>
        </pc:sldMkLst>
      </pc:sldChg>
      <pc:sldChg chg="del">
        <pc:chgData name="Karla Eugenia Medina Diaz" userId="31c1db5119534f48" providerId="LiveId" clId="{5C899618-0CE1-4E3A-ADD1-06091A6D8A5C}" dt="2026-05-22T02:17:11.582" v="1" actId="47"/>
        <pc:sldMkLst>
          <pc:docMk/>
          <pc:sldMk cId="0" sldId="275"/>
        </pc:sldMkLst>
      </pc:sldChg>
      <pc:sldChg chg="del">
        <pc:chgData name="Karla Eugenia Medina Diaz" userId="31c1db5119534f48" providerId="LiveId" clId="{5C899618-0CE1-4E3A-ADD1-06091A6D8A5C}" dt="2026-05-22T02:17:11.582" v="1" actId="47"/>
        <pc:sldMkLst>
          <pc:docMk/>
          <pc:sldMk cId="0" sldId="276"/>
        </pc:sldMkLst>
      </pc:sldChg>
      <pc:sldChg chg="del">
        <pc:chgData name="Karla Eugenia Medina Diaz" userId="31c1db5119534f48" providerId="LiveId" clId="{5C899618-0CE1-4E3A-ADD1-06091A6D8A5C}" dt="2026-05-22T02:17:11.582" v="1" actId="47"/>
        <pc:sldMkLst>
          <pc:docMk/>
          <pc:sldMk cId="0" sldId="277"/>
        </pc:sldMkLst>
      </pc:sldChg>
      <pc:sldChg chg="del">
        <pc:chgData name="Karla Eugenia Medina Diaz" userId="31c1db5119534f48" providerId="LiveId" clId="{5C899618-0CE1-4E3A-ADD1-06091A6D8A5C}" dt="2026-05-22T02:16:52.192" v="0" actId="47"/>
        <pc:sldMkLst>
          <pc:docMk/>
          <pc:sldMk cId="3934853724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004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1B6CA8">
              <a:alpha val="30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583680" y="2286000"/>
            <a:ext cx="2926080" cy="2926080"/>
          </a:xfrm>
          <a:prstGeom prst="ellipse">
            <a:avLst/>
          </a:prstGeom>
          <a:solidFill>
            <a:srgbClr val="1ABC9C">
              <a:alpha val="20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645920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TEMA 2 DE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de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para Modelos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Predictivos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</a:t>
            </a:r>
            <a:r>
              <a:rPr lang="en-US" sz="1400" i="1" dirty="0" err="1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Machine Learning </a:t>
            </a:r>
            <a:r>
              <a:rPr lang="en-US" sz="1400" i="1" dirty="0" err="1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201168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⏱  10 horas de clase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BC9C">
              <a:alpha val="40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Módulo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09728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73152" cy="694944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457200" cy="457200"/>
          </a:xfrm>
          <a:prstGeom prst="ellipse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97840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Escalamiento y Normalización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73152" cy="69494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02920" y="1783080"/>
            <a:ext cx="457200" cy="4572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029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1773936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Transformaciones Log, Box-Cox y Yeo-Johnson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459736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65760" y="2459736"/>
            <a:ext cx="73152" cy="69494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502920" y="2578608"/>
            <a:ext cx="457200" cy="4572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0292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2569464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Codificación de Variables Categóricas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255264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65760" y="3255264"/>
            <a:ext cx="73152" cy="69494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502920" y="3374136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0292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3364992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Variables Dummy y Derivadas Actuariales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4050792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365760" y="4050792"/>
            <a:ext cx="73152" cy="69494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502920" y="4169664"/>
            <a:ext cx="457200" cy="4572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50292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97280" y="416052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Feature Engineering Actuarial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2"/>
                </a:solidFill>
              </a:rPr>
              <a:t>¿Por Qué Transformar los Datos?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46304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D"/>
                </a:solidFill>
              </a:rPr>
              <a:t>Los datos crudos rara vez están listos para ser usados directamente en modelos. Las transformaciones mejoran la calidad, comparabilidad e interpretabilidad de las variables.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Escala Comparable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37744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Variables en distintas unidades (edad en años vs. monto en millones) distorsionan los modelos.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8688" y="1508760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218688" y="1508760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218688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10128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Distribución Adecuada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28416" y="237744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Muchos modelos asumen normalidad. Datos asimétricos de siniestros requieren transformación.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63056" y="1508760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163056" y="1508760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163056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54496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Variables Categóricas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2784" y="237744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Los algoritmos matemáticos no entienden texto. Se debe convertir 'Tipo de Seguro' a números.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172968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274320" y="3172968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274320" y="33101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65760" y="3721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Crear Nuevas Variables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0416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La antigüedad del cliente, la exposición y la edad derivada son más informativas que las fechas crudas.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18688" y="3172968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218688" y="3172968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3218688" y="33101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310128" y="3721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Capturar Patrones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28416" y="40416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La estacionalidad, efectos de día de semana y tendencias mejoran la predicción de siniestros.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63056" y="3172968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6163056" y="3172968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6163056" y="33101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254496" y="3721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Reducir Sesgo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40416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Variables con outliers extremos (montos de siniestros) pueden dominar y distorsionar el modelo.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6A085">
              <a:alpha val="35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A3D62">
              <a:alpha val="25000"/>
            </a:srgbClr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3D62"/>
                </a:solidFill>
              </a:rPr>
              <a:t>2.3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de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A3D62"/>
                </a:solidFill>
              </a:rPr>
              <a:t>One-Hot Encoding · Label Encoding · Target Encoding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0A3D62">
              <a:alpha val="40000"/>
            </a:srgbClr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BC9C"/>
                </a:solidFill>
              </a:rPr>
              <a:t>2.3 — One-Hot Encoding y Label Encoding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1645920" cy="54864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14800" cy="41148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114800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One-Hot Encoding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3840480" cy="157277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Cobertura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Col_Básica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Col_Amplia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Col_Total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BC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Básica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BC9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Amplia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BC9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BC9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Básica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BC9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2907792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✅ Ventajas:
</a:t>
            </a:r>
            <a:r>
              <a:rPr lang="en-US" sz="1000" dirty="0">
                <a:solidFill>
                  <a:srgbClr val="1A252F"/>
                </a:solidFill>
              </a:rPr>
              <a:t>No introduce orden artificial
Ideal para coberturas, canales, regiones
</a:t>
            </a:r>
            <a:r>
              <a:rPr lang="en-US" sz="1000" b="1" dirty="0">
                <a:solidFill>
                  <a:srgbClr val="C0392B"/>
                </a:solidFill>
              </a:rPr>
              <a:t>❌ Desventajas:
</a:t>
            </a:r>
            <a:r>
              <a:rPr lang="en-US" sz="1000" dirty="0">
                <a:solidFill>
                  <a:srgbClr val="1A252F"/>
                </a:solidFill>
              </a:rPr>
              <a:t>Genera muchas columnas (alta cardinalidad)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'Trampa de la dummy' → eliminar 1 columna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749808"/>
            <a:ext cx="4206240" cy="41148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4663440" y="749808"/>
            <a:ext cx="4206240" cy="38404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9"/>
          <p:cNvSpPr/>
          <p:nvPr/>
        </p:nvSpPr>
        <p:spPr>
          <a:xfrm>
            <a:off x="4754880" y="7498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Label Encoding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261872"/>
          <a:ext cx="3840480" cy="12984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Cobertura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Código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Básica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Amplia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800600" y="2651760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</a:rPr>
              <a:t>⚠️  Peligro:
</a:t>
            </a:r>
            <a:r>
              <a:rPr lang="en-US" sz="1000" dirty="0">
                <a:solidFill>
                  <a:srgbClr val="1A252F"/>
                </a:solidFill>
              </a:rPr>
              <a:t>Implica orden numérico:
Básica (0) &lt; Amplia (1) &lt; Total (2)
¿Esto tiene sentido? ¿Total = 2×Amplia?
</a:t>
            </a:r>
            <a:r>
              <a:rPr lang="en-US" sz="1000" b="1" dirty="0">
                <a:solidFill>
                  <a:srgbClr val="27AE60"/>
                </a:solidFill>
              </a:rPr>
              <a:t>✅ Usar solo cuando:
</a:t>
            </a:r>
            <a:r>
              <a:rPr lang="en-US" sz="1000" dirty="0">
                <a:solidFill>
                  <a:srgbClr val="1A252F"/>
                </a:solidFill>
              </a:rPr>
              <a:t>Existe orden real (Bajo, Medio, Alto)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Variables ordinales (nivel de riesgo)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Árboles de decisión (no afectados por orden)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BC9C"/>
                </a:solidFill>
              </a:rPr>
              <a:t>2.3 — Target Encoding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1645920" cy="54864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</a:rPr>
              <a:t>Reemplaza cada categoría con el promedio de la variable objetivo en esa categoría. Muy poderoso para variables con alta cardinalidad.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54864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BC9C"/>
                </a:solidFill>
              </a:rPr>
              <a:t>Código_Postal_Encoded = Promedio(Tasa_Siniestralidad | Código_Postal)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8412480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Municipio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Siniestros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Pólizas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Tasa (Target)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Encoded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Monterrey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450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1,800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0.250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BC9C"/>
                          </a:solidFill>
                        </a:rPr>
                        <a:t>0.250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Guadalajara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320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2,100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0.152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BC9C"/>
                          </a:solidFill>
                        </a:rPr>
                        <a:t>0.152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Mérida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950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0.084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BC9C"/>
                          </a:solidFill>
                        </a:rPr>
                        <a:t>0.084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CDMX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1,200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4,500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0.267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BC9C"/>
                          </a:solidFill>
                        </a:rPr>
                        <a:t>0.267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822192"/>
            <a:ext cx="8412480" cy="310896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502920" y="38221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</a:rPr>
              <a:t>⚠️  Data Leakage: NO calcular con datos de prueba — usar solo datos de entrenamiento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4169664"/>
            <a:ext cx="8412480" cy="310896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502920" y="416966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</a:rPr>
              <a:t>🔄  Suavizado (Smoothing): combinar con la media global para categorías raras: θ = (n·μ_cat + k·μ_global)/(n+k)</a:t>
            </a:r>
            <a:endParaRPr lang="en-US" sz="950" dirty="0"/>
          </a:p>
        </p:txBody>
      </p:sp>
      <p:sp>
        <p:nvSpPr>
          <p:cNvPr id="8" name="Shape 10"/>
          <p:cNvSpPr/>
          <p:nvPr/>
        </p:nvSpPr>
        <p:spPr>
          <a:xfrm>
            <a:off x="365760" y="4517136"/>
            <a:ext cx="8412480" cy="310896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502920" y="451713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</a:rPr>
              <a:t>✅  Ideal para: Código postal, modelo de auto, profesión, municipio (alta cardinalidad)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E67E22">
              <a:alpha val="4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A3D62">
              <a:alpha val="25000"/>
            </a:srgbClr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2.4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Dummy y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 Actuariales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3D62"/>
                </a:solidFill>
              </a:rPr>
              <a:t>Edad · Exposición · Antigüedad · Variables construidas con lógica de negocio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0A3D62">
              <a:alpha val="45000"/>
            </a:srgbClr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39C12"/>
                </a:solidFill>
              </a:rPr>
              <a:t>2.4 — Variables Derivadas Actuariales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1645920" cy="54864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29844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91440" cy="129844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02920" y="8503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</a:rPr>
              <a:t>⏳ Edad Calculada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216152"/>
            <a:ext cx="5029200" cy="384048"/>
          </a:xfrm>
          <a:prstGeom prst="rect">
            <a:avLst/>
          </a:prstGeom>
          <a:solidFill>
            <a:srgbClr val="0A3D62">
              <a:alpha val="12000"/>
            </a:srgbClr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48640" y="121615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2"/>
                </a:solidFill>
              </a:rPr>
              <a:t>Edad = (Fecha_Vigencia − Fecha_Nacimiento) / 365.25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8686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No guardar fechas crudas en modelos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Usar edad en años decimales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Considerar edad al momento del siniestro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Relevante para seguros de vida y salud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8595360" cy="129844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91440" cy="12984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02920" y="22677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📅 Exposición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633472"/>
            <a:ext cx="5029200" cy="384048"/>
          </a:xfrm>
          <a:prstGeom prst="rect">
            <a:avLst/>
          </a:prstGeom>
          <a:solidFill>
            <a:srgbClr val="1B6CA8">
              <a:alpha val="12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48640" y="263347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</a:rPr>
              <a:t>Exp = (Fecha_Fin − Fecha_Inicio) / 365.25  [en años]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22860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Mide el tiempo real de cobertura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Pólizas anuales vs. fraccionadas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Base para calcular frecuencia de siniestros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Frecuencia = N_Siniestros / Exposición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611880"/>
            <a:ext cx="8595360" cy="129844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91440" cy="12984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02920" y="36850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🏅 Antigüedad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050792"/>
            <a:ext cx="5029200" cy="384048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48640" y="405079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</a:rPr>
              <a:t>Antigüedad = Fecha_Actual − Fecha_Primera_Póliza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3703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Refleja lealtad y experiencia del cliente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Clientes antiguos: menor frecuencia de fraude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Base para descuentos por fidelidad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Buen predictor de renovación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39C12"/>
                </a:solidFill>
              </a:rPr>
              <a:t>2.4 </a:t>
            </a:r>
            <a:r>
              <a:rPr lang="en-US" sz="2000" b="1" dirty="0">
                <a:solidFill>
                  <a:srgbClr val="F39C12"/>
                </a:solidFill>
              </a:rPr>
              <a:t>— Variables Dummy en Contexto Actuarial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1645920" cy="54864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</a:rPr>
              <a:t>Las variables dummy son indicadores binarios (0/1) que representan la presencia o ausencia de una condición. Son el resultado de One-Hot Encoding con variable de referencia eliminada.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8595360" cy="777240"/>
          </a:xfrm>
          <a:prstGeom prst="rect">
            <a:avLst/>
          </a:prstGeom>
          <a:solidFill>
            <a:srgbClr val="ECF0F1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73152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</a:rPr>
              <a:t>Sexo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</a:rPr>
              <a:t>Referencia: Femenino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15087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Columnas creadas: dummy_Masculino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73152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</a:rPr>
              <a:t>Tipo de Vehículo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</a:rPr>
              <a:t>Referencia: Sedán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239572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Columnas creadas: dummy_SUV | dummy_Camioneta | dummy_Moto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99816"/>
            <a:ext cx="8595360" cy="777240"/>
          </a:xfrm>
          <a:prstGeom prst="rect">
            <a:avLst/>
          </a:prstGeom>
          <a:solidFill>
            <a:srgbClr val="ECF0F1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274320" y="3099816"/>
            <a:ext cx="73152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57200" y="31729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</a:rPr>
              <a:t>Zona Geográfica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38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</a:rPr>
              <a:t>Referencia: Norte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3282696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Columnas creadas: dummy_Sur | dummy_Centro | dummy_Occidente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986784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274320" y="3986784"/>
            <a:ext cx="73152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57200" y="40599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</a:rPr>
              <a:t>Tiene Siniestro Previo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4256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</a:rPr>
              <a:t>Referencia: No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06040" y="4169664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Columnas creadas: dummy_SiSiniestro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365760" y="4736592"/>
            <a:ext cx="8412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💡  Regla actuarial: la categoría de referencia debe ser la más frecuente o la de menor riesgo para facilitar la interpretación de coeficientes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777</Words>
  <Application>Microsoft Office PowerPoint</Application>
  <PresentationFormat>Presentación en pantalla (16:9)</PresentationFormat>
  <Paragraphs>155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3: Transformaciones de Datos para Modelos Predictivos</dc:title>
  <dc:subject>PptxGenJS Presentation</dc:subject>
  <dc:creator>Diplomado de Ciencia Actuarial</dc:creator>
  <cp:lastModifiedBy>Karla Eugenia Medina Diaz</cp:lastModifiedBy>
  <cp:revision>2</cp:revision>
  <dcterms:created xsi:type="dcterms:W3CDTF">2026-05-22T01:16:30Z</dcterms:created>
  <dcterms:modified xsi:type="dcterms:W3CDTF">2026-05-23T04:21:31Z</dcterms:modified>
</cp:coreProperties>
</file>