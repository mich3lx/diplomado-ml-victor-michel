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78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AB3F2E-6528-4CBC-B036-C19BE0DBAE9D}" v="102" dt="2026-05-23T02:21:15.4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rla Eugenia Medina Diaz" userId="31c1db5119534f48" providerId="LiveId" clId="{5C899618-0CE1-4E3A-ADD1-06091A6D8A5C}"/>
    <pc:docChg chg="custSel delSld modSld">
      <pc:chgData name="Karla Eugenia Medina Diaz" userId="31c1db5119534f48" providerId="LiveId" clId="{5C899618-0CE1-4E3A-ADD1-06091A6D8A5C}" dt="2026-05-23T02:21:15.499" v="183"/>
      <pc:docMkLst>
        <pc:docMk/>
      </pc:docMkLst>
      <pc:sldChg chg="modSp mod">
        <pc:chgData name="Karla Eugenia Medina Diaz" userId="31c1db5119534f48" providerId="LiveId" clId="{5C899618-0CE1-4E3A-ADD1-06091A6D8A5C}" dt="2026-05-23T01:20:35.373" v="153" actId="20577"/>
        <pc:sldMkLst>
          <pc:docMk/>
          <pc:sldMk cId="0" sldId="256"/>
        </pc:sldMkLst>
        <pc:spChg chg="mod">
          <ac:chgData name="Karla Eugenia Medina Diaz" userId="31c1db5119534f48" providerId="LiveId" clId="{5C899618-0CE1-4E3A-ADD1-06091A6D8A5C}" dt="2026-05-23T00:11:16.099" v="113" actId="20577"/>
          <ac:spMkLst>
            <pc:docMk/>
            <pc:sldMk cId="0" sldId="256"/>
            <ac:spMk id="6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1:20:35.373" v="153" actId="20577"/>
          <ac:spMkLst>
            <pc:docMk/>
            <pc:sldMk cId="0" sldId="256"/>
            <ac:spMk id="8" creationId="{00000000-0000-0000-0000-000000000000}"/>
          </ac:spMkLst>
        </pc:spChg>
      </pc:sldChg>
      <pc:sldChg chg="delSp modSp mod">
        <pc:chgData name="Karla Eugenia Medina Diaz" userId="31c1db5119534f48" providerId="LiveId" clId="{5C899618-0CE1-4E3A-ADD1-06091A6D8A5C}" dt="2026-05-23T00:11:40.136" v="122" actId="20577"/>
        <pc:sldMkLst>
          <pc:docMk/>
          <pc:sldMk cId="0" sldId="257"/>
        </pc:sldMkLst>
        <pc:spChg chg="mod">
          <ac:chgData name="Karla Eugenia Medina Diaz" userId="31c1db5119534f48" providerId="LiveId" clId="{5C899618-0CE1-4E3A-ADD1-06091A6D8A5C}" dt="2026-05-23T00:11:25.360" v="114" actId="20577"/>
          <ac:spMkLst>
            <pc:docMk/>
            <pc:sldMk cId="0" sldId="257"/>
            <ac:spMk id="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39.707" v="1" actId="478"/>
          <ac:spMkLst>
            <pc:docMk/>
            <pc:sldMk cId="0" sldId="257"/>
            <ac:spMk id="10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1.703" v="2" actId="478"/>
          <ac:spMkLst>
            <pc:docMk/>
            <pc:sldMk cId="0" sldId="257"/>
            <ac:spMk id="11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0:11:28.354" v="115" actId="20577"/>
          <ac:spMkLst>
            <pc:docMk/>
            <pc:sldMk cId="0" sldId="257"/>
            <ac:spMk id="15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2.847" v="3" actId="478"/>
          <ac:spMkLst>
            <pc:docMk/>
            <pc:sldMk cId="0" sldId="257"/>
            <ac:spMk id="17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5.308" v="4" actId="478"/>
          <ac:spMkLst>
            <pc:docMk/>
            <pc:sldMk cId="0" sldId="257"/>
            <ac:spMk id="18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0:11:33.877" v="120" actId="20577"/>
          <ac:spMkLst>
            <pc:docMk/>
            <pc:sldMk cId="0" sldId="257"/>
            <ac:spMk id="22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8.171" v="6" actId="478"/>
          <ac:spMkLst>
            <pc:docMk/>
            <pc:sldMk cId="0" sldId="257"/>
            <ac:spMk id="24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6.802" v="5" actId="478"/>
          <ac:spMkLst>
            <pc:docMk/>
            <pc:sldMk cId="0" sldId="257"/>
            <ac:spMk id="25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0:11:36.913" v="121" actId="20577"/>
          <ac:spMkLst>
            <pc:docMk/>
            <pc:sldMk cId="0" sldId="257"/>
            <ac:spMk id="29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50.901" v="8" actId="478"/>
          <ac:spMkLst>
            <pc:docMk/>
            <pc:sldMk cId="0" sldId="257"/>
            <ac:spMk id="31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5:49.700" v="7" actId="478"/>
          <ac:spMkLst>
            <pc:docMk/>
            <pc:sldMk cId="0" sldId="257"/>
            <ac:spMk id="32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0:11:40.136" v="122" actId="20577"/>
          <ac:spMkLst>
            <pc:docMk/>
            <pc:sldMk cId="0" sldId="257"/>
            <ac:spMk id="36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6:01.890" v="10" actId="478"/>
          <ac:spMkLst>
            <pc:docMk/>
            <pc:sldMk cId="0" sldId="257"/>
            <ac:spMk id="38" creationId="{00000000-0000-0000-0000-000000000000}"/>
          </ac:spMkLst>
        </pc:spChg>
        <pc:spChg chg="del">
          <ac:chgData name="Karla Eugenia Medina Diaz" userId="31c1db5119534f48" providerId="LiveId" clId="{5C899618-0CE1-4E3A-ADD1-06091A6D8A5C}" dt="2026-05-22T21:56:00.141" v="9" actId="478"/>
          <ac:spMkLst>
            <pc:docMk/>
            <pc:sldMk cId="0" sldId="257"/>
            <ac:spMk id="39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2T23:47:29.286" v="16" actId="947"/>
        <pc:sldMkLst>
          <pc:docMk/>
          <pc:sldMk cId="0" sldId="260"/>
        </pc:sldMkLst>
        <pc:spChg chg="mod">
          <ac:chgData name="Karla Eugenia Medina Diaz" userId="31c1db5119534f48" providerId="LiveId" clId="{5C899618-0CE1-4E3A-ADD1-06091A6D8A5C}" dt="2026-05-22T23:47:29.286" v="16" actId="947"/>
          <ac:spMkLst>
            <pc:docMk/>
            <pc:sldMk cId="0" sldId="260"/>
            <ac:spMk id="9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2T23:54:48.194" v="110" actId="20577"/>
        <pc:sldMkLst>
          <pc:docMk/>
          <pc:sldMk cId="0" sldId="263"/>
        </pc:sldMkLst>
        <pc:spChg chg="mod">
          <ac:chgData name="Karla Eugenia Medina Diaz" userId="31c1db5119534f48" providerId="LiveId" clId="{5C899618-0CE1-4E3A-ADD1-06091A6D8A5C}" dt="2026-05-22T23:54:48.194" v="110" actId="20577"/>
          <ac:spMkLst>
            <pc:docMk/>
            <pc:sldMk cId="0" sldId="263"/>
            <ac:spMk id="9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2T23:54:44.545" v="109" actId="20577"/>
          <ac:spMkLst>
            <pc:docMk/>
            <pc:sldMk cId="0" sldId="263"/>
            <ac:spMk id="15" creationId="{00000000-0000-0000-0000-000000000000}"/>
          </ac:spMkLst>
        </pc:spChg>
      </pc:sldChg>
      <pc:sldChg chg="modSp mod">
        <pc:chgData name="Karla Eugenia Medina Diaz" userId="31c1db5119534f48" providerId="LiveId" clId="{5C899618-0CE1-4E3A-ADD1-06091A6D8A5C}" dt="2026-05-23T02:21:15.499" v="183"/>
        <pc:sldMkLst>
          <pc:docMk/>
          <pc:sldMk cId="0" sldId="264"/>
        </pc:sldMkLst>
        <pc:spChg chg="mod">
          <ac:chgData name="Karla Eugenia Medina Diaz" userId="31c1db5119534f48" providerId="LiveId" clId="{5C899618-0CE1-4E3A-ADD1-06091A6D8A5C}" dt="2026-05-22T23:51:22.385" v="63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2T23:53:22.490" v="91" actId="14100"/>
          <ac:spMkLst>
            <pc:docMk/>
            <pc:sldMk cId="0" sldId="264"/>
            <ac:spMk id="6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2T23:55:10.496" v="111" actId="20577"/>
          <ac:spMkLst>
            <pc:docMk/>
            <pc:sldMk cId="0" sldId="264"/>
            <ac:spMk id="7" creationId="{00000000-0000-0000-0000-000000000000}"/>
          </ac:spMkLst>
        </pc:spChg>
        <pc:spChg chg="mod">
          <ac:chgData name="Karla Eugenia Medina Diaz" userId="31c1db5119534f48" providerId="LiveId" clId="{5C899618-0CE1-4E3A-ADD1-06091A6D8A5C}" dt="2026-05-23T02:21:15.499" v="183"/>
          <ac:spMkLst>
            <pc:docMk/>
            <pc:sldMk cId="0" sldId="264"/>
            <ac:spMk id="8" creationId="{00000000-0000-0000-0000-000000000000}"/>
          </ac:spMkLst>
        </pc:spChg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65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66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67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68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69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0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1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2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3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4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5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6"/>
        </pc:sldMkLst>
      </pc:sldChg>
      <pc:sldChg chg="del">
        <pc:chgData name="Karla Eugenia Medina Diaz" userId="31c1db5119534f48" providerId="LiveId" clId="{5C899618-0CE1-4E3A-ADD1-06091A6D8A5C}" dt="2026-05-22T02:16:13.096" v="0" actId="47"/>
        <pc:sldMkLst>
          <pc:docMk/>
          <pc:sldMk cId="0" sldId="27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004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03294F-964B-C1A8-6D62-E69951772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B65961-A31B-5CF9-C3D3-7F78CCB4FB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F84D63-BAD2-7C24-3605-0346915ABD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15476-D704-F07E-2016-B8D83D2A81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797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4114800" cy="4114800"/>
          </a:xfrm>
          <a:prstGeom prst="ellipse">
            <a:avLst/>
          </a:prstGeom>
          <a:solidFill>
            <a:srgbClr val="1B6CA8">
              <a:alpha val="30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6583680" y="2286000"/>
            <a:ext cx="2926080" cy="2926080"/>
          </a:xfrm>
          <a:prstGeom prst="ellipse">
            <a:avLst/>
          </a:prstGeom>
          <a:solidFill>
            <a:srgbClr val="1ABC9C">
              <a:alpha val="2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TEMA 2 DE 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005840"/>
            <a:ext cx="68580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 de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para Modelos</a:t>
            </a:r>
            <a:endParaRPr lang="en-US" sz="38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Predictivos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Diplomado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r>
              <a:rPr lang="en-US" sz="1400" i="1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Machine Learning para </a:t>
            </a:r>
            <a:r>
              <a:rPr lang="en-US" sz="1400" i="1" dirty="0" err="1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⏱  10 horas de clase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ABC9C">
              <a:alpha val="4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del Módulo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09728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365760" y="868680"/>
            <a:ext cx="73152" cy="694944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502920" y="987552"/>
            <a:ext cx="457200" cy="457200"/>
          </a:xfrm>
          <a:prstGeom prst="ellipse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502920" y="987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97280" y="978408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Escalamiento y Normalización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64208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65760" y="1664208"/>
            <a:ext cx="73152" cy="694944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Shape 1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5" name="Text 13"/>
          <p:cNvSpPr/>
          <p:nvPr/>
        </p:nvSpPr>
        <p:spPr>
          <a:xfrm>
            <a:off x="50292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1773936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Transformaciones Log, Box-Cox y Yeo-Johnson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459736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0" name="Shape 18"/>
          <p:cNvSpPr/>
          <p:nvPr/>
        </p:nvSpPr>
        <p:spPr>
          <a:xfrm>
            <a:off x="365760" y="2459736"/>
            <a:ext cx="73152" cy="69494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Shape 19"/>
          <p:cNvSpPr/>
          <p:nvPr/>
        </p:nvSpPr>
        <p:spPr>
          <a:xfrm>
            <a:off x="502920" y="2578608"/>
            <a:ext cx="457200" cy="45720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2" name="Text 20"/>
          <p:cNvSpPr/>
          <p:nvPr/>
        </p:nvSpPr>
        <p:spPr>
          <a:xfrm>
            <a:off x="50292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97280" y="2569464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Codificación de Variables Categóricas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65760" y="3255264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65760" y="3255264"/>
            <a:ext cx="73152" cy="69494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Shape 26"/>
          <p:cNvSpPr/>
          <p:nvPr/>
        </p:nvSpPr>
        <p:spPr>
          <a:xfrm>
            <a:off x="502920" y="3374136"/>
            <a:ext cx="457200" cy="45720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9" name="Text 27"/>
          <p:cNvSpPr/>
          <p:nvPr/>
        </p:nvSpPr>
        <p:spPr>
          <a:xfrm>
            <a:off x="50292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097280" y="3364992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Variables Dummy y Derivadas Actuariales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4050792"/>
            <a:ext cx="8046720" cy="694944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4" name="Shape 32"/>
          <p:cNvSpPr/>
          <p:nvPr/>
        </p:nvSpPr>
        <p:spPr>
          <a:xfrm>
            <a:off x="365760" y="4050792"/>
            <a:ext cx="73152" cy="694944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5" name="Shape 33"/>
          <p:cNvSpPr/>
          <p:nvPr/>
        </p:nvSpPr>
        <p:spPr>
          <a:xfrm>
            <a:off x="502920" y="4169664"/>
            <a:ext cx="457200" cy="45720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6" name="Text 34"/>
          <p:cNvSpPr/>
          <p:nvPr/>
        </p:nvSpPr>
        <p:spPr>
          <a:xfrm>
            <a:off x="502920" y="4169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2.5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97280" y="4160520"/>
            <a:ext cx="5943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52F"/>
                </a:solidFill>
              </a:rPr>
              <a:t>Feature Engineering Actuarial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A3D62"/>
                </a:solidFill>
              </a:rPr>
              <a:t>¿Por Qué Transformar los Datos?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658368"/>
            <a:ext cx="146304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7F8C8D"/>
                </a:solidFill>
              </a:rPr>
              <a:t>Los datos crudos rara vez están listos para ser usados directamente en modelos. Las transformaciones mejoran la calidad, comparabilidad e interpretabilidad de las variables.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274320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Escala Comparable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84048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en distintas unidades (edad en años vs. monto en millones) distorsionan los modelos.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18688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3218688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3218688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10128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Distribución Adecuada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28416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Muchos modelos asumen normalidad. Datos asimétricos de siniestros requieren transformación.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63056" y="1508760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163056" y="1508760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163056" y="16459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🏷️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54496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Variables Categóricas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2784" y="237744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Los algoritmos matemáticos no entienden texto. Se debe convertir 'Tipo de Seguro' a números.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2" name="Shape 20"/>
          <p:cNvSpPr/>
          <p:nvPr/>
        </p:nvSpPr>
        <p:spPr>
          <a:xfrm>
            <a:off x="274320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3" name="Text 21"/>
          <p:cNvSpPr/>
          <p:nvPr/>
        </p:nvSpPr>
        <p:spPr>
          <a:xfrm>
            <a:off x="274320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365760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Crear Nuevas Variables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4048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antigüedad del cliente, la exposición y la edad derivada son más informativas que las fechas crudas.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18688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27" name="Shape 25"/>
          <p:cNvSpPr/>
          <p:nvPr/>
        </p:nvSpPr>
        <p:spPr>
          <a:xfrm>
            <a:off x="3218688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8" name="Text 26"/>
          <p:cNvSpPr/>
          <p:nvPr/>
        </p:nvSpPr>
        <p:spPr>
          <a:xfrm>
            <a:off x="3218688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10128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Capturar Patrones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28416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La estacionalidad, efectos de día de semana y tendencias mejoran la predicción de siniestros.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3172968"/>
            <a:ext cx="2743200" cy="1508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32" name="Shape 30"/>
          <p:cNvSpPr/>
          <p:nvPr/>
        </p:nvSpPr>
        <p:spPr>
          <a:xfrm>
            <a:off x="6163056" y="3172968"/>
            <a:ext cx="2743200" cy="64008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3" name="Text 31"/>
          <p:cNvSpPr/>
          <p:nvPr/>
        </p:nvSpPr>
        <p:spPr>
          <a:xfrm>
            <a:off x="6163056" y="33101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⚖️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254496" y="37216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3D62"/>
                </a:solidFill>
              </a:rPr>
              <a:t>Reducir Sesgo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272784" y="4041648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1A252F"/>
                </a:solidFill>
              </a:rPr>
              <a:t>Variables con outliers extremos (montos de siniestros) pueden dominar y distorsionar el modelo.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3D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1B6CA8">
              <a:alpha val="3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858000" y="2926080"/>
            <a:ext cx="3200400" cy="320040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Escalamiento y</a:t>
            </a:r>
            <a:endParaRPr lang="en-US" sz="3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Normalización de Variables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BC9C"/>
                </a:solidFill>
              </a:rPr>
              <a:t>Hacer comparables variables con distintas escalas y unidades de medición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1ABC9C">
              <a:alpha val="40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D62"/>
                </a:solidFill>
              </a:rPr>
              <a:t>3.1 — Escalamiento Min-Max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393192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</a:rPr>
              <a:t>¿Qué hace?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07008"/>
            <a:ext cx="3566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52F"/>
                </a:solidFill>
              </a:rPr>
              <a:t>Transforma todos los valores al rango [0, 1]. Ideal cuando se conocen los límites del dominio y no hay outliers extremos.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029968"/>
            <a:ext cx="3383280" cy="59436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BC9C"/>
                </a:solidFill>
              </a:rPr>
              <a:t>X' = (X − </a:t>
            </a:r>
            <a:r>
              <a:rPr lang="en-US" sz="1300" b="1" dirty="0" err="1">
                <a:solidFill>
                  <a:srgbClr val="1ABC9C"/>
                </a:solidFill>
              </a:rPr>
              <a:t>X</a:t>
            </a:r>
            <a:r>
              <a:rPr lang="en-US" sz="1300" b="1" baseline="-25000" dirty="0" err="1">
                <a:solidFill>
                  <a:srgbClr val="1ABC9C"/>
                </a:solidFill>
              </a:rPr>
              <a:t>min</a:t>
            </a:r>
            <a:r>
              <a:rPr lang="en-US" sz="1300" b="1" dirty="0">
                <a:solidFill>
                  <a:srgbClr val="1ABC9C"/>
                </a:solidFill>
              </a:rPr>
              <a:t>) / (</a:t>
            </a:r>
            <a:r>
              <a:rPr lang="en-US" sz="1300" b="1" dirty="0" err="1">
                <a:solidFill>
                  <a:srgbClr val="1ABC9C"/>
                </a:solidFill>
              </a:rPr>
              <a:t>X</a:t>
            </a:r>
            <a:r>
              <a:rPr lang="en-US" sz="1300" b="1" baseline="-25000" dirty="0" err="1">
                <a:solidFill>
                  <a:srgbClr val="1ABC9C"/>
                </a:solidFill>
              </a:rPr>
              <a:t>max</a:t>
            </a:r>
            <a:r>
              <a:rPr lang="en-US" sz="1300" b="1" dirty="0">
                <a:solidFill>
                  <a:srgbClr val="1ABC9C"/>
                </a:solidFill>
              </a:rPr>
              <a:t> − </a:t>
            </a:r>
            <a:r>
              <a:rPr lang="en-US" sz="1300" b="1" dirty="0" err="1">
                <a:solidFill>
                  <a:srgbClr val="1ABC9C"/>
                </a:solidFill>
              </a:rPr>
              <a:t>X</a:t>
            </a:r>
            <a:r>
              <a:rPr lang="en-US" sz="1300" b="1" baseline="-25000" dirty="0" err="1">
                <a:solidFill>
                  <a:srgbClr val="1ABC9C"/>
                </a:solidFill>
              </a:rPr>
              <a:t>min</a:t>
            </a:r>
            <a:r>
              <a:rPr lang="en-US" sz="1300" b="1" dirty="0">
                <a:solidFill>
                  <a:srgbClr val="1ABC9C"/>
                </a:solidFill>
              </a:rPr>
              <a:t>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61488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D62"/>
                </a:solidFill>
              </a:rPr>
              <a:t>Contexto Actuarial: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90672"/>
            <a:ext cx="3566160" cy="1481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52F"/>
                </a:solidFill>
              </a:rPr>
              <a:t>Prima mensual: </a:t>
            </a:r>
            <a:r>
              <a:rPr lang="en-US" sz="1100" dirty="0">
                <a:solidFill>
                  <a:srgbClr val="1A252F"/>
                </a:solidFill>
              </a:rPr>
              <a:t>$500 – $50,000 → [0, 1]
</a:t>
            </a:r>
            <a:r>
              <a:rPr lang="en-US" sz="1100" b="1" dirty="0">
                <a:solidFill>
                  <a:srgbClr val="1A252F"/>
                </a:solidFill>
              </a:rPr>
              <a:t>Edad: </a:t>
            </a:r>
            <a:r>
              <a:rPr lang="en-US" sz="1100" dirty="0">
                <a:solidFill>
                  <a:srgbClr val="1A252F"/>
                </a:solidFill>
              </a:rPr>
              <a:t>18 – 80 años → [0, 1]
</a:t>
            </a:r>
            <a:r>
              <a:rPr lang="en-US" sz="1100" b="1" dirty="0">
                <a:solidFill>
                  <a:srgbClr val="1A252F"/>
                </a:solidFill>
              </a:rPr>
              <a:t>Suma asegurada: </a:t>
            </a:r>
            <a:r>
              <a:rPr lang="en-US" sz="1100" dirty="0">
                <a:solidFill>
                  <a:srgbClr val="1A252F"/>
                </a:solidFill>
              </a:rPr>
              <a:t>$100K – $10M → [0, 1]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480560" y="7772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D62"/>
                </a:solidFill>
              </a:rPr>
              <a:t>Ejemplo: Normalizar Prima Anual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480560" y="1170432"/>
          <a:ext cx="4389120" cy="20116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Cliente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Prima ($)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Normalizado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0.091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C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$25,000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0.496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D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$48,000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0.955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E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$50,000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1.000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4" name="Text 11"/>
          <p:cNvSpPr/>
          <p:nvPr/>
        </p:nvSpPr>
        <p:spPr>
          <a:xfrm>
            <a:off x="4480560" y="3246120"/>
            <a:ext cx="4389120" cy="502920"/>
          </a:xfrm>
          <a:prstGeom prst="rect">
            <a:avLst/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0392B"/>
                </a:solidFill>
              </a:rPr>
              <a:t>⚠️  Sensible a outliers: un siniestro de $10M cambia toda la escala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480560" y="3822192"/>
            <a:ext cx="4389120" cy="502920"/>
          </a:xfrm>
          <a:prstGeom prst="rect">
            <a:avLst/>
          </a:prstGeom>
          <a:solidFill>
            <a:srgbClr val="EAFAF1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</a:rPr>
              <a:t>✅  Uso: Redes neuronales, K-Means, algoritmos con distancias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480560" y="4407408"/>
            <a:ext cx="4389120" cy="502920"/>
          </a:xfrm>
          <a:prstGeom prst="rect">
            <a:avLst/>
          </a:prstGeom>
          <a:solidFill>
            <a:srgbClr val="FDEDEC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</a:rPr>
              <a:t>❌  No usar si: hay valores atípicos extremos o datos fuera del rango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D62"/>
                </a:solidFill>
              </a:rPr>
              <a:t>3.1 — Estandarización Z-Score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La técnica más robusta y usada en modelación actuarial. Centra los datos en 0 y los escala por la desviación estándar.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BC9C"/>
                </a:solidFill>
              </a:rPr>
              <a:t>Z = (X − μ) / σ     donde μ = media,  σ = desviación estándar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2697480" cy="4114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Media = 0, Desv. Est. 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No tiene límite de rango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Conserva outliers relativos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/>
          <p:cNvSpPr/>
          <p:nvPr/>
        </p:nvSpPr>
        <p:spPr>
          <a:xfrm>
            <a:off x="3291840" y="2029968"/>
            <a:ext cx="26974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338328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Ventajas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38328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Robusto a outliers moderados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Comparación entre variables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Funciona con distribuciones normales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/>
          <p:cNvSpPr/>
          <p:nvPr/>
        </p:nvSpPr>
        <p:spPr>
          <a:xfrm>
            <a:off x="6217920" y="2029968"/>
            <a:ext cx="269748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/>
          <p:cNvSpPr/>
          <p:nvPr/>
        </p:nvSpPr>
        <p:spPr>
          <a:xfrm>
            <a:off x="630936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 Actuarial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Monto de siniestros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Número de reclamaciones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Años de antigüedad del asegurado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solidFill>
            <a:srgbClr val="1ABC9C">
              <a:alpha val="1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A3D62"/>
                </a:solidFill>
              </a:rPr>
              <a:t>💡  Regla práctica: Z-Score para GLMs y regresión | Min-Max para redes neuronales | Robust Scaler cuando hay muchos outliers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F0A77-45BE-F3B8-E650-B8582AAAA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4D5A97D-D6E3-4747-01CF-43C1E73E0ACA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1EB35F3-1909-5EA2-6E00-65F466C67963}"/>
              </a:ext>
            </a:extLst>
          </p:cNvPr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A3D62"/>
                </a:solidFill>
              </a:rPr>
              <a:t>3.1 — Robust Scaler</a:t>
            </a:r>
            <a:endParaRPr lang="en-US" sz="22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F747B12-FF59-CDA0-D6C3-5D4847984892}"/>
              </a:ext>
            </a:extLst>
          </p:cNvPr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97FF02F-D5F6-0E4A-985A-C07D502A1853}"/>
              </a:ext>
            </a:extLst>
          </p:cNvPr>
          <p:cNvSpPr/>
          <p:nvPr/>
        </p:nvSpPr>
        <p:spPr>
          <a:xfrm>
            <a:off x="365760" y="713232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7582BD7-CF30-08C2-A729-62C78578D34A}"/>
              </a:ext>
            </a:extLst>
          </p:cNvPr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B25D95-E80B-A86F-F88A-C7FDA14529A9}"/>
              </a:ext>
            </a:extLst>
          </p:cNvPr>
          <p:cNvSpPr/>
          <p:nvPr/>
        </p:nvSpPr>
        <p:spPr>
          <a:xfrm>
            <a:off x="365760" y="123444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1ABC9C"/>
                </a:solidFill>
              </a:rPr>
              <a:t>X’ = (X − Q</a:t>
            </a:r>
            <a:r>
              <a:rPr lang="en-US" sz="1600" b="1" baseline="-25000" dirty="0">
                <a:solidFill>
                  <a:srgbClr val="1ABC9C"/>
                </a:solidFill>
              </a:rPr>
              <a:t>2</a:t>
            </a:r>
            <a:r>
              <a:rPr lang="en-US" sz="1600" b="1" dirty="0">
                <a:solidFill>
                  <a:srgbClr val="1ABC9C"/>
                </a:solidFill>
              </a:rPr>
              <a:t>) / (Q</a:t>
            </a:r>
            <a:r>
              <a:rPr lang="en-US" sz="1600" b="1" baseline="-25000" dirty="0">
                <a:solidFill>
                  <a:srgbClr val="1ABC9C"/>
                </a:solidFill>
              </a:rPr>
              <a:t>3</a:t>
            </a:r>
            <a:r>
              <a:rPr lang="en-US" sz="1600" b="1" dirty="0">
                <a:solidFill>
                  <a:srgbClr val="1ABC9C"/>
                </a:solidFill>
              </a:rPr>
              <a:t> − Q</a:t>
            </a:r>
            <a:r>
              <a:rPr lang="en-US" sz="1600" b="1" baseline="-25000" dirty="0">
                <a:solidFill>
                  <a:srgbClr val="1ABC9C"/>
                </a:solidFill>
              </a:rPr>
              <a:t>1</a:t>
            </a:r>
            <a:r>
              <a:rPr lang="en-US" sz="1600" b="1" dirty="0">
                <a:solidFill>
                  <a:srgbClr val="1ABC9C"/>
                </a:solidFill>
              </a:rPr>
              <a:t>)     </a:t>
            </a:r>
            <a:r>
              <a:rPr lang="en-US" sz="1600" b="1" dirty="0" err="1">
                <a:solidFill>
                  <a:srgbClr val="1ABC9C"/>
                </a:solidFill>
              </a:rPr>
              <a:t>donde</a:t>
            </a:r>
            <a:r>
              <a:rPr lang="en-US" sz="1600" b="1" dirty="0">
                <a:solidFill>
                  <a:srgbClr val="1ABC9C"/>
                </a:solidFill>
              </a:rPr>
              <a:t> Q</a:t>
            </a:r>
            <a:r>
              <a:rPr lang="en-US" sz="1600" b="1" baseline="-25000" dirty="0">
                <a:solidFill>
                  <a:srgbClr val="1ABC9C"/>
                </a:solidFill>
              </a:rPr>
              <a:t>1</a:t>
            </a:r>
            <a:r>
              <a:rPr lang="en-US" sz="1600" b="1" dirty="0">
                <a:solidFill>
                  <a:srgbClr val="1ABC9C"/>
                </a:solidFill>
              </a:rPr>
              <a:t> = </a:t>
            </a:r>
            <a:r>
              <a:rPr lang="en-US" sz="1600" b="1" dirty="0" err="1">
                <a:solidFill>
                  <a:srgbClr val="1ABC9C"/>
                </a:solidFill>
              </a:rPr>
              <a:t>percentil</a:t>
            </a:r>
            <a:r>
              <a:rPr lang="en-US" sz="1600" b="1" dirty="0">
                <a:solidFill>
                  <a:srgbClr val="1ABC9C"/>
                </a:solidFill>
              </a:rPr>
              <a:t> 25%, Q</a:t>
            </a:r>
            <a:r>
              <a:rPr lang="en-US" sz="1600" b="1" baseline="-25000" dirty="0">
                <a:solidFill>
                  <a:srgbClr val="1ABC9C"/>
                </a:solidFill>
              </a:rPr>
              <a:t>2</a:t>
            </a:r>
            <a:r>
              <a:rPr lang="en-US" sz="1600" b="1" dirty="0">
                <a:solidFill>
                  <a:srgbClr val="1ABC9C"/>
                </a:solidFill>
              </a:rPr>
              <a:t> = </a:t>
            </a:r>
            <a:r>
              <a:rPr lang="en-US" sz="1600" b="1" dirty="0" err="1">
                <a:solidFill>
                  <a:srgbClr val="1ABC9C"/>
                </a:solidFill>
              </a:rPr>
              <a:t>percentil</a:t>
            </a:r>
            <a:r>
              <a:rPr lang="en-US" sz="1600" b="1" dirty="0">
                <a:solidFill>
                  <a:srgbClr val="1ABC9C"/>
                </a:solidFill>
              </a:rPr>
              <a:t> 50%, Q</a:t>
            </a:r>
            <a:r>
              <a:rPr lang="en-US" sz="1600" b="1" baseline="-25000" dirty="0">
                <a:solidFill>
                  <a:srgbClr val="1ABC9C"/>
                </a:solidFill>
              </a:rPr>
              <a:t>3</a:t>
            </a:r>
            <a:r>
              <a:rPr lang="en-US" sz="1600" b="1" dirty="0">
                <a:solidFill>
                  <a:srgbClr val="1ABC9C"/>
                </a:solidFill>
              </a:rPr>
              <a:t> = </a:t>
            </a:r>
            <a:r>
              <a:rPr lang="en-US" sz="1600" b="1" dirty="0" err="1">
                <a:solidFill>
                  <a:srgbClr val="1ABC9C"/>
                </a:solidFill>
              </a:rPr>
              <a:t>percentil</a:t>
            </a:r>
            <a:r>
              <a:rPr lang="en-US" sz="1600" b="1" dirty="0">
                <a:solidFill>
                  <a:srgbClr val="1ABC9C"/>
                </a:solidFill>
              </a:rPr>
              <a:t> 75%</a:t>
            </a:r>
            <a:endParaRPr lang="en-US" sz="16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405153C-F073-E10F-9D17-A9280C61EF11}"/>
              </a:ext>
            </a:extLst>
          </p:cNvPr>
          <p:cNvSpPr/>
          <p:nvPr/>
        </p:nvSpPr>
        <p:spPr>
          <a:xfrm>
            <a:off x="36576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051926C1-78F3-4AF7-7683-FC84743D2735}"/>
              </a:ext>
            </a:extLst>
          </p:cNvPr>
          <p:cNvSpPr/>
          <p:nvPr/>
        </p:nvSpPr>
        <p:spPr>
          <a:xfrm>
            <a:off x="365760" y="2029968"/>
            <a:ext cx="2697480" cy="411480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2F3F340-014D-BD51-BF63-AA9D9B179E63}"/>
              </a:ext>
            </a:extLst>
          </p:cNvPr>
          <p:cNvSpPr/>
          <p:nvPr/>
        </p:nvSpPr>
        <p:spPr>
          <a:xfrm>
            <a:off x="45720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Resultado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96E5A2F-A03A-5922-3C14-24B752E7D536}"/>
              </a:ext>
            </a:extLst>
          </p:cNvPr>
          <p:cNvSpPr/>
          <p:nvPr/>
        </p:nvSpPr>
        <p:spPr>
          <a:xfrm>
            <a:off x="45720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sz="1000" dirty="0">
                <a:solidFill>
                  <a:srgbClr val="1A252F"/>
                </a:solidFill>
              </a:rPr>
              <a:t>Usa la mediana (Q2) como centro y el rango intercuartílico (IQR = Q3 - Q1) como escala. Al basarse en estadísticos de orden, es inherentemente resistente a </a:t>
            </a:r>
            <a:r>
              <a:rPr lang="es-MX" sz="1000" dirty="0" err="1">
                <a:solidFill>
                  <a:srgbClr val="1A252F"/>
                </a:solidFill>
              </a:rPr>
              <a:t>outliers</a:t>
            </a:r>
            <a:r>
              <a:rPr lang="es-MX" sz="1000" dirty="0">
                <a:solidFill>
                  <a:srgbClr val="1A252F"/>
                </a:solidFill>
              </a:rPr>
              <a:t> extremos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1DF3342-41BA-0891-72BB-7D48B5F544CE}"/>
              </a:ext>
            </a:extLst>
          </p:cNvPr>
          <p:cNvSpPr/>
          <p:nvPr/>
        </p:nvSpPr>
        <p:spPr>
          <a:xfrm>
            <a:off x="329184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0D795C0-C5A7-A479-2F90-23EC4AC05545}"/>
              </a:ext>
            </a:extLst>
          </p:cNvPr>
          <p:cNvSpPr/>
          <p:nvPr/>
        </p:nvSpPr>
        <p:spPr>
          <a:xfrm>
            <a:off x="3291840" y="2029968"/>
            <a:ext cx="2697480" cy="4114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8E8CE578-DE8F-686E-24C9-4F094D7EA85E}"/>
              </a:ext>
            </a:extLst>
          </p:cNvPr>
          <p:cNvSpPr/>
          <p:nvPr/>
        </p:nvSpPr>
        <p:spPr>
          <a:xfrm>
            <a:off x="338328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Ventajas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1AC5E0C0-2CE1-5350-1274-BBDF73922428}"/>
              </a:ext>
            </a:extLst>
          </p:cNvPr>
          <p:cNvSpPr/>
          <p:nvPr/>
        </p:nvSpPr>
        <p:spPr>
          <a:xfrm>
            <a:off x="338328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</a:t>
            </a:r>
            <a:r>
              <a:rPr lang="es-MX" sz="1000" dirty="0">
                <a:solidFill>
                  <a:srgbClr val="1A252F"/>
                </a:solidFill>
              </a:rPr>
              <a:t>Centrado en mediana, escala en IQR.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Alta </a:t>
            </a:r>
            <a:r>
              <a:rPr lang="en-US" sz="1000" dirty="0" err="1">
                <a:solidFill>
                  <a:srgbClr val="1A252F"/>
                </a:solidFill>
              </a:rPr>
              <a:t>resistencia</a:t>
            </a:r>
            <a:r>
              <a:rPr lang="en-US" sz="1000" dirty="0">
                <a:solidFill>
                  <a:srgbClr val="1A252F"/>
                </a:solidFill>
              </a:rPr>
              <a:t> a outliers. </a:t>
            </a:r>
          </a:p>
          <a:p>
            <a:r>
              <a:rPr lang="en-US" sz="1000" dirty="0">
                <a:solidFill>
                  <a:srgbClr val="1A252F"/>
                </a:solidFill>
              </a:rPr>
              <a:t>✅ No </a:t>
            </a:r>
            <a:r>
              <a:rPr lang="en-US" sz="1000" dirty="0" err="1">
                <a:solidFill>
                  <a:srgbClr val="1A252F"/>
                </a:solidFill>
              </a:rPr>
              <a:t>garantiza</a:t>
            </a:r>
            <a:r>
              <a:rPr lang="en-US" sz="1000" dirty="0">
                <a:solidFill>
                  <a:srgbClr val="1A252F"/>
                </a:solidFill>
              </a:rPr>
              <a:t> </a:t>
            </a:r>
            <a:r>
              <a:rPr lang="en-US" sz="1000" dirty="0" err="1">
                <a:solidFill>
                  <a:srgbClr val="1A252F"/>
                </a:solidFill>
              </a:rPr>
              <a:t>rango</a:t>
            </a:r>
            <a:r>
              <a:rPr lang="en-US" sz="1000" dirty="0">
                <a:solidFill>
                  <a:srgbClr val="1A252F"/>
                </a:solidFill>
              </a:rPr>
              <a:t>.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✅ </a:t>
            </a:r>
            <a:r>
              <a:rPr lang="en-US" sz="1000" dirty="0" err="1">
                <a:solidFill>
                  <a:srgbClr val="1A252F"/>
                </a:solidFill>
              </a:rPr>
              <a:t>Preserva</a:t>
            </a:r>
            <a:r>
              <a:rPr lang="en-US" sz="1000" dirty="0">
                <a:solidFill>
                  <a:srgbClr val="1A252F"/>
                </a:solidFill>
              </a:rPr>
              <a:t> la </a:t>
            </a:r>
            <a:r>
              <a:rPr lang="en-US" sz="1000" dirty="0" err="1">
                <a:solidFill>
                  <a:srgbClr val="1A252F"/>
                </a:solidFill>
              </a:rPr>
              <a:t>distribución</a:t>
            </a:r>
            <a:r>
              <a:rPr lang="en-US" sz="1000" dirty="0">
                <a:solidFill>
                  <a:srgbClr val="1A252F"/>
                </a:solidFill>
              </a:rPr>
              <a:t> </a:t>
            </a:r>
            <a:r>
              <a:rPr lang="en-US" sz="1000" dirty="0" err="1">
                <a:solidFill>
                  <a:srgbClr val="1A252F"/>
                </a:solidFill>
              </a:rPr>
              <a:t>relativa</a:t>
            </a:r>
            <a:r>
              <a:rPr lang="en-US" sz="1000" dirty="0">
                <a:solidFill>
                  <a:srgbClr val="1A252F"/>
                </a:solidFill>
              </a:rPr>
              <a:t> de </a:t>
            </a:r>
            <a:r>
              <a:rPr lang="en-US" sz="1000" dirty="0" err="1">
                <a:solidFill>
                  <a:srgbClr val="1A252F"/>
                </a:solidFill>
              </a:rPr>
              <a:t>valores</a:t>
            </a:r>
            <a:r>
              <a:rPr lang="en-US" sz="1000" dirty="0">
                <a:solidFill>
                  <a:srgbClr val="1A252F"/>
                </a:solidFill>
              </a:rPr>
              <a:t> </a:t>
            </a:r>
            <a:r>
              <a:rPr lang="en-US" sz="1000" dirty="0" err="1">
                <a:solidFill>
                  <a:srgbClr val="1A252F"/>
                </a:solidFill>
              </a:rPr>
              <a:t>centrales</a:t>
            </a:r>
            <a:endParaRPr lang="en-US" sz="1000" dirty="0">
              <a:solidFill>
                <a:srgbClr val="1A252F"/>
              </a:solidFill>
            </a:endParaRPr>
          </a:p>
          <a:p>
            <a:r>
              <a:rPr lang="en-US" sz="1000" dirty="0">
                <a:solidFill>
                  <a:srgbClr val="1A252F"/>
                </a:solidFill>
              </a:rPr>
              <a:t>✅ Robusto a outliers </a:t>
            </a:r>
            <a:r>
              <a:rPr lang="en-US" sz="1000" dirty="0" err="1">
                <a:solidFill>
                  <a:srgbClr val="1A252F"/>
                </a:solidFill>
              </a:rPr>
              <a:t>moderados</a:t>
            </a:r>
            <a:endParaRPr lang="en-US" sz="1000" dirty="0">
              <a:solidFill>
                <a:srgbClr val="1A252F"/>
              </a:solidFill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F4A992-28B7-0595-AAC4-48412C266B77}"/>
              </a:ext>
            </a:extLst>
          </p:cNvPr>
          <p:cNvSpPr/>
          <p:nvPr/>
        </p:nvSpPr>
        <p:spPr>
          <a:xfrm>
            <a:off x="6217920" y="2029968"/>
            <a:ext cx="2697480" cy="265176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  <a:effectLst>
            <a:outerShdw blurRad="762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MX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FAE29B92-78BA-3D6D-497A-EDA9CB997168}"/>
              </a:ext>
            </a:extLst>
          </p:cNvPr>
          <p:cNvSpPr/>
          <p:nvPr/>
        </p:nvSpPr>
        <p:spPr>
          <a:xfrm>
            <a:off x="6217920" y="2029968"/>
            <a:ext cx="2697480" cy="411480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B60F5B7-117A-79DD-962E-7F625C0529A8}"/>
              </a:ext>
            </a:extLst>
          </p:cNvPr>
          <p:cNvSpPr/>
          <p:nvPr/>
        </p:nvSpPr>
        <p:spPr>
          <a:xfrm>
            <a:off x="6309360" y="202996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Contexto Actuarial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ED28966-0C9D-4F18-5A96-C2F7B0278D20}"/>
              </a:ext>
            </a:extLst>
          </p:cNvPr>
          <p:cNvSpPr/>
          <p:nvPr/>
        </p:nvSpPr>
        <p:spPr>
          <a:xfrm>
            <a:off x="6309360" y="2468880"/>
            <a:ext cx="251460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s-MX" sz="1000" dirty="0">
                <a:solidFill>
                  <a:srgbClr val="1A252F"/>
                </a:solidFill>
              </a:rPr>
              <a:t>Portafolios con grandes riesgos (flotillas, riesgos industriales) donde los </a:t>
            </a:r>
            <a:r>
              <a:rPr lang="es-MX" sz="1000" dirty="0" err="1">
                <a:solidFill>
                  <a:srgbClr val="1A252F"/>
                </a:solidFill>
              </a:rPr>
              <a:t>outliers</a:t>
            </a:r>
            <a:r>
              <a:rPr lang="es-MX" sz="1000" dirty="0">
                <a:solidFill>
                  <a:srgbClr val="1A252F"/>
                </a:solidFill>
              </a:rPr>
              <a:t> son reales y no errores. </a:t>
            </a:r>
          </a:p>
          <a:p>
            <a:pPr marL="0" indent="0">
              <a:buNone/>
            </a:pPr>
            <a:r>
              <a:rPr lang="es-MX" sz="1000" dirty="0">
                <a:solidFill>
                  <a:srgbClr val="1A252F"/>
                </a:solidFill>
              </a:rPr>
              <a:t>Cualquier variable con distribución de cola pesada que no se pueda transformar logarítmicamente.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348537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6CA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A3D62">
              <a:alpha val="40000"/>
            </a:srgbClr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6400800" y="2926080"/>
            <a:ext cx="3657600" cy="365760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3.2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Transformaciones: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Logarítmica, Box-Cox</a:t>
            </a:r>
            <a:endParaRPr lang="en-US" sz="3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Yeo-Johnson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BC9C"/>
                </a:solidFill>
              </a:rPr>
              <a:t>Convertir distribuciones asimétricas de siniestros en distribuciones más simétricas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0" y="4974336"/>
            <a:ext cx="9144000" cy="173736"/>
          </a:xfrm>
          <a:prstGeom prst="rect">
            <a:avLst/>
          </a:prstGeom>
          <a:solidFill>
            <a:srgbClr val="F39C12">
              <a:alpha val="50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</a:rPr>
              <a:t>3.2 — Logarítmica y Box-Cox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411480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Shape 4"/>
          <p:cNvSpPr/>
          <p:nvPr/>
        </p:nvSpPr>
        <p:spPr>
          <a:xfrm>
            <a:off x="274320" y="749808"/>
            <a:ext cx="4114800" cy="384048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7" name="Text 5"/>
          <p:cNvSpPr/>
          <p:nvPr/>
        </p:nvSpPr>
        <p:spPr>
          <a:xfrm>
            <a:off x="365760" y="7498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Transformación Logarítmica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261872"/>
            <a:ext cx="3749040" cy="475488"/>
          </a:xfrm>
          <a:prstGeom prst="rect">
            <a:avLst/>
          </a:prstGeom>
          <a:solidFill>
            <a:srgbClr val="1B6CA8">
              <a:alpha val="15000"/>
            </a:srgbClr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9" name="Text 7"/>
          <p:cNvSpPr/>
          <p:nvPr/>
        </p:nvSpPr>
        <p:spPr>
          <a:xfrm>
            <a:off x="457200" y="12618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CA8"/>
                </a:solidFill>
              </a:rPr>
              <a:t>Y' = ln(Y + 1)   ← para Y ≥ 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792224"/>
            <a:ext cx="3749040" cy="2999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¿Cuándo usarla?
</a:t>
            </a:r>
            <a:r>
              <a:rPr lang="en-US" sz="1000" dirty="0">
                <a:solidFill>
                  <a:srgbClr val="1A252F"/>
                </a:solidFill>
              </a:rPr>
              <a:t>• Siniestros de automóviles (cola larga derecha)
• Primas de seguros de vida
• Suma asegurada de inmuebles
• Cualquier variable estrictamente positiva
</a:t>
            </a:r>
            <a:r>
              <a:rPr lang="en-US" sz="1000" b="1" dirty="0">
                <a:solidFill>
                  <a:srgbClr val="1A252F"/>
                </a:solidFill>
              </a:rPr>
              <a:t>¿Qué hace?
</a:t>
            </a:r>
            <a:r>
              <a:rPr lang="en-US" sz="1000" dirty="0">
                <a:solidFill>
                  <a:srgbClr val="1A252F"/>
                </a:solidFill>
              </a:rPr>
              <a:t>• Comprime valores grandes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• Expande valores pequeños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• Acerca la distribución a la normal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749808"/>
            <a:ext cx="4206240" cy="4114800"/>
          </a:xfrm>
          <a:prstGeom prst="rect">
            <a:avLst/>
          </a:prstGeom>
          <a:solidFill>
            <a:srgbClr val="ECF0F1"/>
          </a:solidFill>
          <a:ln w="12700">
            <a:solidFill>
              <a:srgbClr val="ECF0F1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Shape 10"/>
          <p:cNvSpPr/>
          <p:nvPr/>
        </p:nvSpPr>
        <p:spPr>
          <a:xfrm>
            <a:off x="4663440" y="749808"/>
            <a:ext cx="4206240" cy="38404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3" name="Text 11"/>
          <p:cNvSpPr/>
          <p:nvPr/>
        </p:nvSpPr>
        <p:spPr>
          <a:xfrm>
            <a:off x="4754880" y="749808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Transformación Box-Cox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1261872"/>
            <a:ext cx="3840480" cy="640080"/>
          </a:xfrm>
          <a:prstGeom prst="rect">
            <a:avLst/>
          </a:prstGeom>
          <a:solidFill>
            <a:srgbClr val="F39C12">
              <a:alpha val="15000"/>
            </a:srgbClr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13"/>
              <p:cNvSpPr/>
              <p:nvPr/>
            </p:nvSpPr>
            <p:spPr>
              <a:xfrm>
                <a:off x="4846320" y="1261872"/>
                <a:ext cx="3840480" cy="6400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/>
                <a:r>
                  <a:rPr lang="en-US" sz="1100" b="1" dirty="0">
                    <a:solidFill>
                      <a:srgbClr val="F39C12"/>
                    </a:solidFill>
                  </a:rPr>
                  <a:t>Y(λ) 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100" b="1" i="1" smtClean="0">
                            <a:solidFill>
                              <a:srgbClr val="F39C1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100" b="1" i="1" smtClean="0">
                                <a:solidFill>
                                  <a:srgbClr val="F39C1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Yλ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− 1)/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si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≠ 0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100" dirty="0"/>
                                    <m:t> </m:t>
                                  </m:r>
                                </m:e>
                                <m:e/>
                              </m:eqAr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s-MX" sz="1100" b="1" i="0" dirty="0" smtClean="0">
                                  <a:solidFill>
                                    <a:srgbClr val="F39C12"/>
                                  </a:solidFill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)          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si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n-US" sz="1100" b="1" dirty="0">
                                  <a:solidFill>
                                    <a:srgbClr val="F39C12"/>
                                  </a:solidFill>
                                </a:rPr>
                                <m:t> = 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100" dirty="0"/>
              </a:p>
            </p:txBody>
          </p:sp>
        </mc:Choice>
        <mc:Fallback>
          <p:sp>
            <p:nvSpPr>
              <p:cNvPr id="15" name="Text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6320" y="1261872"/>
                <a:ext cx="3840480" cy="64008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 14"/>
          <p:cNvSpPr/>
          <p:nvPr/>
        </p:nvSpPr>
        <p:spPr>
          <a:xfrm>
            <a:off x="4846320" y="1956816"/>
            <a:ext cx="384048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52F"/>
                </a:solidFill>
              </a:rPr>
              <a:t>El parámetro λ se estima automáticamente:
</a:t>
            </a:r>
            <a:r>
              <a:rPr lang="en-US" sz="1000" dirty="0">
                <a:solidFill>
                  <a:srgbClr val="1A252F"/>
                </a:solidFill>
              </a:rPr>
              <a:t>λ = 1   →  Sin transformación
λ = 0   →  Logaritmo natural
λ = 0.5 →  Raíz cuadrada
λ = -1  →  Recíproco
</a:t>
            </a:r>
            <a:r>
              <a:rPr lang="en-US" sz="1000" b="1" dirty="0">
                <a:solidFill>
                  <a:srgbClr val="1A252F"/>
                </a:solidFill>
              </a:rPr>
              <a:t>Restricción:
</a:t>
            </a:r>
            <a:r>
              <a:rPr lang="en-US" sz="1000" dirty="0">
                <a:solidFill>
                  <a:srgbClr val="1A252F"/>
                </a:solidFill>
              </a:rPr>
              <a:t>Solo funciona con Y &gt; 0 estrictamente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A252F"/>
                </a:solidFill>
              </a:rPr>
              <a:t>Para Y = 0 usar Yeo-Johnson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B6CA8"/>
          </a:solidFill>
          <a:ln w="12700">
            <a:solidFill>
              <a:srgbClr val="1B6CA8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3" name="Text 1"/>
          <p:cNvSpPr/>
          <p:nvPr/>
        </p:nvSpPr>
        <p:spPr>
          <a:xfrm>
            <a:off x="365760" y="1645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6CA8"/>
                </a:solidFill>
              </a:rPr>
              <a:t>3.2 — Transformación Yeo-Johnson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594360"/>
            <a:ext cx="1645920" cy="54864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5" name="Text 3"/>
          <p:cNvSpPr/>
          <p:nvPr/>
        </p:nvSpPr>
        <p:spPr>
          <a:xfrm>
            <a:off x="365760" y="5672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F8C8D"/>
                </a:solidFill>
              </a:rPr>
              <a:t>Extensión de Box-Cox que acepta valores negativos y cero. Es la más versátil de las tres transformaciones.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865163"/>
            <a:ext cx="8412480" cy="1557997"/>
          </a:xfrm>
          <a:prstGeom prst="rect">
            <a:avLst/>
          </a:prstGeom>
          <a:solidFill>
            <a:srgbClr val="0A3D62"/>
          </a:solidFill>
          <a:ln w="12700">
            <a:solidFill>
              <a:srgbClr val="0A3D62"/>
            </a:solidFill>
            <a:prstDash val="solid"/>
          </a:ln>
        </p:spPr>
        <p:txBody>
          <a:bodyPr/>
          <a:lstStyle/>
          <a:p>
            <a:endParaRPr lang="es-MX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 5"/>
              <p:cNvSpPr/>
              <p:nvPr/>
            </p:nvSpPr>
            <p:spPr>
              <a:xfrm>
                <a:off x="548640" y="1234440"/>
                <a:ext cx="804672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dirty="0">
                    <a:solidFill>
                      <a:srgbClr val="1ABC9C"/>
                    </a:solidFill>
                  </a:rPr>
                  <a:t>Para Y ≥ 0: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200" b="1" i="1" smtClean="0">
                            <a:solidFill>
                              <a:srgbClr val="1ABC9C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1" i="1" smtClean="0">
                                <a:solidFill>
                                  <a:srgbClr val="1ABC9C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[(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Y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+1)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baseline="30000" dirty="0">
                                      <a:solidFill>
                                        <a:srgbClr val="1ABC9C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 − 1]/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si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1ABC9C"/>
                                      </a:solidFill>
                                    </a:rPr>
                                    <m:t>≠0</m:t>
                                  </m:r>
                                </m:e>
                                <m:e/>
                              </m:eqAr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s-MX" sz="1200" b="1" i="0" dirty="0" smtClean="0">
                                  <a:solidFill>
                                    <a:srgbClr val="1ABC9C"/>
                                  </a:solidFill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(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+1) 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si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1ABC9C"/>
                                  </a:solidFill>
                                </a:rPr>
                                <m:t>=0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200" b="1" dirty="0">
                  <a:solidFill>
                    <a:srgbClr val="1ABC9C"/>
                  </a:solidFill>
                </a:endParaRPr>
              </a:p>
              <a:p>
                <a:endParaRPr lang="en-US" sz="1200" b="1" dirty="0">
                  <a:solidFill>
                    <a:srgbClr val="1ABC9C"/>
                  </a:solidFill>
                </a:endParaRPr>
              </a:p>
              <a:p>
                <a:r>
                  <a:rPr lang="en-US" sz="1200" b="1" dirty="0">
                    <a:solidFill>
                      <a:srgbClr val="1ABC9C"/>
                    </a:solidFill>
                  </a:rPr>
                  <a:t> </a:t>
                </a:r>
                <a:endParaRPr lang="en-US" sz="1200" dirty="0"/>
              </a:p>
            </p:txBody>
          </p:sp>
        </mc:Choice>
        <mc:Fallback>
          <p:sp>
            <p:nvSpPr>
              <p:cNvPr id="7" name="Text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8640" y="1234440"/>
                <a:ext cx="8046720" cy="475488"/>
              </a:xfrm>
              <a:prstGeom prst="rect">
                <a:avLst/>
              </a:prstGeom>
              <a:blipFill>
                <a:blip r:embed="rId3"/>
                <a:stretch>
                  <a:fillRect t="-46154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6"/>
              <p:cNvSpPr/>
              <p:nvPr/>
            </p:nvSpPr>
            <p:spPr>
              <a:xfrm>
                <a:off x="457200" y="1838647"/>
                <a:ext cx="8046720" cy="475488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r>
                  <a:rPr lang="en-US" sz="1200" b="1" dirty="0">
                    <a:solidFill>
                      <a:srgbClr val="F39C12"/>
                    </a:solidFill>
                  </a:rPr>
                  <a:t>Para Y &lt; 0: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sz="1200" b="1" i="1" smtClean="0">
                            <a:solidFill>
                              <a:srgbClr val="F39C1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1200" b="1" i="1" smtClean="0">
                                <a:solidFill>
                                  <a:srgbClr val="F39C1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eqArr>
                                <m:eqArrPr>
                                  <m:ctrl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−[</m:t>
                                  </m:r>
                                  <m:sSup>
                                    <m:sSupPr>
                                      <m:ctrlPr>
                                        <a:rPr lang="en-US" sz="1200" b="1" i="1" dirty="0" smtClean="0">
                                          <a:solidFill>
                                            <a:srgbClr val="F39C1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200" b="1" dirty="0">
                                          <a:solidFill>
                                            <a:srgbClr val="F39C12"/>
                                          </a:solidFill>
                                        </a:rPr>
                                        <m:t>(1−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200" b="1" dirty="0">
                                          <a:solidFill>
                                            <a:srgbClr val="F39C12"/>
                                          </a:solidFill>
                                        </a:rPr>
                                        <m:t>Y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200" b="1" dirty="0">
                                          <a:solidFill>
                                            <a:srgbClr val="F39C12"/>
                                          </a:solidFill>
                                        </a:rPr>
                                        <m:t>)</m:t>
                                      </m:r>
                                    </m:e>
                                    <m:sup>
                                      <m:d>
                                        <m:dPr>
                                          <m:ctrlPr>
                                            <a:rPr lang="en-US" sz="1200" b="1" i="1" dirty="0" smtClean="0">
                                              <a:solidFill>
                                                <a:srgbClr val="F39C1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sz="1200" b="1" dirty="0">
                                              <a:solidFill>
                                                <a:srgbClr val="F39C12"/>
                                              </a:solidFill>
                                            </a:rPr>
                                            <m:t>2−</m:t>
                                          </m:r>
                                          <m:r>
                                            <m:rPr>
                                              <m:nor/>
                                            </m:rPr>
                                            <a:rPr lang="en-US" sz="1200" b="1" dirty="0">
                                              <a:solidFill>
                                                <a:srgbClr val="F39C12"/>
                                              </a:solidFill>
                                            </a:rPr>
                                            <m:t>λ</m:t>
                                          </m:r>
                                        </m:e>
                                      </m:d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s-MX" sz="1200" b="1" i="0" dirty="0" smtClean="0">
                                      <a:solidFill>
                                        <a:srgbClr val="F39C12"/>
                                      </a:solidFill>
                                      <a:latin typeface="Cambria Math" panose="02040503050406030204" pitchFamily="18" charset="0"/>
                                    </a:rPr>
                                    <m:t>-1]/</m:t>
                                  </m:r>
                                  <m:d>
                                    <m:dPr>
                                      <m:ctrlPr>
                                        <a:rPr lang="es-MX" sz="1200" b="1" i="1" dirty="0" smtClean="0">
                                          <a:solidFill>
                                            <a:srgbClr val="F39C1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sz="1200" b="1" dirty="0">
                                          <a:solidFill>
                                            <a:srgbClr val="F39C12"/>
                                          </a:solidFill>
                                        </a:rPr>
                                        <m:t>2−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sz="1200" b="1" dirty="0">
                                          <a:solidFill>
                                            <a:srgbClr val="F39C12"/>
                                          </a:solidFill>
                                        </a:rPr>
                                        <m:t>λ</m:t>
                                      </m:r>
                                    </m:e>
                                  </m:d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si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λ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sz="1200" b="1" dirty="0">
                                      <a:solidFill>
                                        <a:srgbClr val="F39C12"/>
                                      </a:solidFill>
                                    </a:rPr>
                                    <m:t>≠2</m:t>
                                  </m:r>
                                </m:e>
                                <m:e/>
                              </m:eqArr>
                            </m:e>
                          </m:mr>
                          <m:mr>
                            <m:e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l</m:t>
                              </m:r>
                              <m:r>
                                <m:rPr>
                                  <m:nor/>
                                </m:rPr>
                                <a:rPr lang="es-MX" sz="1200" b="1" i="0" dirty="0" smtClean="0">
                                  <a:solidFill>
                                    <a:srgbClr val="F39C12"/>
                                  </a:solidFill>
                                </a:rPr>
                                <m:t>n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(1−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Y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) 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si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λ</m:t>
                              </m:r>
                              <m:r>
                                <m:rPr>
                                  <m:nor/>
                                </m:rPr>
                                <a:rPr lang="en-US" sz="1200" b="1" dirty="0">
                                  <a:solidFill>
                                    <a:srgbClr val="F39C12"/>
                                  </a:solidFill>
                                </a:rPr>
                                <m:t>=2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1200" dirty="0"/>
              </a:p>
            </p:txBody>
          </p:sp>
        </mc:Choice>
        <mc:Fallback>
          <p:sp>
            <p:nvSpPr>
              <p:cNvPr id="8" name="Tex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838647"/>
                <a:ext cx="8046720" cy="475488"/>
              </a:xfrm>
              <a:prstGeom prst="rect">
                <a:avLst/>
              </a:prstGeom>
              <a:blipFill>
                <a:blip r:embed="rId4"/>
                <a:stretch>
                  <a:fillRect t="-16667" b="-21795"/>
                </a:stretch>
              </a:blipFill>
              <a:ln/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423160"/>
          <a:ext cx="8412480" cy="23317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Característica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Logarítmica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Box-Cox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Yeo-Johnson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3D6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D62"/>
                          </a:solidFill>
                        </a:rPr>
                        <a:t>Acepta Y &lt; 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D62"/>
                          </a:solidFill>
                        </a:rPr>
                        <a:t>Acepta Y = 0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✅ (con +1)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❌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D62"/>
                          </a:solidFill>
                        </a:rPr>
                        <a:t>Parámetro λ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Fijo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Estimado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Estimado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634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0A3D62"/>
                          </a:solidFill>
                        </a:rPr>
                        <a:t>Uso típico actuarial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Siniestros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Primas, sumas aseg.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52F"/>
                          </a:solidFill>
                        </a:rPr>
                        <a:t>Cambios en reserva</a:t>
                      </a:r>
                      <a:endParaRPr lang="en-US" sz="1100" dirty="0"/>
                    </a:p>
                  </a:txBody>
                  <a:tcPr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870</Words>
  <Application>Microsoft Office PowerPoint</Application>
  <PresentationFormat>Presentación en pantalla (16:9)</PresentationFormat>
  <Paragraphs>149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 Math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Tema 3: Transformaciones de Datos para Modelos Predictivos</dc:title>
  <dc:subject>PptxGenJS Presentation</dc:subject>
  <dc:creator>Diplomado de Ciencia Actuarial</dc:creator>
  <cp:lastModifiedBy>Karla Eugenia Medina Diaz</cp:lastModifiedBy>
  <cp:revision>2</cp:revision>
  <dcterms:created xsi:type="dcterms:W3CDTF">2026-05-22T01:16:30Z</dcterms:created>
  <dcterms:modified xsi:type="dcterms:W3CDTF">2026-05-23T02:21:22Z</dcterms:modified>
</cp:coreProperties>
</file>