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3" r:id="rId3"/>
    <p:sldId id="264" r:id="rId4"/>
    <p:sldId id="272" r:id="rId5"/>
    <p:sldId id="265" r:id="rId6"/>
    <p:sldId id="266" r:id="rId7"/>
    <p:sldId id="267" r:id="rId8"/>
    <p:sldId id="268" r:id="rId9"/>
    <p:sldId id="269" r:id="rId10"/>
    <p:sldId id="271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82" y="-4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4998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B5972-5AF4-3DD7-ED4C-E4BD50EB7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DED964-9339-20E8-7264-3D1EA4242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760822-6F18-BCBF-FCBE-22DF72801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B72B6-D548-8CC3-16EB-A58467FADB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63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347472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5836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DIPLOMADO ML EN SEGUROS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Métricas de Evaluación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en Machine Learning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27889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PARTE 1  ·  Subtemas 1 y 2  ·  Introducción + Métricas de Regresión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3291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Subtema 1  |  Introducción a la Evaluación de Modelos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3291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38BDF8"/>
                </a:solidFill>
              </a:rPr>
              <a:t>3h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35844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Subtema 2  |  Métricas de Regresión: MAE · MSE · RMSE · R² · MAPE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35844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38BDF8"/>
                </a:solidFill>
              </a:rPr>
              <a:t>6h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8288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7C3AED"/>
                </a:solidFill>
              </a:rPr>
              <a:t>SUBTEMA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1078992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0" b="1" dirty="0">
                <a:solidFill>
                  <a:srgbClr val="FFFFFF"/>
                </a:solidFill>
              </a:rPr>
              <a:t>2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Métricas para Problemas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de Regresión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2.0  Introducción — El Ejemplo que Usaremos en Todo el Subtema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8 pólizas de auto · Modelo de pricing · P004 tiene un error muy grande — observa cómo afecta cada métrica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713232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Regresión: la variable objetivo es numérica continua. En seguros: prima pura ($), monto de siniestro, reserva IBNR, frecuencia esperada de siniestros.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042416"/>
          <a:ext cx="8394192" cy="21945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Póliza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Prima Real (y)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Prima Predicha (ŷ)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Error (y − ŷ)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|Error| absoluto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Error al cuadrado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P001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$8,200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$9,100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−$900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$900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810,000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P002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$12,500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$11,800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+$700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$700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490,000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P003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$15,000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$14,200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+$800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$800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640,000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P004  ★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$48,000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$32,000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+$16,000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$16,000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256,000,000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P005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$9,300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$10,000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−$700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$700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490,000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P006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$22,000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$20,500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+$1,500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$1,500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2,250,000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P007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$18,500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$17,800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+$700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$700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490,000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P008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$6,800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$7,200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−$400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$400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160,000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56032" y="3401568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</a:rPr>
              <a:t>Sumas:  Σ|errores| = $21,700  |  Σerrores² = 261,330,000  |  Media real ȳ = $17,537.50</a:t>
            </a:r>
            <a:endParaRPr lang="en-US" sz="1150" dirty="0"/>
          </a:p>
        </p:txBody>
      </p:sp>
      <p:sp>
        <p:nvSpPr>
          <p:cNvPr id="7" name="Text 7"/>
          <p:cNvSpPr/>
          <p:nvPr/>
        </p:nvSpPr>
        <p:spPr>
          <a:xfrm>
            <a:off x="365760" y="37124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</a:rPr>
              <a:t>💡  P004 (★) es una póliza corporativa/flotilla con error de $16,000. Observa cómo afecta al MAE de forma lineal, pero al MSE/RMSE de forma cuadrática (pesa 256 veces más). Este contraste es el eje pedagógico de todo el subtema.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0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6h · 1/9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55308-688A-D985-51E9-B0DAAA6B2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AE8115-EEEC-012E-772B-1CE103A2E2E8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FF4DCEE-D47E-CC0C-A936-C3C7715B3591}"/>
              </a:ext>
            </a:extLst>
          </p:cNvPr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0729527-6BB0-524D-DD54-5533A001A35B}"/>
              </a:ext>
            </a:extLst>
          </p:cNvPr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2.0  Introducción — El Ejemplo que Usaremos en Todo el Subtema</a:t>
            </a:r>
            <a:endParaRPr lang="en-US" sz="1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AB6D184-CA1C-B5C5-1F2A-0A0FFA0E8D75}"/>
              </a:ext>
            </a:extLst>
          </p:cNvPr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8 pólizas de auto · Modelo de pricing · P004 tiene un error muy grande — observa cómo afecta cada métrica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57F9D6E-B8B6-786F-298F-0B9D5EAFFF0D}"/>
              </a:ext>
            </a:extLst>
          </p:cNvPr>
          <p:cNvSpPr/>
          <p:nvPr/>
        </p:nvSpPr>
        <p:spPr>
          <a:xfrm>
            <a:off x="256032" y="713232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Regresión: la variable objetivo es numérica continua. En seguros: prima pura ($), monto de siniestro, reserva IBNR, frecuencia esperada de siniestros.</a:t>
            </a:r>
            <a:endParaRPr lang="en-US" sz="11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8131993-D272-7AD5-438C-2FB6E801ABD5}"/>
              </a:ext>
            </a:extLst>
          </p:cNvPr>
          <p:cNvSpPr/>
          <p:nvPr/>
        </p:nvSpPr>
        <p:spPr>
          <a:xfrm>
            <a:off x="219456" y="997224"/>
            <a:ext cx="8631936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79E10353-EEAA-55C4-8105-418ECC6E2EFF}"/>
              </a:ext>
            </a:extLst>
          </p:cNvPr>
          <p:cNvSpPr/>
          <p:nvPr/>
        </p:nvSpPr>
        <p:spPr>
          <a:xfrm>
            <a:off x="329184" y="10155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</a:rPr>
              <a:t>💡  P004 (★) es una póliza corporativa/flotilla con error de $16,000. Observa cómo afecta al MAE de forma lineal, pero al MSE/RMSE de forma cuadrática (pesa 256 veces más). Este contraste es el eje pedagógico de todo el subtema.</a:t>
            </a:r>
            <a:endParaRPr lang="en-US" sz="10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28FD941-CA15-3B58-1D99-BA49FE69485E}"/>
              </a:ext>
            </a:extLst>
          </p:cNvPr>
          <p:cNvSpPr/>
          <p:nvPr/>
        </p:nvSpPr>
        <p:spPr>
          <a:xfrm>
            <a:off x="256032" y="1369709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Aplicaciones de regresión en seguros y la métrica más apropiada:</a:t>
            </a:r>
            <a:endParaRPr lang="en-US" sz="1200" dirty="0"/>
          </a:p>
        </p:txBody>
      </p:sp>
      <p:graphicFrame>
        <p:nvGraphicFramePr>
          <p:cNvPr id="19" name="Table 1">
            <a:extLst>
              <a:ext uri="{FF2B5EF4-FFF2-40B4-BE49-F238E27FC236}">
                <a16:creationId xmlns:a16="http://schemas.microsoft.com/office/drawing/2014/main" id="{3ABA4CFF-ADF8-62FE-D3E9-887F58D0B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363196"/>
              </p:ext>
            </p:extLst>
          </p:nvPr>
        </p:nvGraphicFramePr>
        <p:xfrm>
          <a:off x="256032" y="1768573"/>
          <a:ext cx="8485632" cy="18288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47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Variable objetivo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Ramo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Métrica recomendada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Razón de la elección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Prima pura ($) — pricing masivo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Auto, Hogar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MAE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Interpretable directamente en pesos; todos los errores importan igual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Monto de siniestro — severidad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Daños, Vida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RMSE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Los errores grandes (mega-siniestros) son más graves; penalización cuadrática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Reserva IBNR ($)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Todos los ramos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RMSE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Un error grande puede causar insolvencia técnica; penalizar fuertemente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Frecuencia de siniestros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Auto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MAE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Alta aleatoriedad Poisson; R²=0.30 puede ser excelente; MAE más robusto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9">
            <a:extLst>
              <a:ext uri="{FF2B5EF4-FFF2-40B4-BE49-F238E27FC236}">
                <a16:creationId xmlns:a16="http://schemas.microsoft.com/office/drawing/2014/main" id="{5E00EBA4-2F0B-C0CE-D12D-9B1C7D50460B}"/>
              </a:ext>
            </a:extLst>
          </p:cNvPr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EB3035DD-08D2-2195-7CF6-DB8DB182A71D}"/>
              </a:ext>
            </a:extLst>
          </p:cNvPr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6FDE0458-0D28-AFA4-F58F-2285B341F2C0}"/>
              </a:ext>
            </a:extLst>
          </p:cNvPr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F78951C6-5EB5-14E0-C3BF-2CFAA310594A}"/>
              </a:ext>
            </a:extLst>
          </p:cNvPr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6h · 1/9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826443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2.1  Error Absoluto Medio (MAE)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Promedio de los errores en valor absoluto — resultado en las mismas unidades que 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713232"/>
            <a:ext cx="8631936" cy="384048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256032" y="71323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 =  (1/n) × Σᵢ |yᵢ − ŷᵢ|  =  Suma de |errores| / 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" y="1170432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El valor absoluto hace dos cosas: (1) convierte errores negativos en positivos para que no se cancelen, y (2) da el mismo peso a cada unidad de error adicional sin importar si el error es pequeño o grande.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" y="1554480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Cálculo paso a paso con las 8 pólizas del ejemplo: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792224"/>
          <a:ext cx="8467344" cy="21945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Póliza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Error (y−ŷ)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Valor Absoluto |y−ŷ|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Contribución al MAE (÷8)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 del MAE total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P001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−$900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$900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$112.50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4.1%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P002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+$700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$700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$87.50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3.2%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P003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+$800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$800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$100.00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3.7%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P004  ★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+$16,000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$16,000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$2,000.00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73.8%  ← domina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P005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−$700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$700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$87.50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3.2%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P006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+$1,500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$1,500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$187.50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6.9%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P007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+$700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$700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$87.50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3.2%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P008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−$400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$400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$50.00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1.8%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256032" y="3931920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Interpretación directa: el modelo se equivoca en promedio $2,712.50 por póliza. P004 con $16,000 de error pesa 16 veces más que P001 con $900 — proporcionalmente, no exponencialmente.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56032" y="42611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</a:rPr>
              <a:t>✅ Mismas unidades que 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926080" y="426110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El resultado en pesos es directamente interpretable para el área comercial y la dirección.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56032" y="44622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</a:rPr>
              <a:t>✅ Robusto a outliers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926080" y="44622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P004 contribuye $2,000 de $2,712 (73.8%) — grande pero proporcional, no explosivo.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56032" y="46634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</a:rPr>
              <a:t>⚠️ No diferenciable en cero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926080" y="466344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La función |x| no tiene derivada en x=0. No usar como función de pérdida en GBM/redes neuronales.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7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9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6h · 2/9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2.2  Error Cuadrático Medio (MSE)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Penalización cuadrática: un error de $16K pesa 256 veces más que uno de $1K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713232"/>
            <a:ext cx="8631936" cy="384048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256032" y="71323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 =  (1/n) × Σᵢ (yᵢ − ŷᵢ)²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" y="1170432"/>
            <a:ext cx="8631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Al elevar al cuadrado: (1) los errores negativos se vuelven positivos, y (2) los errores grandes se penalizan desproporcionadamente. Un error de $16,000 contribuye ($16,000)² = 256,000,000 al MSE. Un error de $1,000 contribuye ($1,000)² = 1,000,000. El error grande pesa 256 veces más, no 16.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609344"/>
          <a:ext cx="8522208" cy="21945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87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Póliza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Error (y−ŷ)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Error al cuadrado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Contribución al MSE (÷8)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 del MSE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P001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−$900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810,000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101,250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0.3%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P002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+$700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490,000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61,250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0.2%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P003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+$800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640,000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80,000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0.2%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P004  ★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+$16,000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256,000,000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32,000,000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98.0%  ← domina casi todo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P005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−$700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490,000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61,250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0.2%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P006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+$1,500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2,250,000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281,250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0.9%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P007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+$700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490,000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61,250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0.2%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P008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−$400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160,000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20,000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0.1%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56032" y="3835322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MSE = (810K + 490K + 640K + 256,000K + 490K + 2,250K + 490K + 160K) / 8  =  261,330,000 / 8  =  32,666,250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56032" y="3986784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MSE sin P004: (810K + 490K + 640K + 490K + 2,250K + 490K + 160K) / 7  =  5,330,000 / 7  =  761,429  →  reducción del 97.7%</a:t>
            </a:r>
            <a:endParaRPr lang="en-US" sz="900" dirty="0"/>
          </a:p>
        </p:txBody>
      </p:sp>
      <p:sp>
        <p:nvSpPr>
          <p:cNvPr id="9" name="Text 9"/>
          <p:cNvSpPr/>
          <p:nvPr/>
        </p:nvSpPr>
        <p:spPr>
          <a:xfrm>
            <a:off x="256032" y="4151376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Esto demuestra el efecto cuadrático: P004 domina el 98% del MSE aunque representa solo 1 de 8 pólizas (12.5%). En el MAE solo dominaba el 73.8%. La diferencia revela cuánto más sensible es el MSE a los valores extremos.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56032" y="4590288"/>
            <a:ext cx="8631936" cy="25603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365760" y="460857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</a:rPr>
              <a:t>⚠️  Las unidades del MSE son pesos² — no son interpretables directamente. Su uso principal es como FUNCIÓN DE PÉRDIDA durante el entrenamiento (es diferenciable en todo punto). Para reportar al negocio, usar RMSE.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5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6h · 3/9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2.3  Raíz del Error Cuadrático Medio (RMSE)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Devuelve el MSE a las unidades originales manteniendo la penalización de errores grandes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713232"/>
            <a:ext cx="8631936" cy="384048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256032" y="71323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 =  √MSE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" y="1267851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Tabla diagnóstica de la razón RMSE/MAE: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909995"/>
              </p:ext>
            </p:extLst>
          </p:nvPr>
        </p:nvGraphicFramePr>
        <p:xfrm>
          <a:off x="256032" y="1533027"/>
          <a:ext cx="8503920" cy="1828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Razón RMSE/MAE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Diagnóstico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Qué indica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Acción recomendada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≈ 1.0  (ideal)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✅ Errores uniformes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Todos los errores son similares. El modelo falla de forma consistente en todos los segmentos.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No se requiere acción inmediata.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1.2 — 1.5  (normal)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✅ Aceptable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Cierta heterogeneidad normal. Algunos segmentos tienen errores ligeramente mayores.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Monitorear los segmentos con mayor error.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1.5 — 2.0  (atención)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⚠️ Errores grandes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Hay errores desproporcionados. Investigar qué segmentos o pólizas los causan.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Revisar residuos. Quizás mega-siniestros legítimos o errores de datos.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＞ 2.0  (nuestro ejemplo)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🔴 Dominado por outliers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Unos pocos errores enormes dominan el RMSE. El 98% proviene de P004.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Investigar la causa: ¿mega-siniestro legítimo? ¿Error de captura? ¿Segmento no modelado?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256032" y="3538025"/>
            <a:ext cx="8631936" cy="40901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10"/>
          <p:cNvSpPr/>
          <p:nvPr/>
        </p:nvSpPr>
        <p:spPr>
          <a:xfrm>
            <a:off x="365760" y="3616451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</a:rPr>
              <a:t>💡  En reservas IBNR: siempre usar RMSE. Un error grande en una celda del triángulo de desarrollo puede causar insolvencia técnica. El RMSE penaliza exactamente esos errores que MAE suaviza.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6032" y="4052506"/>
            <a:ext cx="8631936" cy="357891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365760" y="4116381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</a:rPr>
              <a:t>✅  Regla práctica: calcular siempre RMSE/MAE. En nuestro ejemplo = 2.11 → señal de que P004 domina. Con datos reales esto dirige la investigación al segmento corporativo/flotillas.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6h · 4/9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2.4  Coeficiente de Determinación R²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Proporción de la variabilidad total de Y explicada por el modelo vs. predecir siempre la media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713232"/>
            <a:ext cx="8631936" cy="91440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256032" y="749808"/>
            <a:ext cx="8631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1 − SS_res / SS_tot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" y="1115568"/>
            <a:ext cx="8485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SS_res = Σ(yᵢ−ŷᵢ)² (variabilidad que el modelo NO explicó)  |  SS_tot = Σ(yᵢ−ȳ)² (variabilidad total de Y respecto a su media)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994868"/>
              </p:ext>
            </p:extLst>
          </p:nvPr>
        </p:nvGraphicFramePr>
        <p:xfrm>
          <a:off x="256032" y="1808989"/>
          <a:ext cx="8449056" cy="17068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8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Valor de R²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Calidad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Contexto en seguros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Perfecto — imposible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Solo con data leakage. Si obtienes esto, revisa el código.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0.80 – 0.99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Excelente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Suma asegurada vs. características del vehículo (relación casi determinista).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0.50 – 0.79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Bueno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Pricing de auto con buenas variables. Nuestro R²=0.79 cae aquí.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0.25 – 0.49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Moderado pero válido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Frecuencia de siniestros (alta aleatoriedad Poisson). R²=0.35 puede ser excelente.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Igual que la media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El modelo no aporta nada. Predecir siempre ȳ da el mismo resultado.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&lt; 0.00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Peor que la media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SS_res &gt; SS_tot. Overfitting severo. Descartar inmediatamente.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206795" y="3810761"/>
            <a:ext cx="8631936" cy="458783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/>
          <p:nvPr/>
        </p:nvSpPr>
        <p:spPr>
          <a:xfrm>
            <a:off x="316523" y="393877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</a:rPr>
              <a:t>⚠️  Siempre reportar R²_train Y R²_test. Si R²_train − R²_test &gt; 0.15, hay overfitting. R² crece mecánicamente al agregar variables — agregar ruido puro también sube R² del entrenamiento.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5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7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6h · 5/9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2.5  MAPE y Guía Completa de Selección de Métricas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Error porcentual · Comparable entre variables de distinta escala · Limitaciones importantes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713232"/>
            <a:ext cx="8631936" cy="36576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256032" y="713232"/>
            <a:ext cx="8631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 =  (100/n) × Σᵢ |yᵢ − ŷᵢ| / |yᵢ|   (resultado en %)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" y="1152144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El MAPE expresa el error como porcentaje del valor real. Ventaja: permite comparar modelos de distinta escala. Un MAPE de 12% para primas de auto ($50K) y uno de 12% para frecuencias (0.15 siniestros/año) indican el mismo nivel relativo de error.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" y="1536192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</a:rPr>
              <a:t>Con los datos del ejemplo:  MAPE = (11.0%+5.6%+5.3%+33.3%+7.5%+6.8%+3.8%+5.9%) / 8 = 79.2% / 8 = 9.9%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6032" y="1810512"/>
            <a:ext cx="8631936" cy="25603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</a:rPr>
              <a:t>⚠️  MAPE es INDEFINIDO cuando yᵢ = 0. Con frecuencia de siniestros (muchas pólizas con 0 siniestros en el año), el denominador es cero. En esos casos usar MAE o RMSE en lugar de MAPE.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" y="2139696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Tabla comparativa: las 5 métricas calculadas sobre los mismos 8 datos del ejemplo: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2414016"/>
          <a:ext cx="8705088" cy="20726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1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Métrica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Valor calculado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Interpretación del resultado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Cuándo usar en seguros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MAE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$2,712.50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El modelo se equivoca en promedio $2,712 por póliza.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Pricing masivo · KPI directo para el área comercial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MSE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32,666,250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Promedio de errores al cuadrado (en pesos²). No interpretable directamente.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Solo como función de pérdida durante el entrenamiento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RMSE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$5,715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Error 'típico' con peso extra en errores grandes. RMSE/MAE = 2.11 → P004 domina.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Reservas IBNR · Severidad · Cuando errores grandes son críticos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R²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0.7911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El modelo explica el 79.1% de la variabilidad total en las primas.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Comparar modelos alternativos sobre el mismo dataset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MAPE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9.9%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Error porcentual promedio. Permite comparar entre ramos de distinta escala.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Benchmarking entre líneas de negocio · Comunicar a no-técnicos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256032" y="4498848"/>
            <a:ext cx="8631936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2"/>
          <p:cNvSpPr/>
          <p:nvPr/>
        </p:nvSpPr>
        <p:spPr>
          <a:xfrm>
            <a:off x="365760" y="451713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</a:rPr>
              <a:t>💡  REGLA DE ORO: siempre reportar MAE + RMSE + R² juntos. Cada uno cuenta una historia diferente. Si RMSE/MAE &gt; 1.5, investigar qué observaciones tienen errores grandes y por qué.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6h · 6/9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56032" y="91440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Subtema 2 — Resumen: Las 6 Métricas de Regresión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" y="658368"/>
            <a:ext cx="8631936" cy="603504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56032" y="658368"/>
            <a:ext cx="64008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02336" y="70408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MAE 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02336" y="98755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/>
              <a:t>Error promedio en pesos. Robusto, interpretable. Usar en pricing masivo y para reportar al negocio. </a:t>
            </a:r>
          </a:p>
        </p:txBody>
      </p:sp>
      <p:sp>
        <p:nvSpPr>
          <p:cNvPr id="8" name="Shape 6"/>
          <p:cNvSpPr/>
          <p:nvPr/>
        </p:nvSpPr>
        <p:spPr>
          <a:xfrm>
            <a:off x="256032" y="1344168"/>
            <a:ext cx="8631936" cy="603504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256032" y="1344168"/>
            <a:ext cx="64008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02336" y="138988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MSE 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" y="167335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/>
              <a:t>Penalización </a:t>
            </a:r>
            <a:r>
              <a:rPr lang="en-US" sz="1050" dirty="0" err="1"/>
              <a:t>cuadrática</a:t>
            </a:r>
            <a:r>
              <a:rPr lang="en-US" sz="1050" dirty="0"/>
              <a:t>. Diferenciable → función de pérdida para entrenamiento de GBM y redes. Sus unidades (pesos²) no son interpretables.</a:t>
            </a:r>
          </a:p>
        </p:txBody>
      </p:sp>
      <p:sp>
        <p:nvSpPr>
          <p:cNvPr id="12" name="Shape 10"/>
          <p:cNvSpPr/>
          <p:nvPr/>
        </p:nvSpPr>
        <p:spPr>
          <a:xfrm>
            <a:off x="256032" y="2029968"/>
            <a:ext cx="8631936" cy="603504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256032" y="2029968"/>
            <a:ext cx="64008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02336" y="207568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RMSE 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02336" y="235915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/>
              <a:t>Mismo que MSE pero en unidades originales. RMSE/MAE</a:t>
            </a:r>
          </a:p>
        </p:txBody>
      </p:sp>
      <p:sp>
        <p:nvSpPr>
          <p:cNvPr id="16" name="Shape 14"/>
          <p:cNvSpPr/>
          <p:nvPr/>
        </p:nvSpPr>
        <p:spPr>
          <a:xfrm>
            <a:off x="256032" y="2715768"/>
            <a:ext cx="8631936" cy="603504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256032" y="2715768"/>
            <a:ext cx="64008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02336" y="276148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R²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2336" y="304495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 err="1"/>
              <a:t>Siempre</a:t>
            </a:r>
            <a:r>
              <a:rPr lang="en-US" sz="1050" dirty="0"/>
              <a:t> comparar R²_train vs R²_test. Diferencia &gt; 0.15 = overfitting. </a:t>
            </a:r>
          </a:p>
        </p:txBody>
      </p:sp>
      <p:sp>
        <p:nvSpPr>
          <p:cNvPr id="20" name="Shape 18"/>
          <p:cNvSpPr/>
          <p:nvPr/>
        </p:nvSpPr>
        <p:spPr>
          <a:xfrm>
            <a:off x="256032" y="3401568"/>
            <a:ext cx="8631936" cy="603504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256032" y="3401568"/>
            <a:ext cx="64008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02336" y="344728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MAPE 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02336" y="373075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/>
              <a:t>Error porcentual. Compara ramos de distinta escala. INDEFINIDO cuando y=0 (frecuencia con ceros). No usar directamente con frecuencia de siniestros.</a:t>
            </a:r>
          </a:p>
        </p:txBody>
      </p:sp>
      <p:sp>
        <p:nvSpPr>
          <p:cNvPr id="24" name="Shape 22"/>
          <p:cNvSpPr/>
          <p:nvPr/>
        </p:nvSpPr>
        <p:spPr>
          <a:xfrm>
            <a:off x="256032" y="4087368"/>
            <a:ext cx="8631936" cy="603504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256032" y="4087368"/>
            <a:ext cx="64008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402336" y="413308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Regla de oro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02336" y="441655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/>
              <a:t>Reportar siempre MAE + RMSE + R² juntos. Si RMSE/MAE &gt; 1.5 → investigar residuos. Nunca reportar solo una métrica — cada una cuenta una historia diferente.</a:t>
            </a:r>
          </a:p>
        </p:txBody>
      </p:sp>
      <p:sp>
        <p:nvSpPr>
          <p:cNvPr id="28" name="Shape 2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6h · 8/9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3477</TotalTime>
  <Words>2237</Words>
  <Application>Microsoft Office PowerPoint</Application>
  <PresentationFormat>Presentación en pantalla (16:9)</PresentationFormat>
  <Paragraphs>331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Karla Eugenia Medina Diaz</cp:lastModifiedBy>
  <cp:revision>3</cp:revision>
  <dcterms:created xsi:type="dcterms:W3CDTF">2026-07-14T02:03:38Z</dcterms:created>
  <dcterms:modified xsi:type="dcterms:W3CDTF">2026-08-01T13:48:43Z</dcterms:modified>
</cp:coreProperties>
</file>