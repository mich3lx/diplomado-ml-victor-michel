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EA"/>
                </a:solidFill>
              </a:rPr>
              <a:t>Introduccion a Python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Sesion 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8483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3B1"/>
                </a:solidFill>
              </a:rPr>
              <a:t>Estructuras de Datos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FA3B1"/>
                </a:solidFill>
              </a:rPr>
              <a:t>Control de Flujo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65760" y="2999232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821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3163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Sabado 18 de abril de 2026  ·  07:00 - 11:00 h  (4 horas)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56616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3547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Modalidad: En linea via Zoom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502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3931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Instructor: Eric  ·  Diplomado ML en Seguros, FC UNAM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Autonoma de Mexico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Agenda de Hoy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Sesion 3  ·  4 horas  ·  Sabado 18 de abril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42416"/>
            <a:ext cx="8449056" cy="402336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97280"/>
            <a:ext cx="1508760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97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07:00-07:15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38528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Revision S2: GitHub + tipos de datos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525219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25219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07:15-07:45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1525219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Listas: creacion, acceso, metodos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898294"/>
            <a:ext cx="8449056" cy="402336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953158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5315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07:45-08:15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8528" y="195315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Tuplas y Diccionarios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381098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38109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08:15-08:30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38528" y="238109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T2 — Conjuntos (Sets)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2754173"/>
            <a:ext cx="8449056" cy="402336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809037"/>
            <a:ext cx="150876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0903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08:30-08:40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38528" y="2809037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Receso (10 minutos)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3236976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369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08:40-09:15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32369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T3 — if / elif / else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3610051"/>
            <a:ext cx="8449056" cy="402336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664915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64915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09:15-09:50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38528" y="3664915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T3 — for, while y comprehensions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" y="4092854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09285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09:50-10:15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38528" y="409285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T3 — Lambda y try / except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" y="4465930"/>
            <a:ext cx="8449056" cy="402336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520794"/>
            <a:ext cx="150876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52079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10:15-11:00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38528" y="452079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Ejercicio integrador + cierre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Estructuras de Datos en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Colecciones que agrupan multiples valores bajo un mismo nombre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051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Hasta ahora hemos trabajado con un valor a la vez (prima = 3450.75). Las estructuras de datos nos permiten agrupar muchos valores: una lista de primas, un diccionario con los datos de una poliza, un conjunto de coberturas activas.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847088"/>
            <a:ext cx="2011680" cy="42062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9110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list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7472" y="2267712"/>
            <a:ext cx="2011680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Lista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Mutabilidad: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61872" y="26517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Mutable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38912" y="29809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Orden: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61872" y="298094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Ordenada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38912" y="3310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Duplicados: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61872" y="33101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Permite dup.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0624" y="3675888"/>
            <a:ext cx="1883664" cy="4754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3075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[prima1, prima2, prima3]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2523744" y="1847088"/>
            <a:ext cx="2011680" cy="42062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911096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2608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tuple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2523744" y="2267712"/>
            <a:ext cx="2011680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2615184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Tupla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615184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Mutabilidad: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38144" y="26517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Inmutable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615184" y="29809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Orden: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438144" y="298094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Ordenada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615184" y="3310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Duplicados: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438144" y="33101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Permite dup.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596896" y="3675888"/>
            <a:ext cx="1883664" cy="4754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633472" y="373075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(lat, lon)  (fecha, monto)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4700016" y="1847088"/>
            <a:ext cx="201168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11096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02352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dict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4700016" y="2267712"/>
            <a:ext cx="2011680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4791456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Diccionario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791456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Mutabilidad: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5614416" y="26517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Mutable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791456" y="29809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Orden: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5614416" y="298094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Ordenado*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791456" y="3310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Duplicados: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5614416" y="33101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Llaves unicas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4773168" y="3675888"/>
            <a:ext cx="1883664" cy="4754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809744" y="373075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{id: 'GMM-001', prima: 3450}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6876288" y="1847088"/>
            <a:ext cx="2011680" cy="42062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911096"/>
            <a:ext cx="274320" cy="27432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7278624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</a:t>
            </a:r>
            <a:endParaRPr lang="en-US" sz="1400" dirty="0"/>
          </a:p>
        </p:txBody>
      </p:sp>
      <p:sp>
        <p:nvSpPr>
          <p:cNvPr id="49" name="Shape 43"/>
          <p:cNvSpPr/>
          <p:nvPr/>
        </p:nvSpPr>
        <p:spPr>
          <a:xfrm>
            <a:off x="6876288" y="2267712"/>
            <a:ext cx="2011680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Text 44"/>
          <p:cNvSpPr/>
          <p:nvPr/>
        </p:nvSpPr>
        <p:spPr>
          <a:xfrm>
            <a:off x="6967728" y="23408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Conjunto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967728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Mutabilidad: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7790688" y="26517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Mutable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6967728" y="29809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Orden: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7790688" y="298094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No ordenado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6967728" y="3310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A8A"/>
                </a:solidFill>
              </a:rPr>
              <a:t>Duplicados: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7790688" y="33101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Sin dup.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6949440" y="3675888"/>
            <a:ext cx="1883664" cy="4754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6986016" y="373075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{cobertura1, cobertura2}</a:t>
            </a:r>
            <a:endParaRPr lang="en-US" sz="750" dirty="0"/>
          </a:p>
        </p:txBody>
      </p:sp>
      <p:sp>
        <p:nvSpPr>
          <p:cNvPr id="59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LISTAS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Listas: Colecciones Ordenadas y Mutables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La estructura mas versatil de Python — base de casi todo en ciencia de datos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Una lista es una secuencia ordenada de elementos que PUEDE cambiar (es mutable). Puede mezclar tipos. El equivalente mas cercano en R es c() o list(). En Excel seria una columna de valores.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4315968" cy="325526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19072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1907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Creacion y acceso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Creacion directa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082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6200, 1900, 14500, 3200]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500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 = ['Ana', 'Luis', 'Maria', 'Carlos']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917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mixta  = [1, 'GMM', True, 3.14]  # tipos mixtos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7752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Indice: empieza en 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9169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print(primas[0])    # 2400  (primero)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0586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print(primas[-1])   # 3200  (ultimo)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print(primas[-2])   # 14500 (penultimo)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4838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Slicing [inicio:fin:paso]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6255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print(primas[1:3])  # [6200, 1900]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7673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print(primas[::2])  # [2400, 1900, 3200] (cada 2)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9090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print(primas[::-1]) # invertida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1925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Longitud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3342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print(len(primas))  # 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6177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pertenencia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7594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print(6200 in primas)   # True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9011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print(9999 in primas)   # False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28032" y="1719072"/>
            <a:ext cx="3968496" cy="3255264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171907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Modificar listas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56048" y="20665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6200, 1900]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23500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Modificar elemento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4917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primas[1] = 6500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6334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print(primas)  # [2400, 6500, 1900]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9169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elementos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30586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primas.append(8000)   # al final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32004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primas.insert(0, 999) # al inicio (indice 0)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34838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6255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primas.remove(999)    # por valor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7673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primas[0]         # por indice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9090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 = primas.pop() # extrae el ultimo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41925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Ordenar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43342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primas.sort()          # in-place (modifica)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44759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sorted_p = sorted(primas)  # nueva lista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47594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Estadisticas rapidas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49011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print(sum(primas), min(primas), max(primas))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Listas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LISTAS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Listas en Practica Actuarial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Operaciones tipicas con carteras y siniestros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402336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Cartera de primas — operaciones basicas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Cartera de 8 polizas de GMM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   = [2400, 6200, 1900, 14500, 3200, 8800, 1850, 7300]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activas   = [True, True, True, True, False, True, True, False]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siniestros= [0,    1,    0,    3,    0,     1,    0,    2   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Calculos sobre la lista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len(primas)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prima_total  = sum(primas)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prima_prom   = prima_total / 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106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prima_max    = max(primas)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prima_min    = min(primas)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940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print(f'N: {n} | Total: ${prima_total:,.0f} | Prom: ${prima_prom:,.2f}')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print(f'Max: ${prima_max:,.0f} | Min: ${prima_min:,.0f}')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solo polizas activas con list comprehension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primas_activas = [primas[i] for i in range(n) if activas[i]]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print(f'Primas activas: {primas_activas}')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744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print(f'Total activas: ${sum(primas_activas):,.0f}')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27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Polizas con siniestros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con_siniest = [primas[i] for i in range(n) if siniestros[i] &gt; 0]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11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print(f'Polizas con siniestros: {len(con_siniest)}')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94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zip(): iterar dos listas en paralelo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736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prima, activa in zip(primas, activas):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78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= 'ACTIVA' if activa else 'BAJA'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020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  ${prima:&gt;6,.0f}  {estado}')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Listas en Practica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TUPLAS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Tuplas: Inmutables por Diseno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Como una lista, pero que no puede cambiar — perfecta para datos que no deben modificarse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Una tupla es como una lista congelada. Una vez creada, no puedes agregar, eliminar ni modificar elementos. Se usa para representar datos fijos: coordenadas, rangos de edad, pares (clave, valor), registros inmutables.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4315968" cy="23042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55648"/>
            <a:ext cx="4315968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5564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Crear y acceder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Parentesis (opcionales pero convencion)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448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rango_edad  = (18, 65)     # limite inf, sup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865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coordenadas = (19.43, -99.13)  # CDMX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5283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   = ('GMM-001', 3450.75, True)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8117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Acceso igual que lista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9535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print(rango_edad[0])   # 18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0952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print(rango_edad[-1])  # 65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2369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print(len(rango_edad)) #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5204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Desempaquetado (muy util)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6621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edad_min, edad_max = rango_edad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8039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lat, lon = coordenadas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9456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print(f'Lat: {lat}, Lon: {lon}')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1755648"/>
            <a:ext cx="3968496" cy="230428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755648"/>
            <a:ext cx="3968496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Inmutabilidad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21031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(1, 2, 3)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22448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t[0] = 99  # ← TypeError! No se puede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6048" y="25283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Usos tipicos en seguros: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26700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Rangos de edad para tarifas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56048" y="28117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rangos = [(18,30), (31,45), (46,60), (61,70)]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56048" y="30952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Resultado de funcion multiple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32369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frecuencia_severidad(siniestros, montos):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33787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frec = len(siniestros) / 1000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35204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sev  = sum(montos) / len(siniestros)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36621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frec, sev   # devuelve tupla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39456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frec, sev = frecuencia_severidad(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40873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[1,2,3], [45000,90000,30000])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42291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print(f'Frec: {frec:.4f} | Sev: ${sev:,.0f}')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4169664"/>
            <a:ext cx="8449056" cy="475488"/>
          </a:xfrm>
          <a:prstGeom prst="rect">
            <a:avLst/>
          </a:prstGeom>
          <a:solidFill>
            <a:srgbClr val="6C3483">
              <a:alpha val="12000"/>
            </a:srgbClr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261104"/>
            <a:ext cx="237744" cy="23774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04672" y="420624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Regla practica: usa tupla cuando los datos NO deben cambiar (rangos de tarifas, coordenadas, parametros fijos). Usa lista cuando los datos pueden cambiar (cartera, siniestros).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Tuplas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DICCIONARIOS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Diccionarios: Pares Clave-Valor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La estructura mas importante para representar datos estructurados en seguros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Un diccionario almacena pares clave:valor. Piensalo como una tabla de una sola fila en Excel: las columnas son las claves (id_poliza, prima, activa) y los valores son los datos de esa poliza. Es la base de como pandas representa una fila de un DataFrame.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4315968" cy="32735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19072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1907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Crear y acceder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Una poliza como diccionario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082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=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500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'id':       'GMM-2026-001',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917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'titular':  'Maria Garcia',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'edad':     32,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752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'prima':    2400.0,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9169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'activa':   True,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586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'coberturas': ['Hospitalizacion', 'Cirugia'],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2004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4838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Acceso por clave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6255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print(poliza['titular'])   # Maria Garcia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673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print(poliza['prima'])     # 2400.0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07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.get() — valor por defecto si no existe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1925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print(poliza.get('deducible', 5000))  # 5000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4759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si existe una clave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6177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print('edad' in poliza)     # True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7594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print('imc'  in poliza)     # False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28032" y="1719072"/>
            <a:ext cx="3968496" cy="32735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1719072"/>
            <a:ext cx="396849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Modificar y recorrer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56048" y="20665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/ modificar clave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22082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poliza['deducible'] = 5000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3500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poliza['prima']     = 2600.0  # actualizar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6334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Eliminar clave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7752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poliza['activa']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9169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= poliza.pop('edad', None)  # extrae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32004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Recorrer llaves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33421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clave in poliza.keys():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4838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print(clave)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7673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Recorrer valores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9090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 in poliza.values():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40507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43342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Recorrer pares clave-valor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44759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clave, val in poliza.items():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46177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print(f'{clave}: {val}')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Diccionarios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DICCIONARIOS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Diccionarios: Aplicacion en Seguros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Tabla de tarifas, cartera como lista de dicts, agrupacion por clave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Patron fundamental: lista de diccionarios = tabla de datos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Cartera de polizas como lista de diccionarios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(esto es exactamente lo que un DataFrame de pandas almacena internamente)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= [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{'id':'GMM-001','titular':'Ana',  'edad':28,'prima':2400,'siniest':0},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{'id':'GMM-002','titular':'Luis', 'edad':45,'prima':6200,'siniest':1},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{'id':'GMM-003','titular':'Maria','edad':32,'prima':1900,'siniest':0},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{'id':'GMM-004','titular':'Carlos','edad':62,'prima':14500,'siniest':3},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106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Acceder a un campo de todas las polizas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todas_primas = [p['prima'] for p in cartera]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940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print(f'Primas: {todas_primas}')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print(f'Total: ${sum(todas_primas):,.0f}')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Filtrar polizas con siniestros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con_siniest = [p for p in cartera if p['siniest'] &gt; 0]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print(f'Con siniestros: {len(con_siniest)}')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886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Tabla de tarifas por rango de edad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27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tarifas = 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'18-30': 0.018, '31-45': 0.022,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11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'46-60': 0.031, '61-70': 0.048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453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736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obtener_tasa(edad):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78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  edad &lt;= 30: return tarifas['18-30']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020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edad &lt;= 45: return tarifas['31-45']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1617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edad &lt;= 60: return tarifas['46-60']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3035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return tarifas['61-70']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55869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cartera: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57287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tasa = obtener_tasa(p['edad'])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" y="58704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print(f"{p['titular']:&lt;8} edad:{p['edad']} tasa:{tasa:.1%}")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Diccionarios Aplicacion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T2 · CONJUNTOS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Conjuntos (Sets): Sin Duplicados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Utiles para encontrar valores unicos, intersecciones y diferencias en carteras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Crear y operar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Creacion — elimina duplicados automaticamente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coberturas = {'Hosp', 'Cirugia', 'Dental', 'Hosp'}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print(coberturas)  # {'Dental', 'Cirugia', 'Hosp'}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Desde lista con duplicados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ramos_cartera = ['GMM','Autos','GMM','Vida','Autos','GMM']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ramos_unicos  = set(ramos_cartera)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print(ramos_unicos)  # {'Autos', 'GMM', 'Vida'}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print(len(ramos_unicos))  # 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y eliminar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8940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ramos_unicos.add('Accidentes')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ramos_unicos.discard('Vida')  # no da error si no existe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Pertenencia — muy rapido (O(1))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print('GMM' in ramos_unicos)     # True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print('Mascotas' in ramos_unicos)# False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Operaciones de conjuntos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Coberturas de dos polizas distintas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polA = {'Hosp', 'Cirugia', 'Dental', 'Maternidad'}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604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polB = {'Hosp', 'Cirugia', 'Vision', 'Dental'}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Union: todo lo que tiene A o 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5604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print(polA | polB)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5604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{'Hosp','Cirugia','Dental','Maternidad','Vision'}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Interseccion: solo lo que tienen ambas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6106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print(polA &amp; polB)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{'Hosp', 'Cirugia', 'Dental'}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Diferencia: en A pero NO en B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31775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print(polA - polB)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{'Maternidad'}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Diferencia simetrica: en uno pero no en ambos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744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print(polA ^ polB)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886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{'Maternidad', 'Vision'}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Aplicacion: encontrar coberturas exclusivas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4311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solo_en_A = polA - polB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4453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print(f'Solo en poliza A: {solo_en_A}')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T2 · Conjuntos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¿Cuando Usar Cada Estructura?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Guia de decision rapida para el trabajo actuarial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394192" cy="384048"/>
          </a:xfrm>
          <a:prstGeom prst="rect">
            <a:avLst/>
          </a:prstGeom>
          <a:solidFill>
            <a:srgbClr val="0D7A8A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4241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Situacion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0" y="104241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04241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99632" y="104241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79792" y="104241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389888"/>
            <a:ext cx="8394192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4475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Lista de primas de cartera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79792" y="1444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1792224"/>
            <a:ext cx="8394192" cy="384048"/>
          </a:xfrm>
          <a:prstGeom prst="rect">
            <a:avLst/>
          </a:prstGeom>
          <a:solidFill>
            <a:srgbClr val="16294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84708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Datos de una poliza (id, prima, activa...)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18470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8470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18470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79792" y="184708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194560"/>
            <a:ext cx="8394192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24942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Rango de edad fijo (18, 65)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22494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2494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22494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79792" y="224942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2596896"/>
            <a:ext cx="8394192" cy="384048"/>
          </a:xfrm>
          <a:prstGeom prst="rect">
            <a:avLst/>
          </a:prstGeom>
          <a:solidFill>
            <a:srgbClr val="16294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65176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Coberturas unicas de un producto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26517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26517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26517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79792" y="26517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2999232"/>
            <a:ext cx="8394192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5409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Historial de siniestros (puede crecer)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30540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30540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99632" y="30540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79792" y="305409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47472" y="3401568"/>
            <a:ext cx="8394192" cy="384048"/>
          </a:xfrm>
          <a:prstGeom prst="rect">
            <a:avLst/>
          </a:prstGeom>
          <a:solidFill>
            <a:srgbClr val="16294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4564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Tabla de tarifas por ramo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0" y="3456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3456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99632" y="3456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79792" y="34564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7472" y="3803904"/>
            <a:ext cx="8394192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85876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Ramos distintos en la cartera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0" y="385876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37760" y="385876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199632" y="385876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479792" y="385876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47472" y="4206240"/>
            <a:ext cx="8394192" cy="384048"/>
          </a:xfrm>
          <a:prstGeom prst="rect">
            <a:avLst/>
          </a:prstGeom>
          <a:solidFill>
            <a:srgbClr val="16294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26110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Coordenadas GPS de oficina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0" y="4261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37760" y="4261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Ideal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99632" y="4261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79792" y="426110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47472" y="4608576"/>
            <a:ext cx="8394192" cy="384048"/>
          </a:xfrm>
          <a:prstGeom prst="rect">
            <a:avLst/>
          </a:prstGeom>
          <a:solidFill>
            <a:srgbClr val="0F2035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66344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Cartera completa (muchas polizas)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657600" y="4663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✓ de dicts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937760" y="4663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99632" y="4663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479792" y="4663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7472" y="4681728"/>
            <a:ext cx="8449056" cy="402336"/>
          </a:xfrm>
          <a:prstGeom prst="rect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754880"/>
            <a:ext cx="219456" cy="219456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786384" y="47091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Regla de oro: si tienes un registro con campos nombrados → dict. Si tienes muchos registros del mismo tipo → list de dicts. Si no pueden cambiar → tuple. Si no pueden repetirse → set.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T3 — Control de Flujo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8EA"/>
                </a:solidFill>
              </a:rPr>
              <a:t>Hacer que Python tome decisiones y repita acciones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457200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26080"/>
            <a:ext cx="269748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26080"/>
            <a:ext cx="73152" cy="7863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999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</a:rPr>
              <a:t>if / elif / else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Decisiones condicionales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2926080"/>
            <a:ext cx="269748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2926080"/>
            <a:ext cx="73152" cy="7863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999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</a:rPr>
              <a:t>for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Iterar sobre colecciones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926080"/>
            <a:ext cx="269748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2926080"/>
            <a:ext cx="73152" cy="7863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999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</a:rPr>
              <a:t>while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3328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Repetir mientras condicion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269748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22192"/>
            <a:ext cx="73152" cy="7863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895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</a:rPr>
              <a:t>comprehensions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Filtrar y transformar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822192"/>
            <a:ext cx="269748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3822192"/>
            <a:ext cx="73152" cy="7863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895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</a:rPr>
              <a:t>lambda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Funciones anonimas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3822192"/>
            <a:ext cx="2697480" cy="7863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3822192"/>
            <a:ext cx="73152" cy="7863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8953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8EA"/>
                </a:solidFill>
              </a:rPr>
              <a:t>try / except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Manejar errores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T3 · CONTROL DE FLUJO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if / elif / else — Decisiones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mecanismo fundamental para que Python tome decisiones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La indentacion (4 espacios) define los bloques de codigo. No hay llaves { } como en R o Java — el espacio EN BLANCO tiene significado en Python. Un error de indentacion es un error de sintaxis.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4315968" cy="34015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64208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6420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Estructura basica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116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67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951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simple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4368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 65: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5786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print('Adulto mayor')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8620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if-else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0038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1455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print('Mayor de edad')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2872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4290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print('Menor de edad')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7124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if-elif-else (multiples condiciones)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8541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&lt; 18: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grupo = 'Menor'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1376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edad &lt;= 30: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2793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grupo = 'Joven'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4211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edad &lt;= 60: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5628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grupo = 'Adulto'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7045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8463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grupo = 'Senior'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9880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print(f'Grupo: {grupo}')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28032" y="1664208"/>
            <a:ext cx="3968496" cy="34015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28032" y="1664208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Aplicacion: clasificacion de riesgo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56048" y="20116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clasificar_riesgo(edad, imc, siniest):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1534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Riesgo alto: condicion directa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2951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edad &gt; 70 or imc &gt;= 40: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4368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'ALTO'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5786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Riesgo medio: multiple condicion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7203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(edad &gt;= 55 and imc &gt;= 30) or siniest &gt;= 2: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8620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'MEDIO'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0038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Riesgo bajo: todo lo demas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1455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'BAJO'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4290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Probar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5707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 = [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7124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(28, 22.5, 0),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8541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(58, 31.2, 1),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9959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(72, 26.0, 0),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41376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(45, 38.5, 2),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42793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44211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edad, imc, sin in casos: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5628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clasificar_riesgo(edad, imc, sin)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7045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print(f'Edad:{edad} IMC:{imc} → {r}')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T3 · if / elif / else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T3 · CONTROL DE FLUJO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for — Iterar Sobre Colecciones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Procesar cada elemento de una lista, dict, tupla o cualquier iterable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Formas del for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6200, 1900, 14500]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basica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prima in primas: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print(prima)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indice — enumerate()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prima in enumerate(primas):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print(f'Poliza {i+1}: ${prima:,.0f}')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Iterar sobre rango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940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       # 0,1,2,3,4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775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    # 1,2,3,4,5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range(0,10,2):  # 0,2,4,6,8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886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Dos listas en paralelo — zip()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027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 = ['Ana', 'Luis', 'Maria']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nom, prima in zip(nombres, primas):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311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print(f'{nom}: ${prima:,.0f}')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594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Iterar diccionario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736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 = {'id':'GMM-001', 'prima':2400}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878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clave, valor in poliza.items():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5020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print(f'{clave}: {valor}')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 dentro del for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5604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6200, 1900, 14500, 3200]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break: detener el loop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prima in primas: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prima &gt; 10000: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print(f'Prima alta: ${prima:,}')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# sale del loop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continue: saltar al siguiente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6106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prima in primas: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prima &lt; 2000: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8940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# salta esta iteracion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print(f'${prima:,}')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for-else: ejecuta si NO hubo break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prima in primas: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prima &gt; 20000: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744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print('Hay prima muy alta')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886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027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print('Todas las primas son normales')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453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Acumuladores — patron fundamental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594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736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prima in primas: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878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prima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5020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print(f'Total: ${total:,.0f}')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51617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Equivalente: sum(primas)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T3 · for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T3 · COMPREHENSIONS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List Comprehensions — Python en una Linea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La forma mas Pytonica de filtrar y transformar colecciones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Las comprehensions reemplazan muchos patrones de for loop en una sola linea expresiva. Son mas rapidas y consideradas 'Pythonicas'. Usaras list comprehensions constantemente con pandas.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8449056" cy="34015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19072"/>
            <a:ext cx="844905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19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Sintaxis: [expresion for elemento in iterable if condicion]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6200, 1900, 14500, 3200, 8800, 1850]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082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activas= [True, True, True, True,  False,True, True ]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4917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Lista basica ──────────────────────────────────────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6334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loop (verboso):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7752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primas_mensual = []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9169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p in primas: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0586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primas_mensual.append(p / 12)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2004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3421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comprehension (Pythonico):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4838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primas_mensual = [p / 12 for p in primas]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6255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print([f'${m:,.2f}' for m in primas_mensual])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9090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Con condicion (filtro) ────────────────────────────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07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primas_altas = [p for p in primas if p &gt; 5000]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1925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print(f'Primas &gt; 5000: {primas_altas}')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4759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Transformar Y filtrar al mismo tiempo ─────────────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6177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primas_activas = [p for p, a in zip(primas, activas) if a]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7594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print(f'Primas activas: {primas_activas}')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50429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Dict comprehension 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51846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nombres = ['Ana','Luis','Maria','Carlos','Rosa','Jorge','Elena']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53263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polizas_dict = {f'POL-{i+1:03d}': p for i, p in enumerate(primas)}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4681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print(polizas_dict)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7515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Clasificacion rapida con comprehension ────────────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8933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 = ['Alto' if p &gt; 8000 else 'Medio' if p &gt; 3000 else 'Bajo'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60350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for p in primas]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61767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print(niveles)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T3 · Comprehensions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T3 · CONTROL DE FLUJO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while y try/except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Repetir mientras se cumpla una condicion · Manejar errores con elegancia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while — repetir mientras condicion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Patron basico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5: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+= 1  # IMPORTANTE: modificar la condicion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o sera loop infinito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Aplicacion: simular pagos hasta cubrir reserva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reserva_requerida = 100_000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6106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reserva_acumulada = 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pago = 15_000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940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 = 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1775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reserva_acumulada &lt; reserva_requerida: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reserva_acumulada += pago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 +=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print(f'Mes {mes}: ${reserva_acumulada:,.0f}')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886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print(f'Meses necesarios: {mes}')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con break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311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intentos = 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453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              # loop infinito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94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intentos += 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736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intentos &gt;= 3: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78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        # salida controlada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020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print(f'Intentos: {intentos}')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try / except — manejar errores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 try/except — el error detiene el programa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= 5000 / 0   ← ZeroDivisionError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try/except — manejamos el error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exposicion = 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total_siniestros = 50_000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frecuencia = total_siniestros / exposicion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4688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6106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print('Error: exposicion es cero')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7523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frecuencia = 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0358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Multiples excepciones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1775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= {'prima': '3450', 'edad': None}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3192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4610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 = float(datos['prima'])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602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edad  = int(datos['edad'])   # None → TypeError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744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886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print('Valor no convertible a numero')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0279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TypeError: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169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print('El campo edad esta vacio (None)')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311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KeyError as e: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453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print(f'Campo no encontrado: {e}')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594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736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print('Bloque finally: siempre se ejecuta')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T3 · while y try/except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T3 · FUNCIONES ANONIMAS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Lambda, map y filter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Funciones de una sola linea — muy usadas con pandas y transformaciones de datos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Las funciones lambda son funciones anonimas (sin nombre) que se escriben en una sola linea. Son especialmente utiles cuando necesitas una funcion rapida para pasarla como argumento a otra funcion.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8449056" cy="34015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19072"/>
            <a:ext cx="844905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19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Sintaxis: lambda argumentos: expresion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0665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Equivalencia lambda vs def 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2082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Funcion normal: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500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 calcular_prima_mensual(prima_anual):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917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return prima_anual / 12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752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Funcion lambda equivalente: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9169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prima_mensual = lambda p: p / 12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586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print(prima_mensual(3600))   # 300.0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34213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con multiples argumentos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4838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prima_con_iva = lambda prima, iva=1.16: prima * iva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6255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print(prima_con_iva(3450))        # 4002.0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7673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print(prima_con_iva(3450, 1.08))  # 3726.0  (IVA diferente)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507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map(): aplicar funcion a cada elemento ────────────────────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1925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 = [2400, 6200, 1900, 14500, 3200]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3342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primas_mensuales = list(map(lambda p: p/12, primas))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4759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print([f'${m:.2f}' for m in primas_mensuales])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7594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filter(): filtrar elementos 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9011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primas_altas = list(filter(lambda p: p &gt; 5000, primas))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50429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print(f'Primas &gt; 5000: {primas_altas}')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532638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sorted() con key lambda 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54681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= [{'nom':'Ana','prima':2400}, {'nom':'Luis','prima':6200},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6098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{'nom':'Maria','prima':1900}]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57515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ordenada = sorted(cartera, key=lambda p: p['prima'], reverse=True)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58933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pol in ordenada: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60350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print(f"{pol['nom']}: ${pol['prima']:,}")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T3 · Lambda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Ejercicio Integrador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45 minutos — usa todo lo visto en la sesion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126187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— cartera de autos con tabla de tarifas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350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= [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767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{'id':'A-101','nom':'Sofia','edad':24,'veh':'Sedan', 'siniest':0,'suma':300_000},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1848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{'id':'A-102','nom':'Miguel','edad':38,'veh':'SUV',  'siniest':1,'suma':500_000},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7602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{'id':'A-103','nom':'Laura', 'edad':31,'veh':'Hatchback','siniest':0,'suma':250_000},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9019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{'id':'A-104','nom':'Roberto','edad':55,'veh':'SUV','siniest':2,'suma':600_000},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436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{'id':'A-105','nom':'Carmen','edad':42,'veh':'Sedan','siniest':0,'suma':350_000},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1854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3271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tarifas = {'Sedan':0.025, 'SUV':0.035, 'Hatchback':0.022, 'Pick-up':0.040}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377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Tareas: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2706624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1. Calcula la prima de cada poliza: suma_asegurada × tasa_tarifa[vehiculo]. Agrega el campo 'prima' al dict.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108960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2. Clasifica cada asegurado: 'Riesgo Alto' si siniest &gt;= 2, 'Riesgo Medio' si siniest == 1, 'Bajo' si siniest == 0.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511296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3. Imprime un reporte tabular: ID | Nombre | Vehiculo | Prima | Clasificacion.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913632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4. Usando comprehensions: lista de primas de SUVs, promedio de primas, total de siniestros.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31596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5. Bonus: ordena la cartera por prima descendente e imprime el ranking.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Ejercicio Integrador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Solucion del Ejercicio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Revisamos juntos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8449056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Solucion completa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Calcular prima y agregar al dict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584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cartera: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002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p['prima'] = p['suma'] * tarifas[p['veh']]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88366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Clasificar riesgo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02539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clasificar(siniest):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6712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siniest &gt;= 2: return 'Alto'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0886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siniest == 1: return 'Medio'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5059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'Bajo'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9232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cartera: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3405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p['riesgo'] = clasificar(p['siniest'])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301752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Reporte tabular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15925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print(f'{"ID":&lt;8}{"Nombre":&lt;10}{"Vehiculo":&lt;12}{"Prima":&gt;10} {"Riesgo"}')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30098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print('-' * 50)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44271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cartera: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8444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print(f"{p['id']:&lt;8}{p['nom']:&lt;10}{p['veh']:&lt;12}${p['prima']:&gt;9,.0f} {p['riesgo']}")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867912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Comprehensions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00964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primas_suv = [p['prima'] for p in cartera if p['veh'] == 'SUV']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15137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prom_prima = sum(p['prima'] for p in cartera) / len(cartera)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29310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total_sin  = sum(p['siniest'] for p in cartera)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43484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print(f'SUV primas: {primas_suv} | Prom: ${prom_prima:,.0f} | Siniest: {total_sin}')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718304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Bonus: ordenar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860036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= sorted(cartera, key=lambda p: p['prima'], reverse=True)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5001768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p in enumerate(ranking, 1):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5143500"/>
            <a:ext cx="82296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print(f'{i}. {p["nom"]:&lt;10} ${p["prima"]:&gt;8,.0f}')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3  ·  Sabado 18 de abril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Solucion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Resumen de la Sesion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</a:rPr>
              <a:t>Sesion de 4 horas completada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801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61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Estructuras de datos: list, tuple, dict, set — cuando usar cada una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76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16093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Listas: acceso, metodos, zip(), enumerate(), operaciones sobre carteras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7510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9568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Diccionarios: pares clave-valor, cartera como lista de dicts, tablas de tarifas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22576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2304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if/elif/else: clasificacion de riesgo, reglas de underwriting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70048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" y="2651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for y while: iterar carteras, acumuladores, break/continue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17520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1520" y="2999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List comprehensions: filtrar y transformar en una linea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364992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31520" y="3346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Lambda, map, filter: funciones anonimas y sorted() con clave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3712464"/>
            <a:ext cx="219456" cy="21945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31520" y="36941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try/except: manejar errores en lectura de datos</a:t>
            </a:r>
            <a:endParaRPr lang="en-US" sz="1150" dirty="0"/>
          </a:p>
        </p:txBody>
      </p:sp>
      <p:sp>
        <p:nvSpPr>
          <p:cNvPr id="22" name="Shape 12"/>
          <p:cNvSpPr/>
          <p:nvPr/>
        </p:nvSpPr>
        <p:spPr>
          <a:xfrm>
            <a:off x="411480" y="4078224"/>
            <a:ext cx="832104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114800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77824" y="410565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Proxima sesion: Mie 22 de abril · 18:00-21:00 h  ·  T3 cierre: funciones + modulos + excepciones</a:t>
            </a:r>
            <a:endParaRPr lang="en-US" sz="1050" dirty="0"/>
          </a:p>
        </p:txBody>
      </p:sp>
      <p:sp>
        <p:nvSpPr>
          <p:cNvPr id="25" name="Text 14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 · Sesion 3 · Estructuras de Datos + Control de Flujo</dc:title>
  <dc:subject>PptxGenJS Presentation</dc:subject>
  <dc:creator>PptxGenJS</dc:creator>
  <cp:lastModifiedBy>PptxGenJS</cp:lastModifiedBy>
  <cp:revision>1</cp:revision>
  <dcterms:created xsi:type="dcterms:W3CDTF">2026-04-18T01:27:17Z</dcterms:created>
  <dcterms:modified xsi:type="dcterms:W3CDTF">2026-04-18T01:27:17Z</dcterms:modified>
</cp:coreProperties>
</file>