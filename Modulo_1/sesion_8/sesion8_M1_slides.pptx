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192024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MODULO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8961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</a:rPr>
              <a:t>Introduccion a Python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31673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Sesion 8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De Datos Crudos a Dataset Analizable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23957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CSV · JSON · dtypes · str · datetime · Parquet · Polars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43200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852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7 problemas del mundo real que resolveremos hoy: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127248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108960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46 columnas — ¿cuáles necesito realmente?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28032" y="3127248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4064" y="3108960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Texto sucio: M, F, Masculino, Femenino mezclados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3438144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41985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Fechas como texto: '15/04/2026'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28032" y="3438144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84064" y="341985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Datos en JSON: API de reaseguro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3749040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373075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90k filas, 11MB — procesar sin colapsar RAM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28032" y="3749040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84064" y="373075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Downcast incorrecto: primas redondeadas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4370832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¿Cuándo cambiar a Polars?</a:t>
            </a:r>
            <a:endParaRPr lang="en-US" sz="9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645152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40080" y="462686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Sabado 2 de mayo · 07:00-11:00 h  (4 horas) · Zoom · Instructor: Eric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Universidad Nacional Autonoma de Mexico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Pipeline de la Sesion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De archivos crudos a dataset listo para modelar — 4 horas, 7 dudas reales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1481328" cy="5486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07:00-08:30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38528" y="10241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 1 — El Dataset Crudo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84832" y="131673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Cargar cartera_polizas.csv · 50k filas · 46 columnas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84832" y="149961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Taxonomia: que guardar, que descartar y por que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84832" y="168249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Texto sucio · Fechas en mal formato · NaN estructurales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664208"/>
            <a:ext cx="1481328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007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08:30-09:00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38528" y="1664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 2 — Formatos del Mundo Real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195681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JSON: API de reaseguro · read_json() · json_normalize()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84832" y="213969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Escribir: to_csv / to_excel multihoja / to_parquet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304288"/>
            <a:ext cx="1481328" cy="2926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408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09:00-09:15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38528" y="23042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Receso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2944368"/>
            <a:ext cx="1481328" cy="548640"/>
          </a:xfrm>
          <a:prstGeom prst="rect">
            <a:avLst/>
          </a:prstGeom>
          <a:solidFill>
            <a:srgbClr val="1E5E8A"/>
          </a:solidFill>
          <a:ln w="12700">
            <a:solidFill>
              <a:srgbClr val="1E5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98094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09:15-10:00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38528" y="2944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 3 — Optimizacion y Escala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84832" y="323697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pivot_table con datos reales de la cartera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84832" y="341985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dtypes: de 20MB a 4MB sin perder precision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84832" y="360273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chunks: 90k beneficiarios en pedazos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584448"/>
            <a:ext cx="1481328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6210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10:00-10:30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38528" y="35844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 4 — Polars: el Sucesor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84832" y="387705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Por que existe Polars · comparativa de velocidad real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84832" y="405993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Sintaxis basica · cuando hacer el cambio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224528"/>
            <a:ext cx="148132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26110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10:30-11:00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38528" y="42245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 5 — Ejercicio Integrador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84832" y="451713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Pipeline completo: ingesta → limpieza → analisis → exportar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84832" y="470001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→ Nivel maestria: datos sucios reales · decisions justificadas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1 · EL DATASET CRUDO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46 Columnas — ¿Por Donde Empiezo?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Diagnostico sistematico antes de escribir una sola linea de analisis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Regla de oro en actuaria: nunca transformes un dato sin haberlo entendido primero. El diagnostico sistematico previene errores que llegan hasta los modelos de pricing.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2011680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8249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Estructura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029968"/>
            <a:ext cx="20116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103120"/>
            <a:ext cx="184708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df.shape, df.columns, df.dtypes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¿Cuantas filas? ¿Cuantas columnas?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¿Que tipo tiene cada campo?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23744" y="1682496"/>
            <a:ext cx="20116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68249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Calidad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23744" y="2029968"/>
            <a:ext cx="20116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15184" y="2103120"/>
            <a:ext cx="184708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df.isna().sum(), df.duplicated().sum()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¿Cuanto falta? ¿Hay registros duplicados?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¿Tiene sentido el % de NaN por columna?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682496"/>
            <a:ext cx="2011680" cy="347472"/>
          </a:xfrm>
          <a:prstGeom prst="rect">
            <a:avLst/>
          </a:prstGeom>
          <a:solidFill>
            <a:srgbClr val="1E5E8A"/>
          </a:solidFill>
          <a:ln w="12700">
            <a:solidFill>
              <a:srgbClr val="1E5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68249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Distribucion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0016" y="2029968"/>
            <a:ext cx="20116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91456" y="2103120"/>
            <a:ext cx="184708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df.describe(), df['col'].value_counts()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¿Los rangos son razonables? ¿Hay outliers?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¿Cuantos valores unicos tiene cada campo?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76288" y="1682496"/>
            <a:ext cx="201168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168249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Relevancia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76288" y="2029968"/>
            <a:ext cx="20116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67728" y="2103120"/>
            <a:ext cx="184708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¿Esta columna aporta al analisis objetivo?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¿Es redundante con otra columna?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¿Es administrativa / tecnica?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4000"/>
                </a:solidFill>
              </a:rPr>
              <a:t>Duda 1:  Cargo el CSV y tiene 46 columnas — ¿cuales necesito realmente para analizar la cartera?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1 · Diagnostico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1 · SOLUCION — TAXONOMIA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Taxonomia de Columnas: 4 Categorias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Clasificar antes de decidir que conservar — es una decision de negocio, no solo tecnica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11480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87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ANALITICAS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07792" y="9875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Conservar siempre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353312"/>
            <a:ext cx="41148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4630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ramo, plan, zona, agente_id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70078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prima_neta, prima_total, suma_asegurada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193852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fecha_emision, fecha_fin_vigencia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17627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edad, sexo, estado_civil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41401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status_poliza, num_renovaciones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9744" y="987552"/>
            <a:ext cx="411480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987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△  CONDICIONALES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70064" y="9875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Conservar segun el analisis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9744" y="1353312"/>
            <a:ext cx="41148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4630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id_sistema_legacy  (si hay joins con core)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70078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marca_vehiculo     (solo si analizo Autos)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93852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nivel_educacion    (si es variable del modelo)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17627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coord_lat/lon      (solo analisis geoespacial)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41401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ocupacion          (modelos de riesgo avanzados)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035808"/>
            <a:ext cx="4114800" cy="365760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~  REDUNDANTES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07792" y="30358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Eliminar — duplican informacion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401568"/>
            <a:ext cx="41148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351129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nombre_completo  = nombre+ap_pat+ap_mat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" y="37490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id_contrato_interno ≈ id_poliza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" y="398678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folio_emision    ≈ num_poliza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" y="422452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fecha_apertura   = fecha_reporte (siniestros)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446227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monto_mxn        = monto si moneda=MXN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9744" y="3035808"/>
            <a:ext cx="41148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  ADMINISTRATIVAS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70064" y="30358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Eliminar para analisis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9744" y="3401568"/>
            <a:ext cx="41148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351129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hash_documento   (auditoria de PDF)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0" y="37490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timestamp_carga  (igual para todos)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37760" y="398678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ip_carga         (IP del servidor batch)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422452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id_sistema_origen (tracking IT)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446227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usuario_captura  (operacion, no negocio)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1E8449">
              <a:alpha val="15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1A"/>
                </a:solidFill>
              </a:rPr>
              <a:t>Solucion:  Clasifica cada columna en una de estas 4 categorias ANTES de cargar los datos.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1 · Taxonomia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2 · TEXTO SUCIO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Datos de Texto Sucios — Normalizar con str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El campo 'sexo' tiene 4 representaciones distintas del mismo valor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Un campo que deberia tener solo 2 valores ('M','F') llega del sistema legacy con: 'M', 'F', 'Masculino', 'Femenino', 'm', 'femenino', ' M ', 'MASCULINO'. Si no lo normalizas, los groupby cuentan 8 grupos distintos en lugar de 2.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4315968" cy="34930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27632"/>
            <a:ext cx="4315968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2763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El problema real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7510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 que ves al cargar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2323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df['sexo'].value_counts()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7137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           18542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1950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           17831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6763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Masculino    5620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1576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Femenino     5230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6390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             892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1203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femenino      750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6016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M             321  ← espacio adelante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0829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MASCULINO      204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5643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None/NaN        ...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0456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75269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si haces groupby sin limpiar: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90083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df.groupby('sexo')['prima'].mean()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4896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Obtienes 8 grupos distintos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19709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lugar de 2 — analisis INCORRECTO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28032" y="1627632"/>
            <a:ext cx="3968496" cy="34930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1627632"/>
            <a:ext cx="396849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Solucion con str operations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56048" y="197510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1: normalizar a mayusculas sin espacios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56048" y="212323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df['sexo'] = df['sexo'].str.strip().str.upper()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227137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241950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2: mapear variantes al valor estandar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56763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mapa_sexo = {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271576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'M':         'M',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86390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'MASCULINO': 'M',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301203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'HOMBRE':    'M',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316016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'F':         'F',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330829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'FEMENINO':  'F',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345643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'MUJER':     'F',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60456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375269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df['sexo'] = df['sexo'].map(mapa_sexo)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390083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Valores no mapeados → NaN automaticamente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404896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419709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434522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print(df['sexo'].value_counts(dropna=False))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449336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      24587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464149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      24213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478962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NaN     1200  ← desconocido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4000"/>
                </a:solidFill>
              </a:rPr>
              <a:t>Duda 2:  El campo sexo tiene M, F, Masculino, Femenino mezclados — groupby da 8 grupos en lugar de 2.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2 · str operations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2 · str — TOOLKIT COMPLETO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str Operations: El Toolkit Completo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Todas las transformaciones de texto que necesitaras en datos de seguros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Limpieza y normalizacion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df['nombre']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Limpiar espacios y capitalizar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s.str.strip()          # quita espacios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s.str.upper()          # TODO MAYUSCULAS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s.str.lower()          # todo minusculas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s.str.title()          # Primera Letra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Reemplazar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s.str.replace('-','_') # guion por _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s.str.replace(r'\s+',' ',regex=True) # espacios multiples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Recortar partes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s.str[:3]              # primeros 3 chars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0888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s.str[-5:]             # ultimos 5 chars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5701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s.str[4:8]             # posicion 4 a 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0514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532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Dividir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014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s.str.split('-')       # lista de partes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14954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s.str.split('-').str[0] # primera parte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s.str.split('-').str[-1]# ultima parte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4581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5939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Padding (rellenar con ceros)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74207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df['cp'].str.zfill(5)  # 1234 → 01234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Busqueda y extraccion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13350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df['num_poliza']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14831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'GMM-24-000123'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6312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7794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 filas que contienen texto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192755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df[s.str.contains('GMM')]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07568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df[s.str.startswith('AUT')]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22382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df[s.str.endswith('2024')]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3719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5200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con regex — muy poderoso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66821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el ramo del num_poliza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81635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df['ramo_extr'] = s.str.extract(r'^([A-Z]+)-')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96448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GMM-24-000123 → GMM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1126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2607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el anio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40888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df['anio_extr'] = s.str.extract(r'-([0-9]{2})-')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5570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GMM-24-000123 → 24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7051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8532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multiples grupos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40014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partes = s.str.extract(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14954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r'^(?P&lt;ramo&gt;[A-Z]+)-(?P&lt;anio&gt;[0-9]+)-(?P&lt;seq&gt;[0-9]+)'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29768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44581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Columnas: ramo | anio | seq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59394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74207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Contar ocurrencias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489021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s.str.count('-')  # cuantos guiones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56048" y="503834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s.str.len()       # longitud del string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2 · str toolkit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3 · FECHAS COMO TEXTO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Fechas en Mal Formato — pd.to_datetime()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Los sistemas legacy exportan fechas en formatos distintos — pandas las lee como texto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En cartera_polizas.csv la fecha_nacimiento llega como '15/04/1985' (d/m/Y). En siniestros.csv la fecha_ultimo_movimiento llega como '17/04/2026'. Si no conviertes, no puedes calcular edades, vigencias ni aging.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09344"/>
            <a:ext cx="4315968" cy="354787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09344"/>
            <a:ext cx="4315968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0934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Formas de convertir a datetime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5681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0494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530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Formato conocido y uniforme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012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df['fec_nac'] = pd.to_datetime(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4934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df['fecha_nacimiento'],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69748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format='%d/%m/%Y'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4561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9937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4187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Formato ISO estandar (automatico)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29001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df['fec_emis'] = pd.to_datetime(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3814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df['fecha_emision']  # '2024-01-15'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58627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73441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88254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Formato desconocido o mixto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3067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df['fecha'] = pd.to_datetime(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17880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df['fecha_col'],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2694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infer_datetime_format=True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47507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62320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77133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Manejo de errores — NO detiene el proceso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91947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df['fecha'] = pd.to_datetime(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06760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df['fecha_col'],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521573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format='%d/%m/%Y',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536387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errors='coerce'  # invalido → NaT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551200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" y="566013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" y="580826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Cuantas fechas invalidas quedaron NaT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" y="595640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df['fecha'].isna().sum()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28032" y="1609344"/>
            <a:ext cx="3968496" cy="354787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1609344"/>
            <a:ext cx="396849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Calculos actuariales con datetime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56048" y="19568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= pd.Timestamp.today()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1049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2530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Calcular edad exacta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4012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df['edad_calc'] = (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54934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(hoy - df['fec_nac']).dt.days / 365.25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69748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).astype(int)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284561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299374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Dias de vigencia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14187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df['fec_inicio'] = pd.to_datetime(df['fecha_inicio_vigencia'])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29001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df['fec_fin']    = pd.to_datetime(df['fecha_fin_vigencia'])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43814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df['dias_vig']   = (df['fec_fin']-df['fec_inicio']).dt.days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58627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373441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Fraccion de exposicion transcurrida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388254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df['exp_dias']   = (hoy-df['fec_inicio']).dt.days.clip(lower=0)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03067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df['fraccion']   = (df['exp_dias']/df['dias_vig']).clip(0,1).round(4)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17880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32694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componentes de fecha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47507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df['anio_emision'] = df['fec_inicio'].dt.year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462320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df['mes_emision']  = df['fec_inicio'].dt.month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56048" y="477133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df['trim_emision'] = df['fec_inicio'].dt.quarter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4000"/>
                </a:solidFill>
              </a:rPr>
              <a:t>Duda 3:  Las fechas llegan como texto '15/04/2026' — pd.read_csv no las reconoce como datetime.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3 · Fechas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4 · JSON — DATOS DE API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JSON: Cuando los Datos No Llegan en CSV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APIs, sistemas de reaseguro y microservicios devuelven JSON — no CSV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En el mundo real, muchos datos llegan via API en formato JSON. Los sistemas de reaseguro, los proveedores de datos externos y las integraciones entre sistemas usan JSON. Tambien es el formato nativo de MongoDB y muchas bases de datos NoSQL.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4315968" cy="34564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27632"/>
            <a:ext cx="4315968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2763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Tipos de JSON y como cargarlos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7510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2323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7137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JSON simple: lista de objetos (mas comun)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1950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[{ramo:GMM, prima:2400}, {ramo:Autos...}]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6763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pd.read_json('cartera.json')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1576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6390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JSON orientado por columnas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1203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{ramo:[GMM,Autos], prima:[2400,5800]}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6016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pd.read_json('datos.json', orient='columns')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0829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5643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JSON anidado: lo mas frecuente en APIs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0456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[{poliza:{id:P01, ramo:GMM}, prima:2400}]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75269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90083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open('api_response.json') as f: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4896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json.load(f)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19709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4522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json_normalize: aplanar JSON anidado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49336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pandas import json_normalize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64149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json_normalize(data, sep='_')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78962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poliza.id → poliza_id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93776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poliza.ramo → poliza_ramo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28032" y="1627632"/>
            <a:ext cx="3968496" cy="34564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162763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 REST en la practica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197510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requests, pandas as pd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12323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27137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Llamar API de reaseguro (simulado)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41950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56763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'https://api.reaseguro.mx/cartera',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71576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headers={'Authorization':'Bearer TOKEN'}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86390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301203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response.json()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316016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30829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Convertir a DataFrame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45643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pd.DataFrame(data['polizas'])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60456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75269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Guardar respuesta como JSON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90083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df.to_json('respuesta_api.json',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404896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orient='records',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19709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force_ascii=False,  # acentos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34522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indent=2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449336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64149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478962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Guardar y leer como CSV normal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93776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df.to_csv('desde_api.csv', index=False)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508589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pd.read_json en archivos grandes: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523402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chunksize tambien funciona en JSON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538215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pd.read_json(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553029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'grande.json', lines=True,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56784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chunksize=10_000):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56048" y="58265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procesar(chunk)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4000"/>
                </a:solidFill>
              </a:rPr>
              <a:t>Duda 4:  El sistema de reaseguro manda los datos en JSON, no en CSV — no se como cargarlo a pandas.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4 · JSON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5 y 6 · MEMORIA Y PRECISION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dtypes: De 20MB a 4MB — Sin Perder Precision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Que tipos usar y cuando el downcast puede introducir errores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El error mas comun al optimizar dtypes: convertir primas de float64 a float32 sin verificar. float32 tiene solo 7 digitos de precision — una prima de $15,432.75 puede quedar como $15,432.80. En actuaria eso es inaceptable.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591056"/>
            <a:ext cx="4315968" cy="356616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591056"/>
            <a:ext cx="431596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9105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Duda 6: el downcast peligroso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3852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float64 → float32: PELIGROSO para montos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08666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 = 15432.75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3479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38292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print(np.float32(prima))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3105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15432.75  ← puede parecer OK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67919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print(np.float32(15432756.80))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2732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15432757.0  ← ERROR de redondeo!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97545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235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regla para montos actuariales: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27172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Mantener float64 si el valor puede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1985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exceder 1 millon MXN o si necesitas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56798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mas de 7 digitos significativos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7161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8642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SEGURO para optimizar: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1238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df['siniest'] = df['siniest'].astype('int8') # max 127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16052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df['edad']    = df['edad'].astype('int8')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0865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df['ramo']    = df['ramo'].astype('category')  # -90%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4567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df['zona']    = df['zona'].astype('category')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6049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75305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PELIGROSO — NO hagas esto con primas grandes: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90118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df['prima_total'] = df['prima_total'].astype('float32')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28032" y="1591056"/>
            <a:ext cx="3968496" cy="356616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1591056"/>
            <a:ext cx="396849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15910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Estrategia correcta de optimizacion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193852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Guia practica: que SI optimizar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08666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23479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category: &lt; 50 valores unicos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38292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int8:     rango -128 a 127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53105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int16:    rango -32k a 32k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67919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float32:  montos &lt; 100,000 MXN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82732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bool:     columnas True/False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97545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31235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Deja en float64: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27172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primas &gt; 100,000 MXN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41985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sumas aseguradas (millones)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56798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montos de reservas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7161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8642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optimizar_seguro(df):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401238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UMBRAL_CATEGORIA = 0.05  # 5% unicos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16052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df.copy()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30865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col in df.select_dtypes('int64'):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44567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mx = df[col].abs().max()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6049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mx &lt; 127:   df[col]=df[col].astype('int8')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475305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mx &lt; 32767: df[col]=df[col].astype('int16')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90118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col in df.select_dtypes('object'):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504931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df[col].nunique()/len(df) &lt; UMBRAL_CATEGORIA: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51974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df[col] = df[col].astype('category')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53455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4000"/>
                </a:solidFill>
              </a:rPr>
              <a:t>Duda 5 y 6:  El archivo de beneficiarios pesa 11MB. Hice downcast y las primas se redondearon mal.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5-6 · dtypes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7 · POLARS — EL SUCESOR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Polars: Por Que Existe y Cuando Usarlo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Pandas tiene 15 anios — Polars lo reescribio desde cero con 3 principios distintos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30352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Polars nacio para resolver los 3 problemas fundamentales de pandas: memoria excesiva (copia datos en casi toda operacion), velocidad en archivos grandes (no usa multiples nucleos por defecto), y API inconsistente acumulada en 15 anios. No es un reemplazo inmediato — es una herramienta para cuando pandas ya no alcanza.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09344"/>
            <a:ext cx="2468880" cy="310896"/>
          </a:xfrm>
          <a:prstGeom prst="rect">
            <a:avLst/>
          </a:prstGeom>
          <a:solidFill>
            <a:srgbClr val="0A0E1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093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52928" y="1609344"/>
            <a:ext cx="3163824" cy="310896"/>
          </a:xfrm>
          <a:prstGeom prst="rect">
            <a:avLst/>
          </a:prstGeom>
          <a:solidFill>
            <a:srgbClr val="0A0E1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60934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8EA"/>
                </a:solidFill>
              </a:rPr>
              <a:t>pandas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53328" y="1609344"/>
            <a:ext cx="2889504" cy="310896"/>
          </a:xfrm>
          <a:prstGeom prst="rect">
            <a:avLst/>
          </a:prstGeom>
          <a:solidFill>
            <a:srgbClr val="0A0E1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60934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8EA"/>
                </a:solidFill>
              </a:rPr>
              <a:t>polars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938528"/>
            <a:ext cx="2468880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38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Velocidad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52928" y="1938528"/>
            <a:ext cx="3163824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193852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Referencia (1x)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53328" y="1938528"/>
            <a:ext cx="2889504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93852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5-20x mas rapido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2267712"/>
            <a:ext cx="2468880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267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Memoria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52928" y="2267712"/>
            <a:ext cx="3163824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4368" y="226771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Copia datos al operar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53328" y="2267712"/>
            <a:ext cx="2889504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226771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Opera sobre referencias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2596896"/>
            <a:ext cx="2468880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5968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Paralelismo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52928" y="2596896"/>
            <a:ext cx="3163824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44368" y="259689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1 nucleo por defecto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53328" y="2596896"/>
            <a:ext cx="2889504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259689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Todos los nucleos automatico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2926080"/>
            <a:ext cx="2468880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Lazy evaluation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52928" y="2926080"/>
            <a:ext cx="3163824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44368" y="292608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No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53328" y="2926080"/>
            <a:ext cx="2889504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292608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Si — optimiza antes de ejecutar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3255264"/>
            <a:ext cx="2468880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2552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API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52928" y="3255264"/>
            <a:ext cx="3163824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44368" y="325526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Muchas formas de hacer lo mismo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53328" y="3255264"/>
            <a:ext cx="2889504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44768" y="325526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Consistente y explicita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7472" y="3584448"/>
            <a:ext cx="2468880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5844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Ecosistema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52928" y="3584448"/>
            <a:ext cx="3163824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44368" y="358444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Enorme (sklearn, seaborn...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53328" y="3584448"/>
            <a:ext cx="2889504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44768" y="358444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Creciendo rapidamente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7472" y="3913632"/>
            <a:ext cx="2468880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3913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Curva de aprendizaje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852928" y="3913632"/>
            <a:ext cx="3163824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44368" y="391363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Ya la tienen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53328" y="3913632"/>
            <a:ext cx="2889504" cy="310896"/>
          </a:xfrm>
          <a:prstGeom prst="rect">
            <a:avLst/>
          </a:prstGeom>
          <a:solidFill>
            <a:srgbClr val="0D1422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4768" y="39136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Nueva sintaxis — 2-4 semanas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7472" y="4242816"/>
            <a:ext cx="2468880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42428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Cuando usarlo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852928" y="4242816"/>
            <a:ext cx="3163824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44368" y="424281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Hasta ~1M filas en RAM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53328" y="4242816"/>
            <a:ext cx="2889504" cy="310896"/>
          </a:xfrm>
          <a:prstGeom prst="rect">
            <a:avLst/>
          </a:prstGeom>
          <a:solidFill>
            <a:srgbClr val="121827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424281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Cuando pandas ya es lento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4000"/>
                </a:solidFill>
              </a:rPr>
              <a:t>Duda 7:  Un colega me dice que deberia usar Polars — ¿cuando tiene sentido hacer el cambio?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7 · Polars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DUDA 7 · POLARS — SINTAXIS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Polars: La Sintaxis en la Practica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Comparativa directa pandas vs polars — para que reconozcas el patron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pandas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pd.read_csv('cartera.csv')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df[df['prima'] &gt; 5000]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Seleccionar columnas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df[['ramo','prima','siniest']]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columna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df['prima_mensual'] = df['prima'] / 12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0888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Groupby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5701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df.groupby('ramo')['prima'].sum()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0514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532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014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df.sort_values('prima', ascending=False)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14954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4581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pd.merge(df, ramos, on='ramo', how='left')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5939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74207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Null check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89021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df['prima'].isna().sum()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polars — equivalente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13350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polars as pl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4831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6312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Leer (lazy: no carga hasta que llamas .collect())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17794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pl.read_csv('cartera.csv')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192755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07568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22382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df.filter(pl.col('prima') &gt; 5000)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3719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5200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Seleccionar columnas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66821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df.select(['ramo','prima','siniest'])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81635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296448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columna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1126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df.with_columns((pl.col('prima')/12).alias('prima_mensual'))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2607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40888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Groupby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5570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df.group_by('ramo').agg(pl.col('prima').sum())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7051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38532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0014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df.sort('prima', descending=True)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14954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29768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Join (merge)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44581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df.join(ramos, on='ramo', how='left')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59394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474207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Null check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56048" y="489021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df['prima'].is_null().sum()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1E8449">
              <a:alpha val="15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1A"/>
                </a:solidFill>
              </a:rPr>
              <a:t>Solucion:  Aprende polars DESPUES de dominar pandas. La logica es la misma — solo cambia la sintaxis.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Duda 7 · Polars sintaxis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EJERCICIO INTEGRADOR FINAL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Pipeline Completo — Nivel Maestria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El mismo flujo que ejecutas en un proyecto real de pricing actuarial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335024"/>
            <a:ext cx="4114800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35024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 Ingesta inteligente (10 min)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73936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Carga cartera_polizas.csv usando SOLO las columnas analiticas y condicionales. Mide la diferencia de memoria vs cargar las 46 columnas. Diagnostica: shape, NaN%, duplicados, value_counts de sexo y codigo_postal.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9744" y="1335024"/>
            <a:ext cx="41148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335024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F2  Limpieza y enriquecimiento (15 min)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9744" y="1682496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9472" y="1773936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Normaliza sexo con .str y .map(). Convierte fechas con to_datetime y errors='coerce'. Limpia codigo_postal (quita 'N/D'). Merge con catalogos. Crea: edad_calc, fraccion_expuesta, g_edad, nivel_riesgo.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017520"/>
            <a:ext cx="411480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1752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F3  Analisis multi-dimension (10 min)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36499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456432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groupby+agg por ramo: polizas, prima_total, prima_prom, pct_cartera, frecuencia. pivot_table: prima por ramo × g_edad y siniestros por zona × ramo. Identifica el segmento de mayor riesgo.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9744" y="3017520"/>
            <a:ext cx="411480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301752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F4  Optimizacion y exportar (10 min)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9744" y="336499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3456432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Aplica optimizar_seguro() al DataFrame final. Compara memoria antes/despues. Guarda: Excel multihoja (Cartera, Resumenes, Pivots) + Parquet optimizado. Compara tamanos de archivo.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4718304"/>
            <a:ext cx="8449056" cy="310896"/>
          </a:xfrm>
          <a:prstGeom prst="rect">
            <a:avLst/>
          </a:prstGeom>
          <a:solidFill>
            <a:srgbClr val="E37B2A">
              <a:alpha val="12000"/>
            </a:srgbClr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2D00"/>
                </a:solidFill>
              </a:rPr>
              <a:t>Entregable: reporte_ejecutivo_Q1_2026.xlsx con 5 hojas + cartera_final.parquet. Toda decision de limpieza debe estar documentada con comentarios en el notebook.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8  ·  Sabado 2 de mayo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Ejercicio Integrador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49808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8EA"/>
                </a:solidFill>
              </a:rPr>
              <a:t>T5 Pandas — Completo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De datos crudos a pipeline profesional — 9 sesiones, 18 horas de practica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4241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Series y DataFrames: estructura, indexacion, slicing, filtros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4241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57216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groupby + .agg(): resumir cualquier dimension de la cartera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475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656" y="1426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apply: aplicar funciones propias fila por fila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447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57216" y="1426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merge: left/inner/outer — joins relacionales con catalogos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84708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6656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str operations: limpiar texto sucio del mundo real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847088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57216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pd.to_datetime: convertir fechas de sistemas legacy</a:t>
            </a:r>
            <a:endParaRPr lang="en-US" sz="10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249424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76656" y="2231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NaN y duplicados: estrategias de imputacion informada</a:t>
            </a:r>
            <a:endParaRPr lang="en-US" sz="10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249424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57216" y="2231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CSV · Excel · JSON · Parquet: leer y escribir cualquier formato</a:t>
            </a:r>
            <a:endParaRPr lang="en-US" sz="10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2651760"/>
            <a:ext cx="182880" cy="1828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76656" y="2633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pivot_table: cruces multidimensionales para reporting</a:t>
            </a:r>
            <a:endParaRPr lang="en-US" sz="10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651760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57216" y="2633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dtypes: optimizar memoria con seguridad actuarial</a:t>
            </a:r>
            <a:endParaRPr lang="en-US" sz="10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3054096"/>
            <a:ext cx="182880" cy="18288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76656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chunks: procesar millones de filas sin RAM infinita</a:t>
            </a:r>
            <a:endParaRPr lang="en-US" sz="10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054096"/>
            <a:ext cx="182880" cy="18288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157216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Polars: cuando pandas ya no alcanza</a:t>
            </a:r>
            <a:endParaRPr lang="en-US" sz="1050" dirty="0"/>
          </a:p>
        </p:txBody>
      </p:sp>
      <p:sp>
        <p:nvSpPr>
          <p:cNvPr id="30" name="Shape 16"/>
          <p:cNvSpPr/>
          <p:nvPr/>
        </p:nvSpPr>
        <p:spPr>
          <a:xfrm>
            <a:off x="411480" y="4114800"/>
            <a:ext cx="8321040" cy="2377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4151376"/>
            <a:ext cx="182880" cy="18288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841248" y="413308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Proxima sesion: Mie 6 mayo · 18:00 h  ·  T6: Visualizacion — Matplotlib, Seaborn, Plotly</a:t>
            </a:r>
            <a:endParaRPr lang="en-US" sz="1050" dirty="0"/>
          </a:p>
        </p:txBody>
      </p:sp>
      <p:sp>
        <p:nvSpPr>
          <p:cNvPr id="33" name="Text 18"/>
          <p:cNvSpPr/>
          <p:nvPr/>
        </p:nvSpPr>
        <p:spPr>
          <a:xfrm>
            <a:off x="274320" y="448056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UNAM  ·  Diplomado ML en Seguros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2026-04-30T22:35:58Z</dcterms:created>
  <dcterms:modified xsi:type="dcterms:W3CDTF">2026-04-30T22:35:58Z</dcterms:modified>
</cp:coreProperties>
</file>