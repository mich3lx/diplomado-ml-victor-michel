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8A"/>
          </a:solidFill>
          <a:ln w="12700">
            <a:solidFill>
              <a:srgbClr val="0D7A8A"/>
            </a:solidFill>
            <a:prstDash val="solid"/>
          </a:ln>
        </p:spPr>
      </p:sp>
      <p:sp>
        <p:nvSpPr>
          <p:cNvPr id="3" name="Shape 1"/>
          <p:cNvSpPr/>
          <p:nvPr/>
        </p:nvSpPr>
        <p:spPr>
          <a:xfrm>
            <a:off x="7498080" y="0"/>
            <a:ext cx="1645920" cy="1371600"/>
          </a:xfrm>
          <a:prstGeom prst="rect">
            <a:avLst/>
          </a:prstGeom>
          <a:solidFill>
            <a:srgbClr val="1A5276"/>
          </a:solidFill>
          <a:ln w="12700">
            <a:solidFill>
              <a:srgbClr val="1A5276"/>
            </a:solidFill>
            <a:prstDash val="solid"/>
          </a:ln>
        </p:spPr>
      </p:sp>
      <p:sp>
        <p:nvSpPr>
          <p:cNvPr id="4" name="Shape 2"/>
          <p:cNvSpPr/>
          <p:nvPr/>
        </p:nvSpPr>
        <p:spPr>
          <a:xfrm>
            <a:off x="8138160" y="0"/>
            <a:ext cx="1005840" cy="1371600"/>
          </a:xfrm>
          <a:prstGeom prst="rect">
            <a:avLst/>
          </a:prstGeom>
          <a:solidFill>
            <a:srgbClr val="0D7A8A"/>
          </a:solidFill>
          <a:ln w="12700">
            <a:solidFill>
              <a:srgbClr val="0D7A8A"/>
            </a:solidFill>
            <a:prstDash val="solid"/>
          </a:ln>
        </p:spPr>
      </p:sp>
      <p:pic>
        <p:nvPicPr>
          <p:cNvPr id="5" name="Image 0" descr="preencoded.png">    </p:cNvPr>
          <p:cNvPicPr>
            <a:picLocks noChangeAspect="1"/>
          </p:cNvPicPr>
          <p:nvPr/>
        </p:nvPicPr>
        <p:blipFill>
          <a:blip r:embed="rId1"/>
          <a:stretch>
            <a:fillRect/>
          </a:stretch>
        </p:blipFill>
        <p:spPr>
          <a:xfrm>
            <a:off x="6949440" y="1371600"/>
            <a:ext cx="1920240" cy="1920240"/>
          </a:xfrm>
          <a:prstGeom prst="rect">
            <a:avLst/>
          </a:prstGeom>
        </p:spPr>
      </p:pic>
      <p:sp>
        <p:nvSpPr>
          <p:cNvPr id="6" name="Shape 3"/>
          <p:cNvSpPr/>
          <p:nvPr/>
        </p:nvSpPr>
        <p:spPr>
          <a:xfrm>
            <a:off x="365760" y="475488"/>
            <a:ext cx="1554480" cy="292608"/>
          </a:xfrm>
          <a:prstGeom prst="rect">
            <a:avLst/>
          </a:prstGeom>
          <a:solidFill>
            <a:srgbClr val="0D7A8A"/>
          </a:solidFill>
          <a:ln w="12700">
            <a:solidFill>
              <a:srgbClr val="0D7A8A"/>
            </a:solidFill>
            <a:prstDash val="solid"/>
          </a:ln>
        </p:spPr>
      </p:sp>
      <p:sp>
        <p:nvSpPr>
          <p:cNvPr id="7" name="Text 4"/>
          <p:cNvSpPr/>
          <p:nvPr/>
        </p:nvSpPr>
        <p:spPr>
          <a:xfrm>
            <a:off x="365760" y="475488"/>
            <a:ext cx="1554480"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rPr>
              <a:t>MODULO 1</a:t>
            </a:r>
            <a:endParaRPr lang="en-US" sz="900" dirty="0"/>
          </a:p>
        </p:txBody>
      </p:sp>
      <p:sp>
        <p:nvSpPr>
          <p:cNvPr id="8" name="Text 5"/>
          <p:cNvSpPr/>
          <p:nvPr/>
        </p:nvSpPr>
        <p:spPr>
          <a:xfrm>
            <a:off x="365760" y="896112"/>
            <a:ext cx="6217920" cy="475488"/>
          </a:xfrm>
          <a:prstGeom prst="rect">
            <a:avLst/>
          </a:prstGeom>
          <a:noFill/>
          <a:ln/>
        </p:spPr>
        <p:txBody>
          <a:bodyPr wrap="square" lIns="0" tIns="0" rIns="0" bIns="0" rtlCol="0" anchor="ctr"/>
          <a:lstStyle/>
          <a:p>
            <a:pPr indent="0" marL="0">
              <a:buNone/>
            </a:pPr>
            <a:r>
              <a:rPr lang="en-US" sz="2200" b="1" dirty="0">
                <a:solidFill>
                  <a:srgbClr val="A8D8EA"/>
                </a:solidFill>
              </a:rPr>
              <a:t>Introduccion a Python</a:t>
            </a:r>
            <a:endParaRPr lang="en-US" sz="2200" dirty="0"/>
          </a:p>
        </p:txBody>
      </p:sp>
      <p:sp>
        <p:nvSpPr>
          <p:cNvPr id="9" name="Text 6"/>
          <p:cNvSpPr/>
          <p:nvPr/>
        </p:nvSpPr>
        <p:spPr>
          <a:xfrm>
            <a:off x="365760" y="1389888"/>
            <a:ext cx="6217920" cy="658368"/>
          </a:xfrm>
          <a:prstGeom prst="rect">
            <a:avLst/>
          </a:prstGeom>
          <a:noFill/>
          <a:ln/>
        </p:spPr>
        <p:txBody>
          <a:bodyPr wrap="square" lIns="0" tIns="0" rIns="0" bIns="0" rtlCol="0" anchor="ctr"/>
          <a:lstStyle/>
          <a:p>
            <a:pPr indent="0" marL="0">
              <a:buNone/>
            </a:pPr>
            <a:r>
              <a:rPr lang="en-US" sz="4400" b="1" dirty="0">
                <a:solidFill>
                  <a:srgbClr val="FFFFFF"/>
                </a:solidFill>
              </a:rPr>
              <a:t>Sesion 4</a:t>
            </a:r>
            <a:endParaRPr lang="en-US" sz="4400" dirty="0"/>
          </a:p>
        </p:txBody>
      </p:sp>
      <p:sp>
        <p:nvSpPr>
          <p:cNvPr id="10" name="Text 7"/>
          <p:cNvSpPr/>
          <p:nvPr/>
        </p:nvSpPr>
        <p:spPr>
          <a:xfrm>
            <a:off x="365760" y="2084832"/>
            <a:ext cx="6217920" cy="411480"/>
          </a:xfrm>
          <a:prstGeom prst="rect">
            <a:avLst/>
          </a:prstGeom>
          <a:noFill/>
          <a:ln/>
        </p:spPr>
        <p:txBody>
          <a:bodyPr wrap="square" lIns="0" tIns="0" rIns="0" bIns="0" rtlCol="0" anchor="ctr"/>
          <a:lstStyle/>
          <a:p>
            <a:pPr indent="0" marL="0">
              <a:buNone/>
            </a:pPr>
            <a:r>
              <a:rPr lang="en-US" sz="1800" dirty="0">
                <a:solidFill>
                  <a:srgbClr val="8FA3B1"/>
                </a:solidFill>
              </a:rPr>
              <a:t>T4 — Funciones en Python</a:t>
            </a:r>
            <a:endParaRPr lang="en-US" sz="1800" dirty="0"/>
          </a:p>
        </p:txBody>
      </p:sp>
      <p:sp>
        <p:nvSpPr>
          <p:cNvPr id="11" name="Text 8"/>
          <p:cNvSpPr/>
          <p:nvPr/>
        </p:nvSpPr>
        <p:spPr>
          <a:xfrm>
            <a:off x="365760" y="2487168"/>
            <a:ext cx="6217920" cy="329184"/>
          </a:xfrm>
          <a:prstGeom prst="rect">
            <a:avLst/>
          </a:prstGeom>
          <a:noFill/>
          <a:ln/>
        </p:spPr>
        <p:txBody>
          <a:bodyPr wrap="square" lIns="0" tIns="0" rIns="0" bIns="0" rtlCol="0" anchor="ctr"/>
          <a:lstStyle/>
          <a:p>
            <a:pPr indent="0" marL="0">
              <a:buNone/>
            </a:pPr>
            <a:r>
              <a:rPr lang="en-US" sz="1300" dirty="0">
                <a:solidFill>
                  <a:srgbClr val="8FA3B1"/>
                </a:solidFill>
              </a:rPr>
              <a:t>Desde lo basico hasta aplicaciones actuariales</a:t>
            </a:r>
            <a:endParaRPr lang="en-US" sz="1300" dirty="0"/>
          </a:p>
        </p:txBody>
      </p:sp>
      <p:sp>
        <p:nvSpPr>
          <p:cNvPr id="12" name="Shape 9"/>
          <p:cNvSpPr/>
          <p:nvPr/>
        </p:nvSpPr>
        <p:spPr>
          <a:xfrm>
            <a:off x="365760" y="2907792"/>
            <a:ext cx="4389120" cy="36576"/>
          </a:xfrm>
          <a:prstGeom prst="rect">
            <a:avLst/>
          </a:prstGeom>
          <a:solidFill>
            <a:srgbClr val="0D7A8A"/>
          </a:solidFill>
          <a:ln w="12700">
            <a:solidFill>
              <a:srgbClr val="0D7A8A"/>
            </a:solidFill>
            <a:prstDash val="solid"/>
          </a:ln>
        </p:spPr>
      </p:sp>
      <p:pic>
        <p:nvPicPr>
          <p:cNvPr id="13" name="Image 1" descr="preencoded.png">    </p:cNvPr>
          <p:cNvPicPr>
            <a:picLocks noChangeAspect="1"/>
          </p:cNvPicPr>
          <p:nvPr/>
        </p:nvPicPr>
        <p:blipFill>
          <a:blip r:embed="rId2"/>
          <a:stretch>
            <a:fillRect/>
          </a:stretch>
        </p:blipFill>
        <p:spPr>
          <a:xfrm>
            <a:off x="365760" y="3090672"/>
            <a:ext cx="256032" cy="256032"/>
          </a:xfrm>
          <a:prstGeom prst="rect">
            <a:avLst/>
          </a:prstGeom>
        </p:spPr>
      </p:pic>
      <p:sp>
        <p:nvSpPr>
          <p:cNvPr id="14" name="Text 10"/>
          <p:cNvSpPr/>
          <p:nvPr/>
        </p:nvSpPr>
        <p:spPr>
          <a:xfrm>
            <a:off x="713232" y="3072384"/>
            <a:ext cx="5943600" cy="292608"/>
          </a:xfrm>
          <a:prstGeom prst="rect">
            <a:avLst/>
          </a:prstGeom>
          <a:noFill/>
          <a:ln/>
        </p:spPr>
        <p:txBody>
          <a:bodyPr wrap="square" lIns="0" tIns="0" rIns="0" bIns="0" rtlCol="0" anchor="ctr"/>
          <a:lstStyle/>
          <a:p>
            <a:pPr indent="0" marL="0">
              <a:buNone/>
            </a:pPr>
            <a:r>
              <a:rPr lang="en-US" sz="1200" dirty="0">
                <a:solidFill>
                  <a:srgbClr val="F0F4F8"/>
                </a:solidFill>
              </a:rPr>
              <a:t>Miercoles 22 de abril de 2026  ·  18:00 - 21:00 h</a:t>
            </a:r>
            <a:endParaRPr lang="en-US" sz="1200" dirty="0"/>
          </a:p>
        </p:txBody>
      </p:sp>
      <p:pic>
        <p:nvPicPr>
          <p:cNvPr id="15" name="Image 2" descr="preencoded.png">    </p:cNvPr>
          <p:cNvPicPr>
            <a:picLocks noChangeAspect="1"/>
          </p:cNvPicPr>
          <p:nvPr/>
        </p:nvPicPr>
        <p:blipFill>
          <a:blip r:embed="rId3"/>
          <a:stretch>
            <a:fillRect/>
          </a:stretch>
        </p:blipFill>
        <p:spPr>
          <a:xfrm>
            <a:off x="365760" y="3456432"/>
            <a:ext cx="256032" cy="256032"/>
          </a:xfrm>
          <a:prstGeom prst="rect">
            <a:avLst/>
          </a:prstGeom>
        </p:spPr>
      </p:pic>
      <p:sp>
        <p:nvSpPr>
          <p:cNvPr id="16" name="Text 11"/>
          <p:cNvSpPr/>
          <p:nvPr/>
        </p:nvSpPr>
        <p:spPr>
          <a:xfrm>
            <a:off x="713232" y="3438144"/>
            <a:ext cx="5943600" cy="292608"/>
          </a:xfrm>
          <a:prstGeom prst="rect">
            <a:avLst/>
          </a:prstGeom>
          <a:noFill/>
          <a:ln/>
        </p:spPr>
        <p:txBody>
          <a:bodyPr wrap="square" lIns="0" tIns="0" rIns="0" bIns="0" rtlCol="0" anchor="ctr"/>
          <a:lstStyle/>
          <a:p>
            <a:pPr indent="0" marL="0">
              <a:buNone/>
            </a:pPr>
            <a:r>
              <a:rPr lang="en-US" sz="1200" dirty="0">
                <a:solidFill>
                  <a:srgbClr val="F0F4F8"/>
                </a:solidFill>
              </a:rPr>
              <a:t>Modalidad: En linea via Zoom</a:t>
            </a:r>
            <a:endParaRPr lang="en-US" sz="1200" dirty="0"/>
          </a:p>
        </p:txBody>
      </p:sp>
      <p:pic>
        <p:nvPicPr>
          <p:cNvPr id="17" name="Image 3" descr="preencoded.png">    </p:cNvPr>
          <p:cNvPicPr>
            <a:picLocks noChangeAspect="1"/>
          </p:cNvPicPr>
          <p:nvPr/>
        </p:nvPicPr>
        <p:blipFill>
          <a:blip r:embed="rId4"/>
          <a:stretch>
            <a:fillRect/>
          </a:stretch>
        </p:blipFill>
        <p:spPr>
          <a:xfrm>
            <a:off x="365760" y="3822192"/>
            <a:ext cx="256032" cy="256032"/>
          </a:xfrm>
          <a:prstGeom prst="rect">
            <a:avLst/>
          </a:prstGeom>
        </p:spPr>
      </p:pic>
      <p:sp>
        <p:nvSpPr>
          <p:cNvPr id="18" name="Text 12"/>
          <p:cNvSpPr/>
          <p:nvPr/>
        </p:nvSpPr>
        <p:spPr>
          <a:xfrm>
            <a:off x="713232" y="3803904"/>
            <a:ext cx="5943600" cy="292608"/>
          </a:xfrm>
          <a:prstGeom prst="rect">
            <a:avLst/>
          </a:prstGeom>
          <a:noFill/>
          <a:ln/>
        </p:spPr>
        <p:txBody>
          <a:bodyPr wrap="square" lIns="0" tIns="0" rIns="0" bIns="0" rtlCol="0" anchor="ctr"/>
          <a:lstStyle/>
          <a:p>
            <a:pPr indent="0" marL="0">
              <a:buNone/>
            </a:pPr>
            <a:r>
              <a:rPr lang="en-US" sz="1200" dirty="0">
                <a:solidFill>
                  <a:srgbClr val="8FA3B1"/>
                </a:solidFill>
              </a:rPr>
              <a:t>Instructor: Eric  ·  Diplomado ML en Seguros, FC UNAM</a:t>
            </a:r>
            <a:endParaRPr lang="en-US" sz="1200" dirty="0"/>
          </a:p>
        </p:txBody>
      </p:sp>
      <p:sp>
        <p:nvSpPr>
          <p:cNvPr id="19" name="Shape 13"/>
          <p:cNvSpPr/>
          <p:nvPr/>
        </p:nvSpPr>
        <p:spPr>
          <a:xfrm>
            <a:off x="0" y="4892040"/>
            <a:ext cx="9144000" cy="251460"/>
          </a:xfrm>
          <a:prstGeom prst="rect">
            <a:avLst/>
          </a:prstGeom>
          <a:solidFill>
            <a:srgbClr val="071228"/>
          </a:solidFill>
          <a:ln w="12700">
            <a:solidFill>
              <a:srgbClr val="071228"/>
            </a:solidFill>
            <a:prstDash val="solid"/>
          </a:ln>
        </p:spPr>
      </p:sp>
      <p:sp>
        <p:nvSpPr>
          <p:cNvPr id="20" name="Text 14"/>
          <p:cNvSpPr/>
          <p:nvPr/>
        </p:nvSpPr>
        <p:spPr>
          <a:xfrm>
            <a:off x="274320" y="4892040"/>
            <a:ext cx="8595360" cy="251460"/>
          </a:xfrm>
          <a:prstGeom prst="rect">
            <a:avLst/>
          </a:prstGeom>
          <a:noFill/>
          <a:ln/>
        </p:spPr>
        <p:txBody>
          <a:bodyPr wrap="square" lIns="0" tIns="0" rIns="0" bIns="0" rtlCol="0" anchor="ctr"/>
          <a:lstStyle/>
          <a:p>
            <a:pPr algn="ctr" indent="0" marL="0">
              <a:buNone/>
            </a:pPr>
            <a:r>
              <a:rPr lang="en-US" sz="900" dirty="0">
                <a:solidFill>
                  <a:srgbClr val="8FA3B1"/>
                </a:solidFill>
              </a:rPr>
              <a:t>Facultad de Ciencias · Universidad Nacional Autonoma de Mexico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Text 1"/>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700" b="1" dirty="0">
                <a:solidFill>
                  <a:srgbClr val="FFFFFF"/>
                </a:solidFill>
              </a:rPr>
              <a:t>Agenda de Hoy</a:t>
            </a:r>
            <a:endParaRPr lang="en-US" sz="27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Sesion 4  ·  3 horas  ·  Miercoles 22 de abril</a:t>
            </a:r>
            <a:endParaRPr lang="en-US" sz="1200" dirty="0"/>
          </a:p>
        </p:txBody>
      </p:sp>
      <p:sp>
        <p:nvSpPr>
          <p:cNvPr id="5" name="Shape 3"/>
          <p:cNvSpPr/>
          <p:nvPr/>
        </p:nvSpPr>
        <p:spPr>
          <a:xfrm>
            <a:off x="347472" y="1078992"/>
            <a:ext cx="8449056" cy="457200"/>
          </a:xfrm>
          <a:prstGeom prst="rect">
            <a:avLst/>
          </a:prstGeom>
          <a:solidFill>
            <a:srgbClr val="1A5276">
              <a:alpha val="18000"/>
            </a:srgbClr>
          </a:solidFill>
          <a:ln w="12700">
            <a:solidFill>
              <a:srgbClr val="1A5276">
                <a:alpha val="18000"/>
              </a:srgbClr>
            </a:solidFill>
            <a:prstDash val="solid"/>
          </a:ln>
        </p:spPr>
      </p:sp>
      <p:sp>
        <p:nvSpPr>
          <p:cNvPr id="6" name="Shape 4"/>
          <p:cNvSpPr/>
          <p:nvPr/>
        </p:nvSpPr>
        <p:spPr>
          <a:xfrm>
            <a:off x="347472" y="1133856"/>
            <a:ext cx="1508760" cy="274320"/>
          </a:xfrm>
          <a:prstGeom prst="rect">
            <a:avLst/>
          </a:prstGeom>
          <a:solidFill>
            <a:srgbClr val="0D7A8A"/>
          </a:solidFill>
          <a:ln w="12700">
            <a:solidFill>
              <a:srgbClr val="0D7A8A"/>
            </a:solidFill>
            <a:prstDash val="solid"/>
          </a:ln>
        </p:spPr>
      </p:sp>
      <p:sp>
        <p:nvSpPr>
          <p:cNvPr id="7" name="Text 5"/>
          <p:cNvSpPr/>
          <p:nvPr/>
        </p:nvSpPr>
        <p:spPr>
          <a:xfrm>
            <a:off x="347472" y="1133856"/>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18:00-18:10</a:t>
            </a:r>
            <a:endParaRPr lang="en-US" sz="900" dirty="0"/>
          </a:p>
        </p:txBody>
      </p:sp>
      <p:sp>
        <p:nvSpPr>
          <p:cNvPr id="8" name="Text 6"/>
          <p:cNvSpPr/>
          <p:nvPr/>
        </p:nvSpPr>
        <p:spPr>
          <a:xfrm>
            <a:off x="1938528" y="1133856"/>
            <a:ext cx="6858000" cy="274320"/>
          </a:xfrm>
          <a:prstGeom prst="rect">
            <a:avLst/>
          </a:prstGeom>
          <a:noFill/>
          <a:ln/>
        </p:spPr>
        <p:txBody>
          <a:bodyPr wrap="square" lIns="0" tIns="0" rIns="0" bIns="0" rtlCol="0" anchor="ctr"/>
          <a:lstStyle/>
          <a:p>
            <a:pPr indent="0" marL="0">
              <a:buNone/>
            </a:pPr>
            <a:r>
              <a:rPr lang="en-US" sz="1200" dirty="0">
                <a:solidFill>
                  <a:srgbClr val="FFFFFF"/>
                </a:solidFill>
              </a:rPr>
              <a:t>Revision S3 — aclaracion sobre def que usamos</a:t>
            </a:r>
            <a:endParaRPr lang="en-US" sz="1200" dirty="0"/>
          </a:p>
        </p:txBody>
      </p:sp>
      <p:sp>
        <p:nvSpPr>
          <p:cNvPr id="9" name="Shape 7"/>
          <p:cNvSpPr/>
          <p:nvPr/>
        </p:nvSpPr>
        <p:spPr>
          <a:xfrm>
            <a:off x="347472" y="1656893"/>
            <a:ext cx="1508760" cy="274320"/>
          </a:xfrm>
          <a:prstGeom prst="rect">
            <a:avLst/>
          </a:prstGeom>
          <a:solidFill>
            <a:srgbClr val="1E8449"/>
          </a:solidFill>
          <a:ln w="12700">
            <a:solidFill>
              <a:srgbClr val="1E8449"/>
            </a:solidFill>
            <a:prstDash val="solid"/>
          </a:ln>
        </p:spPr>
      </p:sp>
      <p:sp>
        <p:nvSpPr>
          <p:cNvPr id="10" name="Text 8"/>
          <p:cNvSpPr/>
          <p:nvPr/>
        </p:nvSpPr>
        <p:spPr>
          <a:xfrm>
            <a:off x="347472" y="1656893"/>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18:10-18:40</a:t>
            </a:r>
            <a:endParaRPr lang="en-US" sz="900" dirty="0"/>
          </a:p>
        </p:txBody>
      </p:sp>
      <p:sp>
        <p:nvSpPr>
          <p:cNvPr id="11" name="Text 9"/>
          <p:cNvSpPr/>
          <p:nvPr/>
        </p:nvSpPr>
        <p:spPr>
          <a:xfrm>
            <a:off x="1938528" y="1656893"/>
            <a:ext cx="6858000" cy="274320"/>
          </a:xfrm>
          <a:prstGeom prst="rect">
            <a:avLst/>
          </a:prstGeom>
          <a:noFill/>
          <a:ln/>
        </p:spPr>
        <p:txBody>
          <a:bodyPr wrap="square" lIns="0" tIns="0" rIns="0" bIns="0" rtlCol="0" anchor="ctr"/>
          <a:lstStyle/>
          <a:p>
            <a:pPr indent="0" marL="0">
              <a:buNone/>
            </a:pPr>
            <a:r>
              <a:rPr lang="en-US" sz="1200" dirty="0">
                <a:solidFill>
                  <a:srgbClr val="FFFFFF"/>
                </a:solidFill>
              </a:rPr>
              <a:t>El problema: codigo repetido — por que necesitamos funciones</a:t>
            </a:r>
            <a:endParaRPr lang="en-US" sz="1200" dirty="0"/>
          </a:p>
        </p:txBody>
      </p:sp>
      <p:sp>
        <p:nvSpPr>
          <p:cNvPr id="12" name="Shape 10"/>
          <p:cNvSpPr/>
          <p:nvPr/>
        </p:nvSpPr>
        <p:spPr>
          <a:xfrm>
            <a:off x="347472" y="2125066"/>
            <a:ext cx="8449056" cy="457200"/>
          </a:xfrm>
          <a:prstGeom prst="rect">
            <a:avLst/>
          </a:prstGeom>
          <a:solidFill>
            <a:srgbClr val="1A5276">
              <a:alpha val="18000"/>
            </a:srgbClr>
          </a:solidFill>
          <a:ln w="12700">
            <a:solidFill>
              <a:srgbClr val="1A5276">
                <a:alpha val="18000"/>
              </a:srgbClr>
            </a:solidFill>
            <a:prstDash val="solid"/>
          </a:ln>
        </p:spPr>
      </p:sp>
      <p:sp>
        <p:nvSpPr>
          <p:cNvPr id="13" name="Shape 11"/>
          <p:cNvSpPr/>
          <p:nvPr/>
        </p:nvSpPr>
        <p:spPr>
          <a:xfrm>
            <a:off x="347472" y="2179930"/>
            <a:ext cx="1508760" cy="274320"/>
          </a:xfrm>
          <a:prstGeom prst="rect">
            <a:avLst/>
          </a:prstGeom>
          <a:solidFill>
            <a:srgbClr val="1E8449"/>
          </a:solidFill>
          <a:ln w="12700">
            <a:solidFill>
              <a:srgbClr val="1E8449"/>
            </a:solidFill>
            <a:prstDash val="solid"/>
          </a:ln>
        </p:spPr>
      </p:sp>
      <p:sp>
        <p:nvSpPr>
          <p:cNvPr id="14" name="Text 12"/>
          <p:cNvSpPr/>
          <p:nvPr/>
        </p:nvSpPr>
        <p:spPr>
          <a:xfrm>
            <a:off x="347472" y="2179930"/>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18:40-19:15</a:t>
            </a:r>
            <a:endParaRPr lang="en-US" sz="900" dirty="0"/>
          </a:p>
        </p:txBody>
      </p:sp>
      <p:sp>
        <p:nvSpPr>
          <p:cNvPr id="15" name="Text 13"/>
          <p:cNvSpPr/>
          <p:nvPr/>
        </p:nvSpPr>
        <p:spPr>
          <a:xfrm>
            <a:off x="1938528" y="2179930"/>
            <a:ext cx="6858000" cy="274320"/>
          </a:xfrm>
          <a:prstGeom prst="rect">
            <a:avLst/>
          </a:prstGeom>
          <a:noFill/>
          <a:ln/>
        </p:spPr>
        <p:txBody>
          <a:bodyPr wrap="square" lIns="0" tIns="0" rIns="0" bIns="0" rtlCol="0" anchor="ctr"/>
          <a:lstStyle/>
          <a:p>
            <a:pPr indent="0" marL="0">
              <a:buNone/>
            </a:pPr>
            <a:r>
              <a:rPr lang="en-US" sz="1200" dirty="0">
                <a:solidFill>
                  <a:srgbClr val="FFFFFF"/>
                </a:solidFill>
              </a:rPr>
              <a:t>Anatomia de una funcion — def, parametros, return</a:t>
            </a:r>
            <a:endParaRPr lang="en-US" sz="1200" dirty="0"/>
          </a:p>
        </p:txBody>
      </p:sp>
      <p:sp>
        <p:nvSpPr>
          <p:cNvPr id="16" name="Shape 14"/>
          <p:cNvSpPr/>
          <p:nvPr/>
        </p:nvSpPr>
        <p:spPr>
          <a:xfrm>
            <a:off x="347472" y="2702966"/>
            <a:ext cx="1508760" cy="274320"/>
          </a:xfrm>
          <a:prstGeom prst="rect">
            <a:avLst/>
          </a:prstGeom>
          <a:solidFill>
            <a:srgbClr val="374151"/>
          </a:solidFill>
          <a:ln w="12700">
            <a:solidFill>
              <a:srgbClr val="374151"/>
            </a:solidFill>
            <a:prstDash val="solid"/>
          </a:ln>
        </p:spPr>
      </p:sp>
      <p:sp>
        <p:nvSpPr>
          <p:cNvPr id="17" name="Text 15"/>
          <p:cNvSpPr/>
          <p:nvPr/>
        </p:nvSpPr>
        <p:spPr>
          <a:xfrm>
            <a:off x="347472" y="2702966"/>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19:15-19:25</a:t>
            </a:r>
            <a:endParaRPr lang="en-US" sz="900" dirty="0"/>
          </a:p>
        </p:txBody>
      </p:sp>
      <p:sp>
        <p:nvSpPr>
          <p:cNvPr id="18" name="Text 16"/>
          <p:cNvSpPr/>
          <p:nvPr/>
        </p:nvSpPr>
        <p:spPr>
          <a:xfrm>
            <a:off x="1938528" y="2702966"/>
            <a:ext cx="6858000" cy="274320"/>
          </a:xfrm>
          <a:prstGeom prst="rect">
            <a:avLst/>
          </a:prstGeom>
          <a:noFill/>
          <a:ln/>
        </p:spPr>
        <p:txBody>
          <a:bodyPr wrap="square" lIns="0" tIns="0" rIns="0" bIns="0" rtlCol="0" anchor="ctr"/>
          <a:lstStyle/>
          <a:p>
            <a:pPr indent="0" marL="0">
              <a:buNone/>
            </a:pPr>
            <a:r>
              <a:rPr lang="en-US" sz="1200" dirty="0">
                <a:solidFill>
                  <a:srgbClr val="8FA3B1"/>
                </a:solidFill>
              </a:rPr>
              <a:t>Receso (10 minutos)</a:t>
            </a:r>
            <a:endParaRPr lang="en-US" sz="1200" dirty="0"/>
          </a:p>
        </p:txBody>
      </p:sp>
      <p:sp>
        <p:nvSpPr>
          <p:cNvPr id="19" name="Shape 17"/>
          <p:cNvSpPr/>
          <p:nvPr/>
        </p:nvSpPr>
        <p:spPr>
          <a:xfrm>
            <a:off x="347472" y="3171139"/>
            <a:ext cx="8449056" cy="457200"/>
          </a:xfrm>
          <a:prstGeom prst="rect">
            <a:avLst/>
          </a:prstGeom>
          <a:solidFill>
            <a:srgbClr val="1A5276">
              <a:alpha val="18000"/>
            </a:srgbClr>
          </a:solidFill>
          <a:ln w="12700">
            <a:solidFill>
              <a:srgbClr val="1A5276">
                <a:alpha val="18000"/>
              </a:srgbClr>
            </a:solidFill>
            <a:prstDash val="solid"/>
          </a:ln>
        </p:spPr>
      </p:sp>
      <p:sp>
        <p:nvSpPr>
          <p:cNvPr id="20" name="Shape 18"/>
          <p:cNvSpPr/>
          <p:nvPr/>
        </p:nvSpPr>
        <p:spPr>
          <a:xfrm>
            <a:off x="347472" y="3226003"/>
            <a:ext cx="1508760" cy="274320"/>
          </a:xfrm>
          <a:prstGeom prst="rect">
            <a:avLst/>
          </a:prstGeom>
          <a:solidFill>
            <a:srgbClr val="1A5276"/>
          </a:solidFill>
          <a:ln w="12700">
            <a:solidFill>
              <a:srgbClr val="1A5276"/>
            </a:solidFill>
            <a:prstDash val="solid"/>
          </a:ln>
        </p:spPr>
      </p:sp>
      <p:sp>
        <p:nvSpPr>
          <p:cNvPr id="21" name="Text 19"/>
          <p:cNvSpPr/>
          <p:nvPr/>
        </p:nvSpPr>
        <p:spPr>
          <a:xfrm>
            <a:off x="347472" y="3226003"/>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19:25-19:55</a:t>
            </a:r>
            <a:endParaRPr lang="en-US" sz="900" dirty="0"/>
          </a:p>
        </p:txBody>
      </p:sp>
      <p:sp>
        <p:nvSpPr>
          <p:cNvPr id="22" name="Text 20"/>
          <p:cNvSpPr/>
          <p:nvPr/>
        </p:nvSpPr>
        <p:spPr>
          <a:xfrm>
            <a:off x="1938528" y="3226003"/>
            <a:ext cx="6858000" cy="274320"/>
          </a:xfrm>
          <a:prstGeom prst="rect">
            <a:avLst/>
          </a:prstGeom>
          <a:noFill/>
          <a:ln/>
        </p:spPr>
        <p:txBody>
          <a:bodyPr wrap="square" lIns="0" tIns="0" rIns="0" bIns="0" rtlCol="0" anchor="ctr"/>
          <a:lstStyle/>
          <a:p>
            <a:pPr indent="0" marL="0">
              <a:buNone/>
            </a:pPr>
            <a:r>
              <a:rPr lang="en-US" sz="1200" dirty="0">
                <a:solidFill>
                  <a:srgbClr val="FFFFFF"/>
                </a:solidFill>
              </a:rPr>
              <a:t>Parametros: obligatorios, por defecto, multiples</a:t>
            </a:r>
            <a:endParaRPr lang="en-US" sz="1200" dirty="0"/>
          </a:p>
        </p:txBody>
      </p:sp>
      <p:sp>
        <p:nvSpPr>
          <p:cNvPr id="23" name="Shape 21"/>
          <p:cNvSpPr/>
          <p:nvPr/>
        </p:nvSpPr>
        <p:spPr>
          <a:xfrm>
            <a:off x="347472" y="3749040"/>
            <a:ext cx="1508760" cy="274320"/>
          </a:xfrm>
          <a:prstGeom prst="rect">
            <a:avLst/>
          </a:prstGeom>
          <a:solidFill>
            <a:srgbClr val="1A5276"/>
          </a:solidFill>
          <a:ln w="12700">
            <a:solidFill>
              <a:srgbClr val="1A5276"/>
            </a:solidFill>
            <a:prstDash val="solid"/>
          </a:ln>
        </p:spPr>
      </p:sp>
      <p:sp>
        <p:nvSpPr>
          <p:cNvPr id="24" name="Text 22"/>
          <p:cNvSpPr/>
          <p:nvPr/>
        </p:nvSpPr>
        <p:spPr>
          <a:xfrm>
            <a:off x="347472" y="3749040"/>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19:55-20:25</a:t>
            </a:r>
            <a:endParaRPr lang="en-US" sz="900" dirty="0"/>
          </a:p>
        </p:txBody>
      </p:sp>
      <p:sp>
        <p:nvSpPr>
          <p:cNvPr id="25" name="Text 23"/>
          <p:cNvSpPr/>
          <p:nvPr/>
        </p:nvSpPr>
        <p:spPr>
          <a:xfrm>
            <a:off x="1938528" y="3749040"/>
            <a:ext cx="6858000" cy="274320"/>
          </a:xfrm>
          <a:prstGeom prst="rect">
            <a:avLst/>
          </a:prstGeom>
          <a:noFill/>
          <a:ln/>
        </p:spPr>
        <p:txBody>
          <a:bodyPr wrap="square" lIns="0" tIns="0" rIns="0" bIns="0" rtlCol="0" anchor="ctr"/>
          <a:lstStyle/>
          <a:p>
            <a:pPr indent="0" marL="0">
              <a:buNone/>
            </a:pPr>
            <a:r>
              <a:rPr lang="en-US" sz="1200" dirty="0">
                <a:solidFill>
                  <a:srgbClr val="FFFFFF"/>
                </a:solidFill>
              </a:rPr>
              <a:t>return: devolver uno o varios valores</a:t>
            </a:r>
            <a:endParaRPr lang="en-US" sz="1200" dirty="0"/>
          </a:p>
        </p:txBody>
      </p:sp>
      <p:sp>
        <p:nvSpPr>
          <p:cNvPr id="26" name="Shape 24"/>
          <p:cNvSpPr/>
          <p:nvPr/>
        </p:nvSpPr>
        <p:spPr>
          <a:xfrm>
            <a:off x="347472" y="4217213"/>
            <a:ext cx="8449056" cy="457200"/>
          </a:xfrm>
          <a:prstGeom prst="rect">
            <a:avLst/>
          </a:prstGeom>
          <a:solidFill>
            <a:srgbClr val="1A5276">
              <a:alpha val="18000"/>
            </a:srgbClr>
          </a:solidFill>
          <a:ln w="12700">
            <a:solidFill>
              <a:srgbClr val="1A5276">
                <a:alpha val="18000"/>
              </a:srgbClr>
            </a:solidFill>
            <a:prstDash val="solid"/>
          </a:ln>
        </p:spPr>
      </p:sp>
      <p:sp>
        <p:nvSpPr>
          <p:cNvPr id="27" name="Shape 25"/>
          <p:cNvSpPr/>
          <p:nvPr/>
        </p:nvSpPr>
        <p:spPr>
          <a:xfrm>
            <a:off x="347472" y="4272077"/>
            <a:ext cx="1508760" cy="274320"/>
          </a:xfrm>
          <a:prstGeom prst="rect">
            <a:avLst/>
          </a:prstGeom>
          <a:solidFill>
            <a:srgbClr val="F4A261"/>
          </a:solidFill>
          <a:ln w="12700">
            <a:solidFill>
              <a:srgbClr val="F4A261"/>
            </a:solidFill>
            <a:prstDash val="solid"/>
          </a:ln>
        </p:spPr>
      </p:sp>
      <p:sp>
        <p:nvSpPr>
          <p:cNvPr id="28" name="Text 26"/>
          <p:cNvSpPr/>
          <p:nvPr/>
        </p:nvSpPr>
        <p:spPr>
          <a:xfrm>
            <a:off x="347472" y="4272077"/>
            <a:ext cx="1508760" cy="274320"/>
          </a:xfrm>
          <a:prstGeom prst="rect">
            <a:avLst/>
          </a:prstGeom>
          <a:noFill/>
          <a:ln/>
        </p:spPr>
        <p:txBody>
          <a:bodyPr wrap="square" lIns="0" tIns="0" rIns="0" bIns="0" rtlCol="0" anchor="ctr"/>
          <a:lstStyle/>
          <a:p>
            <a:pPr algn="ctr" indent="0" marL="0">
              <a:buNone/>
            </a:pPr>
            <a:r>
              <a:rPr lang="en-US" sz="900" b="1" dirty="0">
                <a:solidFill>
                  <a:srgbClr val="FFFFFF"/>
                </a:solidFill>
              </a:rPr>
              <a:t>20:25-21:00</a:t>
            </a:r>
            <a:endParaRPr lang="en-US" sz="900" dirty="0"/>
          </a:p>
        </p:txBody>
      </p:sp>
      <p:sp>
        <p:nvSpPr>
          <p:cNvPr id="29" name="Text 27"/>
          <p:cNvSpPr/>
          <p:nvPr/>
        </p:nvSpPr>
        <p:spPr>
          <a:xfrm>
            <a:off x="1938528" y="4272077"/>
            <a:ext cx="6858000" cy="274320"/>
          </a:xfrm>
          <a:prstGeom prst="rect">
            <a:avLst/>
          </a:prstGeom>
          <a:noFill/>
          <a:ln/>
        </p:spPr>
        <p:txBody>
          <a:bodyPr wrap="square" lIns="0" tIns="0" rIns="0" bIns="0" rtlCol="0" anchor="ctr"/>
          <a:lstStyle/>
          <a:p>
            <a:pPr indent="0" marL="0">
              <a:buNone/>
            </a:pPr>
            <a:r>
              <a:rPr lang="en-US" sz="1200" dirty="0">
                <a:solidFill>
                  <a:srgbClr val="FFFFFF"/>
                </a:solidFill>
              </a:rPr>
              <a:t>Ejercicio: construir calcular_prima() paso a paso</a:t>
            </a:r>
            <a:endParaRPr lang="en-US" sz="1200" dirty="0"/>
          </a:p>
        </p:txBody>
      </p:sp>
      <p:sp>
        <p:nvSpPr>
          <p:cNvPr id="30" name="Shape 28"/>
          <p:cNvSpPr/>
          <p:nvPr/>
        </p:nvSpPr>
        <p:spPr>
          <a:xfrm>
            <a:off x="0" y="4892040"/>
            <a:ext cx="9144000" cy="251460"/>
          </a:xfrm>
          <a:prstGeom prst="rect">
            <a:avLst/>
          </a:prstGeom>
          <a:solidFill>
            <a:srgbClr val="071228"/>
          </a:solidFill>
          <a:ln w="12700">
            <a:solidFill>
              <a:srgbClr val="071228"/>
            </a:solidFill>
            <a:prstDash val="solid"/>
          </a:ln>
        </p:spPr>
      </p:sp>
      <p:sp>
        <p:nvSpPr>
          <p:cNvPr id="31" name="Text 29"/>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4  ·  Miercoles 22 de abril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Text 1"/>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700" b="1" dirty="0">
                <a:solidFill>
                  <a:srgbClr val="0D1B3E"/>
                </a:solidFill>
              </a:rPr>
              <a:t>Antes de Empezar: Una Aclaracion</a:t>
            </a:r>
            <a:endParaRPr lang="en-US" sz="27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0D7A8A"/>
                </a:solidFill>
              </a:rPr>
              <a:t>En la sesion pasada usamos algo que todavia no habiamos explicado</a:t>
            </a:r>
            <a:endParaRPr lang="en-US" sz="1200" dirty="0"/>
          </a:p>
        </p:txBody>
      </p:sp>
      <p:sp>
        <p:nvSpPr>
          <p:cNvPr id="5" name="Shape 3"/>
          <p:cNvSpPr/>
          <p:nvPr/>
        </p:nvSpPr>
        <p:spPr>
          <a:xfrm>
            <a:off x="347472" y="987552"/>
            <a:ext cx="8449056" cy="1298448"/>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47472" y="987552"/>
            <a:ext cx="91440" cy="1298448"/>
          </a:xfrm>
          <a:prstGeom prst="rect">
            <a:avLst/>
          </a:prstGeom>
          <a:solidFill>
            <a:srgbClr val="F4A261"/>
          </a:solidFill>
          <a:ln w="12700">
            <a:solidFill>
              <a:srgbClr val="F4A261"/>
            </a:solidFill>
            <a:prstDash val="solid"/>
          </a:ln>
        </p:spPr>
      </p:sp>
      <p:sp>
        <p:nvSpPr>
          <p:cNvPr id="7" name="Text 5"/>
          <p:cNvSpPr/>
          <p:nvPr/>
        </p:nvSpPr>
        <p:spPr>
          <a:xfrm>
            <a:off x="566928" y="1042416"/>
            <a:ext cx="8046720" cy="274320"/>
          </a:xfrm>
          <a:prstGeom prst="rect">
            <a:avLst/>
          </a:prstGeom>
          <a:noFill/>
          <a:ln/>
        </p:spPr>
        <p:txBody>
          <a:bodyPr wrap="square" lIns="0" tIns="0" rIns="0" bIns="0" rtlCol="0" anchor="ctr"/>
          <a:lstStyle/>
          <a:p>
            <a:pPr indent="0" marL="0">
              <a:buNone/>
            </a:pPr>
            <a:r>
              <a:rPr lang="en-US" sz="1200" b="1" dirty="0">
                <a:solidFill>
                  <a:srgbClr val="0D1B3E"/>
                </a:solidFill>
              </a:rPr>
              <a:t>En la Sesion 3 escribimos codigo como este:</a:t>
            </a:r>
            <a:endParaRPr lang="en-US" sz="1200" dirty="0"/>
          </a:p>
        </p:txBody>
      </p:sp>
      <p:sp>
        <p:nvSpPr>
          <p:cNvPr id="8" name="Shape 6"/>
          <p:cNvSpPr/>
          <p:nvPr/>
        </p:nvSpPr>
        <p:spPr>
          <a:xfrm>
            <a:off x="566928" y="1353312"/>
            <a:ext cx="8119872" cy="804672"/>
          </a:xfrm>
          <a:prstGeom prst="rect">
            <a:avLst/>
          </a:prstGeom>
          <a:solidFill>
            <a:srgbClr val="071228"/>
          </a:solidFill>
          <a:ln w="12700">
            <a:solidFill>
              <a:srgbClr val="0D7A8A"/>
            </a:solidFill>
            <a:prstDash val="solid"/>
          </a:ln>
        </p:spPr>
      </p:sp>
      <p:sp>
        <p:nvSpPr>
          <p:cNvPr id="9" name="Text 7"/>
          <p:cNvSpPr/>
          <p:nvPr/>
        </p:nvSpPr>
        <p:spPr>
          <a:xfrm>
            <a:off x="694944" y="1408176"/>
            <a:ext cx="786384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def clasificar_riesgo(siniest):</a:t>
            </a:r>
            <a:endParaRPr lang="en-US" sz="900" dirty="0"/>
          </a:p>
        </p:txBody>
      </p:sp>
      <p:sp>
        <p:nvSpPr>
          <p:cNvPr id="10" name="Text 8"/>
          <p:cNvSpPr/>
          <p:nvPr/>
        </p:nvSpPr>
        <p:spPr>
          <a:xfrm>
            <a:off x="694944" y="1556309"/>
            <a:ext cx="786384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    if siniest &gt;= 2: return 'ALTO'</a:t>
            </a:r>
            <a:endParaRPr lang="en-US" sz="900" dirty="0"/>
          </a:p>
        </p:txBody>
      </p:sp>
      <p:sp>
        <p:nvSpPr>
          <p:cNvPr id="11" name="Text 9"/>
          <p:cNvSpPr/>
          <p:nvPr/>
        </p:nvSpPr>
        <p:spPr>
          <a:xfrm>
            <a:off x="694944" y="1704442"/>
            <a:ext cx="786384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    elif siniest == 1: return 'MEDIO'</a:t>
            </a:r>
            <a:endParaRPr lang="en-US" sz="900" dirty="0"/>
          </a:p>
        </p:txBody>
      </p:sp>
      <p:sp>
        <p:nvSpPr>
          <p:cNvPr id="12" name="Text 10"/>
          <p:cNvSpPr/>
          <p:nvPr/>
        </p:nvSpPr>
        <p:spPr>
          <a:xfrm>
            <a:off x="694944" y="1852574"/>
            <a:ext cx="786384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    return 'BAJO'</a:t>
            </a:r>
            <a:endParaRPr lang="en-US" sz="900" dirty="0"/>
          </a:p>
        </p:txBody>
      </p:sp>
      <p:sp>
        <p:nvSpPr>
          <p:cNvPr id="13" name="Text 11"/>
          <p:cNvSpPr/>
          <p:nvPr/>
        </p:nvSpPr>
        <p:spPr>
          <a:xfrm>
            <a:off x="566928" y="2322576"/>
            <a:ext cx="8046720" cy="274320"/>
          </a:xfrm>
          <a:prstGeom prst="rect">
            <a:avLst/>
          </a:prstGeom>
          <a:noFill/>
          <a:ln/>
        </p:spPr>
        <p:txBody>
          <a:bodyPr wrap="square" lIns="0" tIns="0" rIns="0" bIns="0" rtlCol="0" anchor="ctr"/>
          <a:lstStyle/>
          <a:p>
            <a:pPr indent="0" marL="0">
              <a:buNone/>
            </a:pPr>
            <a:r>
              <a:rPr lang="en-US" sz="1100" dirty="0">
                <a:solidFill>
                  <a:srgbClr val="374151"/>
                </a:solidFill>
              </a:rPr>
              <a:t>Lo usamos para que el ejercicio quedara limpio, pero nunca explicamos que es def ni como funciona.</a:t>
            </a:r>
            <a:endParaRPr lang="en-US" sz="1100" dirty="0"/>
          </a:p>
        </p:txBody>
      </p:sp>
      <p:sp>
        <p:nvSpPr>
          <p:cNvPr id="14" name="Shape 12"/>
          <p:cNvSpPr/>
          <p:nvPr/>
        </p:nvSpPr>
        <p:spPr>
          <a:xfrm>
            <a:off x="347472" y="2761488"/>
            <a:ext cx="8449056" cy="347472"/>
          </a:xfrm>
          <a:prstGeom prst="rect">
            <a:avLst/>
          </a:prstGeom>
          <a:solidFill>
            <a:srgbClr val="0D7A8A"/>
          </a:solidFill>
          <a:ln w="12700">
            <a:solidFill>
              <a:srgbClr val="0D7A8A"/>
            </a:solidFill>
            <a:prstDash val="solid"/>
          </a:ln>
        </p:spPr>
      </p:sp>
      <p:sp>
        <p:nvSpPr>
          <p:cNvPr id="15" name="Text 13"/>
          <p:cNvSpPr/>
          <p:nvPr/>
        </p:nvSpPr>
        <p:spPr>
          <a:xfrm>
            <a:off x="475488" y="2761488"/>
            <a:ext cx="8229600" cy="347472"/>
          </a:xfrm>
          <a:prstGeom prst="rect">
            <a:avLst/>
          </a:prstGeom>
          <a:noFill/>
          <a:ln/>
        </p:spPr>
        <p:txBody>
          <a:bodyPr wrap="square" lIns="0" tIns="0" rIns="0" bIns="0" rtlCol="0" anchor="ctr"/>
          <a:lstStyle/>
          <a:p>
            <a:pPr indent="0" marL="0">
              <a:buNone/>
            </a:pPr>
            <a:r>
              <a:rPr lang="en-US" sz="1200" b="1" dirty="0">
                <a:solidFill>
                  <a:srgbClr val="FFFFFF"/>
                </a:solidFill>
              </a:rPr>
              <a:t>Hoy vamos a aprender exactamente que es eso, por que existe y como se construye desde cero.</a:t>
            </a:r>
            <a:endParaRPr lang="en-US" sz="1200" dirty="0"/>
          </a:p>
        </p:txBody>
      </p:sp>
      <p:pic>
        <p:nvPicPr>
          <p:cNvPr id="16" name="Image 0" descr="preencoded.png">    </p:cNvPr>
          <p:cNvPicPr>
            <a:picLocks noChangeAspect="1"/>
          </p:cNvPicPr>
          <p:nvPr/>
        </p:nvPicPr>
        <p:blipFill>
          <a:blip r:embed="rId1"/>
          <a:stretch>
            <a:fillRect/>
          </a:stretch>
        </p:blipFill>
        <p:spPr>
          <a:xfrm>
            <a:off x="438912" y="3273552"/>
            <a:ext cx="237744" cy="237744"/>
          </a:xfrm>
          <a:prstGeom prst="rect">
            <a:avLst/>
          </a:prstGeom>
        </p:spPr>
      </p:pic>
      <p:sp>
        <p:nvSpPr>
          <p:cNvPr id="17" name="Text 14"/>
          <p:cNvSpPr/>
          <p:nvPr/>
        </p:nvSpPr>
        <p:spPr>
          <a:xfrm>
            <a:off x="768096" y="3255264"/>
            <a:ext cx="7955280" cy="274320"/>
          </a:xfrm>
          <a:prstGeom prst="rect">
            <a:avLst/>
          </a:prstGeom>
          <a:noFill/>
          <a:ln/>
        </p:spPr>
        <p:txBody>
          <a:bodyPr wrap="square" lIns="0" tIns="0" rIns="0" bIns="0" rtlCol="0" anchor="ctr"/>
          <a:lstStyle/>
          <a:p>
            <a:pPr indent="0" marL="0">
              <a:buNone/>
            </a:pPr>
            <a:r>
              <a:rPr lang="en-US" sz="1150" dirty="0">
                <a:solidFill>
                  <a:srgbClr val="374151"/>
                </a:solidFill>
              </a:rPr>
              <a:t>Que problema resuelven las funciones</a:t>
            </a:r>
            <a:endParaRPr lang="en-US" sz="1150" dirty="0"/>
          </a:p>
        </p:txBody>
      </p:sp>
      <p:pic>
        <p:nvPicPr>
          <p:cNvPr id="18" name="Image 1" descr="preencoded.png">    </p:cNvPr>
          <p:cNvPicPr>
            <a:picLocks noChangeAspect="1"/>
          </p:cNvPicPr>
          <p:nvPr/>
        </p:nvPicPr>
        <p:blipFill>
          <a:blip r:embed="rId2"/>
          <a:stretch>
            <a:fillRect/>
          </a:stretch>
        </p:blipFill>
        <p:spPr>
          <a:xfrm>
            <a:off x="438912" y="3657600"/>
            <a:ext cx="237744" cy="237744"/>
          </a:xfrm>
          <a:prstGeom prst="rect">
            <a:avLst/>
          </a:prstGeom>
        </p:spPr>
      </p:pic>
      <p:sp>
        <p:nvSpPr>
          <p:cNvPr id="19" name="Text 15"/>
          <p:cNvSpPr/>
          <p:nvPr/>
        </p:nvSpPr>
        <p:spPr>
          <a:xfrm>
            <a:off x="768096" y="3639312"/>
            <a:ext cx="7955280" cy="274320"/>
          </a:xfrm>
          <a:prstGeom prst="rect">
            <a:avLst/>
          </a:prstGeom>
          <a:noFill/>
          <a:ln/>
        </p:spPr>
        <p:txBody>
          <a:bodyPr wrap="square" lIns="0" tIns="0" rIns="0" bIns="0" rtlCol="0" anchor="ctr"/>
          <a:lstStyle/>
          <a:p>
            <a:pPr indent="0" marL="0">
              <a:buNone/>
            </a:pPr>
            <a:r>
              <a:rPr lang="en-US" sz="1150" dirty="0">
                <a:solidFill>
                  <a:srgbClr val="374151"/>
                </a:solidFill>
              </a:rPr>
              <a:t>Como se define una funcion con def</a:t>
            </a:r>
            <a:endParaRPr lang="en-US" sz="1150" dirty="0"/>
          </a:p>
        </p:txBody>
      </p:sp>
      <p:pic>
        <p:nvPicPr>
          <p:cNvPr id="20" name="Image 2" descr="preencoded.png">    </p:cNvPr>
          <p:cNvPicPr>
            <a:picLocks noChangeAspect="1"/>
          </p:cNvPicPr>
          <p:nvPr/>
        </p:nvPicPr>
        <p:blipFill>
          <a:blip r:embed="rId3"/>
          <a:stretch>
            <a:fillRect/>
          </a:stretch>
        </p:blipFill>
        <p:spPr>
          <a:xfrm>
            <a:off x="438912" y="4041648"/>
            <a:ext cx="237744" cy="237744"/>
          </a:xfrm>
          <a:prstGeom prst="rect">
            <a:avLst/>
          </a:prstGeom>
        </p:spPr>
      </p:pic>
      <p:sp>
        <p:nvSpPr>
          <p:cNvPr id="21" name="Text 16"/>
          <p:cNvSpPr/>
          <p:nvPr/>
        </p:nvSpPr>
        <p:spPr>
          <a:xfrm>
            <a:off x="768096" y="4023360"/>
            <a:ext cx="7955280" cy="274320"/>
          </a:xfrm>
          <a:prstGeom prst="rect">
            <a:avLst/>
          </a:prstGeom>
          <a:noFill/>
          <a:ln/>
        </p:spPr>
        <p:txBody>
          <a:bodyPr wrap="square" lIns="0" tIns="0" rIns="0" bIns="0" rtlCol="0" anchor="ctr"/>
          <a:lstStyle/>
          <a:p>
            <a:pPr indent="0" marL="0">
              <a:buNone/>
            </a:pPr>
            <a:r>
              <a:rPr lang="en-US" sz="1150" dirty="0">
                <a:solidFill>
                  <a:srgbClr val="374151"/>
                </a:solidFill>
              </a:rPr>
              <a:t>Como se le pasan datos (parametros) y como devuelve resultados (return)</a:t>
            </a:r>
            <a:endParaRPr lang="en-US" sz="1150" dirty="0"/>
          </a:p>
        </p:txBody>
      </p:sp>
      <p:pic>
        <p:nvPicPr>
          <p:cNvPr id="22" name="Image 3" descr="preencoded.png">    </p:cNvPr>
          <p:cNvPicPr>
            <a:picLocks noChangeAspect="1"/>
          </p:cNvPicPr>
          <p:nvPr/>
        </p:nvPicPr>
        <p:blipFill>
          <a:blip r:embed="rId4"/>
          <a:stretch>
            <a:fillRect/>
          </a:stretch>
        </p:blipFill>
        <p:spPr>
          <a:xfrm>
            <a:off x="438912" y="4425696"/>
            <a:ext cx="237744" cy="237744"/>
          </a:xfrm>
          <a:prstGeom prst="rect">
            <a:avLst/>
          </a:prstGeom>
        </p:spPr>
      </p:pic>
      <p:sp>
        <p:nvSpPr>
          <p:cNvPr id="23" name="Text 17"/>
          <p:cNvSpPr/>
          <p:nvPr/>
        </p:nvSpPr>
        <p:spPr>
          <a:xfrm>
            <a:off x="768096" y="4407408"/>
            <a:ext cx="7955280" cy="274320"/>
          </a:xfrm>
          <a:prstGeom prst="rect">
            <a:avLst/>
          </a:prstGeom>
          <a:noFill/>
          <a:ln/>
        </p:spPr>
        <p:txBody>
          <a:bodyPr wrap="square" lIns="0" tIns="0" rIns="0" bIns="0" rtlCol="0" anchor="ctr"/>
          <a:lstStyle/>
          <a:p>
            <a:pPr indent="0" marL="0">
              <a:buNone/>
            </a:pPr>
            <a:r>
              <a:rPr lang="en-US" sz="1150" dirty="0">
                <a:solidFill>
                  <a:srgbClr val="374151"/>
                </a:solidFill>
              </a:rPr>
              <a:t>Por que los ejemplos de S3 funcionaban aunque no lo explicaramos</a:t>
            </a:r>
            <a:endParaRPr lang="en-US" sz="1150" dirty="0"/>
          </a:p>
        </p:txBody>
      </p:sp>
      <p:sp>
        <p:nvSpPr>
          <p:cNvPr id="24" name="Shape 18"/>
          <p:cNvSpPr/>
          <p:nvPr/>
        </p:nvSpPr>
        <p:spPr>
          <a:xfrm>
            <a:off x="0" y="4892040"/>
            <a:ext cx="9144000" cy="251460"/>
          </a:xfrm>
          <a:prstGeom prst="rect">
            <a:avLst/>
          </a:prstGeom>
          <a:solidFill>
            <a:srgbClr val="071228"/>
          </a:solidFill>
          <a:ln w="12700">
            <a:solidFill>
              <a:srgbClr val="071228"/>
            </a:solidFill>
            <a:prstDash val="solid"/>
          </a:ln>
        </p:spPr>
      </p:sp>
      <p:sp>
        <p:nvSpPr>
          <p:cNvPr id="25" name="Text 19"/>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4  ·  Miercoles 22 de abril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560320" cy="256032"/>
          </a:xfrm>
          <a:prstGeom prst="rect">
            <a:avLst/>
          </a:prstGeom>
          <a:solidFill>
            <a:srgbClr val="0D7A8A"/>
          </a:solidFill>
          <a:ln w="12700">
            <a:solidFill>
              <a:srgbClr val="0D7A8A"/>
            </a:solidFill>
            <a:prstDash val="solid"/>
          </a:ln>
        </p:spPr>
      </p:sp>
      <p:sp>
        <p:nvSpPr>
          <p:cNvPr id="4" name="Text 2"/>
          <p:cNvSpPr/>
          <p:nvPr/>
        </p:nvSpPr>
        <p:spPr>
          <a:xfrm>
            <a:off x="365760" y="566928"/>
            <a:ext cx="256032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¿POR QUE NECESITAMOS FUNCIONES?</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700" b="1" dirty="0">
                <a:solidFill>
                  <a:srgbClr val="FFFFFF"/>
                </a:solidFill>
              </a:rPr>
              <a:t>El Problema: Codigo que se Repite</a:t>
            </a:r>
            <a:endParaRPr lang="en-US" sz="27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Imagina que tienes que calcular la prima para 4 polizas distintas</a:t>
            </a:r>
            <a:endParaRPr lang="en-US" sz="1200" dirty="0"/>
          </a:p>
        </p:txBody>
      </p:sp>
      <p:sp>
        <p:nvSpPr>
          <p:cNvPr id="7" name="Shape 5"/>
          <p:cNvSpPr/>
          <p:nvPr/>
        </p:nvSpPr>
        <p:spPr>
          <a:xfrm>
            <a:off x="347472" y="987552"/>
            <a:ext cx="8449056" cy="3090672"/>
          </a:xfrm>
          <a:prstGeom prst="rect">
            <a:avLst/>
          </a:prstGeom>
          <a:solidFill>
            <a:srgbClr val="071228"/>
          </a:solidFill>
          <a:ln w="12700">
            <a:solidFill>
              <a:srgbClr val="0D7A8A"/>
            </a:solidFill>
            <a:prstDash val="solid"/>
          </a:ln>
        </p:spPr>
      </p:sp>
      <p:sp>
        <p:nvSpPr>
          <p:cNvPr id="8" name="Shape 6"/>
          <p:cNvSpPr/>
          <p:nvPr/>
        </p:nvSpPr>
        <p:spPr>
          <a:xfrm>
            <a:off x="347472" y="987552"/>
            <a:ext cx="8449056" cy="292608"/>
          </a:xfrm>
          <a:prstGeom prst="rect">
            <a:avLst/>
          </a:prstGeom>
          <a:solidFill>
            <a:srgbClr val="C0392B"/>
          </a:solidFill>
          <a:ln w="12700">
            <a:solidFill>
              <a:srgbClr val="C0392B"/>
            </a:solidFill>
            <a:prstDash val="solid"/>
          </a:ln>
        </p:spPr>
      </p:sp>
      <p:sp>
        <p:nvSpPr>
          <p:cNvPr id="9" name="Text 7"/>
          <p:cNvSpPr/>
          <p:nvPr/>
        </p:nvSpPr>
        <p:spPr>
          <a:xfrm>
            <a:off x="475488" y="987552"/>
            <a:ext cx="8229600" cy="292608"/>
          </a:xfrm>
          <a:prstGeom prst="rect">
            <a:avLst/>
          </a:prstGeom>
          <a:noFill/>
          <a:ln/>
        </p:spPr>
        <p:txBody>
          <a:bodyPr wrap="square" lIns="0" tIns="0" rIns="0" bIns="0" rtlCol="0" anchor="ctr"/>
          <a:lstStyle/>
          <a:p>
            <a:pPr indent="0" marL="0">
              <a:buNone/>
            </a:pPr>
            <a:r>
              <a:rPr lang="en-US" sz="1000" b="1" dirty="0">
                <a:solidFill>
                  <a:srgbClr val="FFFFFF"/>
                </a:solidFill>
              </a:rPr>
              <a:t>Sin funciones — codigo repetido (MAL)</a:t>
            </a:r>
            <a:endParaRPr lang="en-US" sz="1000" dirty="0"/>
          </a:p>
        </p:txBody>
      </p:sp>
      <p:sp>
        <p:nvSpPr>
          <p:cNvPr id="10" name="Text 8"/>
          <p:cNvSpPr/>
          <p:nvPr/>
        </p:nvSpPr>
        <p:spPr>
          <a:xfrm>
            <a:off x="475488" y="1335024"/>
            <a:ext cx="822960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Poliza 1</a:t>
            </a:r>
            <a:endParaRPr lang="en-US" sz="850" dirty="0"/>
          </a:p>
        </p:txBody>
      </p:sp>
      <p:sp>
        <p:nvSpPr>
          <p:cNvPr id="11" name="Text 9"/>
          <p:cNvSpPr/>
          <p:nvPr/>
        </p:nvSpPr>
        <p:spPr>
          <a:xfrm>
            <a:off x="475488" y="1483157"/>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suma1, tasa1, recargo1 = 500_000, 0.022, 0.15</a:t>
            </a:r>
            <a:endParaRPr lang="en-US" sz="850" dirty="0"/>
          </a:p>
        </p:txBody>
      </p:sp>
      <p:sp>
        <p:nvSpPr>
          <p:cNvPr id="12" name="Text 10"/>
          <p:cNvSpPr/>
          <p:nvPr/>
        </p:nvSpPr>
        <p:spPr>
          <a:xfrm>
            <a:off x="475488" y="1631290"/>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prima1 = suma1 * tasa1 * (1 + recargo1) * 1.16</a:t>
            </a:r>
            <a:endParaRPr lang="en-US" sz="850" dirty="0"/>
          </a:p>
        </p:txBody>
      </p:sp>
      <p:sp>
        <p:nvSpPr>
          <p:cNvPr id="13" name="Text 11"/>
          <p:cNvSpPr/>
          <p:nvPr/>
        </p:nvSpPr>
        <p:spPr>
          <a:xfrm>
            <a:off x="475488" y="1779422"/>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print(f'Poliza 1: ${prima1:,.2f}')</a:t>
            </a:r>
            <a:endParaRPr lang="en-US" sz="850" dirty="0"/>
          </a:p>
        </p:txBody>
      </p:sp>
      <p:sp>
        <p:nvSpPr>
          <p:cNvPr id="14" name="Text 12"/>
          <p:cNvSpPr/>
          <p:nvPr/>
        </p:nvSpPr>
        <p:spPr>
          <a:xfrm>
            <a:off x="475488" y="1927555"/>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5" name="Text 13"/>
          <p:cNvSpPr/>
          <p:nvPr/>
        </p:nvSpPr>
        <p:spPr>
          <a:xfrm>
            <a:off x="475488" y="2075688"/>
            <a:ext cx="822960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Poliza 2  ← mismo calculo, distinto nombre</a:t>
            </a:r>
            <a:endParaRPr lang="en-US" sz="850" dirty="0"/>
          </a:p>
        </p:txBody>
      </p:sp>
      <p:sp>
        <p:nvSpPr>
          <p:cNvPr id="16" name="Text 14"/>
          <p:cNvSpPr/>
          <p:nvPr/>
        </p:nvSpPr>
        <p:spPr>
          <a:xfrm>
            <a:off x="475488" y="2223821"/>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suma2, tasa2, recargo2 = 1_000_000, 0.031, 0.15</a:t>
            </a:r>
            <a:endParaRPr lang="en-US" sz="850" dirty="0"/>
          </a:p>
        </p:txBody>
      </p:sp>
      <p:sp>
        <p:nvSpPr>
          <p:cNvPr id="17" name="Text 15"/>
          <p:cNvSpPr/>
          <p:nvPr/>
        </p:nvSpPr>
        <p:spPr>
          <a:xfrm>
            <a:off x="475488" y="2371954"/>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prima2 = suma2 * tasa2 * (1 + recargo2) * 1.16</a:t>
            </a:r>
            <a:endParaRPr lang="en-US" sz="850" dirty="0"/>
          </a:p>
        </p:txBody>
      </p:sp>
      <p:sp>
        <p:nvSpPr>
          <p:cNvPr id="18" name="Text 16"/>
          <p:cNvSpPr/>
          <p:nvPr/>
        </p:nvSpPr>
        <p:spPr>
          <a:xfrm>
            <a:off x="475488" y="2520086"/>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print(f'Poliza 2: ${prima2:,.2f}')</a:t>
            </a:r>
            <a:endParaRPr lang="en-US" sz="850" dirty="0"/>
          </a:p>
        </p:txBody>
      </p:sp>
      <p:sp>
        <p:nvSpPr>
          <p:cNvPr id="19" name="Text 17"/>
          <p:cNvSpPr/>
          <p:nvPr/>
        </p:nvSpPr>
        <p:spPr>
          <a:xfrm>
            <a:off x="475488" y="2668219"/>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0" name="Text 18"/>
          <p:cNvSpPr/>
          <p:nvPr/>
        </p:nvSpPr>
        <p:spPr>
          <a:xfrm>
            <a:off x="475488" y="2816352"/>
            <a:ext cx="822960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Poliza 3  ← otra vez exactamente lo mismo</a:t>
            </a:r>
            <a:endParaRPr lang="en-US" sz="850" dirty="0"/>
          </a:p>
        </p:txBody>
      </p:sp>
      <p:sp>
        <p:nvSpPr>
          <p:cNvPr id="21" name="Text 19"/>
          <p:cNvSpPr/>
          <p:nvPr/>
        </p:nvSpPr>
        <p:spPr>
          <a:xfrm>
            <a:off x="475488" y="2964485"/>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suma3, tasa3, recargo3 = 300_000, 0.018, 0.15</a:t>
            </a:r>
            <a:endParaRPr lang="en-US" sz="850" dirty="0"/>
          </a:p>
        </p:txBody>
      </p:sp>
      <p:sp>
        <p:nvSpPr>
          <p:cNvPr id="22" name="Text 20"/>
          <p:cNvSpPr/>
          <p:nvPr/>
        </p:nvSpPr>
        <p:spPr>
          <a:xfrm>
            <a:off x="475488" y="3112618"/>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prima3 = suma3 * tasa3 * (1 + recargo3) * 1.16</a:t>
            </a:r>
            <a:endParaRPr lang="en-US" sz="850" dirty="0"/>
          </a:p>
        </p:txBody>
      </p:sp>
      <p:sp>
        <p:nvSpPr>
          <p:cNvPr id="23" name="Text 21"/>
          <p:cNvSpPr/>
          <p:nvPr/>
        </p:nvSpPr>
        <p:spPr>
          <a:xfrm>
            <a:off x="475488" y="3260750"/>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print(f'Poliza 3: ${prima3:,.2f}')</a:t>
            </a:r>
            <a:endParaRPr lang="en-US" sz="850" dirty="0"/>
          </a:p>
        </p:txBody>
      </p:sp>
      <p:sp>
        <p:nvSpPr>
          <p:cNvPr id="24" name="Text 22"/>
          <p:cNvSpPr/>
          <p:nvPr/>
        </p:nvSpPr>
        <p:spPr>
          <a:xfrm>
            <a:off x="475488" y="3408883"/>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5" name="Text 23"/>
          <p:cNvSpPr/>
          <p:nvPr/>
        </p:nvSpPr>
        <p:spPr>
          <a:xfrm>
            <a:off x="475488" y="3557016"/>
            <a:ext cx="822960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Poliza 4... y si son 10,000 polizas?</a:t>
            </a:r>
            <a:endParaRPr lang="en-US" sz="850" dirty="0"/>
          </a:p>
        </p:txBody>
      </p:sp>
      <p:sp>
        <p:nvSpPr>
          <p:cNvPr id="26" name="Shape 24"/>
          <p:cNvSpPr/>
          <p:nvPr/>
        </p:nvSpPr>
        <p:spPr>
          <a:xfrm>
            <a:off x="347472" y="4169664"/>
            <a:ext cx="8449056" cy="804672"/>
          </a:xfrm>
          <a:prstGeom prst="rect">
            <a:avLst/>
          </a:prstGeom>
          <a:solidFill>
            <a:srgbClr val="F4A261">
              <a:alpha val="12000"/>
            </a:srgbClr>
          </a:solidFill>
          <a:ln w="12700">
            <a:solidFill>
              <a:srgbClr val="F4A261"/>
            </a:solidFill>
            <a:prstDash val="solid"/>
          </a:ln>
        </p:spPr>
      </p:sp>
      <p:pic>
        <p:nvPicPr>
          <p:cNvPr id="27" name="Image 0" descr="preencoded.png">    </p:cNvPr>
          <p:cNvPicPr>
            <a:picLocks noChangeAspect="1"/>
          </p:cNvPicPr>
          <p:nvPr/>
        </p:nvPicPr>
        <p:blipFill>
          <a:blip r:embed="rId1"/>
          <a:stretch>
            <a:fillRect/>
          </a:stretch>
        </p:blipFill>
        <p:spPr>
          <a:xfrm>
            <a:off x="475488" y="4261104"/>
            <a:ext cx="292608" cy="292608"/>
          </a:xfrm>
          <a:prstGeom prst="rect">
            <a:avLst/>
          </a:prstGeom>
        </p:spPr>
      </p:pic>
      <p:sp>
        <p:nvSpPr>
          <p:cNvPr id="28" name="Text 25"/>
          <p:cNvSpPr/>
          <p:nvPr/>
        </p:nvSpPr>
        <p:spPr>
          <a:xfrm>
            <a:off x="859536" y="4206240"/>
            <a:ext cx="7680960" cy="256032"/>
          </a:xfrm>
          <a:prstGeom prst="rect">
            <a:avLst/>
          </a:prstGeom>
          <a:noFill/>
          <a:ln/>
        </p:spPr>
        <p:txBody>
          <a:bodyPr wrap="square" lIns="0" tIns="0" rIns="0" bIns="0" rtlCol="0" anchor="ctr"/>
          <a:lstStyle/>
          <a:p>
            <a:pPr indent="0" marL="0">
              <a:buNone/>
            </a:pPr>
            <a:r>
              <a:rPr lang="en-US" sz="1100" b="1" dirty="0">
                <a:solidFill>
                  <a:srgbClr val="374151"/>
                </a:solidFill>
              </a:rPr>
              <a:t>Problemas de este enfoque:</a:t>
            </a:r>
            <a:endParaRPr lang="en-US" sz="1100" dirty="0"/>
          </a:p>
        </p:txBody>
      </p:sp>
      <p:sp>
        <p:nvSpPr>
          <p:cNvPr id="29" name="Text 26"/>
          <p:cNvSpPr/>
          <p:nvPr/>
        </p:nvSpPr>
        <p:spPr>
          <a:xfrm>
            <a:off x="859536" y="4462272"/>
            <a:ext cx="7680960" cy="457200"/>
          </a:xfrm>
          <a:prstGeom prst="rect">
            <a:avLst/>
          </a:prstGeom>
          <a:noFill/>
          <a:ln/>
        </p:spPr>
        <p:txBody>
          <a:bodyPr wrap="square" lIns="0" tIns="0" rIns="0" bIns="0" rtlCol="0" anchor="ctr"/>
          <a:lstStyle/>
          <a:p>
            <a:pPr indent="0" marL="0">
              <a:buNone/>
            </a:pPr>
            <a:r>
              <a:rPr lang="en-US" sz="1000" dirty="0">
                <a:solidFill>
                  <a:srgbClr val="374151"/>
                </a:solidFill>
              </a:rPr>
              <a:t>1) Si cambia la formula (ej. el IVA sube a 17%) hay que editar en 4 (o 10,000) lugares distintos.   2) Si hay un error en el calculo, se repite en todos.   3) El codigo crece sin control.</a:t>
            </a:r>
            <a:endParaRPr lang="en-US" sz="1000" dirty="0"/>
          </a:p>
        </p:txBody>
      </p:sp>
      <p:sp>
        <p:nvSpPr>
          <p:cNvPr id="30" name="Shape 27"/>
          <p:cNvSpPr/>
          <p:nvPr/>
        </p:nvSpPr>
        <p:spPr>
          <a:xfrm>
            <a:off x="0" y="4892040"/>
            <a:ext cx="9144000" cy="251460"/>
          </a:xfrm>
          <a:prstGeom prst="rect">
            <a:avLst/>
          </a:prstGeom>
          <a:solidFill>
            <a:srgbClr val="071228"/>
          </a:solidFill>
          <a:ln w="12700">
            <a:solidFill>
              <a:srgbClr val="071228"/>
            </a:solidFill>
            <a:prstDash val="solid"/>
          </a:ln>
        </p:spPr>
      </p:sp>
      <p:sp>
        <p:nvSpPr>
          <p:cNvPr id="31" name="Text 28"/>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4  ·  Miercoles 22 de abril 2026</a:t>
            </a:r>
            <a:endParaRPr lang="en-US" sz="850" dirty="0"/>
          </a:p>
        </p:txBody>
      </p:sp>
      <p:sp>
        <p:nvSpPr>
          <p:cNvPr id="32" name="Text 29"/>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¿Por que funciones?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560320" cy="256032"/>
          </a:xfrm>
          <a:prstGeom prst="rect">
            <a:avLst/>
          </a:prstGeom>
          <a:solidFill>
            <a:srgbClr val="1E8449"/>
          </a:solidFill>
          <a:ln w="12700">
            <a:solidFill>
              <a:srgbClr val="1E8449"/>
            </a:solidFill>
            <a:prstDash val="solid"/>
          </a:ln>
        </p:spPr>
      </p:sp>
      <p:sp>
        <p:nvSpPr>
          <p:cNvPr id="4" name="Text 2"/>
          <p:cNvSpPr/>
          <p:nvPr/>
        </p:nvSpPr>
        <p:spPr>
          <a:xfrm>
            <a:off x="365760" y="566928"/>
            <a:ext cx="256032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¿POR QUE NECESITAMOS FUNCIONES?</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700" b="1" dirty="0">
                <a:solidFill>
                  <a:srgbClr val="0D1B3E"/>
                </a:solidFill>
              </a:rPr>
              <a:t>La Solucion: Escribir Una Sola Vez</a:t>
            </a:r>
            <a:endParaRPr lang="en-US" sz="27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0D7A8A"/>
                </a:solidFill>
              </a:rPr>
              <a:t>Una funcion encapsula un calculo — lo escribes una vez y lo reutilizas todas las veces</a:t>
            </a:r>
            <a:endParaRPr lang="en-US" sz="1200" dirty="0"/>
          </a:p>
        </p:txBody>
      </p:sp>
      <p:sp>
        <p:nvSpPr>
          <p:cNvPr id="7" name="Shape 5"/>
          <p:cNvSpPr/>
          <p:nvPr/>
        </p:nvSpPr>
        <p:spPr>
          <a:xfrm>
            <a:off x="347472" y="987552"/>
            <a:ext cx="4114800" cy="2633472"/>
          </a:xfrm>
          <a:prstGeom prst="rect">
            <a:avLst/>
          </a:prstGeom>
          <a:solidFill>
            <a:srgbClr val="071228"/>
          </a:solidFill>
          <a:ln w="12700">
            <a:solidFill>
              <a:srgbClr val="0D7A8A"/>
            </a:solidFill>
            <a:prstDash val="solid"/>
          </a:ln>
        </p:spPr>
      </p:sp>
      <p:sp>
        <p:nvSpPr>
          <p:cNvPr id="8" name="Shape 6"/>
          <p:cNvSpPr/>
          <p:nvPr/>
        </p:nvSpPr>
        <p:spPr>
          <a:xfrm>
            <a:off x="347472" y="987552"/>
            <a:ext cx="4114800" cy="292608"/>
          </a:xfrm>
          <a:prstGeom prst="rect">
            <a:avLst/>
          </a:prstGeom>
          <a:solidFill>
            <a:srgbClr val="C0392B"/>
          </a:solidFill>
          <a:ln w="12700">
            <a:solidFill>
              <a:srgbClr val="C0392B"/>
            </a:solidFill>
            <a:prstDash val="solid"/>
          </a:ln>
        </p:spPr>
      </p:sp>
      <p:sp>
        <p:nvSpPr>
          <p:cNvPr id="9" name="Text 7"/>
          <p:cNvSpPr/>
          <p:nvPr/>
        </p:nvSpPr>
        <p:spPr>
          <a:xfrm>
            <a:off x="475488" y="987552"/>
            <a:ext cx="3931920" cy="292608"/>
          </a:xfrm>
          <a:prstGeom prst="rect">
            <a:avLst/>
          </a:prstGeom>
          <a:noFill/>
          <a:ln/>
        </p:spPr>
        <p:txBody>
          <a:bodyPr wrap="square" lIns="0" tIns="0" rIns="0" bIns="0" rtlCol="0" anchor="ctr"/>
          <a:lstStyle/>
          <a:p>
            <a:pPr indent="0" marL="0">
              <a:buNone/>
            </a:pPr>
            <a:r>
              <a:rPr lang="en-US" sz="900" b="1" dirty="0">
                <a:solidFill>
                  <a:srgbClr val="FFFFFF"/>
                </a:solidFill>
              </a:rPr>
              <a:t>Sin funcion — 12 lineas para 3 polizas</a:t>
            </a:r>
            <a:endParaRPr lang="en-US" sz="900" dirty="0"/>
          </a:p>
        </p:txBody>
      </p:sp>
      <p:sp>
        <p:nvSpPr>
          <p:cNvPr id="10" name="Text 8"/>
          <p:cNvSpPr/>
          <p:nvPr/>
        </p:nvSpPr>
        <p:spPr>
          <a:xfrm>
            <a:off x="475488" y="1335024"/>
            <a:ext cx="384048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suma1=500_000; tasa1=0.022</a:t>
            </a:r>
            <a:endParaRPr lang="en-US" sz="850" dirty="0"/>
          </a:p>
        </p:txBody>
      </p:sp>
      <p:sp>
        <p:nvSpPr>
          <p:cNvPr id="11" name="Text 9"/>
          <p:cNvSpPr/>
          <p:nvPr/>
        </p:nvSpPr>
        <p:spPr>
          <a:xfrm>
            <a:off x="475488" y="1483157"/>
            <a:ext cx="384048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prima1=suma1*tasa1*(1+0.15)*1.16</a:t>
            </a:r>
            <a:endParaRPr lang="en-US" sz="850" dirty="0"/>
          </a:p>
        </p:txBody>
      </p:sp>
      <p:sp>
        <p:nvSpPr>
          <p:cNvPr id="12" name="Text 10"/>
          <p:cNvSpPr/>
          <p:nvPr/>
        </p:nvSpPr>
        <p:spPr>
          <a:xfrm>
            <a:off x="475488" y="1631290"/>
            <a:ext cx="384048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3" name="Text 11"/>
          <p:cNvSpPr/>
          <p:nvPr/>
        </p:nvSpPr>
        <p:spPr>
          <a:xfrm>
            <a:off x="475488" y="1779422"/>
            <a:ext cx="384048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suma2=1_000_000; tasa2=0.031</a:t>
            </a:r>
            <a:endParaRPr lang="en-US" sz="850" dirty="0"/>
          </a:p>
        </p:txBody>
      </p:sp>
      <p:sp>
        <p:nvSpPr>
          <p:cNvPr id="14" name="Text 12"/>
          <p:cNvSpPr/>
          <p:nvPr/>
        </p:nvSpPr>
        <p:spPr>
          <a:xfrm>
            <a:off x="475488" y="1927555"/>
            <a:ext cx="384048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prima2=suma2*tasa2*(1+0.15)*1.16</a:t>
            </a:r>
            <a:endParaRPr lang="en-US" sz="850" dirty="0"/>
          </a:p>
        </p:txBody>
      </p:sp>
      <p:sp>
        <p:nvSpPr>
          <p:cNvPr id="15" name="Text 13"/>
          <p:cNvSpPr/>
          <p:nvPr/>
        </p:nvSpPr>
        <p:spPr>
          <a:xfrm>
            <a:off x="475488" y="2075688"/>
            <a:ext cx="384048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6" name="Text 14"/>
          <p:cNvSpPr/>
          <p:nvPr/>
        </p:nvSpPr>
        <p:spPr>
          <a:xfrm>
            <a:off x="475488" y="2223821"/>
            <a:ext cx="384048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suma3=300_000; tasa3=0.018</a:t>
            </a:r>
            <a:endParaRPr lang="en-US" sz="850" dirty="0"/>
          </a:p>
        </p:txBody>
      </p:sp>
      <p:sp>
        <p:nvSpPr>
          <p:cNvPr id="17" name="Text 15"/>
          <p:cNvSpPr/>
          <p:nvPr/>
        </p:nvSpPr>
        <p:spPr>
          <a:xfrm>
            <a:off x="475488" y="2371954"/>
            <a:ext cx="384048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prima3=suma3*tasa3*(1+0.15)*1.16</a:t>
            </a:r>
            <a:endParaRPr lang="en-US" sz="850" dirty="0"/>
          </a:p>
        </p:txBody>
      </p:sp>
      <p:sp>
        <p:nvSpPr>
          <p:cNvPr id="18" name="Text 16"/>
          <p:cNvSpPr/>
          <p:nvPr/>
        </p:nvSpPr>
        <p:spPr>
          <a:xfrm>
            <a:off x="475488" y="2520086"/>
            <a:ext cx="384048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9" name="Text 17"/>
          <p:cNvSpPr/>
          <p:nvPr/>
        </p:nvSpPr>
        <p:spPr>
          <a:xfrm>
            <a:off x="475488" y="2668219"/>
            <a:ext cx="384048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4 lineas por poliza</a:t>
            </a:r>
            <a:endParaRPr lang="en-US" sz="850" dirty="0"/>
          </a:p>
        </p:txBody>
      </p:sp>
      <p:sp>
        <p:nvSpPr>
          <p:cNvPr id="20" name="Text 18"/>
          <p:cNvSpPr/>
          <p:nvPr/>
        </p:nvSpPr>
        <p:spPr>
          <a:xfrm>
            <a:off x="475488" y="2816352"/>
            <a:ext cx="384048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10,000 polizas = 40,000 lineas</a:t>
            </a:r>
            <a:endParaRPr lang="en-US" sz="850" dirty="0"/>
          </a:p>
        </p:txBody>
      </p:sp>
      <p:sp>
        <p:nvSpPr>
          <p:cNvPr id="21" name="Text 19"/>
          <p:cNvSpPr/>
          <p:nvPr/>
        </p:nvSpPr>
        <p:spPr>
          <a:xfrm>
            <a:off x="475488" y="2964485"/>
            <a:ext cx="384048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 imposible de mantener</a:t>
            </a:r>
            <a:endParaRPr lang="en-US" sz="850" dirty="0"/>
          </a:p>
        </p:txBody>
      </p:sp>
      <p:sp>
        <p:nvSpPr>
          <p:cNvPr id="22" name="Shape 20"/>
          <p:cNvSpPr/>
          <p:nvPr/>
        </p:nvSpPr>
        <p:spPr>
          <a:xfrm>
            <a:off x="4663440" y="987552"/>
            <a:ext cx="4133088" cy="2633472"/>
          </a:xfrm>
          <a:prstGeom prst="rect">
            <a:avLst/>
          </a:prstGeom>
          <a:solidFill>
            <a:srgbClr val="071228"/>
          </a:solidFill>
          <a:ln w="12700">
            <a:solidFill>
              <a:srgbClr val="0D7A8A"/>
            </a:solidFill>
            <a:prstDash val="solid"/>
          </a:ln>
        </p:spPr>
      </p:sp>
      <p:sp>
        <p:nvSpPr>
          <p:cNvPr id="23" name="Shape 21"/>
          <p:cNvSpPr/>
          <p:nvPr/>
        </p:nvSpPr>
        <p:spPr>
          <a:xfrm>
            <a:off x="4663440" y="987552"/>
            <a:ext cx="4133088" cy="292608"/>
          </a:xfrm>
          <a:prstGeom prst="rect">
            <a:avLst/>
          </a:prstGeom>
          <a:solidFill>
            <a:srgbClr val="1E8449"/>
          </a:solidFill>
          <a:ln w="12700">
            <a:solidFill>
              <a:srgbClr val="1E8449"/>
            </a:solidFill>
            <a:prstDash val="solid"/>
          </a:ln>
        </p:spPr>
      </p:sp>
      <p:sp>
        <p:nvSpPr>
          <p:cNvPr id="24" name="Text 22"/>
          <p:cNvSpPr/>
          <p:nvPr/>
        </p:nvSpPr>
        <p:spPr>
          <a:xfrm>
            <a:off x="4791456" y="987552"/>
            <a:ext cx="3931920" cy="292608"/>
          </a:xfrm>
          <a:prstGeom prst="rect">
            <a:avLst/>
          </a:prstGeom>
          <a:noFill/>
          <a:ln/>
        </p:spPr>
        <p:txBody>
          <a:bodyPr wrap="square" lIns="0" tIns="0" rIns="0" bIns="0" rtlCol="0" anchor="ctr"/>
          <a:lstStyle/>
          <a:p>
            <a:pPr indent="0" marL="0">
              <a:buNone/>
            </a:pPr>
            <a:r>
              <a:rPr lang="en-US" sz="900" b="1" dirty="0">
                <a:solidFill>
                  <a:srgbClr val="FFFFFF"/>
                </a:solidFill>
              </a:rPr>
              <a:t>Con funcion — 4 lineas para 3 polizas</a:t>
            </a:r>
            <a:endParaRPr lang="en-US" sz="900" dirty="0"/>
          </a:p>
        </p:txBody>
      </p:sp>
      <p:sp>
        <p:nvSpPr>
          <p:cNvPr id="25" name="Text 23"/>
          <p:cNvSpPr/>
          <p:nvPr/>
        </p:nvSpPr>
        <p:spPr>
          <a:xfrm>
            <a:off x="4791456" y="1335024"/>
            <a:ext cx="387705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a:t>
            </a:r>
            <a:endParaRPr lang="en-US" sz="850" dirty="0"/>
          </a:p>
        </p:txBody>
      </p:sp>
      <p:sp>
        <p:nvSpPr>
          <p:cNvPr id="26" name="Text 24"/>
          <p:cNvSpPr/>
          <p:nvPr/>
        </p:nvSpPr>
        <p:spPr>
          <a:xfrm>
            <a:off x="4791456" y="1483157"/>
            <a:ext cx="387705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suma*tasa*(1+0.15)*1.16</a:t>
            </a:r>
            <a:endParaRPr lang="en-US" sz="850" dirty="0"/>
          </a:p>
        </p:txBody>
      </p:sp>
      <p:sp>
        <p:nvSpPr>
          <p:cNvPr id="27" name="Text 25"/>
          <p:cNvSpPr/>
          <p:nvPr/>
        </p:nvSpPr>
        <p:spPr>
          <a:xfrm>
            <a:off x="4791456" y="1631290"/>
            <a:ext cx="387705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8" name="Text 26"/>
          <p:cNvSpPr/>
          <p:nvPr/>
        </p:nvSpPr>
        <p:spPr>
          <a:xfrm>
            <a:off x="4791456" y="1779422"/>
            <a:ext cx="387705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calcular_prima(500_000,  0.022)</a:t>
            </a:r>
            <a:endParaRPr lang="en-US" sz="850" dirty="0"/>
          </a:p>
        </p:txBody>
      </p:sp>
      <p:sp>
        <p:nvSpPr>
          <p:cNvPr id="29" name="Text 27"/>
          <p:cNvSpPr/>
          <p:nvPr/>
        </p:nvSpPr>
        <p:spPr>
          <a:xfrm>
            <a:off x="4791456" y="1927555"/>
            <a:ext cx="387705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calcular_prima(1_000_000,0.031)</a:t>
            </a:r>
            <a:endParaRPr lang="en-US" sz="850" dirty="0"/>
          </a:p>
        </p:txBody>
      </p:sp>
      <p:sp>
        <p:nvSpPr>
          <p:cNvPr id="30" name="Text 28"/>
          <p:cNvSpPr/>
          <p:nvPr/>
        </p:nvSpPr>
        <p:spPr>
          <a:xfrm>
            <a:off x="4791456" y="2075688"/>
            <a:ext cx="387705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calcular_prima(300_000,  0.018)</a:t>
            </a:r>
            <a:endParaRPr lang="en-US" sz="850" dirty="0"/>
          </a:p>
        </p:txBody>
      </p:sp>
      <p:sp>
        <p:nvSpPr>
          <p:cNvPr id="31" name="Text 29"/>
          <p:cNvSpPr/>
          <p:nvPr/>
        </p:nvSpPr>
        <p:spPr>
          <a:xfrm>
            <a:off x="4791456" y="2223821"/>
            <a:ext cx="387705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2" name="Text 30"/>
          <p:cNvSpPr/>
          <p:nvPr/>
        </p:nvSpPr>
        <p:spPr>
          <a:xfrm>
            <a:off x="4791456" y="2371954"/>
            <a:ext cx="3877056"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1 linea por poliza</a:t>
            </a:r>
            <a:endParaRPr lang="en-US" sz="850" dirty="0"/>
          </a:p>
        </p:txBody>
      </p:sp>
      <p:sp>
        <p:nvSpPr>
          <p:cNvPr id="33" name="Text 31"/>
          <p:cNvSpPr/>
          <p:nvPr/>
        </p:nvSpPr>
        <p:spPr>
          <a:xfrm>
            <a:off x="4791456" y="2520086"/>
            <a:ext cx="3877056"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10,000 polizas = 10,000 lineas</a:t>
            </a:r>
            <a:endParaRPr lang="en-US" sz="850" dirty="0"/>
          </a:p>
        </p:txBody>
      </p:sp>
      <p:sp>
        <p:nvSpPr>
          <p:cNvPr id="34" name="Text 32"/>
          <p:cNvSpPr/>
          <p:nvPr/>
        </p:nvSpPr>
        <p:spPr>
          <a:xfrm>
            <a:off x="4791456" y="2668219"/>
            <a:ext cx="3877056"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Si cambia IVA: editas 1 sola vez</a:t>
            </a:r>
            <a:endParaRPr lang="en-US" sz="850" dirty="0"/>
          </a:p>
        </p:txBody>
      </p:sp>
      <p:sp>
        <p:nvSpPr>
          <p:cNvPr id="35" name="Text 33"/>
          <p:cNvSpPr/>
          <p:nvPr/>
        </p:nvSpPr>
        <p:spPr>
          <a:xfrm>
            <a:off x="4791456" y="2816352"/>
            <a:ext cx="3877056"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 facil de mantener y corregir</a:t>
            </a:r>
            <a:endParaRPr lang="en-US" sz="850" dirty="0"/>
          </a:p>
        </p:txBody>
      </p:sp>
      <p:sp>
        <p:nvSpPr>
          <p:cNvPr id="36" name="Shape 34"/>
          <p:cNvSpPr/>
          <p:nvPr/>
        </p:nvSpPr>
        <p:spPr>
          <a:xfrm>
            <a:off x="347472" y="3712464"/>
            <a:ext cx="8449056" cy="420624"/>
          </a:xfrm>
          <a:prstGeom prst="rect">
            <a:avLst/>
          </a:prstGeom>
          <a:solidFill>
            <a:srgbClr val="0D1B3E"/>
          </a:solidFill>
          <a:ln w="12700">
            <a:solidFill>
              <a:srgbClr val="0D1B3E"/>
            </a:solidFill>
            <a:prstDash val="solid"/>
          </a:ln>
        </p:spPr>
      </p:sp>
      <p:pic>
        <p:nvPicPr>
          <p:cNvPr id="37" name="Image 0" descr="preencoded.png">    </p:cNvPr>
          <p:cNvPicPr>
            <a:picLocks noChangeAspect="1"/>
          </p:cNvPicPr>
          <p:nvPr/>
        </p:nvPicPr>
        <p:blipFill>
          <a:blip r:embed="rId1"/>
          <a:stretch>
            <a:fillRect/>
          </a:stretch>
        </p:blipFill>
        <p:spPr>
          <a:xfrm>
            <a:off x="475488" y="3785616"/>
            <a:ext cx="274320" cy="274320"/>
          </a:xfrm>
          <a:prstGeom prst="rect">
            <a:avLst/>
          </a:prstGeom>
        </p:spPr>
      </p:pic>
      <p:sp>
        <p:nvSpPr>
          <p:cNvPr id="38" name="Text 35"/>
          <p:cNvSpPr/>
          <p:nvPr/>
        </p:nvSpPr>
        <p:spPr>
          <a:xfrm>
            <a:off x="841248" y="3749040"/>
            <a:ext cx="2743200" cy="274320"/>
          </a:xfrm>
          <a:prstGeom prst="rect">
            <a:avLst/>
          </a:prstGeom>
          <a:noFill/>
          <a:ln/>
        </p:spPr>
        <p:txBody>
          <a:bodyPr wrap="square" lIns="0" tIns="0" rIns="0" bIns="0" rtlCol="0" anchor="ctr"/>
          <a:lstStyle/>
          <a:p>
            <a:pPr indent="0" marL="0">
              <a:buNone/>
            </a:pPr>
            <a:r>
              <a:rPr lang="en-US" sz="1100" b="1" dirty="0">
                <a:solidFill>
                  <a:srgbClr val="A8D8EA"/>
                </a:solidFill>
              </a:rPr>
              <a:t>Principio DRY (Don't Repeat Yourself):</a:t>
            </a:r>
            <a:endParaRPr lang="en-US" sz="1100" dirty="0"/>
          </a:p>
        </p:txBody>
      </p:sp>
      <p:sp>
        <p:nvSpPr>
          <p:cNvPr id="39" name="Text 36"/>
          <p:cNvSpPr/>
          <p:nvPr/>
        </p:nvSpPr>
        <p:spPr>
          <a:xfrm>
            <a:off x="3621024" y="3749040"/>
            <a:ext cx="5029200" cy="274320"/>
          </a:xfrm>
          <a:prstGeom prst="rect">
            <a:avLst/>
          </a:prstGeom>
          <a:noFill/>
          <a:ln/>
        </p:spPr>
        <p:txBody>
          <a:bodyPr wrap="square" lIns="0" tIns="0" rIns="0" bIns="0" rtlCol="0" anchor="ctr"/>
          <a:lstStyle/>
          <a:p>
            <a:pPr indent="0" marL="0">
              <a:buNone/>
            </a:pPr>
            <a:r>
              <a:rPr lang="en-US" sz="1100" dirty="0">
                <a:solidFill>
                  <a:srgbClr val="FFFFFF"/>
                </a:solidFill>
              </a:rPr>
              <a:t>Si escribes el mismo codigo mas de una vez, es candidato a convertirse en una funcion.</a:t>
            </a:r>
            <a:endParaRPr lang="en-US" sz="1100" dirty="0"/>
          </a:p>
        </p:txBody>
      </p:sp>
      <p:sp>
        <p:nvSpPr>
          <p:cNvPr id="40" name="Shape 37"/>
          <p:cNvSpPr/>
          <p:nvPr/>
        </p:nvSpPr>
        <p:spPr>
          <a:xfrm>
            <a:off x="347472" y="4224528"/>
            <a:ext cx="2011680" cy="274320"/>
          </a:xfrm>
          <a:prstGeom prst="rect">
            <a:avLst/>
          </a:prstGeom>
          <a:solidFill>
            <a:srgbClr val="0D7A8A"/>
          </a:solidFill>
          <a:ln w="12700">
            <a:solidFill>
              <a:srgbClr val="0D7A8A"/>
            </a:solidFill>
            <a:prstDash val="solid"/>
          </a:ln>
        </p:spPr>
      </p:sp>
      <p:sp>
        <p:nvSpPr>
          <p:cNvPr id="41" name="Text 38"/>
          <p:cNvSpPr/>
          <p:nvPr/>
        </p:nvSpPr>
        <p:spPr>
          <a:xfrm>
            <a:off x="347472" y="4224528"/>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rPr>
              <a:t>Reutilizacion</a:t>
            </a:r>
            <a:endParaRPr lang="en-US" sz="1000" dirty="0"/>
          </a:p>
        </p:txBody>
      </p:sp>
      <p:sp>
        <p:nvSpPr>
          <p:cNvPr id="42" name="Shape 39"/>
          <p:cNvSpPr/>
          <p:nvPr/>
        </p:nvSpPr>
        <p:spPr>
          <a:xfrm>
            <a:off x="347472" y="4498848"/>
            <a:ext cx="2011680" cy="45720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43" name="Text 40"/>
          <p:cNvSpPr/>
          <p:nvPr/>
        </p:nvSpPr>
        <p:spPr>
          <a:xfrm>
            <a:off x="438912" y="4535424"/>
            <a:ext cx="1847088" cy="347472"/>
          </a:xfrm>
          <a:prstGeom prst="rect">
            <a:avLst/>
          </a:prstGeom>
          <a:noFill/>
          <a:ln/>
        </p:spPr>
        <p:txBody>
          <a:bodyPr wrap="square" lIns="0" tIns="0" rIns="0" bIns="0" rtlCol="0" anchor="ctr"/>
          <a:lstStyle/>
          <a:p>
            <a:pPr algn="ctr" indent="0" marL="0">
              <a:buNone/>
            </a:pPr>
            <a:r>
              <a:rPr lang="en-US" sz="950" dirty="0">
                <a:solidFill>
                  <a:srgbClr val="374151"/>
                </a:solidFill>
              </a:rPr>
              <a:t>Escribe una vez, usa muchas</a:t>
            </a:r>
            <a:endParaRPr lang="en-US" sz="950" dirty="0"/>
          </a:p>
        </p:txBody>
      </p:sp>
      <p:sp>
        <p:nvSpPr>
          <p:cNvPr id="44" name="Shape 41"/>
          <p:cNvSpPr/>
          <p:nvPr/>
        </p:nvSpPr>
        <p:spPr>
          <a:xfrm>
            <a:off x="2523744" y="4224528"/>
            <a:ext cx="2011680" cy="274320"/>
          </a:xfrm>
          <a:prstGeom prst="rect">
            <a:avLst/>
          </a:prstGeom>
          <a:solidFill>
            <a:srgbClr val="1A5276"/>
          </a:solidFill>
          <a:ln w="12700">
            <a:solidFill>
              <a:srgbClr val="1A5276"/>
            </a:solidFill>
            <a:prstDash val="solid"/>
          </a:ln>
        </p:spPr>
      </p:sp>
      <p:sp>
        <p:nvSpPr>
          <p:cNvPr id="45" name="Text 42"/>
          <p:cNvSpPr/>
          <p:nvPr/>
        </p:nvSpPr>
        <p:spPr>
          <a:xfrm>
            <a:off x="2523744" y="4224528"/>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rPr>
              <a:t>Mantenimiento</a:t>
            </a:r>
            <a:endParaRPr lang="en-US" sz="1000" dirty="0"/>
          </a:p>
        </p:txBody>
      </p:sp>
      <p:sp>
        <p:nvSpPr>
          <p:cNvPr id="46" name="Shape 43"/>
          <p:cNvSpPr/>
          <p:nvPr/>
        </p:nvSpPr>
        <p:spPr>
          <a:xfrm>
            <a:off x="2523744" y="4498848"/>
            <a:ext cx="2011680" cy="45720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47" name="Text 44"/>
          <p:cNvSpPr/>
          <p:nvPr/>
        </p:nvSpPr>
        <p:spPr>
          <a:xfrm>
            <a:off x="2615184" y="4535424"/>
            <a:ext cx="1847088" cy="347472"/>
          </a:xfrm>
          <a:prstGeom prst="rect">
            <a:avLst/>
          </a:prstGeom>
          <a:noFill/>
          <a:ln/>
        </p:spPr>
        <p:txBody>
          <a:bodyPr wrap="square" lIns="0" tIns="0" rIns="0" bIns="0" rtlCol="0" anchor="ctr"/>
          <a:lstStyle/>
          <a:p>
            <a:pPr algn="ctr" indent="0" marL="0">
              <a:buNone/>
            </a:pPr>
            <a:r>
              <a:rPr lang="en-US" sz="950" dirty="0">
                <a:solidFill>
                  <a:srgbClr val="374151"/>
                </a:solidFill>
              </a:rPr>
              <a:t>Cambias en un solo lugar</a:t>
            </a:r>
            <a:endParaRPr lang="en-US" sz="950" dirty="0"/>
          </a:p>
        </p:txBody>
      </p:sp>
      <p:sp>
        <p:nvSpPr>
          <p:cNvPr id="48" name="Shape 45"/>
          <p:cNvSpPr/>
          <p:nvPr/>
        </p:nvSpPr>
        <p:spPr>
          <a:xfrm>
            <a:off x="4700016" y="4224528"/>
            <a:ext cx="2011680" cy="274320"/>
          </a:xfrm>
          <a:prstGeom prst="rect">
            <a:avLst/>
          </a:prstGeom>
          <a:solidFill>
            <a:srgbClr val="1E8449"/>
          </a:solidFill>
          <a:ln w="12700">
            <a:solidFill>
              <a:srgbClr val="1E8449"/>
            </a:solidFill>
            <a:prstDash val="solid"/>
          </a:ln>
        </p:spPr>
      </p:sp>
      <p:sp>
        <p:nvSpPr>
          <p:cNvPr id="49" name="Text 46"/>
          <p:cNvSpPr/>
          <p:nvPr/>
        </p:nvSpPr>
        <p:spPr>
          <a:xfrm>
            <a:off x="4700016" y="4224528"/>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rPr>
              <a:t>Legibilidad</a:t>
            </a:r>
            <a:endParaRPr lang="en-US" sz="1000" dirty="0"/>
          </a:p>
        </p:txBody>
      </p:sp>
      <p:sp>
        <p:nvSpPr>
          <p:cNvPr id="50" name="Shape 47"/>
          <p:cNvSpPr/>
          <p:nvPr/>
        </p:nvSpPr>
        <p:spPr>
          <a:xfrm>
            <a:off x="4700016" y="4498848"/>
            <a:ext cx="2011680" cy="45720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51" name="Text 48"/>
          <p:cNvSpPr/>
          <p:nvPr/>
        </p:nvSpPr>
        <p:spPr>
          <a:xfrm>
            <a:off x="4791456" y="4535424"/>
            <a:ext cx="1847088" cy="347472"/>
          </a:xfrm>
          <a:prstGeom prst="rect">
            <a:avLst/>
          </a:prstGeom>
          <a:noFill/>
          <a:ln/>
        </p:spPr>
        <p:txBody>
          <a:bodyPr wrap="square" lIns="0" tIns="0" rIns="0" bIns="0" rtlCol="0" anchor="ctr"/>
          <a:lstStyle/>
          <a:p>
            <a:pPr algn="ctr" indent="0" marL="0">
              <a:buNone/>
            </a:pPr>
            <a:r>
              <a:rPr lang="en-US" sz="950" dirty="0">
                <a:solidFill>
                  <a:srgbClr val="374151"/>
                </a:solidFill>
              </a:rPr>
              <a:t>El codigo se lee como texto</a:t>
            </a:r>
            <a:endParaRPr lang="en-US" sz="950" dirty="0"/>
          </a:p>
        </p:txBody>
      </p:sp>
      <p:sp>
        <p:nvSpPr>
          <p:cNvPr id="52" name="Shape 49"/>
          <p:cNvSpPr/>
          <p:nvPr/>
        </p:nvSpPr>
        <p:spPr>
          <a:xfrm>
            <a:off x="6876288" y="4224528"/>
            <a:ext cx="2011680" cy="274320"/>
          </a:xfrm>
          <a:prstGeom prst="rect">
            <a:avLst/>
          </a:prstGeom>
          <a:solidFill>
            <a:srgbClr val="6C3483"/>
          </a:solidFill>
          <a:ln w="12700">
            <a:solidFill>
              <a:srgbClr val="6C3483"/>
            </a:solidFill>
            <a:prstDash val="solid"/>
          </a:ln>
        </p:spPr>
      </p:sp>
      <p:sp>
        <p:nvSpPr>
          <p:cNvPr id="53" name="Text 50"/>
          <p:cNvSpPr/>
          <p:nvPr/>
        </p:nvSpPr>
        <p:spPr>
          <a:xfrm>
            <a:off x="6876288" y="4224528"/>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rPr>
              <a:t>Pruebas</a:t>
            </a:r>
            <a:endParaRPr lang="en-US" sz="1000" dirty="0"/>
          </a:p>
        </p:txBody>
      </p:sp>
      <p:sp>
        <p:nvSpPr>
          <p:cNvPr id="54" name="Shape 51"/>
          <p:cNvSpPr/>
          <p:nvPr/>
        </p:nvSpPr>
        <p:spPr>
          <a:xfrm>
            <a:off x="6876288" y="4498848"/>
            <a:ext cx="2011680" cy="45720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55" name="Text 52"/>
          <p:cNvSpPr/>
          <p:nvPr/>
        </p:nvSpPr>
        <p:spPr>
          <a:xfrm>
            <a:off x="6967728" y="4535424"/>
            <a:ext cx="1847088" cy="347472"/>
          </a:xfrm>
          <a:prstGeom prst="rect">
            <a:avLst/>
          </a:prstGeom>
          <a:noFill/>
          <a:ln/>
        </p:spPr>
        <p:txBody>
          <a:bodyPr wrap="square" lIns="0" tIns="0" rIns="0" bIns="0" rtlCol="0" anchor="ctr"/>
          <a:lstStyle/>
          <a:p>
            <a:pPr algn="ctr" indent="0" marL="0">
              <a:buNone/>
            </a:pPr>
            <a:r>
              <a:rPr lang="en-US" sz="950" dirty="0">
                <a:solidFill>
                  <a:srgbClr val="374151"/>
                </a:solidFill>
              </a:rPr>
              <a:t>Verificas una sola funcion</a:t>
            </a:r>
            <a:endParaRPr lang="en-US" sz="950" dirty="0"/>
          </a:p>
        </p:txBody>
      </p:sp>
      <p:sp>
        <p:nvSpPr>
          <p:cNvPr id="56" name="Shape 53"/>
          <p:cNvSpPr/>
          <p:nvPr/>
        </p:nvSpPr>
        <p:spPr>
          <a:xfrm>
            <a:off x="0" y="4892040"/>
            <a:ext cx="9144000" cy="251460"/>
          </a:xfrm>
          <a:prstGeom prst="rect">
            <a:avLst/>
          </a:prstGeom>
          <a:solidFill>
            <a:srgbClr val="071228"/>
          </a:solidFill>
          <a:ln w="12700">
            <a:solidFill>
              <a:srgbClr val="071228"/>
            </a:solidFill>
            <a:prstDash val="solid"/>
          </a:ln>
        </p:spPr>
      </p:sp>
      <p:sp>
        <p:nvSpPr>
          <p:cNvPr id="57" name="Text 54"/>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4  ·  Miercoles 22 de abril 2026</a:t>
            </a:r>
            <a:endParaRPr lang="en-US" sz="850" dirty="0"/>
          </a:p>
        </p:txBody>
      </p:sp>
      <p:sp>
        <p:nvSpPr>
          <p:cNvPr id="58" name="Text 55"/>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¿Por que funciones?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560320" cy="256032"/>
          </a:xfrm>
          <a:prstGeom prst="rect">
            <a:avLst/>
          </a:prstGeom>
          <a:solidFill>
            <a:srgbClr val="0D7A8A"/>
          </a:solidFill>
          <a:ln w="12700">
            <a:solidFill>
              <a:srgbClr val="0D7A8A"/>
            </a:solidFill>
            <a:prstDash val="solid"/>
          </a:ln>
        </p:spPr>
      </p:sp>
      <p:sp>
        <p:nvSpPr>
          <p:cNvPr id="4" name="Text 2"/>
          <p:cNvSpPr/>
          <p:nvPr/>
        </p:nvSpPr>
        <p:spPr>
          <a:xfrm>
            <a:off x="365760" y="566928"/>
            <a:ext cx="256032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T4 · FUNCIONES · ANATOMIA</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700" b="1" dirty="0">
                <a:solidFill>
                  <a:srgbClr val="FFFFFF"/>
                </a:solidFill>
              </a:rPr>
              <a:t>Anatomia de una Funcion</a:t>
            </a:r>
            <a:endParaRPr lang="en-US" sz="27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Cada pieza tiene un nombre y un proposito especifico</a:t>
            </a:r>
            <a:endParaRPr lang="en-US" sz="1200" dirty="0"/>
          </a:p>
        </p:txBody>
      </p:sp>
      <p:sp>
        <p:nvSpPr>
          <p:cNvPr id="7" name="Shape 5"/>
          <p:cNvSpPr/>
          <p:nvPr/>
        </p:nvSpPr>
        <p:spPr>
          <a:xfrm>
            <a:off x="347472" y="987552"/>
            <a:ext cx="8449056" cy="658368"/>
          </a:xfrm>
          <a:prstGeom prst="rect">
            <a:avLst/>
          </a:prstGeom>
          <a:solidFill>
            <a:srgbClr val="071228"/>
          </a:solidFill>
          <a:ln w="12700">
            <a:solidFill>
              <a:srgbClr val="0D7A8A"/>
            </a:solidFill>
            <a:prstDash val="solid"/>
          </a:ln>
        </p:spPr>
      </p:sp>
      <p:sp>
        <p:nvSpPr>
          <p:cNvPr id="8" name="Text 6"/>
          <p:cNvSpPr/>
          <p:nvPr/>
        </p:nvSpPr>
        <p:spPr>
          <a:xfrm>
            <a:off x="475488" y="1060704"/>
            <a:ext cx="8138160" cy="475488"/>
          </a:xfrm>
          <a:prstGeom prst="rect">
            <a:avLst/>
          </a:prstGeom>
          <a:noFill/>
          <a:ln/>
        </p:spPr>
        <p:txBody>
          <a:bodyPr wrap="square" lIns="0" tIns="0" rIns="0" bIns="0" rtlCol="0" anchor="ctr"/>
          <a:lstStyle/>
          <a:p>
            <a:pPr indent="0" marL="0">
              <a:buNone/>
            </a:pPr>
            <a:r>
              <a:rPr lang="en-US" sz="2200" b="1" dirty="0">
                <a:solidFill>
                  <a:srgbClr val="A8D8EA"/>
                </a:solidFill>
                <a:latin typeface="Courier New" pitchFamily="34" charset="0"/>
                <a:ea typeface="Courier New" pitchFamily="34" charset="-122"/>
                <a:cs typeface="Courier New" pitchFamily="34" charset="-120"/>
              </a:rPr>
              <a:t>def calcular_prima( suma , tasa ):</a:t>
            </a:r>
            <a:endParaRPr lang="en-US" sz="2200" dirty="0"/>
          </a:p>
        </p:txBody>
      </p:sp>
      <p:sp>
        <p:nvSpPr>
          <p:cNvPr id="9" name="Shape 7"/>
          <p:cNvSpPr/>
          <p:nvPr/>
        </p:nvSpPr>
        <p:spPr>
          <a:xfrm>
            <a:off x="347472" y="1737360"/>
            <a:ext cx="621792" cy="493776"/>
          </a:xfrm>
          <a:prstGeom prst="rect">
            <a:avLst/>
          </a:prstGeom>
          <a:solidFill>
            <a:srgbClr val="6C3483"/>
          </a:solidFill>
          <a:ln w="12700">
            <a:solidFill>
              <a:srgbClr val="6C3483"/>
            </a:solidFill>
            <a:prstDash val="solid"/>
          </a:ln>
        </p:spPr>
      </p:sp>
      <p:sp>
        <p:nvSpPr>
          <p:cNvPr id="10" name="Text 8"/>
          <p:cNvSpPr/>
          <p:nvPr/>
        </p:nvSpPr>
        <p:spPr>
          <a:xfrm>
            <a:off x="347472" y="1737360"/>
            <a:ext cx="621792" cy="493776"/>
          </a:xfrm>
          <a:prstGeom prst="rect">
            <a:avLst/>
          </a:prstGeom>
          <a:noFill/>
          <a:ln/>
        </p:spPr>
        <p:txBody>
          <a:bodyPr wrap="square" lIns="0" tIns="0" rIns="0" bIns="0" rtlCol="0" anchor="ctr"/>
          <a:lstStyle/>
          <a:p>
            <a:pPr algn="ctr" indent="0" marL="0">
              <a:buNone/>
            </a:pPr>
            <a:r>
              <a:rPr lang="en-US" sz="800" dirty="0">
                <a:solidFill>
                  <a:srgbClr val="FFFFFF"/>
                </a:solidFill>
              </a:rPr>
              <a:t>def · Palabra reservada</a:t>
            </a:r>
            <a:endParaRPr lang="en-US" sz="800" dirty="0"/>
          </a:p>
        </p:txBody>
      </p:sp>
      <p:sp>
        <p:nvSpPr>
          <p:cNvPr id="11" name="Shape 9"/>
          <p:cNvSpPr/>
          <p:nvPr/>
        </p:nvSpPr>
        <p:spPr>
          <a:xfrm>
            <a:off x="1005840" y="1737360"/>
            <a:ext cx="2103120" cy="493776"/>
          </a:xfrm>
          <a:prstGeom prst="rect">
            <a:avLst/>
          </a:prstGeom>
          <a:solidFill>
            <a:srgbClr val="0D7A8A"/>
          </a:solidFill>
          <a:ln w="12700">
            <a:solidFill>
              <a:srgbClr val="0D7A8A"/>
            </a:solidFill>
            <a:prstDash val="solid"/>
          </a:ln>
        </p:spPr>
      </p:sp>
      <p:sp>
        <p:nvSpPr>
          <p:cNvPr id="12" name="Text 10"/>
          <p:cNvSpPr/>
          <p:nvPr/>
        </p:nvSpPr>
        <p:spPr>
          <a:xfrm>
            <a:off x="1005840" y="1737360"/>
            <a:ext cx="2103120" cy="493776"/>
          </a:xfrm>
          <a:prstGeom prst="rect">
            <a:avLst/>
          </a:prstGeom>
          <a:noFill/>
          <a:ln/>
        </p:spPr>
        <p:txBody>
          <a:bodyPr wrap="square" lIns="0" tIns="0" rIns="0" bIns="0" rtlCol="0" anchor="ctr"/>
          <a:lstStyle/>
          <a:p>
            <a:pPr algn="ctr" indent="0" marL="0">
              <a:buNone/>
            </a:pPr>
            <a:r>
              <a:rPr lang="en-US" sz="800" dirty="0">
                <a:solidFill>
                  <a:srgbClr val="FFFFFF"/>
                </a:solidFill>
              </a:rPr>
              <a:t>calcular_prima · Nombre de la funcion</a:t>
            </a:r>
            <a:endParaRPr lang="en-US" sz="800" dirty="0"/>
          </a:p>
        </p:txBody>
      </p:sp>
      <p:sp>
        <p:nvSpPr>
          <p:cNvPr id="13" name="Shape 11"/>
          <p:cNvSpPr/>
          <p:nvPr/>
        </p:nvSpPr>
        <p:spPr>
          <a:xfrm>
            <a:off x="3200400" y="1737360"/>
            <a:ext cx="1463040" cy="493776"/>
          </a:xfrm>
          <a:prstGeom prst="rect">
            <a:avLst/>
          </a:prstGeom>
          <a:solidFill>
            <a:srgbClr val="F4A261"/>
          </a:solidFill>
          <a:ln w="12700">
            <a:solidFill>
              <a:srgbClr val="F4A261"/>
            </a:solidFill>
            <a:prstDash val="solid"/>
          </a:ln>
        </p:spPr>
      </p:sp>
      <p:sp>
        <p:nvSpPr>
          <p:cNvPr id="14" name="Text 12"/>
          <p:cNvSpPr/>
          <p:nvPr/>
        </p:nvSpPr>
        <p:spPr>
          <a:xfrm>
            <a:off x="3200400" y="1737360"/>
            <a:ext cx="1463040" cy="493776"/>
          </a:xfrm>
          <a:prstGeom prst="rect">
            <a:avLst/>
          </a:prstGeom>
          <a:noFill/>
          <a:ln/>
        </p:spPr>
        <p:txBody>
          <a:bodyPr wrap="square" lIns="0" tIns="0" rIns="0" bIns="0" rtlCol="0" anchor="ctr"/>
          <a:lstStyle/>
          <a:p>
            <a:pPr algn="ctr" indent="0" marL="0">
              <a:buNone/>
            </a:pPr>
            <a:r>
              <a:rPr lang="en-US" sz="800" dirty="0">
                <a:solidFill>
                  <a:srgbClr val="FFFFFF"/>
                </a:solidFill>
              </a:rPr>
              <a:t>( suma, tasa ) · Parametros que recibe</a:t>
            </a:r>
            <a:endParaRPr lang="en-US" sz="800" dirty="0"/>
          </a:p>
        </p:txBody>
      </p:sp>
      <p:sp>
        <p:nvSpPr>
          <p:cNvPr id="15" name="Shape 13"/>
          <p:cNvSpPr/>
          <p:nvPr/>
        </p:nvSpPr>
        <p:spPr>
          <a:xfrm>
            <a:off x="4754880" y="1737360"/>
            <a:ext cx="256032" cy="493776"/>
          </a:xfrm>
          <a:prstGeom prst="rect">
            <a:avLst/>
          </a:prstGeom>
          <a:solidFill>
            <a:srgbClr val="FFFFFF"/>
          </a:solidFill>
          <a:ln w="12700">
            <a:solidFill>
              <a:srgbClr val="FFFFFF"/>
            </a:solidFill>
            <a:prstDash val="solid"/>
          </a:ln>
        </p:spPr>
      </p:sp>
      <p:sp>
        <p:nvSpPr>
          <p:cNvPr id="16" name="Text 14"/>
          <p:cNvSpPr/>
          <p:nvPr/>
        </p:nvSpPr>
        <p:spPr>
          <a:xfrm>
            <a:off x="4754880" y="1737360"/>
            <a:ext cx="256032" cy="493776"/>
          </a:xfrm>
          <a:prstGeom prst="rect">
            <a:avLst/>
          </a:prstGeom>
          <a:noFill/>
          <a:ln/>
        </p:spPr>
        <p:txBody>
          <a:bodyPr wrap="square" lIns="0" tIns="0" rIns="0" bIns="0" rtlCol="0" anchor="ctr"/>
          <a:lstStyle/>
          <a:p>
            <a:pPr algn="ctr" indent="0" marL="0">
              <a:buNone/>
            </a:pPr>
            <a:r>
              <a:rPr lang="en-US" sz="800" dirty="0">
                <a:solidFill>
                  <a:srgbClr val="FFFFFF"/>
                </a:solidFill>
              </a:rPr>
              <a:t>: · Inicia el bloque</a:t>
            </a:r>
            <a:endParaRPr lang="en-US" sz="800" dirty="0"/>
          </a:p>
        </p:txBody>
      </p:sp>
      <p:sp>
        <p:nvSpPr>
          <p:cNvPr id="17" name="Shape 15"/>
          <p:cNvSpPr/>
          <p:nvPr/>
        </p:nvSpPr>
        <p:spPr>
          <a:xfrm>
            <a:off x="347472" y="2889504"/>
            <a:ext cx="8449056" cy="2029968"/>
          </a:xfrm>
          <a:prstGeom prst="rect">
            <a:avLst/>
          </a:prstGeom>
          <a:solidFill>
            <a:srgbClr val="071228"/>
          </a:solidFill>
          <a:ln w="12700">
            <a:solidFill>
              <a:srgbClr val="0D7A8A"/>
            </a:solidFill>
            <a:prstDash val="solid"/>
          </a:ln>
        </p:spPr>
      </p:sp>
      <p:sp>
        <p:nvSpPr>
          <p:cNvPr id="18" name="Text 16"/>
          <p:cNvSpPr/>
          <p:nvPr/>
        </p:nvSpPr>
        <p:spPr>
          <a:xfrm>
            <a:off x="475488" y="2944368"/>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def calcular_prima(suma, tasa):</a:t>
            </a:r>
            <a:endParaRPr lang="en-US" sz="900" dirty="0"/>
          </a:p>
        </p:txBody>
      </p:sp>
      <p:sp>
        <p:nvSpPr>
          <p:cNvPr id="19" name="Text 17"/>
          <p:cNvSpPr/>
          <p:nvPr/>
        </p:nvSpPr>
        <p:spPr>
          <a:xfrm>
            <a:off x="475488" y="3092501"/>
            <a:ext cx="8229600" cy="148133"/>
          </a:xfrm>
          <a:prstGeom prst="rect">
            <a:avLst/>
          </a:prstGeom>
          <a:noFill/>
          <a:ln/>
        </p:spPr>
        <p:txBody>
          <a:bodyPr wrap="square" lIns="0" tIns="0" rIns="0" bIns="0" rtlCol="0" anchor="ctr"/>
          <a:lstStyle/>
          <a:p>
            <a:pPr indent="0" marL="0">
              <a:buNone/>
            </a:pPr>
            <a:r>
              <a:rPr lang="en-US" sz="900" dirty="0">
                <a:solidFill>
                  <a:srgbClr val="6B8FA0"/>
                </a:solidFill>
                <a:latin typeface="Courier New" pitchFamily="34" charset="0"/>
                <a:ea typeface="Courier New" pitchFamily="34" charset="-122"/>
                <a:cs typeface="Courier New" pitchFamily="34" charset="-120"/>
              </a:rPr>
              <a:t>    # El cuerpo va INDENTADO (4 espacios)</a:t>
            </a:r>
            <a:endParaRPr lang="en-US" sz="900" dirty="0"/>
          </a:p>
        </p:txBody>
      </p:sp>
      <p:sp>
        <p:nvSpPr>
          <p:cNvPr id="20" name="Text 18"/>
          <p:cNvSpPr/>
          <p:nvPr/>
        </p:nvSpPr>
        <p:spPr>
          <a:xfrm>
            <a:off x="475488" y="3240634"/>
            <a:ext cx="8229600" cy="148133"/>
          </a:xfrm>
          <a:prstGeom prst="rect">
            <a:avLst/>
          </a:prstGeom>
          <a:noFill/>
          <a:ln/>
        </p:spPr>
        <p:txBody>
          <a:bodyPr wrap="square" lIns="0" tIns="0" rIns="0" bIns="0" rtlCol="0" anchor="ctr"/>
          <a:lstStyle/>
          <a:p>
            <a:pPr indent="0" marL="0">
              <a:buNone/>
            </a:pPr>
            <a:r>
              <a:rPr lang="en-US" sz="900" dirty="0">
                <a:solidFill>
                  <a:srgbClr val="6B8FA0"/>
                </a:solidFill>
                <a:latin typeface="Courier New" pitchFamily="34" charset="0"/>
                <a:ea typeface="Courier New" pitchFamily="34" charset="-122"/>
                <a:cs typeface="Courier New" pitchFamily="34" charset="-120"/>
              </a:rPr>
              <a:t>    # Aqui escribes lo que hace la funcion</a:t>
            </a:r>
            <a:endParaRPr lang="en-US" sz="900" dirty="0"/>
          </a:p>
        </p:txBody>
      </p:sp>
      <p:sp>
        <p:nvSpPr>
          <p:cNvPr id="21" name="Text 19"/>
          <p:cNvSpPr/>
          <p:nvPr/>
        </p:nvSpPr>
        <p:spPr>
          <a:xfrm>
            <a:off x="475488" y="3388766"/>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    prima_neta = suma * tasa * 1.15</a:t>
            </a:r>
            <a:endParaRPr lang="en-US" sz="900" dirty="0"/>
          </a:p>
        </p:txBody>
      </p:sp>
      <p:sp>
        <p:nvSpPr>
          <p:cNvPr id="22" name="Text 20"/>
          <p:cNvSpPr/>
          <p:nvPr/>
        </p:nvSpPr>
        <p:spPr>
          <a:xfrm>
            <a:off x="475488" y="3536899"/>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    prima_total = prima_neta * 1.16   # IVA</a:t>
            </a:r>
            <a:endParaRPr lang="en-US" sz="900" dirty="0"/>
          </a:p>
        </p:txBody>
      </p:sp>
      <p:sp>
        <p:nvSpPr>
          <p:cNvPr id="23" name="Text 21"/>
          <p:cNvSpPr/>
          <p:nvPr/>
        </p:nvSpPr>
        <p:spPr>
          <a:xfrm>
            <a:off x="475488" y="3685032"/>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    return prima_total   # ← devuelve el resultado</a:t>
            </a:r>
            <a:endParaRPr lang="en-US" sz="900" dirty="0"/>
          </a:p>
        </p:txBody>
      </p:sp>
      <p:sp>
        <p:nvSpPr>
          <p:cNvPr id="24" name="Text 22"/>
          <p:cNvSpPr/>
          <p:nvPr/>
        </p:nvSpPr>
        <p:spPr>
          <a:xfrm>
            <a:off x="475488" y="3833165"/>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 </a:t>
            </a:r>
            <a:endParaRPr lang="en-US" sz="900" dirty="0"/>
          </a:p>
        </p:txBody>
      </p:sp>
      <p:sp>
        <p:nvSpPr>
          <p:cNvPr id="25" name="Text 23"/>
          <p:cNvSpPr/>
          <p:nvPr/>
        </p:nvSpPr>
        <p:spPr>
          <a:xfrm>
            <a:off x="475488" y="3981298"/>
            <a:ext cx="8229600" cy="148133"/>
          </a:xfrm>
          <a:prstGeom prst="rect">
            <a:avLst/>
          </a:prstGeom>
          <a:noFill/>
          <a:ln/>
        </p:spPr>
        <p:txBody>
          <a:bodyPr wrap="square" lIns="0" tIns="0" rIns="0" bIns="0" rtlCol="0" anchor="ctr"/>
          <a:lstStyle/>
          <a:p>
            <a:pPr indent="0" marL="0">
              <a:buNone/>
            </a:pPr>
            <a:r>
              <a:rPr lang="en-US" sz="900" dirty="0">
                <a:solidFill>
                  <a:srgbClr val="6B8FA0"/>
                </a:solidFill>
                <a:latin typeface="Courier New" pitchFamily="34" charset="0"/>
                <a:ea typeface="Courier New" pitchFamily="34" charset="-122"/>
                <a:cs typeface="Courier New" pitchFamily="34" charset="-120"/>
              </a:rPr>
              <a:t># Para USAR la funcion: la 'llamas' con argumentos</a:t>
            </a:r>
            <a:endParaRPr lang="en-US" sz="900" dirty="0"/>
          </a:p>
        </p:txBody>
      </p:sp>
      <p:sp>
        <p:nvSpPr>
          <p:cNvPr id="26" name="Text 24"/>
          <p:cNvSpPr/>
          <p:nvPr/>
        </p:nvSpPr>
        <p:spPr>
          <a:xfrm>
            <a:off x="475488" y="4129430"/>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resultado = calcular_prima(500_000, 0.022)</a:t>
            </a:r>
            <a:endParaRPr lang="en-US" sz="900" dirty="0"/>
          </a:p>
        </p:txBody>
      </p:sp>
      <p:sp>
        <p:nvSpPr>
          <p:cNvPr id="27" name="Text 25"/>
          <p:cNvSpPr/>
          <p:nvPr/>
        </p:nvSpPr>
        <p:spPr>
          <a:xfrm>
            <a:off x="475488" y="4277563"/>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print(f'Prima: ${resultado:,.2f}')   # Prima: $13,754.00</a:t>
            </a:r>
            <a:endParaRPr lang="en-US" sz="900" dirty="0"/>
          </a:p>
        </p:txBody>
      </p:sp>
      <p:sp>
        <p:nvSpPr>
          <p:cNvPr id="28" name="Shape 26"/>
          <p:cNvSpPr/>
          <p:nvPr/>
        </p:nvSpPr>
        <p:spPr>
          <a:xfrm>
            <a:off x="347472" y="4992624"/>
            <a:ext cx="8449056" cy="274320"/>
          </a:xfrm>
          <a:prstGeom prst="rect">
            <a:avLst/>
          </a:prstGeom>
          <a:solidFill>
            <a:srgbClr val="F4A261">
              <a:alpha val="12000"/>
            </a:srgbClr>
          </a:solidFill>
          <a:ln w="12700">
            <a:solidFill>
              <a:srgbClr val="F4A261"/>
            </a:solidFill>
            <a:prstDash val="solid"/>
          </a:ln>
        </p:spPr>
      </p:sp>
      <p:sp>
        <p:nvSpPr>
          <p:cNvPr id="29" name="Text 27"/>
          <p:cNvSpPr/>
          <p:nvPr/>
        </p:nvSpPr>
        <p:spPr>
          <a:xfrm>
            <a:off x="475488" y="5010912"/>
            <a:ext cx="8229600" cy="237744"/>
          </a:xfrm>
          <a:prstGeom prst="rect">
            <a:avLst/>
          </a:prstGeom>
          <a:noFill/>
          <a:ln/>
        </p:spPr>
        <p:txBody>
          <a:bodyPr wrap="square" lIns="0" tIns="0" rIns="0" bIns="0" rtlCol="0" anchor="ctr"/>
          <a:lstStyle/>
          <a:p>
            <a:pPr indent="0" marL="0">
              <a:buNone/>
            </a:pPr>
            <a:r>
              <a:rPr lang="en-US" sz="950" dirty="0">
                <a:solidFill>
                  <a:srgbClr val="374151"/>
                </a:solidFill>
              </a:rPr>
              <a:t>Importante: definir la funcion con def NO la ejecuta. Solo la registra en memoria. Para ejecutarla debes llamarla: calcular_prima(500_000, 0.022)</a:t>
            </a:r>
            <a:endParaRPr lang="en-US" sz="950" dirty="0"/>
          </a:p>
        </p:txBody>
      </p:sp>
      <p:sp>
        <p:nvSpPr>
          <p:cNvPr id="30" name="Shape 28"/>
          <p:cNvSpPr/>
          <p:nvPr/>
        </p:nvSpPr>
        <p:spPr>
          <a:xfrm>
            <a:off x="0" y="4892040"/>
            <a:ext cx="9144000" cy="251460"/>
          </a:xfrm>
          <a:prstGeom prst="rect">
            <a:avLst/>
          </a:prstGeom>
          <a:solidFill>
            <a:srgbClr val="071228"/>
          </a:solidFill>
          <a:ln w="12700">
            <a:solidFill>
              <a:srgbClr val="071228"/>
            </a:solidFill>
            <a:prstDash val="solid"/>
          </a:ln>
        </p:spPr>
      </p:sp>
      <p:sp>
        <p:nvSpPr>
          <p:cNvPr id="31" name="Text 29"/>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4  ·  Miercoles 22 de abril 2026</a:t>
            </a:r>
            <a:endParaRPr lang="en-US" sz="850" dirty="0"/>
          </a:p>
        </p:txBody>
      </p:sp>
      <p:sp>
        <p:nvSpPr>
          <p:cNvPr id="32" name="Text 30"/>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T4 · Anatomia</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560320" cy="256032"/>
          </a:xfrm>
          <a:prstGeom prst="rect">
            <a:avLst/>
          </a:prstGeom>
          <a:solidFill>
            <a:srgbClr val="1E8449"/>
          </a:solidFill>
          <a:ln w="12700">
            <a:solidFill>
              <a:srgbClr val="1E8449"/>
            </a:solidFill>
            <a:prstDash val="solid"/>
          </a:ln>
        </p:spPr>
      </p:sp>
      <p:sp>
        <p:nvSpPr>
          <p:cNvPr id="4" name="Text 2"/>
          <p:cNvSpPr/>
          <p:nvPr/>
        </p:nvSpPr>
        <p:spPr>
          <a:xfrm>
            <a:off x="365760" y="566928"/>
            <a:ext cx="256032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T4 · FUNCIONES · PROGRESION</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700" b="1" dirty="0">
                <a:solidFill>
                  <a:srgbClr val="0D1B3E"/>
                </a:solidFill>
              </a:rPr>
              <a:t>De Simple a Compleja: Progresion</a:t>
            </a:r>
            <a:endParaRPr lang="en-US" sz="27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0D7A8A"/>
                </a:solidFill>
              </a:rPr>
              <a:t>Las funciones se construyen de menor a mayor complejidad</a:t>
            </a:r>
            <a:endParaRPr lang="en-US" sz="1200" dirty="0"/>
          </a:p>
        </p:txBody>
      </p:sp>
      <p:sp>
        <p:nvSpPr>
          <p:cNvPr id="7" name="Shape 5"/>
          <p:cNvSpPr/>
          <p:nvPr/>
        </p:nvSpPr>
        <p:spPr>
          <a:xfrm>
            <a:off x="347472" y="1097280"/>
            <a:ext cx="438912" cy="1810512"/>
          </a:xfrm>
          <a:prstGeom prst="rect">
            <a:avLst/>
          </a:prstGeom>
          <a:solidFill>
            <a:srgbClr val="0D7A8A"/>
          </a:solidFill>
          <a:ln w="12700">
            <a:solidFill>
              <a:srgbClr val="0D7A8A"/>
            </a:solidFill>
            <a:prstDash val="solid"/>
          </a:ln>
        </p:spPr>
      </p:sp>
      <p:sp>
        <p:nvSpPr>
          <p:cNvPr id="8" name="Text 6"/>
          <p:cNvSpPr/>
          <p:nvPr/>
        </p:nvSpPr>
        <p:spPr>
          <a:xfrm>
            <a:off x="347472" y="1097280"/>
            <a:ext cx="438912" cy="1810512"/>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9" name="Shape 7"/>
          <p:cNvSpPr/>
          <p:nvPr/>
        </p:nvSpPr>
        <p:spPr>
          <a:xfrm>
            <a:off x="786384" y="1097280"/>
            <a:ext cx="3913632" cy="1810512"/>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896112" y="1170432"/>
            <a:ext cx="3712464" cy="274320"/>
          </a:xfrm>
          <a:prstGeom prst="rect">
            <a:avLst/>
          </a:prstGeom>
          <a:noFill/>
          <a:ln/>
        </p:spPr>
        <p:txBody>
          <a:bodyPr wrap="square" lIns="0" tIns="0" rIns="0" bIns="0" rtlCol="0" anchor="ctr"/>
          <a:lstStyle/>
          <a:p>
            <a:pPr indent="0" marL="0">
              <a:buNone/>
            </a:pPr>
            <a:r>
              <a:rPr lang="en-US" sz="1200" b="1" dirty="0">
                <a:solidFill>
                  <a:srgbClr val="0D7A8A"/>
                </a:solidFill>
              </a:rPr>
              <a:t>Nivel 1: Sin parametros</a:t>
            </a:r>
            <a:endParaRPr lang="en-US" sz="1200" dirty="0"/>
          </a:p>
        </p:txBody>
      </p:sp>
      <p:sp>
        <p:nvSpPr>
          <p:cNvPr id="11" name="Shape 9"/>
          <p:cNvSpPr/>
          <p:nvPr/>
        </p:nvSpPr>
        <p:spPr>
          <a:xfrm>
            <a:off x="896112" y="1481328"/>
            <a:ext cx="3639312" cy="1298448"/>
          </a:xfrm>
          <a:prstGeom prst="rect">
            <a:avLst/>
          </a:prstGeom>
          <a:solidFill>
            <a:srgbClr val="071228"/>
          </a:solidFill>
          <a:ln w="12700">
            <a:solidFill>
              <a:srgbClr val="0D7A8A"/>
            </a:solidFill>
            <a:prstDash val="solid"/>
          </a:ln>
        </p:spPr>
      </p:sp>
      <p:sp>
        <p:nvSpPr>
          <p:cNvPr id="12" name="Text 10"/>
          <p:cNvSpPr/>
          <p:nvPr/>
        </p:nvSpPr>
        <p:spPr>
          <a:xfrm>
            <a:off x="987552" y="1536192"/>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saludar():</a:t>
            </a:r>
            <a:endParaRPr lang="en-US" sz="850" dirty="0"/>
          </a:p>
        </p:txBody>
      </p:sp>
      <p:sp>
        <p:nvSpPr>
          <p:cNvPr id="13" name="Text 11"/>
          <p:cNvSpPr/>
          <p:nvPr/>
        </p:nvSpPr>
        <p:spPr>
          <a:xfrm>
            <a:off x="987552" y="1778508"/>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print('Bienvenido al diplomado')</a:t>
            </a:r>
            <a:endParaRPr lang="en-US" sz="850" dirty="0"/>
          </a:p>
        </p:txBody>
      </p:sp>
      <p:sp>
        <p:nvSpPr>
          <p:cNvPr id="14" name="Text 12"/>
          <p:cNvSpPr/>
          <p:nvPr/>
        </p:nvSpPr>
        <p:spPr>
          <a:xfrm>
            <a:off x="987552" y="2020824"/>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5" name="Text 13"/>
          <p:cNvSpPr/>
          <p:nvPr/>
        </p:nvSpPr>
        <p:spPr>
          <a:xfrm>
            <a:off x="987552" y="2263140"/>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saludar()   # llamada sin argumentos</a:t>
            </a:r>
            <a:endParaRPr lang="en-US" sz="850" dirty="0"/>
          </a:p>
        </p:txBody>
      </p:sp>
      <p:sp>
        <p:nvSpPr>
          <p:cNvPr id="16" name="Text 14"/>
          <p:cNvSpPr/>
          <p:nvPr/>
        </p:nvSpPr>
        <p:spPr>
          <a:xfrm>
            <a:off x="987552" y="2505456"/>
            <a:ext cx="3456432" cy="242316"/>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Bienvenido al diplomado</a:t>
            </a:r>
            <a:endParaRPr lang="en-US" sz="850" dirty="0"/>
          </a:p>
        </p:txBody>
      </p:sp>
      <p:sp>
        <p:nvSpPr>
          <p:cNvPr id="17" name="Shape 15"/>
          <p:cNvSpPr/>
          <p:nvPr/>
        </p:nvSpPr>
        <p:spPr>
          <a:xfrm>
            <a:off x="4809744" y="1097280"/>
            <a:ext cx="438912" cy="1810512"/>
          </a:xfrm>
          <a:prstGeom prst="rect">
            <a:avLst/>
          </a:prstGeom>
          <a:solidFill>
            <a:srgbClr val="1A5276"/>
          </a:solidFill>
          <a:ln w="12700">
            <a:solidFill>
              <a:srgbClr val="1A5276"/>
            </a:solidFill>
            <a:prstDash val="solid"/>
          </a:ln>
        </p:spPr>
      </p:sp>
      <p:sp>
        <p:nvSpPr>
          <p:cNvPr id="18" name="Text 16"/>
          <p:cNvSpPr/>
          <p:nvPr/>
        </p:nvSpPr>
        <p:spPr>
          <a:xfrm>
            <a:off x="4809744" y="1097280"/>
            <a:ext cx="438912" cy="1810512"/>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9" name="Shape 17"/>
          <p:cNvSpPr/>
          <p:nvPr/>
        </p:nvSpPr>
        <p:spPr>
          <a:xfrm>
            <a:off x="5248656" y="1097280"/>
            <a:ext cx="3913632" cy="1810512"/>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20" name="Text 18"/>
          <p:cNvSpPr/>
          <p:nvPr/>
        </p:nvSpPr>
        <p:spPr>
          <a:xfrm>
            <a:off x="5358384" y="1170432"/>
            <a:ext cx="3712464" cy="274320"/>
          </a:xfrm>
          <a:prstGeom prst="rect">
            <a:avLst/>
          </a:prstGeom>
          <a:noFill/>
          <a:ln/>
        </p:spPr>
        <p:txBody>
          <a:bodyPr wrap="square" lIns="0" tIns="0" rIns="0" bIns="0" rtlCol="0" anchor="ctr"/>
          <a:lstStyle/>
          <a:p>
            <a:pPr indent="0" marL="0">
              <a:buNone/>
            </a:pPr>
            <a:r>
              <a:rPr lang="en-US" sz="1200" b="1" dirty="0">
                <a:solidFill>
                  <a:srgbClr val="1A5276"/>
                </a:solidFill>
              </a:rPr>
              <a:t>Nivel 2: Con un parametro</a:t>
            </a:r>
            <a:endParaRPr lang="en-US" sz="1200" dirty="0"/>
          </a:p>
        </p:txBody>
      </p:sp>
      <p:sp>
        <p:nvSpPr>
          <p:cNvPr id="21" name="Shape 19"/>
          <p:cNvSpPr/>
          <p:nvPr/>
        </p:nvSpPr>
        <p:spPr>
          <a:xfrm>
            <a:off x="5358384" y="1481328"/>
            <a:ext cx="3639312" cy="1298448"/>
          </a:xfrm>
          <a:prstGeom prst="rect">
            <a:avLst/>
          </a:prstGeom>
          <a:solidFill>
            <a:srgbClr val="071228"/>
          </a:solidFill>
          <a:ln w="12700">
            <a:solidFill>
              <a:srgbClr val="0D7A8A"/>
            </a:solidFill>
            <a:prstDash val="solid"/>
          </a:ln>
        </p:spPr>
      </p:sp>
      <p:sp>
        <p:nvSpPr>
          <p:cNvPr id="22" name="Text 20"/>
          <p:cNvSpPr/>
          <p:nvPr/>
        </p:nvSpPr>
        <p:spPr>
          <a:xfrm>
            <a:off x="5449824" y="1536192"/>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saludar(nombre):</a:t>
            </a:r>
            <a:endParaRPr lang="en-US" sz="850" dirty="0"/>
          </a:p>
        </p:txBody>
      </p:sp>
      <p:sp>
        <p:nvSpPr>
          <p:cNvPr id="23" name="Text 21"/>
          <p:cNvSpPr/>
          <p:nvPr/>
        </p:nvSpPr>
        <p:spPr>
          <a:xfrm>
            <a:off x="5449824" y="1778508"/>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print(f'Bienvenido, {nombre}')</a:t>
            </a:r>
            <a:endParaRPr lang="en-US" sz="850" dirty="0"/>
          </a:p>
        </p:txBody>
      </p:sp>
      <p:sp>
        <p:nvSpPr>
          <p:cNvPr id="24" name="Text 22"/>
          <p:cNvSpPr/>
          <p:nvPr/>
        </p:nvSpPr>
        <p:spPr>
          <a:xfrm>
            <a:off x="5449824" y="2020824"/>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5" name="Text 23"/>
          <p:cNvSpPr/>
          <p:nvPr/>
        </p:nvSpPr>
        <p:spPr>
          <a:xfrm>
            <a:off x="5449824" y="2263140"/>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saludar('Ana')</a:t>
            </a:r>
            <a:endParaRPr lang="en-US" sz="850" dirty="0"/>
          </a:p>
        </p:txBody>
      </p:sp>
      <p:sp>
        <p:nvSpPr>
          <p:cNvPr id="26" name="Text 24"/>
          <p:cNvSpPr/>
          <p:nvPr/>
        </p:nvSpPr>
        <p:spPr>
          <a:xfrm>
            <a:off x="5449824" y="2505456"/>
            <a:ext cx="3456432" cy="242316"/>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Bienvenido, Ana</a:t>
            </a:r>
            <a:endParaRPr lang="en-US" sz="850" dirty="0"/>
          </a:p>
        </p:txBody>
      </p:sp>
      <p:sp>
        <p:nvSpPr>
          <p:cNvPr id="27" name="Shape 25"/>
          <p:cNvSpPr/>
          <p:nvPr/>
        </p:nvSpPr>
        <p:spPr>
          <a:xfrm>
            <a:off x="347472" y="3035808"/>
            <a:ext cx="438912" cy="1810512"/>
          </a:xfrm>
          <a:prstGeom prst="rect">
            <a:avLst/>
          </a:prstGeom>
          <a:solidFill>
            <a:srgbClr val="1E8449"/>
          </a:solidFill>
          <a:ln w="12700">
            <a:solidFill>
              <a:srgbClr val="1E8449"/>
            </a:solidFill>
            <a:prstDash val="solid"/>
          </a:ln>
        </p:spPr>
      </p:sp>
      <p:sp>
        <p:nvSpPr>
          <p:cNvPr id="28" name="Text 26"/>
          <p:cNvSpPr/>
          <p:nvPr/>
        </p:nvSpPr>
        <p:spPr>
          <a:xfrm>
            <a:off x="347472" y="3035808"/>
            <a:ext cx="438912" cy="1810512"/>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29" name="Shape 27"/>
          <p:cNvSpPr/>
          <p:nvPr/>
        </p:nvSpPr>
        <p:spPr>
          <a:xfrm>
            <a:off x="786384" y="3035808"/>
            <a:ext cx="3913632" cy="1810512"/>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30" name="Text 28"/>
          <p:cNvSpPr/>
          <p:nvPr/>
        </p:nvSpPr>
        <p:spPr>
          <a:xfrm>
            <a:off x="896112" y="3108960"/>
            <a:ext cx="3712464" cy="274320"/>
          </a:xfrm>
          <a:prstGeom prst="rect">
            <a:avLst/>
          </a:prstGeom>
          <a:noFill/>
          <a:ln/>
        </p:spPr>
        <p:txBody>
          <a:bodyPr wrap="square" lIns="0" tIns="0" rIns="0" bIns="0" rtlCol="0" anchor="ctr"/>
          <a:lstStyle/>
          <a:p>
            <a:pPr indent="0" marL="0">
              <a:buNone/>
            </a:pPr>
            <a:r>
              <a:rPr lang="en-US" sz="1200" b="1" dirty="0">
                <a:solidFill>
                  <a:srgbClr val="1E8449"/>
                </a:solidFill>
              </a:rPr>
              <a:t>Nivel 3: Con return</a:t>
            </a:r>
            <a:endParaRPr lang="en-US" sz="1200" dirty="0"/>
          </a:p>
        </p:txBody>
      </p:sp>
      <p:sp>
        <p:nvSpPr>
          <p:cNvPr id="31" name="Shape 29"/>
          <p:cNvSpPr/>
          <p:nvPr/>
        </p:nvSpPr>
        <p:spPr>
          <a:xfrm>
            <a:off x="896112" y="3419856"/>
            <a:ext cx="3639312" cy="1298448"/>
          </a:xfrm>
          <a:prstGeom prst="rect">
            <a:avLst/>
          </a:prstGeom>
          <a:solidFill>
            <a:srgbClr val="071228"/>
          </a:solidFill>
          <a:ln w="12700">
            <a:solidFill>
              <a:srgbClr val="0D7A8A"/>
            </a:solidFill>
            <a:prstDash val="solid"/>
          </a:ln>
        </p:spPr>
      </p:sp>
      <p:sp>
        <p:nvSpPr>
          <p:cNvPr id="32" name="Text 30"/>
          <p:cNvSpPr/>
          <p:nvPr/>
        </p:nvSpPr>
        <p:spPr>
          <a:xfrm>
            <a:off x="987552" y="3474720"/>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prima_pura(suma, tasa):</a:t>
            </a:r>
            <a:endParaRPr lang="en-US" sz="850" dirty="0"/>
          </a:p>
        </p:txBody>
      </p:sp>
      <p:sp>
        <p:nvSpPr>
          <p:cNvPr id="33" name="Text 31"/>
          <p:cNvSpPr/>
          <p:nvPr/>
        </p:nvSpPr>
        <p:spPr>
          <a:xfrm>
            <a:off x="987552" y="3717036"/>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suma * tasa</a:t>
            </a:r>
            <a:endParaRPr lang="en-US" sz="850" dirty="0"/>
          </a:p>
        </p:txBody>
      </p:sp>
      <p:sp>
        <p:nvSpPr>
          <p:cNvPr id="34" name="Text 32"/>
          <p:cNvSpPr/>
          <p:nvPr/>
        </p:nvSpPr>
        <p:spPr>
          <a:xfrm>
            <a:off x="987552" y="3959352"/>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5" name="Text 33"/>
          <p:cNvSpPr/>
          <p:nvPr/>
        </p:nvSpPr>
        <p:spPr>
          <a:xfrm>
            <a:off x="987552" y="4201668"/>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 = prima_pura(500_000, 0.022)</a:t>
            </a:r>
            <a:endParaRPr lang="en-US" sz="850" dirty="0"/>
          </a:p>
        </p:txBody>
      </p:sp>
      <p:sp>
        <p:nvSpPr>
          <p:cNvPr id="36" name="Text 34"/>
          <p:cNvSpPr/>
          <p:nvPr/>
        </p:nvSpPr>
        <p:spPr>
          <a:xfrm>
            <a:off x="987552" y="4443984"/>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print(f'${p:,.2f}')  # $11,000.00</a:t>
            </a:r>
            <a:endParaRPr lang="en-US" sz="850" dirty="0"/>
          </a:p>
        </p:txBody>
      </p:sp>
      <p:sp>
        <p:nvSpPr>
          <p:cNvPr id="37" name="Shape 35"/>
          <p:cNvSpPr/>
          <p:nvPr/>
        </p:nvSpPr>
        <p:spPr>
          <a:xfrm>
            <a:off x="4809744" y="3035808"/>
            <a:ext cx="438912" cy="1810512"/>
          </a:xfrm>
          <a:prstGeom prst="rect">
            <a:avLst/>
          </a:prstGeom>
          <a:solidFill>
            <a:srgbClr val="6C3483"/>
          </a:solidFill>
          <a:ln w="12700">
            <a:solidFill>
              <a:srgbClr val="6C3483"/>
            </a:solidFill>
            <a:prstDash val="solid"/>
          </a:ln>
        </p:spPr>
      </p:sp>
      <p:sp>
        <p:nvSpPr>
          <p:cNvPr id="38" name="Text 36"/>
          <p:cNvSpPr/>
          <p:nvPr/>
        </p:nvSpPr>
        <p:spPr>
          <a:xfrm>
            <a:off x="4809744" y="3035808"/>
            <a:ext cx="438912" cy="1810512"/>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39" name="Shape 37"/>
          <p:cNvSpPr/>
          <p:nvPr/>
        </p:nvSpPr>
        <p:spPr>
          <a:xfrm>
            <a:off x="5248656" y="3035808"/>
            <a:ext cx="3913632" cy="1810512"/>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40" name="Text 38"/>
          <p:cNvSpPr/>
          <p:nvPr/>
        </p:nvSpPr>
        <p:spPr>
          <a:xfrm>
            <a:off x="5358384" y="3108960"/>
            <a:ext cx="3712464" cy="274320"/>
          </a:xfrm>
          <a:prstGeom prst="rect">
            <a:avLst/>
          </a:prstGeom>
          <a:noFill/>
          <a:ln/>
        </p:spPr>
        <p:txBody>
          <a:bodyPr wrap="square" lIns="0" tIns="0" rIns="0" bIns="0" rtlCol="0" anchor="ctr"/>
          <a:lstStyle/>
          <a:p>
            <a:pPr indent="0" marL="0">
              <a:buNone/>
            </a:pPr>
            <a:r>
              <a:rPr lang="en-US" sz="1200" b="1" dirty="0">
                <a:solidFill>
                  <a:srgbClr val="6C3483"/>
                </a:solidFill>
              </a:rPr>
              <a:t>Nivel 4: Con valor por defecto</a:t>
            </a:r>
            <a:endParaRPr lang="en-US" sz="1200" dirty="0"/>
          </a:p>
        </p:txBody>
      </p:sp>
      <p:sp>
        <p:nvSpPr>
          <p:cNvPr id="41" name="Shape 39"/>
          <p:cNvSpPr/>
          <p:nvPr/>
        </p:nvSpPr>
        <p:spPr>
          <a:xfrm>
            <a:off x="5358384" y="3419856"/>
            <a:ext cx="3639312" cy="1298448"/>
          </a:xfrm>
          <a:prstGeom prst="rect">
            <a:avLst/>
          </a:prstGeom>
          <a:solidFill>
            <a:srgbClr val="071228"/>
          </a:solidFill>
          <a:ln w="12700">
            <a:solidFill>
              <a:srgbClr val="0D7A8A"/>
            </a:solidFill>
            <a:prstDash val="solid"/>
          </a:ln>
        </p:spPr>
      </p:sp>
      <p:sp>
        <p:nvSpPr>
          <p:cNvPr id="42" name="Text 40"/>
          <p:cNvSpPr/>
          <p:nvPr/>
        </p:nvSpPr>
        <p:spPr>
          <a:xfrm>
            <a:off x="5449824" y="3474720"/>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prima(suma, tasa, iva=1.16):</a:t>
            </a:r>
            <a:endParaRPr lang="en-US" sz="850" dirty="0"/>
          </a:p>
        </p:txBody>
      </p:sp>
      <p:sp>
        <p:nvSpPr>
          <p:cNvPr id="43" name="Text 41"/>
          <p:cNvSpPr/>
          <p:nvPr/>
        </p:nvSpPr>
        <p:spPr>
          <a:xfrm>
            <a:off x="5449824" y="3717036"/>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suma * tasa * iva</a:t>
            </a:r>
            <a:endParaRPr lang="en-US" sz="850" dirty="0"/>
          </a:p>
        </p:txBody>
      </p:sp>
      <p:sp>
        <p:nvSpPr>
          <p:cNvPr id="44" name="Text 42"/>
          <p:cNvSpPr/>
          <p:nvPr/>
        </p:nvSpPr>
        <p:spPr>
          <a:xfrm>
            <a:off x="5449824" y="3959352"/>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5" name="Text 43"/>
          <p:cNvSpPr/>
          <p:nvPr/>
        </p:nvSpPr>
        <p:spPr>
          <a:xfrm>
            <a:off x="5449824" y="4201668"/>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prima(500_000, 0.022)       # usa iva=1.16</a:t>
            </a:r>
            <a:endParaRPr lang="en-US" sz="850" dirty="0"/>
          </a:p>
        </p:txBody>
      </p:sp>
      <p:sp>
        <p:nvSpPr>
          <p:cNvPr id="46" name="Text 44"/>
          <p:cNvSpPr/>
          <p:nvPr/>
        </p:nvSpPr>
        <p:spPr>
          <a:xfrm>
            <a:off x="5449824" y="4443984"/>
            <a:ext cx="3456432" cy="242316"/>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prima(500_000, 0.022, 1.08) # iva diferente</a:t>
            </a:r>
            <a:endParaRPr lang="en-US" sz="850" dirty="0"/>
          </a:p>
        </p:txBody>
      </p:sp>
      <p:sp>
        <p:nvSpPr>
          <p:cNvPr id="47" name="Shape 45"/>
          <p:cNvSpPr/>
          <p:nvPr/>
        </p:nvSpPr>
        <p:spPr>
          <a:xfrm>
            <a:off x="0" y="4892040"/>
            <a:ext cx="9144000" cy="251460"/>
          </a:xfrm>
          <a:prstGeom prst="rect">
            <a:avLst/>
          </a:prstGeom>
          <a:solidFill>
            <a:srgbClr val="071228"/>
          </a:solidFill>
          <a:ln w="12700">
            <a:solidFill>
              <a:srgbClr val="071228"/>
            </a:solidFill>
            <a:prstDash val="solid"/>
          </a:ln>
        </p:spPr>
      </p:sp>
      <p:sp>
        <p:nvSpPr>
          <p:cNvPr id="48" name="Text 46"/>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4  ·  Miercoles 22 de abril 2026</a:t>
            </a:r>
            <a:endParaRPr lang="en-US" sz="850" dirty="0"/>
          </a:p>
        </p:txBody>
      </p:sp>
      <p:sp>
        <p:nvSpPr>
          <p:cNvPr id="49" name="Text 47"/>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T4 · Progresion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560320" cy="256032"/>
          </a:xfrm>
          <a:prstGeom prst="rect">
            <a:avLst/>
          </a:prstGeom>
          <a:solidFill>
            <a:srgbClr val="0D7A8A"/>
          </a:solidFill>
          <a:ln w="12700">
            <a:solidFill>
              <a:srgbClr val="0D7A8A"/>
            </a:solidFill>
            <a:prstDash val="solid"/>
          </a:ln>
        </p:spPr>
      </p:sp>
      <p:sp>
        <p:nvSpPr>
          <p:cNvPr id="4" name="Text 2"/>
          <p:cNvSpPr/>
          <p:nvPr/>
        </p:nvSpPr>
        <p:spPr>
          <a:xfrm>
            <a:off x="365760" y="566928"/>
            <a:ext cx="256032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T4 · FUNCIONES · PARAMETROS</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700" b="1" dirty="0">
                <a:solidFill>
                  <a:srgbClr val="FFFFFF"/>
                </a:solidFill>
              </a:rPr>
              <a:t>Parametros: Como Pasar Datos a una Funcion</a:t>
            </a:r>
            <a:endParaRPr lang="en-US" sz="27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Distintas formas de comunicarle informacion a tu funcion</a:t>
            </a:r>
            <a:endParaRPr lang="en-US" sz="1200" dirty="0"/>
          </a:p>
        </p:txBody>
      </p:sp>
      <p:sp>
        <p:nvSpPr>
          <p:cNvPr id="7" name="Shape 5"/>
          <p:cNvSpPr/>
          <p:nvPr/>
        </p:nvSpPr>
        <p:spPr>
          <a:xfrm>
            <a:off x="347472" y="1024128"/>
            <a:ext cx="2560320" cy="1188720"/>
          </a:xfrm>
          <a:prstGeom prst="rect">
            <a:avLst/>
          </a:prstGeom>
          <a:solidFill>
            <a:srgbClr val="0D7A8A"/>
          </a:solidFill>
          <a:ln w="12700">
            <a:solidFill>
              <a:srgbClr val="0D7A8A"/>
            </a:solidFill>
            <a:prstDash val="solid"/>
          </a:ln>
        </p:spPr>
      </p:sp>
      <p:sp>
        <p:nvSpPr>
          <p:cNvPr id="8" name="Text 6"/>
          <p:cNvSpPr/>
          <p:nvPr/>
        </p:nvSpPr>
        <p:spPr>
          <a:xfrm>
            <a:off x="438912" y="1115568"/>
            <a:ext cx="2377440" cy="329184"/>
          </a:xfrm>
          <a:prstGeom prst="rect">
            <a:avLst/>
          </a:prstGeom>
          <a:noFill/>
          <a:ln/>
        </p:spPr>
        <p:txBody>
          <a:bodyPr wrap="square" lIns="0" tIns="0" rIns="0" bIns="0" rtlCol="0" anchor="ctr"/>
          <a:lstStyle/>
          <a:p>
            <a:pPr indent="0" marL="0">
              <a:buNone/>
            </a:pPr>
            <a:r>
              <a:rPr lang="en-US" sz="1100" b="1" dirty="0">
                <a:solidFill>
                  <a:srgbClr val="FFFFFF"/>
                </a:solidFill>
              </a:rPr>
              <a:t>Parametros obligatorios</a:t>
            </a:r>
            <a:endParaRPr lang="en-US" sz="1100" dirty="0"/>
          </a:p>
        </p:txBody>
      </p:sp>
      <p:sp>
        <p:nvSpPr>
          <p:cNvPr id="9" name="Text 7"/>
          <p:cNvSpPr/>
          <p:nvPr/>
        </p:nvSpPr>
        <p:spPr>
          <a:xfrm>
            <a:off x="438912" y="1463040"/>
            <a:ext cx="2377440" cy="694944"/>
          </a:xfrm>
          <a:prstGeom prst="rect">
            <a:avLst/>
          </a:prstGeom>
          <a:noFill/>
          <a:ln/>
        </p:spPr>
        <p:txBody>
          <a:bodyPr wrap="square" lIns="0" tIns="0" rIns="0" bIns="0" rtlCol="0" anchor="ctr"/>
          <a:lstStyle/>
          <a:p>
            <a:pPr indent="0" marL="0">
              <a:buNone/>
            </a:pPr>
            <a:r>
              <a:rPr lang="en-US" sz="950" dirty="0">
                <a:solidFill>
                  <a:srgbClr val="FFFFFF"/>
                </a:solidFill>
              </a:rPr>
              <a:t>Deben pasarse siempre. Si no se pasan, Python lanza un TypeError.</a:t>
            </a:r>
            <a:endParaRPr lang="en-US" sz="950" dirty="0"/>
          </a:p>
        </p:txBody>
      </p:sp>
      <p:sp>
        <p:nvSpPr>
          <p:cNvPr id="10" name="Shape 8"/>
          <p:cNvSpPr/>
          <p:nvPr/>
        </p:nvSpPr>
        <p:spPr>
          <a:xfrm>
            <a:off x="3017520" y="1024128"/>
            <a:ext cx="5779008" cy="1188720"/>
          </a:xfrm>
          <a:prstGeom prst="rect">
            <a:avLst/>
          </a:prstGeom>
          <a:solidFill>
            <a:srgbClr val="071228"/>
          </a:solidFill>
          <a:ln w="12700">
            <a:solidFill>
              <a:srgbClr val="0D7A8A"/>
            </a:solidFill>
            <a:prstDash val="solid"/>
          </a:ln>
        </p:spPr>
      </p:sp>
      <p:sp>
        <p:nvSpPr>
          <p:cNvPr id="11" name="Text 9"/>
          <p:cNvSpPr/>
          <p:nvPr/>
        </p:nvSpPr>
        <p:spPr>
          <a:xfrm>
            <a:off x="3145536" y="1115568"/>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 recargo):</a:t>
            </a:r>
            <a:endParaRPr lang="en-US" sz="850" dirty="0"/>
          </a:p>
        </p:txBody>
      </p:sp>
      <p:sp>
        <p:nvSpPr>
          <p:cNvPr id="12" name="Text 10"/>
          <p:cNvSpPr/>
          <p:nvPr/>
        </p:nvSpPr>
        <p:spPr>
          <a:xfrm>
            <a:off x="3145536" y="1293876"/>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suma * tasa * (1 + recargo) * 1.16</a:t>
            </a:r>
            <a:endParaRPr lang="en-US" sz="850" dirty="0"/>
          </a:p>
        </p:txBody>
      </p:sp>
      <p:sp>
        <p:nvSpPr>
          <p:cNvPr id="13" name="Text 11"/>
          <p:cNvSpPr/>
          <p:nvPr/>
        </p:nvSpPr>
        <p:spPr>
          <a:xfrm>
            <a:off x="3145536" y="1472184"/>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4" name="Text 12"/>
          <p:cNvSpPr/>
          <p:nvPr/>
        </p:nvSpPr>
        <p:spPr>
          <a:xfrm>
            <a:off x="3145536" y="1650492"/>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calcular_prima(500_000, 0.022, 0.15)  # OK</a:t>
            </a:r>
            <a:endParaRPr lang="en-US" sz="850" dirty="0"/>
          </a:p>
        </p:txBody>
      </p:sp>
      <p:sp>
        <p:nvSpPr>
          <p:cNvPr id="15" name="Text 13"/>
          <p:cNvSpPr/>
          <p:nvPr/>
        </p:nvSpPr>
        <p:spPr>
          <a:xfrm>
            <a:off x="3145536" y="1828800"/>
            <a:ext cx="5522976" cy="178308"/>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calcular_prima(500_000, 0.022)  # TypeError!</a:t>
            </a:r>
            <a:endParaRPr lang="en-US" sz="850" dirty="0"/>
          </a:p>
        </p:txBody>
      </p:sp>
      <p:sp>
        <p:nvSpPr>
          <p:cNvPr id="16" name="Shape 14"/>
          <p:cNvSpPr/>
          <p:nvPr/>
        </p:nvSpPr>
        <p:spPr>
          <a:xfrm>
            <a:off x="347472" y="2322576"/>
            <a:ext cx="2560320" cy="1188720"/>
          </a:xfrm>
          <a:prstGeom prst="rect">
            <a:avLst/>
          </a:prstGeom>
          <a:solidFill>
            <a:srgbClr val="1A5276"/>
          </a:solidFill>
          <a:ln w="12700">
            <a:solidFill>
              <a:srgbClr val="1A5276"/>
            </a:solidFill>
            <a:prstDash val="solid"/>
          </a:ln>
        </p:spPr>
      </p:sp>
      <p:sp>
        <p:nvSpPr>
          <p:cNvPr id="17" name="Text 15"/>
          <p:cNvSpPr/>
          <p:nvPr/>
        </p:nvSpPr>
        <p:spPr>
          <a:xfrm>
            <a:off x="438912" y="2414016"/>
            <a:ext cx="2377440" cy="329184"/>
          </a:xfrm>
          <a:prstGeom prst="rect">
            <a:avLst/>
          </a:prstGeom>
          <a:noFill/>
          <a:ln/>
        </p:spPr>
        <p:txBody>
          <a:bodyPr wrap="square" lIns="0" tIns="0" rIns="0" bIns="0" rtlCol="0" anchor="ctr"/>
          <a:lstStyle/>
          <a:p>
            <a:pPr indent="0" marL="0">
              <a:buNone/>
            </a:pPr>
            <a:r>
              <a:rPr lang="en-US" sz="1100" b="1" dirty="0">
                <a:solidFill>
                  <a:srgbClr val="FFFFFF"/>
                </a:solidFill>
              </a:rPr>
              <a:t>Parametros con valor por defecto</a:t>
            </a:r>
            <a:endParaRPr lang="en-US" sz="1100" dirty="0"/>
          </a:p>
        </p:txBody>
      </p:sp>
      <p:sp>
        <p:nvSpPr>
          <p:cNvPr id="18" name="Text 16"/>
          <p:cNvSpPr/>
          <p:nvPr/>
        </p:nvSpPr>
        <p:spPr>
          <a:xfrm>
            <a:off x="438912" y="2761488"/>
            <a:ext cx="2377440" cy="694944"/>
          </a:xfrm>
          <a:prstGeom prst="rect">
            <a:avLst/>
          </a:prstGeom>
          <a:noFill/>
          <a:ln/>
        </p:spPr>
        <p:txBody>
          <a:bodyPr wrap="square" lIns="0" tIns="0" rIns="0" bIns="0" rtlCol="0" anchor="ctr"/>
          <a:lstStyle/>
          <a:p>
            <a:pPr indent="0" marL="0">
              <a:buNone/>
            </a:pPr>
            <a:r>
              <a:rPr lang="en-US" sz="950" dirty="0">
                <a:solidFill>
                  <a:srgbClr val="FFFFFF"/>
                </a:solidFill>
              </a:rPr>
              <a:t>Si no se pasan, usan el valor predefinido. Deben ir DESPUES de los obligatorios.</a:t>
            </a:r>
            <a:endParaRPr lang="en-US" sz="950" dirty="0"/>
          </a:p>
        </p:txBody>
      </p:sp>
      <p:sp>
        <p:nvSpPr>
          <p:cNvPr id="19" name="Shape 17"/>
          <p:cNvSpPr/>
          <p:nvPr/>
        </p:nvSpPr>
        <p:spPr>
          <a:xfrm>
            <a:off x="3017520" y="2322576"/>
            <a:ext cx="5779008" cy="1188720"/>
          </a:xfrm>
          <a:prstGeom prst="rect">
            <a:avLst/>
          </a:prstGeom>
          <a:solidFill>
            <a:srgbClr val="071228"/>
          </a:solidFill>
          <a:ln w="12700">
            <a:solidFill>
              <a:srgbClr val="0D7A8A"/>
            </a:solidFill>
            <a:prstDash val="solid"/>
          </a:ln>
        </p:spPr>
      </p:sp>
      <p:sp>
        <p:nvSpPr>
          <p:cNvPr id="20" name="Text 18"/>
          <p:cNvSpPr/>
          <p:nvPr/>
        </p:nvSpPr>
        <p:spPr>
          <a:xfrm>
            <a:off x="3145536" y="2414016"/>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 recargo=0.15, iva=1.16):</a:t>
            </a:r>
            <a:endParaRPr lang="en-US" sz="850" dirty="0"/>
          </a:p>
        </p:txBody>
      </p:sp>
      <p:sp>
        <p:nvSpPr>
          <p:cNvPr id="21" name="Text 19"/>
          <p:cNvSpPr/>
          <p:nvPr/>
        </p:nvSpPr>
        <p:spPr>
          <a:xfrm>
            <a:off x="3145536" y="2592324"/>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suma * tasa * (1 + recargo) * iva</a:t>
            </a:r>
            <a:endParaRPr lang="en-US" sz="850" dirty="0"/>
          </a:p>
        </p:txBody>
      </p:sp>
      <p:sp>
        <p:nvSpPr>
          <p:cNvPr id="22" name="Text 20"/>
          <p:cNvSpPr/>
          <p:nvPr/>
        </p:nvSpPr>
        <p:spPr>
          <a:xfrm>
            <a:off x="3145536" y="2770632"/>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3" name="Text 21"/>
          <p:cNvSpPr/>
          <p:nvPr/>
        </p:nvSpPr>
        <p:spPr>
          <a:xfrm>
            <a:off x="3145536" y="2948940"/>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calcular_prima(500_000, 0.022)           # recargo=0.15, iva=1.16</a:t>
            </a:r>
            <a:endParaRPr lang="en-US" sz="850" dirty="0"/>
          </a:p>
        </p:txBody>
      </p:sp>
      <p:sp>
        <p:nvSpPr>
          <p:cNvPr id="24" name="Text 22"/>
          <p:cNvSpPr/>
          <p:nvPr/>
        </p:nvSpPr>
        <p:spPr>
          <a:xfrm>
            <a:off x="3145536" y="3127248"/>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calcular_prima(500_000, 0.022, 0.20)     # recargo=0.20</a:t>
            </a:r>
            <a:endParaRPr lang="en-US" sz="850" dirty="0"/>
          </a:p>
        </p:txBody>
      </p:sp>
      <p:sp>
        <p:nvSpPr>
          <p:cNvPr id="25" name="Text 23"/>
          <p:cNvSpPr/>
          <p:nvPr/>
        </p:nvSpPr>
        <p:spPr>
          <a:xfrm>
            <a:off x="3145536" y="3305556"/>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calcular_prima(500_000, 0.022, iva=1.08) # solo cambia iva</a:t>
            </a:r>
            <a:endParaRPr lang="en-US" sz="850" dirty="0"/>
          </a:p>
        </p:txBody>
      </p:sp>
      <p:sp>
        <p:nvSpPr>
          <p:cNvPr id="26" name="Shape 24"/>
          <p:cNvSpPr/>
          <p:nvPr/>
        </p:nvSpPr>
        <p:spPr>
          <a:xfrm>
            <a:off x="347472" y="3621024"/>
            <a:ext cx="2560320" cy="1188720"/>
          </a:xfrm>
          <a:prstGeom prst="rect">
            <a:avLst/>
          </a:prstGeom>
          <a:solidFill>
            <a:srgbClr val="1E8449"/>
          </a:solidFill>
          <a:ln w="12700">
            <a:solidFill>
              <a:srgbClr val="1E8449"/>
            </a:solidFill>
            <a:prstDash val="solid"/>
          </a:ln>
        </p:spPr>
      </p:sp>
      <p:sp>
        <p:nvSpPr>
          <p:cNvPr id="27" name="Text 25"/>
          <p:cNvSpPr/>
          <p:nvPr/>
        </p:nvSpPr>
        <p:spPr>
          <a:xfrm>
            <a:off x="438912" y="3712464"/>
            <a:ext cx="2377440" cy="329184"/>
          </a:xfrm>
          <a:prstGeom prst="rect">
            <a:avLst/>
          </a:prstGeom>
          <a:noFill/>
          <a:ln/>
        </p:spPr>
        <p:txBody>
          <a:bodyPr wrap="square" lIns="0" tIns="0" rIns="0" bIns="0" rtlCol="0" anchor="ctr"/>
          <a:lstStyle/>
          <a:p>
            <a:pPr indent="0" marL="0">
              <a:buNone/>
            </a:pPr>
            <a:r>
              <a:rPr lang="en-US" sz="1100" b="1" dirty="0">
                <a:solidFill>
                  <a:srgbClr val="FFFFFF"/>
                </a:solidFill>
              </a:rPr>
              <a:t>Argumentos con nombre (keyword args)</a:t>
            </a:r>
            <a:endParaRPr lang="en-US" sz="1100" dirty="0"/>
          </a:p>
        </p:txBody>
      </p:sp>
      <p:sp>
        <p:nvSpPr>
          <p:cNvPr id="28" name="Text 26"/>
          <p:cNvSpPr/>
          <p:nvPr/>
        </p:nvSpPr>
        <p:spPr>
          <a:xfrm>
            <a:off x="438912" y="4059936"/>
            <a:ext cx="2377440" cy="694944"/>
          </a:xfrm>
          <a:prstGeom prst="rect">
            <a:avLst/>
          </a:prstGeom>
          <a:noFill/>
          <a:ln/>
        </p:spPr>
        <p:txBody>
          <a:bodyPr wrap="square" lIns="0" tIns="0" rIns="0" bIns="0" rtlCol="0" anchor="ctr"/>
          <a:lstStyle/>
          <a:p>
            <a:pPr indent="0" marL="0">
              <a:buNone/>
            </a:pPr>
            <a:r>
              <a:rPr lang="en-US" sz="950" dirty="0">
                <a:solidFill>
                  <a:srgbClr val="FFFFFF"/>
                </a:solidFill>
              </a:rPr>
              <a:t>Puedes pasar los argumentos en cualquier orden si usas el nombre del parametro.</a:t>
            </a:r>
            <a:endParaRPr lang="en-US" sz="950" dirty="0"/>
          </a:p>
        </p:txBody>
      </p:sp>
      <p:sp>
        <p:nvSpPr>
          <p:cNvPr id="29" name="Shape 27"/>
          <p:cNvSpPr/>
          <p:nvPr/>
        </p:nvSpPr>
        <p:spPr>
          <a:xfrm>
            <a:off x="3017520" y="3621024"/>
            <a:ext cx="5779008" cy="1188720"/>
          </a:xfrm>
          <a:prstGeom prst="rect">
            <a:avLst/>
          </a:prstGeom>
          <a:solidFill>
            <a:srgbClr val="071228"/>
          </a:solidFill>
          <a:ln w="12700">
            <a:solidFill>
              <a:srgbClr val="0D7A8A"/>
            </a:solidFill>
            <a:prstDash val="solid"/>
          </a:ln>
        </p:spPr>
      </p:sp>
      <p:sp>
        <p:nvSpPr>
          <p:cNvPr id="30" name="Text 28"/>
          <p:cNvSpPr/>
          <p:nvPr/>
        </p:nvSpPr>
        <p:spPr>
          <a:xfrm>
            <a:off x="3145536" y="3712464"/>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emitir_poliza(nombre, suma, ramo, activa=True):</a:t>
            </a:r>
            <a:endParaRPr lang="en-US" sz="850" dirty="0"/>
          </a:p>
        </p:txBody>
      </p:sp>
      <p:sp>
        <p:nvSpPr>
          <p:cNvPr id="31" name="Text 29"/>
          <p:cNvSpPr/>
          <p:nvPr/>
        </p:nvSpPr>
        <p:spPr>
          <a:xfrm>
            <a:off x="3145536" y="3890772"/>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f'{ramo}: {nombre} - ${suma:,}'</a:t>
            </a:r>
            <a:endParaRPr lang="en-US" sz="850" dirty="0"/>
          </a:p>
        </p:txBody>
      </p:sp>
      <p:sp>
        <p:nvSpPr>
          <p:cNvPr id="32" name="Text 30"/>
          <p:cNvSpPr/>
          <p:nvPr/>
        </p:nvSpPr>
        <p:spPr>
          <a:xfrm>
            <a:off x="3145536" y="4069080"/>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3" name="Text 31"/>
          <p:cNvSpPr/>
          <p:nvPr/>
        </p:nvSpPr>
        <p:spPr>
          <a:xfrm>
            <a:off x="3145536" y="4247388"/>
            <a:ext cx="5522976" cy="178308"/>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Sin nombres: el orden IMPORTA</a:t>
            </a:r>
            <a:endParaRPr lang="en-US" sz="850" dirty="0"/>
          </a:p>
        </p:txBody>
      </p:sp>
      <p:sp>
        <p:nvSpPr>
          <p:cNvPr id="34" name="Text 32"/>
          <p:cNvSpPr/>
          <p:nvPr/>
        </p:nvSpPr>
        <p:spPr>
          <a:xfrm>
            <a:off x="3145536" y="4425696"/>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emitir_poliza('Ana', 500_000, 'GMM')</a:t>
            </a:r>
            <a:endParaRPr lang="en-US" sz="850" dirty="0"/>
          </a:p>
        </p:txBody>
      </p:sp>
      <p:sp>
        <p:nvSpPr>
          <p:cNvPr id="35" name="Text 33"/>
          <p:cNvSpPr/>
          <p:nvPr/>
        </p:nvSpPr>
        <p:spPr>
          <a:xfrm>
            <a:off x="3145536" y="4604004"/>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6" name="Text 34"/>
          <p:cNvSpPr/>
          <p:nvPr/>
        </p:nvSpPr>
        <p:spPr>
          <a:xfrm>
            <a:off x="3145536" y="4782312"/>
            <a:ext cx="5522976" cy="178308"/>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Con nombres: el orden NO importa</a:t>
            </a:r>
            <a:endParaRPr lang="en-US" sz="850" dirty="0"/>
          </a:p>
        </p:txBody>
      </p:sp>
      <p:sp>
        <p:nvSpPr>
          <p:cNvPr id="37" name="Text 35"/>
          <p:cNvSpPr/>
          <p:nvPr/>
        </p:nvSpPr>
        <p:spPr>
          <a:xfrm>
            <a:off x="3145536" y="4960620"/>
            <a:ext cx="5522976" cy="178308"/>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emitir_poliza(suma=500_000, nombre='Ana', ramo='GMM')</a:t>
            </a:r>
            <a:endParaRPr lang="en-US" sz="850" dirty="0"/>
          </a:p>
        </p:txBody>
      </p:sp>
      <p:sp>
        <p:nvSpPr>
          <p:cNvPr id="38" name="Shape 36"/>
          <p:cNvSpPr/>
          <p:nvPr/>
        </p:nvSpPr>
        <p:spPr>
          <a:xfrm>
            <a:off x="0" y="4892040"/>
            <a:ext cx="9144000" cy="251460"/>
          </a:xfrm>
          <a:prstGeom prst="rect">
            <a:avLst/>
          </a:prstGeom>
          <a:solidFill>
            <a:srgbClr val="071228"/>
          </a:solidFill>
          <a:ln w="12700">
            <a:solidFill>
              <a:srgbClr val="071228"/>
            </a:solidFill>
            <a:prstDash val="solid"/>
          </a:ln>
        </p:spPr>
      </p:sp>
      <p:sp>
        <p:nvSpPr>
          <p:cNvPr id="39" name="Text 37"/>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4  ·  Miercoles 22 de abril 2026</a:t>
            </a:r>
            <a:endParaRPr lang="en-US" sz="850" dirty="0"/>
          </a:p>
        </p:txBody>
      </p:sp>
      <p:sp>
        <p:nvSpPr>
          <p:cNvPr id="40" name="Text 38"/>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T4 · Parametros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560320" cy="256032"/>
          </a:xfrm>
          <a:prstGeom prst="rect">
            <a:avLst/>
          </a:prstGeom>
          <a:solidFill>
            <a:srgbClr val="1E8449"/>
          </a:solidFill>
          <a:ln w="12700">
            <a:solidFill>
              <a:srgbClr val="1E8449"/>
            </a:solidFill>
            <a:prstDash val="solid"/>
          </a:ln>
        </p:spPr>
      </p:sp>
      <p:sp>
        <p:nvSpPr>
          <p:cNvPr id="4" name="Text 2"/>
          <p:cNvSpPr/>
          <p:nvPr/>
        </p:nvSpPr>
        <p:spPr>
          <a:xfrm>
            <a:off x="365760" y="566928"/>
            <a:ext cx="256032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T4 · FUNCIONES · RETURN</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700" b="1" dirty="0">
                <a:solidFill>
                  <a:srgbClr val="0D1B3E"/>
                </a:solidFill>
              </a:rPr>
              <a:t>return: Devolver Resultados</a:t>
            </a:r>
            <a:endParaRPr lang="en-US" sz="27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0D7A8A"/>
                </a:solidFill>
              </a:rPr>
              <a:t>La diferencia entre una funcion que muestra algo y una que produce algo</a:t>
            </a:r>
            <a:endParaRPr lang="en-US" sz="1200" dirty="0"/>
          </a:p>
        </p:txBody>
      </p:sp>
      <p:sp>
        <p:nvSpPr>
          <p:cNvPr id="7" name="Shape 5"/>
          <p:cNvSpPr/>
          <p:nvPr/>
        </p:nvSpPr>
        <p:spPr>
          <a:xfrm>
            <a:off x="347472" y="987552"/>
            <a:ext cx="4005072" cy="2395728"/>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47472" y="987552"/>
            <a:ext cx="4005072" cy="347472"/>
          </a:xfrm>
          <a:prstGeom prst="rect">
            <a:avLst/>
          </a:prstGeom>
          <a:solidFill>
            <a:srgbClr val="C0392B"/>
          </a:solidFill>
          <a:ln w="12700">
            <a:solidFill>
              <a:srgbClr val="C0392B"/>
            </a:solidFill>
            <a:prstDash val="solid"/>
          </a:ln>
        </p:spPr>
      </p:sp>
      <p:pic>
        <p:nvPicPr>
          <p:cNvPr id="9" name="Image 0" descr="preencoded.png">    </p:cNvPr>
          <p:cNvPicPr>
            <a:picLocks noChangeAspect="1"/>
          </p:cNvPicPr>
          <p:nvPr/>
        </p:nvPicPr>
        <p:blipFill>
          <a:blip r:embed="rId1"/>
          <a:stretch>
            <a:fillRect/>
          </a:stretch>
        </p:blipFill>
        <p:spPr>
          <a:xfrm>
            <a:off x="457200" y="1024128"/>
            <a:ext cx="274320" cy="274320"/>
          </a:xfrm>
          <a:prstGeom prst="rect">
            <a:avLst/>
          </a:prstGeom>
        </p:spPr>
      </p:pic>
      <p:sp>
        <p:nvSpPr>
          <p:cNvPr id="10" name="Text 7"/>
          <p:cNvSpPr/>
          <p:nvPr/>
        </p:nvSpPr>
        <p:spPr>
          <a:xfrm>
            <a:off x="822960" y="1033272"/>
            <a:ext cx="3383280" cy="274320"/>
          </a:xfrm>
          <a:prstGeom prst="rect">
            <a:avLst/>
          </a:prstGeom>
          <a:noFill/>
          <a:ln/>
        </p:spPr>
        <p:txBody>
          <a:bodyPr wrap="square" lIns="0" tIns="0" rIns="0" bIns="0" rtlCol="0" anchor="ctr"/>
          <a:lstStyle/>
          <a:p>
            <a:pPr indent="0" marL="0">
              <a:buNone/>
            </a:pPr>
            <a:r>
              <a:rPr lang="en-US" sz="1100" b="1" dirty="0">
                <a:solidFill>
                  <a:srgbClr val="FFFFFF"/>
                </a:solidFill>
              </a:rPr>
              <a:t>Con print (NO reutilizable)</a:t>
            </a:r>
            <a:endParaRPr lang="en-US" sz="1100" dirty="0"/>
          </a:p>
        </p:txBody>
      </p:sp>
      <p:sp>
        <p:nvSpPr>
          <p:cNvPr id="11" name="Shape 8"/>
          <p:cNvSpPr/>
          <p:nvPr/>
        </p:nvSpPr>
        <p:spPr>
          <a:xfrm>
            <a:off x="457200" y="1389888"/>
            <a:ext cx="3785616" cy="1353312"/>
          </a:xfrm>
          <a:prstGeom prst="rect">
            <a:avLst/>
          </a:prstGeom>
          <a:solidFill>
            <a:srgbClr val="071228"/>
          </a:solidFill>
          <a:ln w="12700">
            <a:solidFill>
              <a:srgbClr val="0D7A8A"/>
            </a:solidFill>
            <a:prstDash val="solid"/>
          </a:ln>
        </p:spPr>
      </p:sp>
      <p:sp>
        <p:nvSpPr>
          <p:cNvPr id="12" name="Text 9"/>
          <p:cNvSpPr/>
          <p:nvPr/>
        </p:nvSpPr>
        <p:spPr>
          <a:xfrm>
            <a:off x="566928" y="1444752"/>
            <a:ext cx="356616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prima_con_print(suma, tasa):</a:t>
            </a:r>
            <a:endParaRPr lang="en-US" sz="850" dirty="0"/>
          </a:p>
        </p:txBody>
      </p:sp>
      <p:sp>
        <p:nvSpPr>
          <p:cNvPr id="13" name="Text 10"/>
          <p:cNvSpPr/>
          <p:nvPr/>
        </p:nvSpPr>
        <p:spPr>
          <a:xfrm>
            <a:off x="566928" y="1592885"/>
            <a:ext cx="356616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resultado = suma * tasa * 1.16</a:t>
            </a:r>
            <a:endParaRPr lang="en-US" sz="850" dirty="0"/>
          </a:p>
        </p:txBody>
      </p:sp>
      <p:sp>
        <p:nvSpPr>
          <p:cNvPr id="14" name="Text 11"/>
          <p:cNvSpPr/>
          <p:nvPr/>
        </p:nvSpPr>
        <p:spPr>
          <a:xfrm>
            <a:off x="566928" y="1741018"/>
            <a:ext cx="356616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print(resultado)   # solo muestra</a:t>
            </a:r>
            <a:endParaRPr lang="en-US" sz="850" dirty="0"/>
          </a:p>
        </p:txBody>
      </p:sp>
      <p:sp>
        <p:nvSpPr>
          <p:cNvPr id="15" name="Text 12"/>
          <p:cNvSpPr/>
          <p:nvPr/>
        </p:nvSpPr>
        <p:spPr>
          <a:xfrm>
            <a:off x="566928" y="1889150"/>
            <a:ext cx="356616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6" name="Text 13"/>
          <p:cNvSpPr/>
          <p:nvPr/>
        </p:nvSpPr>
        <p:spPr>
          <a:xfrm>
            <a:off x="566928" y="2037283"/>
            <a:ext cx="356616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El resultado NO se puede guardar</a:t>
            </a:r>
            <a:endParaRPr lang="en-US" sz="850" dirty="0"/>
          </a:p>
        </p:txBody>
      </p:sp>
      <p:sp>
        <p:nvSpPr>
          <p:cNvPr id="17" name="Text 14"/>
          <p:cNvSpPr/>
          <p:nvPr/>
        </p:nvSpPr>
        <p:spPr>
          <a:xfrm>
            <a:off x="566928" y="2185416"/>
            <a:ext cx="356616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 = prima_con_print(500_000, 0.022)</a:t>
            </a:r>
            <a:endParaRPr lang="en-US" sz="850" dirty="0"/>
          </a:p>
        </p:txBody>
      </p:sp>
      <p:sp>
        <p:nvSpPr>
          <p:cNvPr id="18" name="Text 15"/>
          <p:cNvSpPr/>
          <p:nvPr/>
        </p:nvSpPr>
        <p:spPr>
          <a:xfrm>
            <a:off x="566928" y="2333549"/>
            <a:ext cx="356616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print(p)  # ← imprime None!</a:t>
            </a:r>
            <a:endParaRPr lang="en-US" sz="850" dirty="0"/>
          </a:p>
        </p:txBody>
      </p:sp>
      <p:sp>
        <p:nvSpPr>
          <p:cNvPr id="19" name="Text 16"/>
          <p:cNvSpPr/>
          <p:nvPr/>
        </p:nvSpPr>
        <p:spPr>
          <a:xfrm>
            <a:off x="566928" y="2481682"/>
            <a:ext cx="356616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No puedes hacer: p * 12</a:t>
            </a:r>
            <a:endParaRPr lang="en-US" sz="850" dirty="0"/>
          </a:p>
        </p:txBody>
      </p:sp>
      <p:sp>
        <p:nvSpPr>
          <p:cNvPr id="20" name="Shape 17"/>
          <p:cNvSpPr/>
          <p:nvPr/>
        </p:nvSpPr>
        <p:spPr>
          <a:xfrm>
            <a:off x="4663440" y="987552"/>
            <a:ext cx="4133088" cy="2395728"/>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21" name="Shape 18"/>
          <p:cNvSpPr/>
          <p:nvPr/>
        </p:nvSpPr>
        <p:spPr>
          <a:xfrm>
            <a:off x="4663440" y="987552"/>
            <a:ext cx="4133088" cy="347472"/>
          </a:xfrm>
          <a:prstGeom prst="rect">
            <a:avLst/>
          </a:prstGeom>
          <a:solidFill>
            <a:srgbClr val="1E8449"/>
          </a:solidFill>
          <a:ln w="12700">
            <a:solidFill>
              <a:srgbClr val="1E8449"/>
            </a:solidFill>
            <a:prstDash val="solid"/>
          </a:ln>
        </p:spPr>
      </p:sp>
      <p:pic>
        <p:nvPicPr>
          <p:cNvPr id="22" name="Image 1" descr="preencoded.png">    </p:cNvPr>
          <p:cNvPicPr>
            <a:picLocks noChangeAspect="1"/>
          </p:cNvPicPr>
          <p:nvPr/>
        </p:nvPicPr>
        <p:blipFill>
          <a:blip r:embed="rId2"/>
          <a:stretch>
            <a:fillRect/>
          </a:stretch>
        </p:blipFill>
        <p:spPr>
          <a:xfrm>
            <a:off x="4773168" y="1024128"/>
            <a:ext cx="274320" cy="274320"/>
          </a:xfrm>
          <a:prstGeom prst="rect">
            <a:avLst/>
          </a:prstGeom>
        </p:spPr>
      </p:pic>
      <p:sp>
        <p:nvSpPr>
          <p:cNvPr id="23" name="Text 19"/>
          <p:cNvSpPr/>
          <p:nvPr/>
        </p:nvSpPr>
        <p:spPr>
          <a:xfrm>
            <a:off x="5138928" y="1033272"/>
            <a:ext cx="3474720" cy="274320"/>
          </a:xfrm>
          <a:prstGeom prst="rect">
            <a:avLst/>
          </a:prstGeom>
          <a:noFill/>
          <a:ln/>
        </p:spPr>
        <p:txBody>
          <a:bodyPr wrap="square" lIns="0" tIns="0" rIns="0" bIns="0" rtlCol="0" anchor="ctr"/>
          <a:lstStyle/>
          <a:p>
            <a:pPr indent="0" marL="0">
              <a:buNone/>
            </a:pPr>
            <a:r>
              <a:rPr lang="en-US" sz="1100" b="1" dirty="0">
                <a:solidFill>
                  <a:srgbClr val="FFFFFF"/>
                </a:solidFill>
              </a:rPr>
              <a:t>Con return (reutilizable)</a:t>
            </a:r>
            <a:endParaRPr lang="en-US" sz="1100" dirty="0"/>
          </a:p>
        </p:txBody>
      </p:sp>
      <p:sp>
        <p:nvSpPr>
          <p:cNvPr id="24" name="Shape 20"/>
          <p:cNvSpPr/>
          <p:nvPr/>
        </p:nvSpPr>
        <p:spPr>
          <a:xfrm>
            <a:off x="4773168" y="1389888"/>
            <a:ext cx="3913632" cy="1353312"/>
          </a:xfrm>
          <a:prstGeom prst="rect">
            <a:avLst/>
          </a:prstGeom>
          <a:solidFill>
            <a:srgbClr val="071228"/>
          </a:solidFill>
          <a:ln w="12700">
            <a:solidFill>
              <a:srgbClr val="0D7A8A"/>
            </a:solidFill>
            <a:prstDash val="solid"/>
          </a:ln>
        </p:spPr>
      </p:sp>
      <p:sp>
        <p:nvSpPr>
          <p:cNvPr id="25" name="Text 21"/>
          <p:cNvSpPr/>
          <p:nvPr/>
        </p:nvSpPr>
        <p:spPr>
          <a:xfrm>
            <a:off x="4882896" y="1444752"/>
            <a:ext cx="369417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prima_con_return(suma, tasa):</a:t>
            </a:r>
            <a:endParaRPr lang="en-US" sz="850" dirty="0"/>
          </a:p>
        </p:txBody>
      </p:sp>
      <p:sp>
        <p:nvSpPr>
          <p:cNvPr id="26" name="Text 22"/>
          <p:cNvSpPr/>
          <p:nvPr/>
        </p:nvSpPr>
        <p:spPr>
          <a:xfrm>
            <a:off x="4882896" y="1592885"/>
            <a:ext cx="369417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resultado = suma * tasa * 1.16</a:t>
            </a:r>
            <a:endParaRPr lang="en-US" sz="850" dirty="0"/>
          </a:p>
        </p:txBody>
      </p:sp>
      <p:sp>
        <p:nvSpPr>
          <p:cNvPr id="27" name="Text 23"/>
          <p:cNvSpPr/>
          <p:nvPr/>
        </p:nvSpPr>
        <p:spPr>
          <a:xfrm>
            <a:off x="4882896" y="1741018"/>
            <a:ext cx="369417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resultado   # produce el valor</a:t>
            </a:r>
            <a:endParaRPr lang="en-US" sz="850" dirty="0"/>
          </a:p>
        </p:txBody>
      </p:sp>
      <p:sp>
        <p:nvSpPr>
          <p:cNvPr id="28" name="Text 24"/>
          <p:cNvSpPr/>
          <p:nvPr/>
        </p:nvSpPr>
        <p:spPr>
          <a:xfrm>
            <a:off x="4882896" y="1889150"/>
            <a:ext cx="369417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9" name="Text 25"/>
          <p:cNvSpPr/>
          <p:nvPr/>
        </p:nvSpPr>
        <p:spPr>
          <a:xfrm>
            <a:off x="4882896" y="2037283"/>
            <a:ext cx="3694176"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El resultado SI se puede guardar</a:t>
            </a:r>
            <a:endParaRPr lang="en-US" sz="850" dirty="0"/>
          </a:p>
        </p:txBody>
      </p:sp>
      <p:sp>
        <p:nvSpPr>
          <p:cNvPr id="30" name="Text 26"/>
          <p:cNvSpPr/>
          <p:nvPr/>
        </p:nvSpPr>
        <p:spPr>
          <a:xfrm>
            <a:off x="4882896" y="2185416"/>
            <a:ext cx="369417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 = prima_con_return(500_000, 0.022)</a:t>
            </a:r>
            <a:endParaRPr lang="en-US" sz="850" dirty="0"/>
          </a:p>
        </p:txBody>
      </p:sp>
      <p:sp>
        <p:nvSpPr>
          <p:cNvPr id="31" name="Text 27"/>
          <p:cNvSpPr/>
          <p:nvPr/>
        </p:nvSpPr>
        <p:spPr>
          <a:xfrm>
            <a:off x="4882896" y="2333549"/>
            <a:ext cx="369417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print(p)         # 12,760.0</a:t>
            </a:r>
            <a:endParaRPr lang="en-US" sz="850" dirty="0"/>
          </a:p>
        </p:txBody>
      </p:sp>
      <p:sp>
        <p:nvSpPr>
          <p:cNvPr id="32" name="Text 28"/>
          <p:cNvSpPr/>
          <p:nvPr/>
        </p:nvSpPr>
        <p:spPr>
          <a:xfrm>
            <a:off x="4882896" y="2481682"/>
            <a:ext cx="369417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print(p / 12)    # prima mensual</a:t>
            </a:r>
            <a:endParaRPr lang="en-US" sz="850" dirty="0"/>
          </a:p>
        </p:txBody>
      </p:sp>
      <p:sp>
        <p:nvSpPr>
          <p:cNvPr id="33" name="Text 29"/>
          <p:cNvSpPr/>
          <p:nvPr/>
        </p:nvSpPr>
        <p:spPr>
          <a:xfrm>
            <a:off x="347472" y="3511296"/>
            <a:ext cx="8412480" cy="274320"/>
          </a:xfrm>
          <a:prstGeom prst="rect">
            <a:avLst/>
          </a:prstGeom>
          <a:noFill/>
          <a:ln/>
        </p:spPr>
        <p:txBody>
          <a:bodyPr wrap="square" lIns="0" tIns="0" rIns="0" bIns="0" rtlCol="0" anchor="ctr"/>
          <a:lstStyle/>
          <a:p>
            <a:pPr indent="0" marL="0">
              <a:buNone/>
            </a:pPr>
            <a:r>
              <a:rPr lang="en-US" sz="1200" b="1" dirty="0">
                <a:solidFill>
                  <a:srgbClr val="0D1B3E"/>
                </a:solidFill>
              </a:rPr>
              <a:t>Devolver multiples valores (con tupla)</a:t>
            </a:r>
            <a:endParaRPr lang="en-US" sz="1200" dirty="0"/>
          </a:p>
        </p:txBody>
      </p:sp>
      <p:sp>
        <p:nvSpPr>
          <p:cNvPr id="34" name="Shape 30"/>
          <p:cNvSpPr/>
          <p:nvPr/>
        </p:nvSpPr>
        <p:spPr>
          <a:xfrm>
            <a:off x="347472" y="3822192"/>
            <a:ext cx="8449056" cy="1207008"/>
          </a:xfrm>
          <a:prstGeom prst="rect">
            <a:avLst/>
          </a:prstGeom>
          <a:solidFill>
            <a:srgbClr val="071228"/>
          </a:solidFill>
          <a:ln w="12700">
            <a:solidFill>
              <a:srgbClr val="0D7A8A"/>
            </a:solidFill>
            <a:prstDash val="solid"/>
          </a:ln>
        </p:spPr>
      </p:sp>
      <p:sp>
        <p:nvSpPr>
          <p:cNvPr id="35" name="Text 31"/>
          <p:cNvSpPr/>
          <p:nvPr/>
        </p:nvSpPr>
        <p:spPr>
          <a:xfrm>
            <a:off x="475488" y="3877056"/>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def metricas_cartera(primas):</a:t>
            </a:r>
            <a:endParaRPr lang="en-US" sz="900" dirty="0"/>
          </a:p>
        </p:txBody>
      </p:sp>
      <p:sp>
        <p:nvSpPr>
          <p:cNvPr id="36" name="Text 32"/>
          <p:cNvSpPr/>
          <p:nvPr/>
        </p:nvSpPr>
        <p:spPr>
          <a:xfrm>
            <a:off x="475488" y="4025189"/>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    total = sum(primas)</a:t>
            </a:r>
            <a:endParaRPr lang="en-US" sz="900" dirty="0"/>
          </a:p>
        </p:txBody>
      </p:sp>
      <p:sp>
        <p:nvSpPr>
          <p:cNvPr id="37" name="Text 33"/>
          <p:cNvSpPr/>
          <p:nvPr/>
        </p:nvSpPr>
        <p:spPr>
          <a:xfrm>
            <a:off x="475488" y="4173322"/>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    promedio = total / len(primas)</a:t>
            </a:r>
            <a:endParaRPr lang="en-US" sz="900" dirty="0"/>
          </a:p>
        </p:txBody>
      </p:sp>
      <p:sp>
        <p:nvSpPr>
          <p:cNvPr id="38" name="Text 34"/>
          <p:cNvSpPr/>
          <p:nvPr/>
        </p:nvSpPr>
        <p:spPr>
          <a:xfrm>
            <a:off x="475488" y="4321454"/>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    return total, promedio, max(primas), min(primas)  # devuelve 4 valores</a:t>
            </a:r>
            <a:endParaRPr lang="en-US" sz="900" dirty="0"/>
          </a:p>
        </p:txBody>
      </p:sp>
      <p:sp>
        <p:nvSpPr>
          <p:cNvPr id="39" name="Text 35"/>
          <p:cNvSpPr/>
          <p:nvPr/>
        </p:nvSpPr>
        <p:spPr>
          <a:xfrm>
            <a:off x="475488" y="4469587"/>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 </a:t>
            </a:r>
            <a:endParaRPr lang="en-US" sz="900" dirty="0"/>
          </a:p>
        </p:txBody>
      </p:sp>
      <p:sp>
        <p:nvSpPr>
          <p:cNvPr id="40" name="Text 36"/>
          <p:cNvSpPr/>
          <p:nvPr/>
        </p:nvSpPr>
        <p:spPr>
          <a:xfrm>
            <a:off x="475488" y="4617720"/>
            <a:ext cx="8229600" cy="148133"/>
          </a:xfrm>
          <a:prstGeom prst="rect">
            <a:avLst/>
          </a:prstGeom>
          <a:noFill/>
          <a:ln/>
        </p:spPr>
        <p:txBody>
          <a:bodyPr wrap="square" lIns="0" tIns="0" rIns="0" bIns="0" rtlCol="0" anchor="ctr"/>
          <a:lstStyle/>
          <a:p>
            <a:pPr indent="0" marL="0">
              <a:buNone/>
            </a:pPr>
            <a:r>
              <a:rPr lang="en-US" sz="900" dirty="0">
                <a:solidFill>
                  <a:srgbClr val="6B8FA0"/>
                </a:solidFill>
                <a:latin typeface="Courier New" pitchFamily="34" charset="0"/>
                <a:ea typeface="Courier New" pitchFamily="34" charset="-122"/>
                <a:cs typeface="Courier New" pitchFamily="34" charset="-120"/>
              </a:rPr>
              <a:t># Desempaquetar con multiples variables</a:t>
            </a:r>
            <a:endParaRPr lang="en-US" sz="900" dirty="0"/>
          </a:p>
        </p:txBody>
      </p:sp>
      <p:sp>
        <p:nvSpPr>
          <p:cNvPr id="41" name="Text 37"/>
          <p:cNvSpPr/>
          <p:nvPr/>
        </p:nvSpPr>
        <p:spPr>
          <a:xfrm>
            <a:off x="475488" y="4765853"/>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total, prom, maximo, minimo = metricas_cartera([2400, 6200, 1900, 14500])</a:t>
            </a:r>
            <a:endParaRPr lang="en-US" sz="900" dirty="0"/>
          </a:p>
        </p:txBody>
      </p:sp>
      <p:sp>
        <p:nvSpPr>
          <p:cNvPr id="42" name="Text 38"/>
          <p:cNvSpPr/>
          <p:nvPr/>
        </p:nvSpPr>
        <p:spPr>
          <a:xfrm>
            <a:off x="475488" y="4913986"/>
            <a:ext cx="8229600" cy="148133"/>
          </a:xfrm>
          <a:prstGeom prst="rect">
            <a:avLst/>
          </a:prstGeom>
          <a:noFill/>
          <a:ln/>
        </p:spPr>
        <p:txBody>
          <a:bodyPr wrap="square" lIns="0" tIns="0" rIns="0" bIns="0" rtlCol="0" anchor="ctr"/>
          <a:lstStyle/>
          <a:p>
            <a:pPr indent="0" marL="0">
              <a:buNone/>
            </a:pPr>
            <a:r>
              <a:rPr lang="en-US" sz="900" dirty="0">
                <a:solidFill>
                  <a:srgbClr val="A8D8EA"/>
                </a:solidFill>
                <a:latin typeface="Courier New" pitchFamily="34" charset="0"/>
                <a:ea typeface="Courier New" pitchFamily="34" charset="-122"/>
                <a:cs typeface="Courier New" pitchFamily="34" charset="-120"/>
              </a:rPr>
              <a:t>print(f'Total:${total:,} | Prom:${prom:,.2f} | Max:${maximo:,} | Min:${minimo:,}')</a:t>
            </a:r>
            <a:endParaRPr lang="en-US" sz="900" dirty="0"/>
          </a:p>
        </p:txBody>
      </p:sp>
      <p:sp>
        <p:nvSpPr>
          <p:cNvPr id="43" name="Shape 39"/>
          <p:cNvSpPr/>
          <p:nvPr/>
        </p:nvSpPr>
        <p:spPr>
          <a:xfrm>
            <a:off x="0" y="4892040"/>
            <a:ext cx="9144000" cy="251460"/>
          </a:xfrm>
          <a:prstGeom prst="rect">
            <a:avLst/>
          </a:prstGeom>
          <a:solidFill>
            <a:srgbClr val="071228"/>
          </a:solidFill>
          <a:ln w="12700">
            <a:solidFill>
              <a:srgbClr val="071228"/>
            </a:solidFill>
            <a:prstDash val="solid"/>
          </a:ln>
        </p:spPr>
      </p:sp>
      <p:sp>
        <p:nvSpPr>
          <p:cNvPr id="44" name="Text 40"/>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4  ·  Miercoles 22 de abril 2026</a:t>
            </a:r>
            <a:endParaRPr lang="en-US" sz="850" dirty="0"/>
          </a:p>
        </p:txBody>
      </p:sp>
      <p:sp>
        <p:nvSpPr>
          <p:cNvPr id="45" name="Text 41"/>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T4 · return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560320" cy="256032"/>
          </a:xfrm>
          <a:prstGeom prst="rect">
            <a:avLst/>
          </a:prstGeom>
          <a:solidFill>
            <a:srgbClr val="0D7A8A"/>
          </a:solidFill>
          <a:ln w="12700">
            <a:solidFill>
              <a:srgbClr val="0D7A8A"/>
            </a:solidFill>
            <a:prstDash val="solid"/>
          </a:ln>
        </p:spPr>
      </p:sp>
      <p:sp>
        <p:nvSpPr>
          <p:cNvPr id="4" name="Text 2"/>
          <p:cNvSpPr/>
          <p:nvPr/>
        </p:nvSpPr>
        <p:spPr>
          <a:xfrm>
            <a:off x="365760" y="566928"/>
            <a:ext cx="256032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T4 · FUNCIONES · SCOPE</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700" b="1" dirty="0">
                <a:solidFill>
                  <a:srgbClr val="FFFFFF"/>
                </a:solidFill>
              </a:rPr>
              <a:t>Scope: Las Variables Tienen un Ambito</a:t>
            </a:r>
            <a:endParaRPr lang="en-US" sz="27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Una variable dentro de una funcion NO existe fuera de ella</a:t>
            </a:r>
            <a:endParaRPr lang="en-US" sz="1200" dirty="0"/>
          </a:p>
        </p:txBody>
      </p:sp>
      <p:sp>
        <p:nvSpPr>
          <p:cNvPr id="7" name="Shape 5"/>
          <p:cNvSpPr/>
          <p:nvPr/>
        </p:nvSpPr>
        <p:spPr>
          <a:xfrm>
            <a:off x="347472" y="987552"/>
            <a:ext cx="8449056" cy="658368"/>
          </a:xfrm>
          <a:prstGeom prst="rect">
            <a:avLst/>
          </a:prstGeom>
          <a:solidFill>
            <a:srgbClr val="1A5276"/>
          </a:solidFill>
          <a:ln w="12700">
            <a:solidFill>
              <a:srgbClr val="1A5276"/>
            </a:solidFill>
            <a:prstDash val="solid"/>
          </a:ln>
          <a:effectLst>
            <a:outerShdw sx="100000" sy="100000" kx="0" ky="0" algn="bl" rotWithShape="0" blurRad="101600" dist="38100" dir="8100000">
              <a:srgbClr val="000000">
                <a:alpha val="10000"/>
              </a:srgbClr>
            </a:outerShdw>
          </a:effectLst>
        </p:spPr>
      </p:sp>
      <p:sp>
        <p:nvSpPr>
          <p:cNvPr id="8" name="Text 6"/>
          <p:cNvSpPr/>
          <p:nvPr/>
        </p:nvSpPr>
        <p:spPr>
          <a:xfrm>
            <a:off x="493776" y="1042416"/>
            <a:ext cx="8229600" cy="530352"/>
          </a:xfrm>
          <a:prstGeom prst="rect">
            <a:avLst/>
          </a:prstGeom>
          <a:noFill/>
          <a:ln/>
        </p:spPr>
        <p:txBody>
          <a:bodyPr wrap="square" lIns="0" tIns="0" rIns="0" bIns="0" rtlCol="0" anchor="ctr"/>
          <a:lstStyle/>
          <a:p>
            <a:pPr indent="0" marL="0">
              <a:buNone/>
            </a:pPr>
            <a:r>
              <a:rPr lang="en-US" sz="1100" dirty="0">
                <a:solidFill>
                  <a:srgbClr val="F0F4F8"/>
                </a:solidFill>
              </a:rPr>
              <a:t>Scope (ambito) define donde existe y es accesible una variable. Es uno de los conceptos que mas confunde a principiantes. Las variables creadas DENTRO de una funcion solo viven mientras esa funcion se ejecuta.</a:t>
            </a:r>
            <a:endParaRPr lang="en-US" sz="1100" dirty="0"/>
          </a:p>
        </p:txBody>
      </p:sp>
      <p:sp>
        <p:nvSpPr>
          <p:cNvPr id="9" name="Shape 7"/>
          <p:cNvSpPr/>
          <p:nvPr/>
        </p:nvSpPr>
        <p:spPr>
          <a:xfrm>
            <a:off x="347472" y="1755648"/>
            <a:ext cx="4315968" cy="2724912"/>
          </a:xfrm>
          <a:prstGeom prst="rect">
            <a:avLst/>
          </a:prstGeom>
          <a:solidFill>
            <a:srgbClr val="071228"/>
          </a:solidFill>
          <a:ln w="12700">
            <a:solidFill>
              <a:srgbClr val="0D7A8A"/>
            </a:solidFill>
            <a:prstDash val="solid"/>
          </a:ln>
        </p:spPr>
      </p:sp>
      <p:sp>
        <p:nvSpPr>
          <p:cNvPr id="10" name="Shape 8"/>
          <p:cNvSpPr/>
          <p:nvPr/>
        </p:nvSpPr>
        <p:spPr>
          <a:xfrm>
            <a:off x="347472" y="1755648"/>
            <a:ext cx="4315968" cy="292608"/>
          </a:xfrm>
          <a:prstGeom prst="rect">
            <a:avLst/>
          </a:prstGeom>
          <a:solidFill>
            <a:srgbClr val="C0392B"/>
          </a:solidFill>
          <a:ln w="12700">
            <a:solidFill>
              <a:srgbClr val="C0392B"/>
            </a:solidFill>
            <a:prstDash val="solid"/>
          </a:ln>
        </p:spPr>
      </p:sp>
      <p:sp>
        <p:nvSpPr>
          <p:cNvPr id="11" name="Text 9"/>
          <p:cNvSpPr/>
          <p:nvPr/>
        </p:nvSpPr>
        <p:spPr>
          <a:xfrm>
            <a:off x="475488" y="1755648"/>
            <a:ext cx="4187952" cy="292608"/>
          </a:xfrm>
          <a:prstGeom prst="rect">
            <a:avLst/>
          </a:prstGeom>
          <a:noFill/>
          <a:ln/>
        </p:spPr>
        <p:txBody>
          <a:bodyPr wrap="square" lIns="0" tIns="0" rIns="0" bIns="0" rtlCol="0" anchor="ctr"/>
          <a:lstStyle/>
          <a:p>
            <a:pPr indent="0" marL="0">
              <a:buNone/>
            </a:pPr>
            <a:r>
              <a:rPr lang="en-US" sz="950" b="1" dirty="0">
                <a:solidFill>
                  <a:srgbClr val="FFFFFF"/>
                </a:solidFill>
              </a:rPr>
              <a:t>Variable local — ERROR comun</a:t>
            </a:r>
            <a:endParaRPr lang="en-US" sz="950" dirty="0"/>
          </a:p>
        </p:txBody>
      </p:sp>
      <p:sp>
        <p:nvSpPr>
          <p:cNvPr id="12" name="Text 10"/>
          <p:cNvSpPr/>
          <p:nvPr/>
        </p:nvSpPr>
        <p:spPr>
          <a:xfrm>
            <a:off x="475488" y="2103120"/>
            <a:ext cx="405993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a:t>
            </a:r>
            <a:endParaRPr lang="en-US" sz="850" dirty="0"/>
          </a:p>
        </p:txBody>
      </p:sp>
      <p:sp>
        <p:nvSpPr>
          <p:cNvPr id="13" name="Text 11"/>
          <p:cNvSpPr/>
          <p:nvPr/>
        </p:nvSpPr>
        <p:spPr>
          <a:xfrm>
            <a:off x="475488" y="2251253"/>
            <a:ext cx="405993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prima = suma * tasa * 1.16  # local</a:t>
            </a:r>
            <a:endParaRPr lang="en-US" sz="850" dirty="0"/>
          </a:p>
        </p:txBody>
      </p:sp>
      <p:sp>
        <p:nvSpPr>
          <p:cNvPr id="14" name="Text 12"/>
          <p:cNvSpPr/>
          <p:nvPr/>
        </p:nvSpPr>
        <p:spPr>
          <a:xfrm>
            <a:off x="475488" y="2399386"/>
            <a:ext cx="405993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prima</a:t>
            </a:r>
            <a:endParaRPr lang="en-US" sz="850" dirty="0"/>
          </a:p>
        </p:txBody>
      </p:sp>
      <p:sp>
        <p:nvSpPr>
          <p:cNvPr id="15" name="Text 13"/>
          <p:cNvSpPr/>
          <p:nvPr/>
        </p:nvSpPr>
        <p:spPr>
          <a:xfrm>
            <a:off x="475488" y="2547518"/>
            <a:ext cx="405993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6" name="Text 14"/>
          <p:cNvSpPr/>
          <p:nvPr/>
        </p:nvSpPr>
        <p:spPr>
          <a:xfrm>
            <a:off x="475488" y="2695651"/>
            <a:ext cx="405993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resultado = calcular_prima(500_000, 0.022)</a:t>
            </a:r>
            <a:endParaRPr lang="en-US" sz="850" dirty="0"/>
          </a:p>
        </p:txBody>
      </p:sp>
      <p:sp>
        <p:nvSpPr>
          <p:cNvPr id="17" name="Text 15"/>
          <p:cNvSpPr/>
          <p:nvPr/>
        </p:nvSpPr>
        <p:spPr>
          <a:xfrm>
            <a:off x="475488" y="2843784"/>
            <a:ext cx="405993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print(resultado)  # 12,760.0 ← OK</a:t>
            </a:r>
            <a:endParaRPr lang="en-US" sz="850" dirty="0"/>
          </a:p>
        </p:txBody>
      </p:sp>
      <p:sp>
        <p:nvSpPr>
          <p:cNvPr id="18" name="Text 16"/>
          <p:cNvSpPr/>
          <p:nvPr/>
        </p:nvSpPr>
        <p:spPr>
          <a:xfrm>
            <a:off x="475488" y="2991917"/>
            <a:ext cx="405993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9" name="Text 17"/>
          <p:cNvSpPr/>
          <p:nvPr/>
        </p:nvSpPr>
        <p:spPr>
          <a:xfrm>
            <a:off x="475488" y="3140050"/>
            <a:ext cx="4059936"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Esto FALLA:</a:t>
            </a:r>
            <a:endParaRPr lang="en-US" sz="850" dirty="0"/>
          </a:p>
        </p:txBody>
      </p:sp>
      <p:sp>
        <p:nvSpPr>
          <p:cNvPr id="20" name="Text 18"/>
          <p:cNvSpPr/>
          <p:nvPr/>
        </p:nvSpPr>
        <p:spPr>
          <a:xfrm>
            <a:off x="475488" y="3288182"/>
            <a:ext cx="4059936"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print(prima)  # NameError: 'prima' no definida</a:t>
            </a:r>
            <a:endParaRPr lang="en-US" sz="850" dirty="0"/>
          </a:p>
        </p:txBody>
      </p:sp>
      <p:sp>
        <p:nvSpPr>
          <p:cNvPr id="21" name="Text 19"/>
          <p:cNvSpPr/>
          <p:nvPr/>
        </p:nvSpPr>
        <p:spPr>
          <a:xfrm>
            <a:off x="475488" y="3436315"/>
            <a:ext cx="4059936"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'prima' solo existe DENTRO de la funcion</a:t>
            </a:r>
            <a:endParaRPr lang="en-US" sz="850" dirty="0"/>
          </a:p>
        </p:txBody>
      </p:sp>
      <p:sp>
        <p:nvSpPr>
          <p:cNvPr id="22" name="Shape 20"/>
          <p:cNvSpPr/>
          <p:nvPr/>
        </p:nvSpPr>
        <p:spPr>
          <a:xfrm>
            <a:off x="4828032" y="1755648"/>
            <a:ext cx="3968496" cy="2724912"/>
          </a:xfrm>
          <a:prstGeom prst="rect">
            <a:avLst/>
          </a:prstGeom>
          <a:solidFill>
            <a:srgbClr val="071228"/>
          </a:solidFill>
          <a:ln w="12700">
            <a:solidFill>
              <a:srgbClr val="0D7A8A"/>
            </a:solidFill>
            <a:prstDash val="solid"/>
          </a:ln>
        </p:spPr>
      </p:sp>
      <p:sp>
        <p:nvSpPr>
          <p:cNvPr id="23" name="Shape 21"/>
          <p:cNvSpPr/>
          <p:nvPr/>
        </p:nvSpPr>
        <p:spPr>
          <a:xfrm>
            <a:off x="4828032" y="1755648"/>
            <a:ext cx="3968496" cy="292608"/>
          </a:xfrm>
          <a:prstGeom prst="rect">
            <a:avLst/>
          </a:prstGeom>
          <a:solidFill>
            <a:srgbClr val="0D7A8A"/>
          </a:solidFill>
          <a:ln w="12700">
            <a:solidFill>
              <a:srgbClr val="0D7A8A"/>
            </a:solidFill>
            <a:prstDash val="solid"/>
          </a:ln>
        </p:spPr>
      </p:sp>
      <p:sp>
        <p:nvSpPr>
          <p:cNvPr id="24" name="Text 22"/>
          <p:cNvSpPr/>
          <p:nvPr/>
        </p:nvSpPr>
        <p:spPr>
          <a:xfrm>
            <a:off x="4956048" y="1755648"/>
            <a:ext cx="3840480" cy="292608"/>
          </a:xfrm>
          <a:prstGeom prst="rect">
            <a:avLst/>
          </a:prstGeom>
          <a:noFill/>
          <a:ln/>
        </p:spPr>
        <p:txBody>
          <a:bodyPr wrap="square" lIns="0" tIns="0" rIns="0" bIns="0" rtlCol="0" anchor="ctr"/>
          <a:lstStyle/>
          <a:p>
            <a:pPr indent="0" marL="0">
              <a:buNone/>
            </a:pPr>
            <a:r>
              <a:rPr lang="en-US" sz="950" b="1" dirty="0">
                <a:solidFill>
                  <a:srgbClr val="FFFFFF"/>
                </a:solidFill>
              </a:rPr>
              <a:t>Variable global — con precaucion</a:t>
            </a:r>
            <a:endParaRPr lang="en-US" sz="950" dirty="0"/>
          </a:p>
        </p:txBody>
      </p:sp>
      <p:sp>
        <p:nvSpPr>
          <p:cNvPr id="25" name="Text 23"/>
          <p:cNvSpPr/>
          <p:nvPr/>
        </p:nvSpPr>
        <p:spPr>
          <a:xfrm>
            <a:off x="4956048" y="2103120"/>
            <a:ext cx="374904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Variable global (fuera de la funcion)</a:t>
            </a:r>
            <a:endParaRPr lang="en-US" sz="850" dirty="0"/>
          </a:p>
        </p:txBody>
      </p:sp>
      <p:sp>
        <p:nvSpPr>
          <p:cNvPr id="26" name="Text 24"/>
          <p:cNvSpPr/>
          <p:nvPr/>
        </p:nvSpPr>
        <p:spPr>
          <a:xfrm>
            <a:off x="4956048" y="2251253"/>
            <a:ext cx="374904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IVA = 1.16   # constante del programa</a:t>
            </a:r>
            <a:endParaRPr lang="en-US" sz="850" dirty="0"/>
          </a:p>
        </p:txBody>
      </p:sp>
      <p:sp>
        <p:nvSpPr>
          <p:cNvPr id="27" name="Text 25"/>
          <p:cNvSpPr/>
          <p:nvPr/>
        </p:nvSpPr>
        <p:spPr>
          <a:xfrm>
            <a:off x="4956048" y="2399386"/>
            <a:ext cx="374904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8" name="Text 26"/>
          <p:cNvSpPr/>
          <p:nvPr/>
        </p:nvSpPr>
        <p:spPr>
          <a:xfrm>
            <a:off x="4956048" y="2547518"/>
            <a:ext cx="374904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a:t>
            </a:r>
            <a:endParaRPr lang="en-US" sz="850" dirty="0"/>
          </a:p>
        </p:txBody>
      </p:sp>
      <p:sp>
        <p:nvSpPr>
          <p:cNvPr id="29" name="Text 27"/>
          <p:cNvSpPr/>
          <p:nvPr/>
        </p:nvSpPr>
        <p:spPr>
          <a:xfrm>
            <a:off x="4956048" y="2695651"/>
            <a:ext cx="374904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 Lee IVA del scope global</a:t>
            </a:r>
            <a:endParaRPr lang="en-US" sz="850" dirty="0"/>
          </a:p>
        </p:txBody>
      </p:sp>
      <p:sp>
        <p:nvSpPr>
          <p:cNvPr id="30" name="Text 28"/>
          <p:cNvSpPr/>
          <p:nvPr/>
        </p:nvSpPr>
        <p:spPr>
          <a:xfrm>
            <a:off x="4956048" y="2843784"/>
            <a:ext cx="374904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suma * tasa * IVA</a:t>
            </a:r>
            <a:endParaRPr lang="en-US" sz="850" dirty="0"/>
          </a:p>
        </p:txBody>
      </p:sp>
      <p:sp>
        <p:nvSpPr>
          <p:cNvPr id="31" name="Text 29"/>
          <p:cNvSpPr/>
          <p:nvPr/>
        </p:nvSpPr>
        <p:spPr>
          <a:xfrm>
            <a:off x="4956048" y="2991917"/>
            <a:ext cx="374904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2" name="Text 30"/>
          <p:cNvSpPr/>
          <p:nvPr/>
        </p:nvSpPr>
        <p:spPr>
          <a:xfrm>
            <a:off x="4956048" y="3140050"/>
            <a:ext cx="374904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print(calcular_prima(500_000, 0.022))</a:t>
            </a:r>
            <a:endParaRPr lang="en-US" sz="850" dirty="0"/>
          </a:p>
        </p:txBody>
      </p:sp>
      <p:sp>
        <p:nvSpPr>
          <p:cNvPr id="33" name="Text 31"/>
          <p:cNvSpPr/>
          <p:nvPr/>
        </p:nvSpPr>
        <p:spPr>
          <a:xfrm>
            <a:off x="4956048" y="3288182"/>
            <a:ext cx="374904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4" name="Text 32"/>
          <p:cNvSpPr/>
          <p:nvPr/>
        </p:nvSpPr>
        <p:spPr>
          <a:xfrm>
            <a:off x="4956048" y="3436315"/>
            <a:ext cx="374904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Recomendacion: pasa las variables</a:t>
            </a:r>
            <a:endParaRPr lang="en-US" sz="850" dirty="0"/>
          </a:p>
        </p:txBody>
      </p:sp>
      <p:sp>
        <p:nvSpPr>
          <p:cNvPr id="35" name="Text 33"/>
          <p:cNvSpPr/>
          <p:nvPr/>
        </p:nvSpPr>
        <p:spPr>
          <a:xfrm>
            <a:off x="4956048" y="3584448"/>
            <a:ext cx="3749040" cy="148133"/>
          </a:xfrm>
          <a:prstGeom prst="rect">
            <a:avLst/>
          </a:prstGeom>
          <a:noFill/>
          <a:ln/>
        </p:spPr>
        <p:txBody>
          <a:bodyPr wrap="square" lIns="0" tIns="0" rIns="0" bIns="0" rtlCol="0" anchor="ctr"/>
          <a:lstStyle/>
          <a:p>
            <a:pPr indent="0" marL="0">
              <a:buNone/>
            </a:pPr>
            <a:r>
              <a:rPr lang="en-US" sz="850" dirty="0">
                <a:solidFill>
                  <a:srgbClr val="6B8FA0"/>
                </a:solidFill>
                <a:latin typeface="Courier New" pitchFamily="34" charset="0"/>
                <a:ea typeface="Courier New" pitchFamily="34" charset="-122"/>
                <a:cs typeface="Courier New" pitchFamily="34" charset="-120"/>
              </a:rPr>
              <a:t># como parametros cuando puedas</a:t>
            </a:r>
            <a:endParaRPr lang="en-US" sz="850" dirty="0"/>
          </a:p>
        </p:txBody>
      </p:sp>
      <p:sp>
        <p:nvSpPr>
          <p:cNvPr id="36" name="Shape 34"/>
          <p:cNvSpPr/>
          <p:nvPr/>
        </p:nvSpPr>
        <p:spPr>
          <a:xfrm>
            <a:off x="347472" y="4553712"/>
            <a:ext cx="8449056" cy="402336"/>
          </a:xfrm>
          <a:prstGeom prst="rect">
            <a:avLst/>
          </a:prstGeom>
          <a:solidFill>
            <a:srgbClr val="F4A261">
              <a:alpha val="12000"/>
            </a:srgbClr>
          </a:solidFill>
          <a:ln w="12700">
            <a:solidFill>
              <a:srgbClr val="F4A261"/>
            </a:solidFill>
            <a:prstDash val="solid"/>
          </a:ln>
        </p:spPr>
      </p:sp>
      <p:pic>
        <p:nvPicPr>
          <p:cNvPr id="37" name="Image 0" descr="preencoded.png">    </p:cNvPr>
          <p:cNvPicPr>
            <a:picLocks noChangeAspect="1"/>
          </p:cNvPicPr>
          <p:nvPr/>
        </p:nvPicPr>
        <p:blipFill>
          <a:blip r:embed="rId1"/>
          <a:stretch>
            <a:fillRect/>
          </a:stretch>
        </p:blipFill>
        <p:spPr>
          <a:xfrm>
            <a:off x="475488" y="4626864"/>
            <a:ext cx="237744" cy="237744"/>
          </a:xfrm>
          <a:prstGeom prst="rect">
            <a:avLst/>
          </a:prstGeom>
        </p:spPr>
      </p:pic>
      <p:sp>
        <p:nvSpPr>
          <p:cNvPr id="38" name="Text 35"/>
          <p:cNvSpPr/>
          <p:nvPr/>
        </p:nvSpPr>
        <p:spPr>
          <a:xfrm>
            <a:off x="804672" y="4590288"/>
            <a:ext cx="7863840" cy="329184"/>
          </a:xfrm>
          <a:prstGeom prst="rect">
            <a:avLst/>
          </a:prstGeom>
          <a:noFill/>
          <a:ln/>
        </p:spPr>
        <p:txBody>
          <a:bodyPr wrap="square" lIns="0" tIns="0" rIns="0" bIns="0" rtlCol="0" anchor="ctr"/>
          <a:lstStyle/>
          <a:p>
            <a:pPr indent="0" marL="0">
              <a:buNone/>
            </a:pPr>
            <a:r>
              <a:rPr lang="en-US" sz="950" dirty="0">
                <a:solidFill>
                  <a:srgbClr val="374151"/>
                </a:solidFill>
              </a:rPr>
              <a:t>Regla practica: si una variable la necesitas fuera de la funcion, usa return para sacarla. No la declares como global a menos que sea realmente una constante del programa (como IVA).</a:t>
            </a:r>
            <a:endParaRPr lang="en-US" sz="950" dirty="0"/>
          </a:p>
        </p:txBody>
      </p:sp>
      <p:sp>
        <p:nvSpPr>
          <p:cNvPr id="39" name="Shape 36"/>
          <p:cNvSpPr/>
          <p:nvPr/>
        </p:nvSpPr>
        <p:spPr>
          <a:xfrm>
            <a:off x="0" y="4892040"/>
            <a:ext cx="9144000" cy="251460"/>
          </a:xfrm>
          <a:prstGeom prst="rect">
            <a:avLst/>
          </a:prstGeom>
          <a:solidFill>
            <a:srgbClr val="071228"/>
          </a:solidFill>
          <a:ln w="12700">
            <a:solidFill>
              <a:srgbClr val="071228"/>
            </a:solidFill>
            <a:prstDash val="solid"/>
          </a:ln>
        </p:spPr>
      </p:sp>
      <p:sp>
        <p:nvSpPr>
          <p:cNvPr id="40" name="Text 37"/>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4  ·  Miercoles 22 de abril 2026</a:t>
            </a:r>
            <a:endParaRPr lang="en-US" sz="850" dirty="0"/>
          </a:p>
        </p:txBody>
      </p:sp>
      <p:sp>
        <p:nvSpPr>
          <p:cNvPr id="41" name="Text 38"/>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T4 · Scope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Shape 1"/>
          <p:cNvSpPr/>
          <p:nvPr/>
        </p:nvSpPr>
        <p:spPr>
          <a:xfrm>
            <a:off x="365760" y="566928"/>
            <a:ext cx="2560320" cy="256032"/>
          </a:xfrm>
          <a:prstGeom prst="rect">
            <a:avLst/>
          </a:prstGeom>
          <a:solidFill>
            <a:srgbClr val="1E8449"/>
          </a:solidFill>
          <a:ln w="12700">
            <a:solidFill>
              <a:srgbClr val="1E8449"/>
            </a:solidFill>
            <a:prstDash val="solid"/>
          </a:ln>
        </p:spPr>
      </p:sp>
      <p:sp>
        <p:nvSpPr>
          <p:cNvPr id="4" name="Text 2"/>
          <p:cNvSpPr/>
          <p:nvPr/>
        </p:nvSpPr>
        <p:spPr>
          <a:xfrm>
            <a:off x="365760" y="566928"/>
            <a:ext cx="2560320" cy="256032"/>
          </a:xfrm>
          <a:prstGeom prst="rect">
            <a:avLst/>
          </a:prstGeom>
          <a:noFill/>
          <a:ln/>
        </p:spPr>
        <p:txBody>
          <a:bodyPr wrap="square" lIns="0" tIns="0" rIns="0" bIns="0" rtlCol="0" anchor="ctr"/>
          <a:lstStyle/>
          <a:p>
            <a:pPr algn="ctr" indent="0" marL="0">
              <a:buNone/>
            </a:pPr>
            <a:r>
              <a:rPr lang="en-US" sz="850" b="1" spc="200" kern="0" dirty="0">
                <a:solidFill>
                  <a:srgbClr val="FFFFFF"/>
                </a:solidFill>
              </a:rPr>
              <a:t>T4 · BUENAS PRACTICAS</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700" b="1" dirty="0">
                <a:solidFill>
                  <a:srgbClr val="0D1B3E"/>
                </a:solidFill>
              </a:rPr>
              <a:t>Docstrings y PEP8</a:t>
            </a:r>
            <a:endParaRPr lang="en-US" sz="27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0D7A8A"/>
                </a:solidFill>
              </a:rPr>
              <a:t>Documentar y escribir codigo legible — estandar de la industria</a:t>
            </a:r>
            <a:endParaRPr lang="en-US" sz="1200" dirty="0"/>
          </a:p>
        </p:txBody>
      </p:sp>
      <p:sp>
        <p:nvSpPr>
          <p:cNvPr id="7" name="Shape 5"/>
          <p:cNvSpPr/>
          <p:nvPr/>
        </p:nvSpPr>
        <p:spPr>
          <a:xfrm>
            <a:off x="347472" y="987552"/>
            <a:ext cx="8449056" cy="566928"/>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0000"/>
              </a:srgbClr>
            </a:outerShdw>
          </a:effectLst>
        </p:spPr>
      </p:sp>
      <p:sp>
        <p:nvSpPr>
          <p:cNvPr id="8" name="Text 6"/>
          <p:cNvSpPr/>
          <p:nvPr/>
        </p:nvSpPr>
        <p:spPr>
          <a:xfrm>
            <a:off x="493776" y="1042416"/>
            <a:ext cx="8229600" cy="457200"/>
          </a:xfrm>
          <a:prstGeom prst="rect">
            <a:avLst/>
          </a:prstGeom>
          <a:noFill/>
          <a:ln/>
        </p:spPr>
        <p:txBody>
          <a:bodyPr wrap="square" lIns="0" tIns="0" rIns="0" bIns="0" rtlCol="0" anchor="ctr"/>
          <a:lstStyle/>
          <a:p>
            <a:pPr indent="0" marL="0">
              <a:buNone/>
            </a:pPr>
            <a:r>
              <a:rPr lang="en-US" sz="1100" dirty="0">
                <a:solidFill>
                  <a:srgbClr val="374151"/>
                </a:solidFill>
              </a:rPr>
              <a:t>PEP8 es la guia de estilo oficial de Python. Docstring es el comentario especial que describe una funcion. Juntos hacen que tu codigo sea legible para otros (y para ti mismo 6 meses despues).</a:t>
            </a:r>
            <a:endParaRPr lang="en-US" sz="1100" dirty="0"/>
          </a:p>
        </p:txBody>
      </p:sp>
      <p:sp>
        <p:nvSpPr>
          <p:cNvPr id="9" name="Shape 7"/>
          <p:cNvSpPr/>
          <p:nvPr/>
        </p:nvSpPr>
        <p:spPr>
          <a:xfrm>
            <a:off x="347472" y="1664208"/>
            <a:ext cx="8449056" cy="3310128"/>
          </a:xfrm>
          <a:prstGeom prst="rect">
            <a:avLst/>
          </a:prstGeom>
          <a:solidFill>
            <a:srgbClr val="071228"/>
          </a:solidFill>
          <a:ln w="12700">
            <a:solidFill>
              <a:srgbClr val="0D7A8A"/>
            </a:solidFill>
            <a:prstDash val="solid"/>
          </a:ln>
        </p:spPr>
      </p:sp>
      <p:sp>
        <p:nvSpPr>
          <p:cNvPr id="10" name="Shape 8"/>
          <p:cNvSpPr/>
          <p:nvPr/>
        </p:nvSpPr>
        <p:spPr>
          <a:xfrm>
            <a:off x="347472" y="1664208"/>
            <a:ext cx="8449056" cy="292608"/>
          </a:xfrm>
          <a:prstGeom prst="rect">
            <a:avLst/>
          </a:prstGeom>
          <a:solidFill>
            <a:srgbClr val="1E8449"/>
          </a:solidFill>
          <a:ln w="12700">
            <a:solidFill>
              <a:srgbClr val="1E8449"/>
            </a:solidFill>
            <a:prstDash val="solid"/>
          </a:ln>
        </p:spPr>
      </p:sp>
      <p:sp>
        <p:nvSpPr>
          <p:cNvPr id="11" name="Text 9"/>
          <p:cNvSpPr/>
          <p:nvPr/>
        </p:nvSpPr>
        <p:spPr>
          <a:xfrm>
            <a:off x="475488" y="1664208"/>
            <a:ext cx="8229600" cy="292608"/>
          </a:xfrm>
          <a:prstGeom prst="rect">
            <a:avLst/>
          </a:prstGeom>
          <a:noFill/>
          <a:ln/>
        </p:spPr>
        <p:txBody>
          <a:bodyPr wrap="square" lIns="0" tIns="0" rIns="0" bIns="0" rtlCol="0" anchor="ctr"/>
          <a:lstStyle/>
          <a:p>
            <a:pPr indent="0" marL="0">
              <a:buNone/>
            </a:pPr>
            <a:r>
              <a:rPr lang="en-US" sz="950" b="1" dirty="0">
                <a:solidFill>
                  <a:srgbClr val="FFFFFF"/>
                </a:solidFill>
              </a:rPr>
              <a:t>Funcion con buenas practicas — ejemplo de tabla_tarifas.py (ya lo tienes en el proyecto)</a:t>
            </a:r>
            <a:endParaRPr lang="en-US" sz="950" dirty="0"/>
          </a:p>
        </p:txBody>
      </p:sp>
      <p:sp>
        <p:nvSpPr>
          <p:cNvPr id="12" name="Text 10"/>
          <p:cNvSpPr/>
          <p:nvPr/>
        </p:nvSpPr>
        <p:spPr>
          <a:xfrm>
            <a:off x="475488" y="2011680"/>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calcular_prima(suma_asegurada, tasa_riesgo, recargo=0.15, iva=1.16):</a:t>
            </a:r>
            <a:endParaRPr lang="en-US" sz="850" dirty="0"/>
          </a:p>
        </p:txBody>
      </p:sp>
      <p:sp>
        <p:nvSpPr>
          <p:cNvPr id="13" name="Text 11"/>
          <p:cNvSpPr/>
          <p:nvPr/>
        </p:nvSpPr>
        <p:spPr>
          <a:xfrm>
            <a:off x="475488" y="2159813"/>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4" name="Text 12"/>
          <p:cNvSpPr/>
          <p:nvPr/>
        </p:nvSpPr>
        <p:spPr>
          <a:xfrm>
            <a:off x="475488" y="2307946"/>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Calcula la prima comercial de una poliza de seguros.</a:t>
            </a:r>
            <a:endParaRPr lang="en-US" sz="850" dirty="0"/>
          </a:p>
        </p:txBody>
      </p:sp>
      <p:sp>
        <p:nvSpPr>
          <p:cNvPr id="15" name="Text 13"/>
          <p:cNvSpPr/>
          <p:nvPr/>
        </p:nvSpPr>
        <p:spPr>
          <a:xfrm>
            <a:off x="475488" y="2456078"/>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6" name="Text 14"/>
          <p:cNvSpPr/>
          <p:nvPr/>
        </p:nvSpPr>
        <p:spPr>
          <a:xfrm>
            <a:off x="475488" y="2604211"/>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Parametros</a:t>
            </a:r>
            <a:endParaRPr lang="en-US" sz="850" dirty="0"/>
          </a:p>
        </p:txBody>
      </p:sp>
      <p:sp>
        <p:nvSpPr>
          <p:cNvPr id="17" name="Text 15"/>
          <p:cNvSpPr/>
          <p:nvPr/>
        </p:nvSpPr>
        <p:spPr>
          <a:xfrm>
            <a:off x="475488" y="2752344"/>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8" name="Text 16"/>
          <p:cNvSpPr/>
          <p:nvPr/>
        </p:nvSpPr>
        <p:spPr>
          <a:xfrm>
            <a:off x="475488" y="2900477"/>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suma_asegurada : float  Suma asegurada en MXN</a:t>
            </a:r>
            <a:endParaRPr lang="en-US" sz="850" dirty="0"/>
          </a:p>
        </p:txBody>
      </p:sp>
      <p:sp>
        <p:nvSpPr>
          <p:cNvPr id="19" name="Text 17"/>
          <p:cNvSpPr/>
          <p:nvPr/>
        </p:nvSpPr>
        <p:spPr>
          <a:xfrm>
            <a:off x="475488" y="3048610"/>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tasa_riesgo    : float  Tasa tecnica (ej. 0.022 para 2.2%)</a:t>
            </a:r>
            <a:endParaRPr lang="en-US" sz="850" dirty="0"/>
          </a:p>
        </p:txBody>
      </p:sp>
      <p:sp>
        <p:nvSpPr>
          <p:cNvPr id="20" name="Text 18"/>
          <p:cNvSpPr/>
          <p:nvPr/>
        </p:nvSpPr>
        <p:spPr>
          <a:xfrm>
            <a:off x="475488" y="3196742"/>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recargo        : float  Recargo de seguridad (default 0.15 = 15%)</a:t>
            </a:r>
            <a:endParaRPr lang="en-US" sz="850" dirty="0"/>
          </a:p>
        </p:txBody>
      </p:sp>
      <p:sp>
        <p:nvSpPr>
          <p:cNvPr id="21" name="Text 19"/>
          <p:cNvSpPr/>
          <p:nvPr/>
        </p:nvSpPr>
        <p:spPr>
          <a:xfrm>
            <a:off x="475488" y="3344875"/>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iva            : float  Factor de IVA (default 1.16)</a:t>
            </a:r>
            <a:endParaRPr lang="en-US" sz="850" dirty="0"/>
          </a:p>
        </p:txBody>
      </p:sp>
      <p:sp>
        <p:nvSpPr>
          <p:cNvPr id="22" name="Text 20"/>
          <p:cNvSpPr/>
          <p:nvPr/>
        </p:nvSpPr>
        <p:spPr>
          <a:xfrm>
            <a:off x="475488" y="3493008"/>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3" name="Text 21"/>
          <p:cNvSpPr/>
          <p:nvPr/>
        </p:nvSpPr>
        <p:spPr>
          <a:xfrm>
            <a:off x="475488" y="3641141"/>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Retorna</a:t>
            </a:r>
            <a:endParaRPr lang="en-US" sz="850" dirty="0"/>
          </a:p>
        </p:txBody>
      </p:sp>
      <p:sp>
        <p:nvSpPr>
          <p:cNvPr id="24" name="Text 22"/>
          <p:cNvSpPr/>
          <p:nvPr/>
        </p:nvSpPr>
        <p:spPr>
          <a:xfrm>
            <a:off x="475488" y="3789274"/>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5" name="Text 23"/>
          <p:cNvSpPr/>
          <p:nvPr/>
        </p:nvSpPr>
        <p:spPr>
          <a:xfrm>
            <a:off x="475488" y="3937406"/>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float : Prima comercial con IVA incluido</a:t>
            </a:r>
            <a:endParaRPr lang="en-US" sz="850" dirty="0"/>
          </a:p>
        </p:txBody>
      </p:sp>
      <p:sp>
        <p:nvSpPr>
          <p:cNvPr id="26" name="Text 24"/>
          <p:cNvSpPr/>
          <p:nvPr/>
        </p:nvSpPr>
        <p:spPr>
          <a:xfrm>
            <a:off x="475488" y="4085539"/>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7" name="Text 25"/>
          <p:cNvSpPr/>
          <p:nvPr/>
        </p:nvSpPr>
        <p:spPr>
          <a:xfrm>
            <a:off x="475488" y="4233672"/>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prima_pura     = suma_asegurada * tasa_riesgo</a:t>
            </a:r>
            <a:endParaRPr lang="en-US" sz="850" dirty="0"/>
          </a:p>
        </p:txBody>
      </p:sp>
      <p:sp>
        <p:nvSpPr>
          <p:cNvPr id="28" name="Text 26"/>
          <p:cNvSpPr/>
          <p:nvPr/>
        </p:nvSpPr>
        <p:spPr>
          <a:xfrm>
            <a:off x="475488" y="4381805"/>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prima_comercial = prima_pura * (1 + recargo)</a:t>
            </a:r>
            <a:endParaRPr lang="en-US" sz="850" dirty="0"/>
          </a:p>
        </p:txBody>
      </p:sp>
      <p:sp>
        <p:nvSpPr>
          <p:cNvPr id="29" name="Text 27"/>
          <p:cNvSpPr/>
          <p:nvPr/>
        </p:nvSpPr>
        <p:spPr>
          <a:xfrm>
            <a:off x="475488" y="4529938"/>
            <a:ext cx="8229600" cy="148133"/>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prima_comercial * iva</a:t>
            </a:r>
            <a:endParaRPr lang="en-US" sz="850" dirty="0"/>
          </a:p>
        </p:txBody>
      </p:sp>
      <p:sp>
        <p:nvSpPr>
          <p:cNvPr id="30" name="Shape 28"/>
          <p:cNvSpPr/>
          <p:nvPr/>
        </p:nvSpPr>
        <p:spPr>
          <a:xfrm>
            <a:off x="347472" y="5047488"/>
            <a:ext cx="8449056" cy="274320"/>
          </a:xfrm>
          <a:prstGeom prst="rect">
            <a:avLst/>
          </a:prstGeom>
          <a:solidFill>
            <a:srgbClr val="0D7A8A">
              <a:alpha val="12000"/>
            </a:srgbClr>
          </a:solidFill>
          <a:ln w="12700">
            <a:solidFill>
              <a:srgbClr val="0D7A8A"/>
            </a:solidFill>
            <a:prstDash val="solid"/>
          </a:ln>
        </p:spPr>
      </p:sp>
      <p:sp>
        <p:nvSpPr>
          <p:cNvPr id="31" name="Text 29"/>
          <p:cNvSpPr/>
          <p:nvPr/>
        </p:nvSpPr>
        <p:spPr>
          <a:xfrm>
            <a:off x="475488" y="5065776"/>
            <a:ext cx="8229600" cy="237744"/>
          </a:xfrm>
          <a:prstGeom prst="rect">
            <a:avLst/>
          </a:prstGeom>
          <a:noFill/>
          <a:ln/>
        </p:spPr>
        <p:txBody>
          <a:bodyPr wrap="square" lIns="0" tIns="0" rIns="0" bIns="0" rtlCol="0" anchor="ctr"/>
          <a:lstStyle/>
          <a:p>
            <a:pPr indent="0" marL="0">
              <a:buNone/>
            </a:pPr>
            <a:r>
              <a:rPr lang="en-US" sz="950" dirty="0">
                <a:solidFill>
                  <a:srgbClr val="0D1B3E"/>
                </a:solidFill>
              </a:rPr>
              <a:t>Convenciones PEP8 clave: nombres en snake_case · 4 espacios de indentacion · lineas de max 79 caracteres · docstring en triple comillas inmediatamente despues de def</a:t>
            </a:r>
            <a:endParaRPr lang="en-US" sz="950" dirty="0"/>
          </a:p>
        </p:txBody>
      </p:sp>
      <p:sp>
        <p:nvSpPr>
          <p:cNvPr id="32" name="Shape 30"/>
          <p:cNvSpPr/>
          <p:nvPr/>
        </p:nvSpPr>
        <p:spPr>
          <a:xfrm>
            <a:off x="0" y="4892040"/>
            <a:ext cx="9144000" cy="251460"/>
          </a:xfrm>
          <a:prstGeom prst="rect">
            <a:avLst/>
          </a:prstGeom>
          <a:solidFill>
            <a:srgbClr val="071228"/>
          </a:solidFill>
          <a:ln w="12700">
            <a:solidFill>
              <a:srgbClr val="071228"/>
            </a:solidFill>
            <a:prstDash val="solid"/>
          </a:ln>
        </p:spPr>
      </p:sp>
      <p:sp>
        <p:nvSpPr>
          <p:cNvPr id="33" name="Text 31"/>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4  ·  Miercoles 22 de abril 2026</a:t>
            </a:r>
            <a:endParaRPr lang="en-US" sz="850" dirty="0"/>
          </a:p>
        </p:txBody>
      </p:sp>
      <p:sp>
        <p:nvSpPr>
          <p:cNvPr id="34" name="Text 32"/>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T4 · Docstrings y PEP8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sp>
      <p:sp>
        <p:nvSpPr>
          <p:cNvPr id="3" name="Text 1"/>
          <p:cNvSpPr/>
          <p:nvPr/>
        </p:nvSpPr>
        <p:spPr>
          <a:xfrm>
            <a:off x="457200" y="182880"/>
            <a:ext cx="8229600" cy="475488"/>
          </a:xfrm>
          <a:prstGeom prst="rect">
            <a:avLst/>
          </a:prstGeom>
          <a:noFill/>
          <a:ln/>
        </p:spPr>
        <p:txBody>
          <a:bodyPr wrap="square" lIns="0" tIns="0" rIns="0" bIns="0" rtlCol="0" anchor="ctr"/>
          <a:lstStyle/>
          <a:p>
            <a:pPr algn="l" indent="0" marL="0">
              <a:buNone/>
            </a:pPr>
            <a:r>
              <a:rPr lang="en-US" sz="2700" b="1" dirty="0">
                <a:solidFill>
                  <a:srgbClr val="FFFFFF"/>
                </a:solidFill>
              </a:rPr>
              <a:t>Ejercicio: Construir calcular_prima() desde Cero</a:t>
            </a:r>
            <a:endParaRPr lang="en-US" sz="27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algn="l" indent="0" marL="0">
              <a:buNone/>
            </a:pPr>
            <a:r>
              <a:rPr lang="en-US" sz="1200" dirty="0">
                <a:solidFill>
                  <a:srgbClr val="A8D8EA"/>
                </a:solidFill>
              </a:rPr>
              <a:t>35 minutos — construimos juntos, paso a paso</a:t>
            </a:r>
            <a:endParaRPr lang="en-US" sz="1200" dirty="0"/>
          </a:p>
        </p:txBody>
      </p:sp>
      <p:sp>
        <p:nvSpPr>
          <p:cNvPr id="5" name="Shape 3"/>
          <p:cNvSpPr/>
          <p:nvPr/>
        </p:nvSpPr>
        <p:spPr>
          <a:xfrm>
            <a:off x="347472" y="1115568"/>
            <a:ext cx="438912" cy="1536192"/>
          </a:xfrm>
          <a:prstGeom prst="rect">
            <a:avLst/>
          </a:prstGeom>
          <a:solidFill>
            <a:srgbClr val="0D7A8A"/>
          </a:solidFill>
          <a:ln w="12700">
            <a:solidFill>
              <a:srgbClr val="0D7A8A"/>
            </a:solidFill>
            <a:prstDash val="solid"/>
          </a:ln>
        </p:spPr>
      </p:sp>
      <p:sp>
        <p:nvSpPr>
          <p:cNvPr id="6" name="Text 4"/>
          <p:cNvSpPr/>
          <p:nvPr/>
        </p:nvSpPr>
        <p:spPr>
          <a:xfrm>
            <a:off x="347472" y="1115568"/>
            <a:ext cx="438912" cy="1536192"/>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7" name="Shape 5"/>
          <p:cNvSpPr/>
          <p:nvPr/>
        </p:nvSpPr>
        <p:spPr>
          <a:xfrm>
            <a:off x="786384" y="1115568"/>
            <a:ext cx="3913632" cy="1536192"/>
          </a:xfrm>
          <a:prstGeom prst="rect">
            <a:avLst/>
          </a:prstGeom>
          <a:solidFill>
            <a:srgbClr val="071228"/>
          </a:solidFill>
          <a:ln w="12700">
            <a:solidFill>
              <a:srgbClr val="0D7A8A"/>
            </a:solidFill>
            <a:prstDash val="solid"/>
          </a:ln>
        </p:spPr>
      </p:sp>
      <p:sp>
        <p:nvSpPr>
          <p:cNvPr id="8" name="Shape 6"/>
          <p:cNvSpPr/>
          <p:nvPr/>
        </p:nvSpPr>
        <p:spPr>
          <a:xfrm>
            <a:off x="786384" y="1115568"/>
            <a:ext cx="3913632" cy="292608"/>
          </a:xfrm>
          <a:prstGeom prst="rect">
            <a:avLst/>
          </a:prstGeom>
          <a:solidFill>
            <a:srgbClr val="1A5276"/>
          </a:solidFill>
          <a:ln w="12700">
            <a:solidFill>
              <a:srgbClr val="1A5276"/>
            </a:solidFill>
            <a:prstDash val="solid"/>
          </a:ln>
        </p:spPr>
      </p:sp>
      <p:sp>
        <p:nvSpPr>
          <p:cNvPr id="9" name="Text 7"/>
          <p:cNvSpPr/>
          <p:nvPr/>
        </p:nvSpPr>
        <p:spPr>
          <a:xfrm>
            <a:off x="877824" y="1115568"/>
            <a:ext cx="3749040" cy="292608"/>
          </a:xfrm>
          <a:prstGeom prst="rect">
            <a:avLst/>
          </a:prstGeom>
          <a:noFill/>
          <a:ln/>
        </p:spPr>
        <p:txBody>
          <a:bodyPr wrap="square" lIns="0" tIns="0" rIns="0" bIns="0" rtlCol="0" anchor="ctr"/>
          <a:lstStyle/>
          <a:p>
            <a:pPr indent="0" marL="0">
              <a:buNone/>
            </a:pPr>
            <a:r>
              <a:rPr lang="en-US" sz="950" b="1" dirty="0">
                <a:solidFill>
                  <a:srgbClr val="FFFFFF"/>
                </a:solidFill>
              </a:rPr>
              <a:t>Version minima — solo devuelve la prima pura</a:t>
            </a:r>
            <a:endParaRPr lang="en-US" sz="950" dirty="0"/>
          </a:p>
        </p:txBody>
      </p:sp>
      <p:sp>
        <p:nvSpPr>
          <p:cNvPr id="10" name="Text 8"/>
          <p:cNvSpPr/>
          <p:nvPr/>
        </p:nvSpPr>
        <p:spPr>
          <a:xfrm>
            <a:off x="877824" y="1463040"/>
            <a:ext cx="3749040" cy="256032"/>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a:t>
            </a:r>
            <a:endParaRPr lang="en-US" sz="850" dirty="0"/>
          </a:p>
        </p:txBody>
      </p:sp>
      <p:sp>
        <p:nvSpPr>
          <p:cNvPr id="11" name="Text 9"/>
          <p:cNvSpPr/>
          <p:nvPr/>
        </p:nvSpPr>
        <p:spPr>
          <a:xfrm>
            <a:off x="877824" y="1719072"/>
            <a:ext cx="3749040" cy="256032"/>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suma * tasa</a:t>
            </a:r>
            <a:endParaRPr lang="en-US" sz="850" dirty="0"/>
          </a:p>
        </p:txBody>
      </p:sp>
      <p:sp>
        <p:nvSpPr>
          <p:cNvPr id="12" name="Shape 10"/>
          <p:cNvSpPr/>
          <p:nvPr/>
        </p:nvSpPr>
        <p:spPr>
          <a:xfrm>
            <a:off x="4809744" y="1115568"/>
            <a:ext cx="438912" cy="1536192"/>
          </a:xfrm>
          <a:prstGeom prst="rect">
            <a:avLst/>
          </a:prstGeom>
          <a:solidFill>
            <a:srgbClr val="0D7A8A"/>
          </a:solidFill>
          <a:ln w="12700">
            <a:solidFill>
              <a:srgbClr val="0D7A8A"/>
            </a:solidFill>
            <a:prstDash val="solid"/>
          </a:ln>
        </p:spPr>
      </p:sp>
      <p:sp>
        <p:nvSpPr>
          <p:cNvPr id="13" name="Text 11"/>
          <p:cNvSpPr/>
          <p:nvPr/>
        </p:nvSpPr>
        <p:spPr>
          <a:xfrm>
            <a:off x="4809744" y="1115568"/>
            <a:ext cx="438912" cy="1536192"/>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4" name="Shape 12"/>
          <p:cNvSpPr/>
          <p:nvPr/>
        </p:nvSpPr>
        <p:spPr>
          <a:xfrm>
            <a:off x="5248656" y="1115568"/>
            <a:ext cx="3913632" cy="1536192"/>
          </a:xfrm>
          <a:prstGeom prst="rect">
            <a:avLst/>
          </a:prstGeom>
          <a:solidFill>
            <a:srgbClr val="071228"/>
          </a:solidFill>
          <a:ln w="12700">
            <a:solidFill>
              <a:srgbClr val="0D7A8A"/>
            </a:solidFill>
            <a:prstDash val="solid"/>
          </a:ln>
        </p:spPr>
      </p:sp>
      <p:sp>
        <p:nvSpPr>
          <p:cNvPr id="15" name="Shape 13"/>
          <p:cNvSpPr/>
          <p:nvPr/>
        </p:nvSpPr>
        <p:spPr>
          <a:xfrm>
            <a:off x="5248656" y="1115568"/>
            <a:ext cx="3913632" cy="292608"/>
          </a:xfrm>
          <a:prstGeom prst="rect">
            <a:avLst/>
          </a:prstGeom>
          <a:solidFill>
            <a:srgbClr val="1A5276"/>
          </a:solidFill>
          <a:ln w="12700">
            <a:solidFill>
              <a:srgbClr val="1A5276"/>
            </a:solidFill>
            <a:prstDash val="solid"/>
          </a:ln>
        </p:spPr>
      </p:sp>
      <p:sp>
        <p:nvSpPr>
          <p:cNvPr id="16" name="Text 14"/>
          <p:cNvSpPr/>
          <p:nvPr/>
        </p:nvSpPr>
        <p:spPr>
          <a:xfrm>
            <a:off x="5340096" y="1115568"/>
            <a:ext cx="3749040" cy="292608"/>
          </a:xfrm>
          <a:prstGeom prst="rect">
            <a:avLst/>
          </a:prstGeom>
          <a:noFill/>
          <a:ln/>
        </p:spPr>
        <p:txBody>
          <a:bodyPr wrap="square" lIns="0" tIns="0" rIns="0" bIns="0" rtlCol="0" anchor="ctr"/>
          <a:lstStyle/>
          <a:p>
            <a:pPr indent="0" marL="0">
              <a:buNone/>
            </a:pPr>
            <a:r>
              <a:rPr lang="en-US" sz="950" b="1" dirty="0">
                <a:solidFill>
                  <a:srgbClr val="FFFFFF"/>
                </a:solidFill>
              </a:rPr>
              <a:t>Agregar recargo de seguridad</a:t>
            </a:r>
            <a:endParaRPr lang="en-US" sz="950" dirty="0"/>
          </a:p>
        </p:txBody>
      </p:sp>
      <p:sp>
        <p:nvSpPr>
          <p:cNvPr id="17" name="Text 15"/>
          <p:cNvSpPr/>
          <p:nvPr/>
        </p:nvSpPr>
        <p:spPr>
          <a:xfrm>
            <a:off x="5340096" y="1463040"/>
            <a:ext cx="3749040" cy="256032"/>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 recargo=0.15):</a:t>
            </a:r>
            <a:endParaRPr lang="en-US" sz="850" dirty="0"/>
          </a:p>
        </p:txBody>
      </p:sp>
      <p:sp>
        <p:nvSpPr>
          <p:cNvPr id="18" name="Text 16"/>
          <p:cNvSpPr/>
          <p:nvPr/>
        </p:nvSpPr>
        <p:spPr>
          <a:xfrm>
            <a:off x="5340096" y="1719072"/>
            <a:ext cx="3749040" cy="256032"/>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prima_pura = suma * tasa</a:t>
            </a:r>
            <a:endParaRPr lang="en-US" sz="850" dirty="0"/>
          </a:p>
        </p:txBody>
      </p:sp>
      <p:sp>
        <p:nvSpPr>
          <p:cNvPr id="19" name="Text 17"/>
          <p:cNvSpPr/>
          <p:nvPr/>
        </p:nvSpPr>
        <p:spPr>
          <a:xfrm>
            <a:off x="5340096" y="1975104"/>
            <a:ext cx="3749040" cy="256032"/>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prima_pura * (1 + recargo)</a:t>
            </a:r>
            <a:endParaRPr lang="en-US" sz="850" dirty="0"/>
          </a:p>
        </p:txBody>
      </p:sp>
      <p:sp>
        <p:nvSpPr>
          <p:cNvPr id="20" name="Shape 18"/>
          <p:cNvSpPr/>
          <p:nvPr/>
        </p:nvSpPr>
        <p:spPr>
          <a:xfrm>
            <a:off x="347472" y="2779776"/>
            <a:ext cx="438912" cy="1536192"/>
          </a:xfrm>
          <a:prstGeom prst="rect">
            <a:avLst/>
          </a:prstGeom>
          <a:solidFill>
            <a:srgbClr val="0D7A8A"/>
          </a:solidFill>
          <a:ln w="12700">
            <a:solidFill>
              <a:srgbClr val="0D7A8A"/>
            </a:solidFill>
            <a:prstDash val="solid"/>
          </a:ln>
        </p:spPr>
      </p:sp>
      <p:sp>
        <p:nvSpPr>
          <p:cNvPr id="21" name="Text 19"/>
          <p:cNvSpPr/>
          <p:nvPr/>
        </p:nvSpPr>
        <p:spPr>
          <a:xfrm>
            <a:off x="347472" y="2779776"/>
            <a:ext cx="438912" cy="1536192"/>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22" name="Shape 20"/>
          <p:cNvSpPr/>
          <p:nvPr/>
        </p:nvSpPr>
        <p:spPr>
          <a:xfrm>
            <a:off x="786384" y="2779776"/>
            <a:ext cx="3913632" cy="1536192"/>
          </a:xfrm>
          <a:prstGeom prst="rect">
            <a:avLst/>
          </a:prstGeom>
          <a:solidFill>
            <a:srgbClr val="071228"/>
          </a:solidFill>
          <a:ln w="12700">
            <a:solidFill>
              <a:srgbClr val="0D7A8A"/>
            </a:solidFill>
            <a:prstDash val="solid"/>
          </a:ln>
        </p:spPr>
      </p:sp>
      <p:sp>
        <p:nvSpPr>
          <p:cNvPr id="23" name="Shape 21"/>
          <p:cNvSpPr/>
          <p:nvPr/>
        </p:nvSpPr>
        <p:spPr>
          <a:xfrm>
            <a:off x="786384" y="2779776"/>
            <a:ext cx="3913632" cy="292608"/>
          </a:xfrm>
          <a:prstGeom prst="rect">
            <a:avLst/>
          </a:prstGeom>
          <a:solidFill>
            <a:srgbClr val="1A5276"/>
          </a:solidFill>
          <a:ln w="12700">
            <a:solidFill>
              <a:srgbClr val="1A5276"/>
            </a:solidFill>
            <a:prstDash val="solid"/>
          </a:ln>
        </p:spPr>
      </p:sp>
      <p:sp>
        <p:nvSpPr>
          <p:cNvPr id="24" name="Text 22"/>
          <p:cNvSpPr/>
          <p:nvPr/>
        </p:nvSpPr>
        <p:spPr>
          <a:xfrm>
            <a:off x="877824" y="2779776"/>
            <a:ext cx="3749040" cy="292608"/>
          </a:xfrm>
          <a:prstGeom prst="rect">
            <a:avLst/>
          </a:prstGeom>
          <a:noFill/>
          <a:ln/>
        </p:spPr>
        <p:txBody>
          <a:bodyPr wrap="square" lIns="0" tIns="0" rIns="0" bIns="0" rtlCol="0" anchor="ctr"/>
          <a:lstStyle/>
          <a:p>
            <a:pPr indent="0" marL="0">
              <a:buNone/>
            </a:pPr>
            <a:r>
              <a:rPr lang="en-US" sz="950" b="1" dirty="0">
                <a:solidFill>
                  <a:srgbClr val="FFFFFF"/>
                </a:solidFill>
              </a:rPr>
              <a:t>Agregar IVA y docstring</a:t>
            </a:r>
            <a:endParaRPr lang="en-US" sz="950" dirty="0"/>
          </a:p>
        </p:txBody>
      </p:sp>
      <p:sp>
        <p:nvSpPr>
          <p:cNvPr id="25" name="Text 23"/>
          <p:cNvSpPr/>
          <p:nvPr/>
        </p:nvSpPr>
        <p:spPr>
          <a:xfrm>
            <a:off x="877824" y="3127248"/>
            <a:ext cx="3749040" cy="256032"/>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 recargo=0.15, iva=1.16):</a:t>
            </a:r>
            <a:endParaRPr lang="en-US" sz="850" dirty="0"/>
          </a:p>
        </p:txBody>
      </p:sp>
      <p:sp>
        <p:nvSpPr>
          <p:cNvPr id="26" name="Text 24"/>
          <p:cNvSpPr/>
          <p:nvPr/>
        </p:nvSpPr>
        <p:spPr>
          <a:xfrm>
            <a:off x="877824" y="3383280"/>
            <a:ext cx="3749040" cy="256032"/>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"""Prima comercial con IVA."""</a:t>
            </a:r>
            <a:endParaRPr lang="en-US" sz="850" dirty="0"/>
          </a:p>
        </p:txBody>
      </p:sp>
      <p:sp>
        <p:nvSpPr>
          <p:cNvPr id="27" name="Text 25"/>
          <p:cNvSpPr/>
          <p:nvPr/>
        </p:nvSpPr>
        <p:spPr>
          <a:xfrm>
            <a:off x="877824" y="3639312"/>
            <a:ext cx="3749040" cy="256032"/>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suma * tasa * (1 + recargo) * iva</a:t>
            </a:r>
            <a:endParaRPr lang="en-US" sz="850" dirty="0"/>
          </a:p>
        </p:txBody>
      </p:sp>
      <p:sp>
        <p:nvSpPr>
          <p:cNvPr id="28" name="Shape 26"/>
          <p:cNvSpPr/>
          <p:nvPr/>
        </p:nvSpPr>
        <p:spPr>
          <a:xfrm>
            <a:off x="4809744" y="2779776"/>
            <a:ext cx="438912" cy="1536192"/>
          </a:xfrm>
          <a:prstGeom prst="rect">
            <a:avLst/>
          </a:prstGeom>
          <a:solidFill>
            <a:srgbClr val="0D7A8A"/>
          </a:solidFill>
          <a:ln w="12700">
            <a:solidFill>
              <a:srgbClr val="0D7A8A"/>
            </a:solidFill>
            <a:prstDash val="solid"/>
          </a:ln>
        </p:spPr>
      </p:sp>
      <p:sp>
        <p:nvSpPr>
          <p:cNvPr id="29" name="Text 27"/>
          <p:cNvSpPr/>
          <p:nvPr/>
        </p:nvSpPr>
        <p:spPr>
          <a:xfrm>
            <a:off x="4809744" y="2779776"/>
            <a:ext cx="438912" cy="1536192"/>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30" name="Shape 28"/>
          <p:cNvSpPr/>
          <p:nvPr/>
        </p:nvSpPr>
        <p:spPr>
          <a:xfrm>
            <a:off x="5248656" y="2779776"/>
            <a:ext cx="3913632" cy="1536192"/>
          </a:xfrm>
          <a:prstGeom prst="rect">
            <a:avLst/>
          </a:prstGeom>
          <a:solidFill>
            <a:srgbClr val="071228"/>
          </a:solidFill>
          <a:ln w="12700">
            <a:solidFill>
              <a:srgbClr val="0D7A8A"/>
            </a:solidFill>
            <a:prstDash val="solid"/>
          </a:ln>
        </p:spPr>
      </p:sp>
      <p:sp>
        <p:nvSpPr>
          <p:cNvPr id="31" name="Shape 29"/>
          <p:cNvSpPr/>
          <p:nvPr/>
        </p:nvSpPr>
        <p:spPr>
          <a:xfrm>
            <a:off x="5248656" y="2779776"/>
            <a:ext cx="3913632" cy="292608"/>
          </a:xfrm>
          <a:prstGeom prst="rect">
            <a:avLst/>
          </a:prstGeom>
          <a:solidFill>
            <a:srgbClr val="1A5276"/>
          </a:solidFill>
          <a:ln w="12700">
            <a:solidFill>
              <a:srgbClr val="1A5276"/>
            </a:solidFill>
            <a:prstDash val="solid"/>
          </a:ln>
        </p:spPr>
      </p:sp>
      <p:sp>
        <p:nvSpPr>
          <p:cNvPr id="32" name="Text 30"/>
          <p:cNvSpPr/>
          <p:nvPr/>
        </p:nvSpPr>
        <p:spPr>
          <a:xfrm>
            <a:off x="5340096" y="2779776"/>
            <a:ext cx="3749040" cy="292608"/>
          </a:xfrm>
          <a:prstGeom prst="rect">
            <a:avLst/>
          </a:prstGeom>
          <a:noFill/>
          <a:ln/>
        </p:spPr>
        <p:txBody>
          <a:bodyPr wrap="square" lIns="0" tIns="0" rIns="0" bIns="0" rtlCol="0" anchor="ctr"/>
          <a:lstStyle/>
          <a:p>
            <a:pPr indent="0" marL="0">
              <a:buNone/>
            </a:pPr>
            <a:r>
              <a:rPr lang="en-US" sz="950" b="1" dirty="0">
                <a:solidFill>
                  <a:srgbClr val="FFFFFF"/>
                </a:solidFill>
              </a:rPr>
              <a:t>Agregar prima mensual en la misma funcion</a:t>
            </a:r>
            <a:endParaRPr lang="en-US" sz="950" dirty="0"/>
          </a:p>
        </p:txBody>
      </p:sp>
      <p:sp>
        <p:nvSpPr>
          <p:cNvPr id="33" name="Text 31"/>
          <p:cNvSpPr/>
          <p:nvPr/>
        </p:nvSpPr>
        <p:spPr>
          <a:xfrm>
            <a:off x="5340096" y="3127248"/>
            <a:ext cx="3749040" cy="256032"/>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def calcular_prima(suma, tasa, recargo=0.15, iva=1.16):</a:t>
            </a:r>
            <a:endParaRPr lang="en-US" sz="850" dirty="0"/>
          </a:p>
        </p:txBody>
      </p:sp>
      <p:sp>
        <p:nvSpPr>
          <p:cNvPr id="34" name="Text 32"/>
          <p:cNvSpPr/>
          <p:nvPr/>
        </p:nvSpPr>
        <p:spPr>
          <a:xfrm>
            <a:off x="5340096" y="3383280"/>
            <a:ext cx="3749040" cy="256032"/>
          </a:xfrm>
          <a:prstGeom prst="rect">
            <a:avLst/>
          </a:prstGeom>
          <a:noFill/>
          <a:ln/>
        </p:spPr>
        <p:txBody>
          <a:bodyPr wrap="square" lIns="0" tIns="0" rIns="0" bIns="0" rtlCol="0" anchor="ctr"/>
          <a:lstStyle/>
          <a:p>
            <a:pPr indent="0" marL="0">
              <a:buNone/>
            </a:pPr>
            <a:r>
              <a:rPr lang="en-US" sz="850" dirty="0">
                <a:solidFill>
                  <a:srgbClr val="8FA3B1"/>
                </a:solidFill>
                <a:latin typeface="Courier New" pitchFamily="34" charset="0"/>
                <a:ea typeface="Courier New" pitchFamily="34" charset="-122"/>
                <a:cs typeface="Courier New" pitchFamily="34" charset="-120"/>
              </a:rPr>
              <a:t>    """Devuelve (prima_anual, prima_mensual)."""</a:t>
            </a:r>
            <a:endParaRPr lang="en-US" sz="850" dirty="0"/>
          </a:p>
        </p:txBody>
      </p:sp>
      <p:sp>
        <p:nvSpPr>
          <p:cNvPr id="35" name="Text 33"/>
          <p:cNvSpPr/>
          <p:nvPr/>
        </p:nvSpPr>
        <p:spPr>
          <a:xfrm>
            <a:off x="5340096" y="3639312"/>
            <a:ext cx="3749040" cy="256032"/>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anual = suma * tasa * (1 + recargo) * iva</a:t>
            </a:r>
            <a:endParaRPr lang="en-US" sz="850" dirty="0"/>
          </a:p>
        </p:txBody>
      </p:sp>
      <p:sp>
        <p:nvSpPr>
          <p:cNvPr id="36" name="Text 34"/>
          <p:cNvSpPr/>
          <p:nvPr/>
        </p:nvSpPr>
        <p:spPr>
          <a:xfrm>
            <a:off x="5340096" y="3895344"/>
            <a:ext cx="3749040" cy="256032"/>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    return anual, anual / 12</a:t>
            </a:r>
            <a:endParaRPr lang="en-US" sz="850" dirty="0"/>
          </a:p>
        </p:txBody>
      </p:sp>
      <p:sp>
        <p:nvSpPr>
          <p:cNvPr id="37" name="Shape 35"/>
          <p:cNvSpPr/>
          <p:nvPr/>
        </p:nvSpPr>
        <p:spPr>
          <a:xfrm>
            <a:off x="347472" y="4462272"/>
            <a:ext cx="8449056" cy="566928"/>
          </a:xfrm>
          <a:prstGeom prst="rect">
            <a:avLst/>
          </a:prstGeom>
          <a:solidFill>
            <a:srgbClr val="071228"/>
          </a:solidFill>
          <a:ln w="12700">
            <a:solidFill>
              <a:srgbClr val="0D7A8A"/>
            </a:solidFill>
            <a:prstDash val="solid"/>
          </a:ln>
        </p:spPr>
      </p:sp>
      <p:sp>
        <p:nvSpPr>
          <p:cNvPr id="38" name="Text 36"/>
          <p:cNvSpPr/>
          <p:nvPr/>
        </p:nvSpPr>
        <p:spPr>
          <a:xfrm>
            <a:off x="475488" y="4480560"/>
            <a:ext cx="2743200" cy="237744"/>
          </a:xfrm>
          <a:prstGeom prst="rect">
            <a:avLst/>
          </a:prstGeom>
          <a:noFill/>
          <a:ln/>
        </p:spPr>
        <p:txBody>
          <a:bodyPr wrap="square" lIns="0" tIns="0" rIns="0" bIns="0" rtlCol="0" anchor="ctr"/>
          <a:lstStyle/>
          <a:p>
            <a:pPr indent="0" marL="0">
              <a:buNone/>
            </a:pPr>
            <a:r>
              <a:rPr lang="en-US" sz="950" b="1" dirty="0">
                <a:solidFill>
                  <a:srgbClr val="A8D8EA"/>
                </a:solidFill>
              </a:rPr>
              <a:t>Prueba la version final:</a:t>
            </a:r>
            <a:endParaRPr lang="en-US" sz="950" dirty="0"/>
          </a:p>
        </p:txBody>
      </p:sp>
      <p:sp>
        <p:nvSpPr>
          <p:cNvPr id="39" name="Text 37"/>
          <p:cNvSpPr/>
          <p:nvPr/>
        </p:nvSpPr>
        <p:spPr>
          <a:xfrm>
            <a:off x="475488" y="4681728"/>
            <a:ext cx="8229600" cy="237744"/>
          </a:xfrm>
          <a:prstGeom prst="rect">
            <a:avLst/>
          </a:prstGeom>
          <a:noFill/>
          <a:ln/>
        </p:spPr>
        <p:txBody>
          <a:bodyPr wrap="square" lIns="0" tIns="0" rIns="0" bIns="0" rtlCol="0" anchor="ctr"/>
          <a:lstStyle/>
          <a:p>
            <a:pPr indent="0" marL="0">
              <a:buNone/>
            </a:pPr>
            <a:r>
              <a:rPr lang="en-US" sz="850" dirty="0">
                <a:solidFill>
                  <a:srgbClr val="A8D8EA"/>
                </a:solidFill>
                <a:latin typeface="Courier New" pitchFamily="34" charset="0"/>
                <a:ea typeface="Courier New" pitchFamily="34" charset="-122"/>
                <a:cs typeface="Courier New" pitchFamily="34" charset="-120"/>
              </a:rPr>
              <a:t>anual, mensual = calcular_prima(500_000, 0.022)  |  print(f'Anual: ${anual:,.2f} | Mensual: ${mensual:,.2f}')</a:t>
            </a:r>
            <a:endParaRPr lang="en-US" sz="850" dirty="0"/>
          </a:p>
        </p:txBody>
      </p:sp>
      <p:sp>
        <p:nvSpPr>
          <p:cNvPr id="40" name="Shape 38"/>
          <p:cNvSpPr/>
          <p:nvPr/>
        </p:nvSpPr>
        <p:spPr>
          <a:xfrm>
            <a:off x="0" y="4892040"/>
            <a:ext cx="9144000" cy="251460"/>
          </a:xfrm>
          <a:prstGeom prst="rect">
            <a:avLst/>
          </a:prstGeom>
          <a:solidFill>
            <a:srgbClr val="071228"/>
          </a:solidFill>
          <a:ln w="12700">
            <a:solidFill>
              <a:srgbClr val="071228"/>
            </a:solidFill>
            <a:prstDash val="solid"/>
          </a:ln>
        </p:spPr>
      </p:sp>
      <p:sp>
        <p:nvSpPr>
          <p:cNvPr id="41" name="Text 39"/>
          <p:cNvSpPr/>
          <p:nvPr/>
        </p:nvSpPr>
        <p:spPr>
          <a:xfrm>
            <a:off x="274320" y="4892040"/>
            <a:ext cx="8595360" cy="251460"/>
          </a:xfrm>
          <a:prstGeom prst="rect">
            <a:avLst/>
          </a:prstGeom>
          <a:noFill/>
          <a:ln/>
        </p:spPr>
        <p:txBody>
          <a:bodyPr wrap="square" lIns="0" tIns="0" rIns="0" bIns="0" rtlCol="0" anchor="ctr"/>
          <a:lstStyle/>
          <a:p>
            <a:pPr algn="r" indent="0" marL="0">
              <a:buNone/>
            </a:pPr>
            <a:r>
              <a:rPr lang="en-US" sz="850" dirty="0">
                <a:solidFill>
                  <a:srgbClr val="8FA3B1"/>
                </a:solidFill>
              </a:rPr>
              <a:t>Modulo 1 · Sesion 4  ·  Miercoles 22 de abril 2026</a:t>
            </a:r>
            <a:endParaRPr lang="en-US" sz="850" dirty="0"/>
          </a:p>
        </p:txBody>
      </p:sp>
      <p:sp>
        <p:nvSpPr>
          <p:cNvPr id="42" name="Text 40"/>
          <p:cNvSpPr/>
          <p:nvPr/>
        </p:nvSpPr>
        <p:spPr>
          <a:xfrm>
            <a:off x="274320" y="4892040"/>
            <a:ext cx="5486400" cy="251460"/>
          </a:xfrm>
          <a:prstGeom prst="rect">
            <a:avLst/>
          </a:prstGeom>
          <a:noFill/>
          <a:ln/>
        </p:spPr>
        <p:txBody>
          <a:bodyPr wrap="square" lIns="0" tIns="0" rIns="0" bIns="0" rtlCol="0" anchor="ctr"/>
          <a:lstStyle/>
          <a:p>
            <a:pPr algn="l" indent="0" marL="0">
              <a:buNone/>
            </a:pPr>
            <a:r>
              <a:rPr lang="en-US" sz="850" dirty="0">
                <a:solidFill>
                  <a:srgbClr val="A8D8EA"/>
                </a:solidFill>
              </a:rPr>
              <a:t>Ejercicio</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8A"/>
          </a:solidFill>
          <a:ln w="12700">
            <a:solidFill>
              <a:srgbClr val="0D7A8A"/>
            </a:solidFill>
            <a:prstDash val="solid"/>
          </a:ln>
        </p:spPr>
      </p:sp>
      <p:sp>
        <p:nvSpPr>
          <p:cNvPr id="3" name="Shape 1"/>
          <p:cNvSpPr/>
          <p:nvPr/>
        </p:nvSpPr>
        <p:spPr>
          <a:xfrm>
            <a:off x="0" y="4389120"/>
            <a:ext cx="9144000" cy="754380"/>
          </a:xfrm>
          <a:prstGeom prst="rect">
            <a:avLst/>
          </a:prstGeom>
          <a:solidFill>
            <a:srgbClr val="071228"/>
          </a:solidFill>
          <a:ln w="12700">
            <a:solidFill>
              <a:srgbClr val="071228"/>
            </a:solidFill>
            <a:prstDash val="solid"/>
          </a:ln>
        </p:spPr>
      </p:sp>
      <p:sp>
        <p:nvSpPr>
          <p:cNvPr id="4" name="Text 2"/>
          <p:cNvSpPr/>
          <p:nvPr/>
        </p:nvSpPr>
        <p:spPr>
          <a:xfrm>
            <a:off x="411480" y="292608"/>
            <a:ext cx="8229600" cy="512064"/>
          </a:xfrm>
          <a:prstGeom prst="rect">
            <a:avLst/>
          </a:prstGeom>
          <a:noFill/>
          <a:ln/>
        </p:spPr>
        <p:txBody>
          <a:bodyPr wrap="square" lIns="0" tIns="0" rIns="0" bIns="0" rtlCol="0" anchor="ctr"/>
          <a:lstStyle/>
          <a:p>
            <a:pPr indent="0" marL="0">
              <a:buNone/>
            </a:pPr>
            <a:r>
              <a:rPr lang="en-US" sz="2600" b="1" dirty="0">
                <a:solidFill>
                  <a:srgbClr val="FFFFFF"/>
                </a:solidFill>
              </a:rPr>
              <a:t>Resumen de la Sesion 4</a:t>
            </a:r>
            <a:endParaRPr lang="en-US" sz="2600" dirty="0"/>
          </a:p>
        </p:txBody>
      </p:sp>
      <p:sp>
        <p:nvSpPr>
          <p:cNvPr id="5" name="Text 3"/>
          <p:cNvSpPr/>
          <p:nvPr/>
        </p:nvSpPr>
        <p:spPr>
          <a:xfrm>
            <a:off x="411480" y="822960"/>
            <a:ext cx="8229600" cy="274320"/>
          </a:xfrm>
          <a:prstGeom prst="rect">
            <a:avLst/>
          </a:prstGeom>
          <a:noFill/>
          <a:ln/>
        </p:spPr>
        <p:txBody>
          <a:bodyPr wrap="square" lIns="0" tIns="0" rIns="0" bIns="0" rtlCol="0" anchor="ctr"/>
          <a:lstStyle/>
          <a:p>
            <a:pPr indent="0" marL="0">
              <a:buNone/>
            </a:pPr>
            <a:r>
              <a:rPr lang="en-US" sz="1300" dirty="0">
                <a:solidFill>
                  <a:srgbClr val="A8D8EA"/>
                </a:solidFill>
              </a:rPr>
              <a:t>T4 · Funciones: primera parte</a:t>
            </a:r>
            <a:endParaRPr lang="en-US" sz="1300" dirty="0"/>
          </a:p>
        </p:txBody>
      </p:sp>
      <p:pic>
        <p:nvPicPr>
          <p:cNvPr id="6" name="Image 0" descr="preencoded.png">    </p:cNvPr>
          <p:cNvPicPr>
            <a:picLocks noChangeAspect="1"/>
          </p:cNvPicPr>
          <p:nvPr/>
        </p:nvPicPr>
        <p:blipFill>
          <a:blip r:embed="rId1"/>
          <a:stretch>
            <a:fillRect/>
          </a:stretch>
        </p:blipFill>
        <p:spPr>
          <a:xfrm>
            <a:off x="411480" y="1335024"/>
            <a:ext cx="219456" cy="219456"/>
          </a:xfrm>
          <a:prstGeom prst="rect">
            <a:avLst/>
          </a:prstGeom>
        </p:spPr>
      </p:pic>
      <p:sp>
        <p:nvSpPr>
          <p:cNvPr id="7" name="Text 4"/>
          <p:cNvSpPr/>
          <p:nvPr/>
        </p:nvSpPr>
        <p:spPr>
          <a:xfrm>
            <a:off x="749808" y="1316736"/>
            <a:ext cx="8046720" cy="310896"/>
          </a:xfrm>
          <a:prstGeom prst="rect">
            <a:avLst/>
          </a:prstGeom>
          <a:noFill/>
          <a:ln/>
        </p:spPr>
        <p:txBody>
          <a:bodyPr wrap="square" lIns="0" tIns="0" rIns="0" bIns="0" rtlCol="0" anchor="ctr"/>
          <a:lstStyle/>
          <a:p>
            <a:pPr indent="0" marL="0">
              <a:buNone/>
            </a:pPr>
            <a:r>
              <a:rPr lang="en-US" sz="1200" dirty="0">
                <a:solidFill>
                  <a:srgbClr val="F0F4F8"/>
                </a:solidFill>
              </a:rPr>
              <a:t>Por que existen las funciones: codigo DRY, reutilizable y mantenible</a:t>
            </a:r>
            <a:endParaRPr lang="en-US" sz="1200" dirty="0"/>
          </a:p>
        </p:txBody>
      </p:sp>
      <p:pic>
        <p:nvPicPr>
          <p:cNvPr id="8" name="Image 1" descr="preencoded.png">    </p:cNvPr>
          <p:cNvPicPr>
            <a:picLocks noChangeAspect="1"/>
          </p:cNvPicPr>
          <p:nvPr/>
        </p:nvPicPr>
        <p:blipFill>
          <a:blip r:embed="rId2"/>
          <a:stretch>
            <a:fillRect/>
          </a:stretch>
        </p:blipFill>
        <p:spPr>
          <a:xfrm>
            <a:off x="411480" y="1773936"/>
            <a:ext cx="219456" cy="219456"/>
          </a:xfrm>
          <a:prstGeom prst="rect">
            <a:avLst/>
          </a:prstGeom>
        </p:spPr>
      </p:pic>
      <p:sp>
        <p:nvSpPr>
          <p:cNvPr id="9" name="Text 5"/>
          <p:cNvSpPr/>
          <p:nvPr/>
        </p:nvSpPr>
        <p:spPr>
          <a:xfrm>
            <a:off x="749808" y="1755648"/>
            <a:ext cx="8046720" cy="310896"/>
          </a:xfrm>
          <a:prstGeom prst="rect">
            <a:avLst/>
          </a:prstGeom>
          <a:noFill/>
          <a:ln/>
        </p:spPr>
        <p:txBody>
          <a:bodyPr wrap="square" lIns="0" tIns="0" rIns="0" bIns="0" rtlCol="0" anchor="ctr"/>
          <a:lstStyle/>
          <a:p>
            <a:pPr indent="0" marL="0">
              <a:buNone/>
            </a:pPr>
            <a:r>
              <a:rPr lang="en-US" sz="1200" dirty="0">
                <a:solidFill>
                  <a:srgbClr val="F0F4F8"/>
                </a:solidFill>
              </a:rPr>
              <a:t>Anatomia: def · nombre · (parametros) : · cuerpo indentado · return</a:t>
            </a:r>
            <a:endParaRPr lang="en-US" sz="1200" dirty="0"/>
          </a:p>
        </p:txBody>
      </p:sp>
      <p:pic>
        <p:nvPicPr>
          <p:cNvPr id="10" name="Image 2" descr="preencoded.png">    </p:cNvPr>
          <p:cNvPicPr>
            <a:picLocks noChangeAspect="1"/>
          </p:cNvPicPr>
          <p:nvPr/>
        </p:nvPicPr>
        <p:blipFill>
          <a:blip r:embed="rId3"/>
          <a:stretch>
            <a:fillRect/>
          </a:stretch>
        </p:blipFill>
        <p:spPr>
          <a:xfrm>
            <a:off x="411480" y="2212848"/>
            <a:ext cx="219456" cy="219456"/>
          </a:xfrm>
          <a:prstGeom prst="rect">
            <a:avLst/>
          </a:prstGeom>
        </p:spPr>
      </p:pic>
      <p:sp>
        <p:nvSpPr>
          <p:cNvPr id="11" name="Text 6"/>
          <p:cNvSpPr/>
          <p:nvPr/>
        </p:nvSpPr>
        <p:spPr>
          <a:xfrm>
            <a:off x="749808" y="2194560"/>
            <a:ext cx="8046720" cy="310896"/>
          </a:xfrm>
          <a:prstGeom prst="rect">
            <a:avLst/>
          </a:prstGeom>
          <a:noFill/>
          <a:ln/>
        </p:spPr>
        <p:txBody>
          <a:bodyPr wrap="square" lIns="0" tIns="0" rIns="0" bIns="0" rtlCol="0" anchor="ctr"/>
          <a:lstStyle/>
          <a:p>
            <a:pPr indent="0" marL="0">
              <a:buNone/>
            </a:pPr>
            <a:r>
              <a:rPr lang="en-US" sz="1200" dirty="0">
                <a:solidFill>
                  <a:srgbClr val="F0F4F8"/>
                </a:solidFill>
              </a:rPr>
              <a:t>Progresion: sin parametros → con uno → con varios → con defecto</a:t>
            </a:r>
            <a:endParaRPr lang="en-US" sz="1200" dirty="0"/>
          </a:p>
        </p:txBody>
      </p:sp>
      <p:pic>
        <p:nvPicPr>
          <p:cNvPr id="12" name="Image 3" descr="preencoded.png">    </p:cNvPr>
          <p:cNvPicPr>
            <a:picLocks noChangeAspect="1"/>
          </p:cNvPicPr>
          <p:nvPr/>
        </p:nvPicPr>
        <p:blipFill>
          <a:blip r:embed="rId4"/>
          <a:stretch>
            <a:fillRect/>
          </a:stretch>
        </p:blipFill>
        <p:spPr>
          <a:xfrm>
            <a:off x="411480" y="2651760"/>
            <a:ext cx="219456" cy="219456"/>
          </a:xfrm>
          <a:prstGeom prst="rect">
            <a:avLst/>
          </a:prstGeom>
        </p:spPr>
      </p:pic>
      <p:sp>
        <p:nvSpPr>
          <p:cNvPr id="13" name="Text 7"/>
          <p:cNvSpPr/>
          <p:nvPr/>
        </p:nvSpPr>
        <p:spPr>
          <a:xfrm>
            <a:off x="749808" y="2633472"/>
            <a:ext cx="8046720" cy="310896"/>
          </a:xfrm>
          <a:prstGeom prst="rect">
            <a:avLst/>
          </a:prstGeom>
          <a:noFill/>
          <a:ln/>
        </p:spPr>
        <p:txBody>
          <a:bodyPr wrap="square" lIns="0" tIns="0" rIns="0" bIns="0" rtlCol="0" anchor="ctr"/>
          <a:lstStyle/>
          <a:p>
            <a:pPr indent="0" marL="0">
              <a:buNone/>
            </a:pPr>
            <a:r>
              <a:rPr lang="en-US" sz="1200" dirty="0">
                <a:solidFill>
                  <a:srgbClr val="F0F4F8"/>
                </a:solidFill>
              </a:rPr>
              <a:t>return vs print: devolver un valor vs solo mostrarlo</a:t>
            </a:r>
            <a:endParaRPr lang="en-US" sz="1200" dirty="0"/>
          </a:p>
        </p:txBody>
      </p:sp>
      <p:pic>
        <p:nvPicPr>
          <p:cNvPr id="14" name="Image 4" descr="preencoded.png">    </p:cNvPr>
          <p:cNvPicPr>
            <a:picLocks noChangeAspect="1"/>
          </p:cNvPicPr>
          <p:nvPr/>
        </p:nvPicPr>
        <p:blipFill>
          <a:blip r:embed="rId5"/>
          <a:stretch>
            <a:fillRect/>
          </a:stretch>
        </p:blipFill>
        <p:spPr>
          <a:xfrm>
            <a:off x="411480" y="3090672"/>
            <a:ext cx="219456" cy="219456"/>
          </a:xfrm>
          <a:prstGeom prst="rect">
            <a:avLst/>
          </a:prstGeom>
        </p:spPr>
      </p:pic>
      <p:sp>
        <p:nvSpPr>
          <p:cNvPr id="15" name="Text 8"/>
          <p:cNvSpPr/>
          <p:nvPr/>
        </p:nvSpPr>
        <p:spPr>
          <a:xfrm>
            <a:off x="749808" y="3072384"/>
            <a:ext cx="8046720" cy="310896"/>
          </a:xfrm>
          <a:prstGeom prst="rect">
            <a:avLst/>
          </a:prstGeom>
          <a:noFill/>
          <a:ln/>
        </p:spPr>
        <p:txBody>
          <a:bodyPr wrap="square" lIns="0" tIns="0" rIns="0" bIns="0" rtlCol="0" anchor="ctr"/>
          <a:lstStyle/>
          <a:p>
            <a:pPr indent="0" marL="0">
              <a:buNone/>
            </a:pPr>
            <a:r>
              <a:rPr lang="en-US" sz="1200" dirty="0">
                <a:solidFill>
                  <a:srgbClr val="F0F4F8"/>
                </a:solidFill>
              </a:rPr>
              <a:t>Scope: las variables locales no existen fuera de la funcion</a:t>
            </a:r>
            <a:endParaRPr lang="en-US" sz="1200" dirty="0"/>
          </a:p>
        </p:txBody>
      </p:sp>
      <p:pic>
        <p:nvPicPr>
          <p:cNvPr id="16" name="Image 5" descr="preencoded.png">    </p:cNvPr>
          <p:cNvPicPr>
            <a:picLocks noChangeAspect="1"/>
          </p:cNvPicPr>
          <p:nvPr/>
        </p:nvPicPr>
        <p:blipFill>
          <a:blip r:embed="rId6"/>
          <a:stretch>
            <a:fillRect/>
          </a:stretch>
        </p:blipFill>
        <p:spPr>
          <a:xfrm>
            <a:off x="411480" y="3529584"/>
            <a:ext cx="219456" cy="219456"/>
          </a:xfrm>
          <a:prstGeom prst="rect">
            <a:avLst/>
          </a:prstGeom>
        </p:spPr>
      </p:pic>
      <p:sp>
        <p:nvSpPr>
          <p:cNvPr id="17" name="Text 9"/>
          <p:cNvSpPr/>
          <p:nvPr/>
        </p:nvSpPr>
        <p:spPr>
          <a:xfrm>
            <a:off x="749808" y="3511296"/>
            <a:ext cx="8046720" cy="310896"/>
          </a:xfrm>
          <a:prstGeom prst="rect">
            <a:avLst/>
          </a:prstGeom>
          <a:noFill/>
          <a:ln/>
        </p:spPr>
        <p:txBody>
          <a:bodyPr wrap="square" lIns="0" tIns="0" rIns="0" bIns="0" rtlCol="0" anchor="ctr"/>
          <a:lstStyle/>
          <a:p>
            <a:pPr indent="0" marL="0">
              <a:buNone/>
            </a:pPr>
            <a:r>
              <a:rPr lang="en-US" sz="1200" dirty="0">
                <a:solidFill>
                  <a:srgbClr val="F0F4F8"/>
                </a:solidFill>
              </a:rPr>
              <a:t>Docstrings y PEP8: documentar con triple comillas, snake_case</a:t>
            </a:r>
            <a:endParaRPr lang="en-US" sz="1200" dirty="0"/>
          </a:p>
        </p:txBody>
      </p:sp>
      <p:sp>
        <p:nvSpPr>
          <p:cNvPr id="18" name="Shape 10"/>
          <p:cNvSpPr/>
          <p:nvPr/>
        </p:nvSpPr>
        <p:spPr>
          <a:xfrm>
            <a:off x="411480" y="3986784"/>
            <a:ext cx="8321040" cy="347472"/>
          </a:xfrm>
          <a:prstGeom prst="rect">
            <a:avLst/>
          </a:prstGeom>
          <a:solidFill>
            <a:srgbClr val="1A5276"/>
          </a:solidFill>
          <a:ln w="12700">
            <a:solidFill>
              <a:srgbClr val="1A5276"/>
            </a:solidFill>
            <a:prstDash val="solid"/>
          </a:ln>
          <a:effectLst>
            <a:outerShdw sx="100000" sy="100000" kx="0" ky="0" algn="bl" rotWithShape="0" blurRad="101600" dist="38100" dir="8100000">
              <a:srgbClr val="000000">
                <a:alpha val="10000"/>
              </a:srgbClr>
            </a:outerShdw>
          </a:effectLst>
        </p:spPr>
      </p:sp>
      <p:sp>
        <p:nvSpPr>
          <p:cNvPr id="19" name="Shape 11"/>
          <p:cNvSpPr/>
          <p:nvPr/>
        </p:nvSpPr>
        <p:spPr>
          <a:xfrm>
            <a:off x="411480" y="3986784"/>
            <a:ext cx="91440" cy="347472"/>
          </a:xfrm>
          <a:prstGeom prst="rect">
            <a:avLst/>
          </a:prstGeom>
          <a:solidFill>
            <a:srgbClr val="F4A261"/>
          </a:solidFill>
          <a:ln w="12700">
            <a:solidFill>
              <a:srgbClr val="F4A261"/>
            </a:solidFill>
            <a:prstDash val="solid"/>
          </a:ln>
        </p:spPr>
      </p:sp>
      <p:pic>
        <p:nvPicPr>
          <p:cNvPr id="20" name="Image 6" descr="preencoded.png">    </p:cNvPr>
          <p:cNvPicPr>
            <a:picLocks noChangeAspect="1"/>
          </p:cNvPicPr>
          <p:nvPr/>
        </p:nvPicPr>
        <p:blipFill>
          <a:blip r:embed="rId7"/>
          <a:stretch>
            <a:fillRect/>
          </a:stretch>
        </p:blipFill>
        <p:spPr>
          <a:xfrm>
            <a:off x="594360" y="4059936"/>
            <a:ext cx="201168" cy="201168"/>
          </a:xfrm>
          <a:prstGeom prst="rect">
            <a:avLst/>
          </a:prstGeom>
        </p:spPr>
      </p:pic>
      <p:sp>
        <p:nvSpPr>
          <p:cNvPr id="21" name="Text 12"/>
          <p:cNvSpPr/>
          <p:nvPr/>
        </p:nvSpPr>
        <p:spPr>
          <a:xfrm>
            <a:off x="914400" y="4023360"/>
            <a:ext cx="7589520" cy="256032"/>
          </a:xfrm>
          <a:prstGeom prst="rect">
            <a:avLst/>
          </a:prstGeom>
          <a:noFill/>
          <a:ln/>
        </p:spPr>
        <p:txBody>
          <a:bodyPr wrap="square" lIns="0" tIns="0" rIns="0" bIns="0" rtlCol="0" anchor="ctr"/>
          <a:lstStyle/>
          <a:p>
            <a:pPr indent="0" marL="0">
              <a:buNone/>
            </a:pPr>
            <a:r>
              <a:rPr lang="en-US" sz="1050" b="1" dirty="0">
                <a:solidFill>
                  <a:srgbClr val="FFFFFF"/>
                </a:solidFill>
              </a:rPr>
              <a:t>Proxima sesion: Vie 24 de abril · 18:00-21:00 h  ·  *args, **kwargs, funciones anidadas, try/except</a:t>
            </a:r>
            <a:endParaRPr lang="en-US" sz="1050" dirty="0"/>
          </a:p>
        </p:txBody>
      </p:sp>
      <p:sp>
        <p:nvSpPr>
          <p:cNvPr id="22" name="Text 13"/>
          <p:cNvSpPr/>
          <p:nvPr/>
        </p:nvSpPr>
        <p:spPr>
          <a:xfrm>
            <a:off x="274320" y="4462272"/>
            <a:ext cx="8595360" cy="256032"/>
          </a:xfrm>
          <a:prstGeom prst="rect">
            <a:avLst/>
          </a:prstGeom>
          <a:noFill/>
          <a:ln/>
        </p:spPr>
        <p:txBody>
          <a:bodyPr wrap="square" lIns="0" tIns="0" rIns="0" bIns="0" rtlCol="0" anchor="ctr"/>
          <a:lstStyle/>
          <a:p>
            <a:pPr algn="ctr" indent="0" marL="0">
              <a:buNone/>
            </a:pPr>
            <a:r>
              <a:rPr lang="en-US" sz="900" dirty="0">
                <a:solidFill>
                  <a:srgbClr val="8FA3B1"/>
                </a:solidFill>
              </a:rPr>
              <a:t>Facultad de Ciencias · UNAM  ·  Diplomado ML en Seguros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2026-04-20T23:28:57Z</dcterms:created>
  <dcterms:modified xsi:type="dcterms:W3CDTF">2026-04-20T23:28:57Z</dcterms:modified>
</cp:coreProperties>
</file>