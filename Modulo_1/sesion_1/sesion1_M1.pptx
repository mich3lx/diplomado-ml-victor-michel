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76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0453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png"/><Relationship Id="rId9"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6.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6.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21.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1.png"/><Relationship Id="rId7"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A8A"/>
          </a:solidFill>
          <a:ln w="12700">
            <a:solidFill>
              <a:srgbClr val="0D7A8A"/>
            </a:solidFill>
            <a:prstDash val="solid"/>
          </a:ln>
        </p:spPr>
        <p:txBody>
          <a:bodyPr/>
          <a:lstStyle/>
          <a:p>
            <a:endParaRPr lang="es-MX"/>
          </a:p>
        </p:txBody>
      </p:sp>
      <p:sp>
        <p:nvSpPr>
          <p:cNvPr id="3" name="Shape 1"/>
          <p:cNvSpPr/>
          <p:nvPr/>
        </p:nvSpPr>
        <p:spPr>
          <a:xfrm>
            <a:off x="7589520" y="0"/>
            <a:ext cx="1554480" cy="1371600"/>
          </a:xfrm>
          <a:prstGeom prst="rect">
            <a:avLst/>
          </a:prstGeom>
          <a:solidFill>
            <a:srgbClr val="1A5276"/>
          </a:solidFill>
          <a:ln w="12700">
            <a:solidFill>
              <a:srgbClr val="1A5276"/>
            </a:solidFill>
            <a:prstDash val="solid"/>
          </a:ln>
        </p:spPr>
        <p:txBody>
          <a:bodyPr/>
          <a:lstStyle/>
          <a:p>
            <a:endParaRPr lang="es-MX"/>
          </a:p>
        </p:txBody>
      </p:sp>
      <p:sp>
        <p:nvSpPr>
          <p:cNvPr id="4" name="Shape 2"/>
          <p:cNvSpPr/>
          <p:nvPr/>
        </p:nvSpPr>
        <p:spPr>
          <a:xfrm>
            <a:off x="8138160" y="0"/>
            <a:ext cx="1005840" cy="1371600"/>
          </a:xfrm>
          <a:prstGeom prst="rect">
            <a:avLst/>
          </a:prstGeom>
          <a:solidFill>
            <a:srgbClr val="0D7A8A"/>
          </a:solidFill>
          <a:ln w="12700">
            <a:solidFill>
              <a:srgbClr val="0D7A8A"/>
            </a:solidFill>
            <a:prstDash val="solid"/>
          </a:ln>
        </p:spPr>
        <p:txBody>
          <a:bodyPr/>
          <a:lstStyle/>
          <a:p>
            <a:endParaRPr lang="es-MX"/>
          </a:p>
        </p:txBody>
      </p:sp>
      <p:pic>
        <p:nvPicPr>
          <p:cNvPr id="5" name="Image 0" descr="preencoded.png"/>
          <p:cNvPicPr>
            <a:picLocks noChangeAspect="1"/>
          </p:cNvPicPr>
          <p:nvPr/>
        </p:nvPicPr>
        <p:blipFill>
          <a:blip r:embed="rId3"/>
          <a:stretch>
            <a:fillRect/>
          </a:stretch>
        </p:blipFill>
        <p:spPr>
          <a:xfrm>
            <a:off x="6949440" y="1371600"/>
            <a:ext cx="1920240" cy="1920240"/>
          </a:xfrm>
          <a:prstGeom prst="rect">
            <a:avLst/>
          </a:prstGeom>
        </p:spPr>
      </p:pic>
      <p:sp>
        <p:nvSpPr>
          <p:cNvPr id="6" name="Shape 3"/>
          <p:cNvSpPr/>
          <p:nvPr/>
        </p:nvSpPr>
        <p:spPr>
          <a:xfrm>
            <a:off x="365760" y="475488"/>
            <a:ext cx="1554480" cy="292608"/>
          </a:xfrm>
          <a:prstGeom prst="rect">
            <a:avLst/>
          </a:prstGeom>
          <a:solidFill>
            <a:srgbClr val="0D7A8A"/>
          </a:solidFill>
          <a:ln w="12700">
            <a:solidFill>
              <a:srgbClr val="0D7A8A"/>
            </a:solidFill>
            <a:prstDash val="solid"/>
          </a:ln>
        </p:spPr>
        <p:txBody>
          <a:bodyPr/>
          <a:lstStyle/>
          <a:p>
            <a:endParaRPr lang="es-MX"/>
          </a:p>
        </p:txBody>
      </p:sp>
      <p:sp>
        <p:nvSpPr>
          <p:cNvPr id="7" name="Text 4"/>
          <p:cNvSpPr/>
          <p:nvPr/>
        </p:nvSpPr>
        <p:spPr>
          <a:xfrm>
            <a:off x="365760" y="475488"/>
            <a:ext cx="1554480" cy="292608"/>
          </a:xfrm>
          <a:prstGeom prst="rect">
            <a:avLst/>
          </a:prstGeom>
          <a:noFill/>
          <a:ln/>
        </p:spPr>
        <p:txBody>
          <a:bodyPr wrap="square" lIns="0" tIns="0" rIns="0" bIns="0" rtlCol="0" anchor="ctr"/>
          <a:lstStyle/>
          <a:p>
            <a:pPr marL="0" indent="0" algn="ctr">
              <a:buNone/>
            </a:pPr>
            <a:r>
              <a:rPr lang="en-US" sz="900" b="1" kern="0" spc="300" dirty="0">
                <a:solidFill>
                  <a:srgbClr val="FFFFFF"/>
                </a:solidFill>
              </a:rPr>
              <a:t>MÓDULO 1</a:t>
            </a:r>
            <a:endParaRPr lang="en-US" sz="900" dirty="0"/>
          </a:p>
        </p:txBody>
      </p:sp>
      <p:sp>
        <p:nvSpPr>
          <p:cNvPr id="8" name="Text 5"/>
          <p:cNvSpPr/>
          <p:nvPr/>
        </p:nvSpPr>
        <p:spPr>
          <a:xfrm>
            <a:off x="365760" y="896112"/>
            <a:ext cx="6217920" cy="475488"/>
          </a:xfrm>
          <a:prstGeom prst="rect">
            <a:avLst/>
          </a:prstGeom>
          <a:noFill/>
          <a:ln/>
        </p:spPr>
        <p:txBody>
          <a:bodyPr wrap="square" lIns="0" tIns="0" rIns="0" bIns="0" rtlCol="0" anchor="ctr"/>
          <a:lstStyle/>
          <a:p>
            <a:pPr marL="0" indent="0">
              <a:buNone/>
            </a:pPr>
            <a:r>
              <a:rPr lang="en-US" sz="2600" b="1" dirty="0">
                <a:solidFill>
                  <a:srgbClr val="A8D8EA"/>
                </a:solidFill>
              </a:rPr>
              <a:t>Introducción a Python</a:t>
            </a:r>
            <a:endParaRPr lang="en-US" sz="2600" dirty="0"/>
          </a:p>
        </p:txBody>
      </p:sp>
      <p:sp>
        <p:nvSpPr>
          <p:cNvPr id="9" name="Text 6"/>
          <p:cNvSpPr/>
          <p:nvPr/>
        </p:nvSpPr>
        <p:spPr>
          <a:xfrm>
            <a:off x="365760" y="1389888"/>
            <a:ext cx="6217920" cy="658368"/>
          </a:xfrm>
          <a:prstGeom prst="rect">
            <a:avLst/>
          </a:prstGeom>
          <a:noFill/>
          <a:ln/>
        </p:spPr>
        <p:txBody>
          <a:bodyPr wrap="square" lIns="0" tIns="0" rIns="0" bIns="0" rtlCol="0" anchor="ctr"/>
          <a:lstStyle/>
          <a:p>
            <a:pPr marL="0" indent="0">
              <a:buNone/>
            </a:pPr>
            <a:r>
              <a:rPr lang="en-US" sz="4400" b="1" dirty="0">
                <a:solidFill>
                  <a:srgbClr val="FFFFFF"/>
                </a:solidFill>
              </a:rPr>
              <a:t>Sesión 1</a:t>
            </a:r>
            <a:endParaRPr lang="en-US" sz="4400" dirty="0"/>
          </a:p>
        </p:txBody>
      </p:sp>
      <p:sp>
        <p:nvSpPr>
          <p:cNvPr id="10" name="Text 7"/>
          <p:cNvSpPr/>
          <p:nvPr/>
        </p:nvSpPr>
        <p:spPr>
          <a:xfrm>
            <a:off x="365760" y="2084832"/>
            <a:ext cx="6217920" cy="438912"/>
          </a:xfrm>
          <a:prstGeom prst="rect">
            <a:avLst/>
          </a:prstGeom>
          <a:noFill/>
          <a:ln/>
        </p:spPr>
        <p:txBody>
          <a:bodyPr wrap="square" lIns="0" tIns="0" rIns="0" bIns="0" rtlCol="0" anchor="ctr"/>
          <a:lstStyle/>
          <a:p>
            <a:pPr marL="0" indent="0">
              <a:buNone/>
            </a:pPr>
            <a:r>
              <a:rPr lang="en-US" sz="1800" dirty="0">
                <a:solidFill>
                  <a:srgbClr val="8FA3B1"/>
                </a:solidFill>
              </a:rPr>
              <a:t>Instalación, Configuración y Primeros Pasos</a:t>
            </a:r>
            <a:endParaRPr lang="en-US" sz="1800" dirty="0"/>
          </a:p>
        </p:txBody>
      </p:sp>
      <p:sp>
        <p:nvSpPr>
          <p:cNvPr id="11" name="Shape 8"/>
          <p:cNvSpPr/>
          <p:nvPr/>
        </p:nvSpPr>
        <p:spPr>
          <a:xfrm>
            <a:off x="365760" y="2651760"/>
            <a:ext cx="4389120" cy="36576"/>
          </a:xfrm>
          <a:prstGeom prst="rect">
            <a:avLst/>
          </a:prstGeom>
          <a:solidFill>
            <a:srgbClr val="0D7A8A"/>
          </a:solidFill>
          <a:ln w="12700">
            <a:solidFill>
              <a:srgbClr val="0D7A8A"/>
            </a:solidFill>
            <a:prstDash val="solid"/>
          </a:ln>
        </p:spPr>
        <p:txBody>
          <a:bodyPr/>
          <a:lstStyle/>
          <a:p>
            <a:endParaRPr lang="es-MX"/>
          </a:p>
        </p:txBody>
      </p:sp>
      <p:pic>
        <p:nvPicPr>
          <p:cNvPr id="12" name="Image 1" descr="preencoded.png"/>
          <p:cNvPicPr>
            <a:picLocks noChangeAspect="1"/>
          </p:cNvPicPr>
          <p:nvPr/>
        </p:nvPicPr>
        <p:blipFill>
          <a:blip r:embed="rId4"/>
          <a:stretch>
            <a:fillRect/>
          </a:stretch>
        </p:blipFill>
        <p:spPr>
          <a:xfrm>
            <a:off x="365760" y="2834640"/>
            <a:ext cx="256032" cy="256032"/>
          </a:xfrm>
          <a:prstGeom prst="rect">
            <a:avLst/>
          </a:prstGeom>
        </p:spPr>
      </p:pic>
      <p:sp>
        <p:nvSpPr>
          <p:cNvPr id="13" name="Text 9"/>
          <p:cNvSpPr/>
          <p:nvPr/>
        </p:nvSpPr>
        <p:spPr>
          <a:xfrm>
            <a:off x="713232" y="2816352"/>
            <a:ext cx="5943600" cy="292608"/>
          </a:xfrm>
          <a:prstGeom prst="rect">
            <a:avLst/>
          </a:prstGeom>
          <a:noFill/>
          <a:ln/>
        </p:spPr>
        <p:txBody>
          <a:bodyPr wrap="square" lIns="0" tIns="0" rIns="0" bIns="0" rtlCol="0" anchor="ctr"/>
          <a:lstStyle/>
          <a:p>
            <a:pPr marL="0" indent="0">
              <a:buNone/>
            </a:pPr>
            <a:r>
              <a:rPr lang="en-US" sz="1200" dirty="0">
                <a:solidFill>
                  <a:srgbClr val="F0F4F8"/>
                </a:solidFill>
              </a:rPr>
              <a:t>Miércoles 15 de abril de 2026  ·  18:00 – 21:00 h</a:t>
            </a:r>
            <a:endParaRPr lang="en-US" sz="1200" dirty="0"/>
          </a:p>
        </p:txBody>
      </p:sp>
      <p:pic>
        <p:nvPicPr>
          <p:cNvPr id="14" name="Image 2" descr="preencoded.png"/>
          <p:cNvPicPr>
            <a:picLocks noChangeAspect="1"/>
          </p:cNvPicPr>
          <p:nvPr/>
        </p:nvPicPr>
        <p:blipFill>
          <a:blip r:embed="rId5"/>
          <a:stretch>
            <a:fillRect/>
          </a:stretch>
        </p:blipFill>
        <p:spPr>
          <a:xfrm>
            <a:off x="365760" y="3218688"/>
            <a:ext cx="256032" cy="256032"/>
          </a:xfrm>
          <a:prstGeom prst="rect">
            <a:avLst/>
          </a:prstGeom>
        </p:spPr>
      </p:pic>
      <p:sp>
        <p:nvSpPr>
          <p:cNvPr id="15" name="Text 10"/>
          <p:cNvSpPr/>
          <p:nvPr/>
        </p:nvSpPr>
        <p:spPr>
          <a:xfrm>
            <a:off x="713232" y="3200400"/>
            <a:ext cx="5943600" cy="292608"/>
          </a:xfrm>
          <a:prstGeom prst="rect">
            <a:avLst/>
          </a:prstGeom>
          <a:noFill/>
          <a:ln/>
        </p:spPr>
        <p:txBody>
          <a:bodyPr wrap="square" lIns="0" tIns="0" rIns="0" bIns="0" rtlCol="0" anchor="ctr"/>
          <a:lstStyle/>
          <a:p>
            <a:pPr marL="0" indent="0">
              <a:buNone/>
            </a:pPr>
            <a:r>
              <a:rPr lang="en-US" sz="1200" dirty="0">
                <a:solidFill>
                  <a:srgbClr val="F0F4F8"/>
                </a:solidFill>
              </a:rPr>
              <a:t>Modalidad: En línea vía Zoom</a:t>
            </a:r>
            <a:endParaRPr lang="en-US" sz="1200" dirty="0"/>
          </a:p>
        </p:txBody>
      </p:sp>
      <p:pic>
        <p:nvPicPr>
          <p:cNvPr id="16" name="Image 3" descr="preencoded.png"/>
          <p:cNvPicPr>
            <a:picLocks noChangeAspect="1"/>
          </p:cNvPicPr>
          <p:nvPr/>
        </p:nvPicPr>
        <p:blipFill>
          <a:blip r:embed="rId6"/>
          <a:stretch>
            <a:fillRect/>
          </a:stretch>
        </p:blipFill>
        <p:spPr>
          <a:xfrm>
            <a:off x="365760" y="3602736"/>
            <a:ext cx="256032" cy="256032"/>
          </a:xfrm>
          <a:prstGeom prst="rect">
            <a:avLst/>
          </a:prstGeom>
        </p:spPr>
      </p:pic>
      <p:sp>
        <p:nvSpPr>
          <p:cNvPr id="17" name="Text 11"/>
          <p:cNvSpPr/>
          <p:nvPr/>
        </p:nvSpPr>
        <p:spPr>
          <a:xfrm>
            <a:off x="713232" y="3584448"/>
            <a:ext cx="5943600" cy="292608"/>
          </a:xfrm>
          <a:prstGeom prst="rect">
            <a:avLst/>
          </a:prstGeom>
          <a:noFill/>
          <a:ln/>
        </p:spPr>
        <p:txBody>
          <a:bodyPr wrap="square" lIns="0" tIns="0" rIns="0" bIns="0" rtlCol="0" anchor="ctr"/>
          <a:lstStyle/>
          <a:p>
            <a:pPr marL="0" indent="0">
              <a:buNone/>
            </a:pPr>
            <a:r>
              <a:rPr lang="en-US" sz="1200" dirty="0">
                <a:solidFill>
                  <a:srgbClr val="8FA3B1"/>
                </a:solidFill>
              </a:rPr>
              <a:t>Instructor: Eric Daniel Hernandez Jardon  ·  Diplomado ML en Seguros, FC UNAM</a:t>
            </a:r>
            <a:endParaRPr lang="en-US" sz="1200" dirty="0"/>
          </a:p>
        </p:txBody>
      </p:sp>
      <p:sp>
        <p:nvSpPr>
          <p:cNvPr id="18" name="Shape 12"/>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19" name="Text 13"/>
          <p:cNvSpPr/>
          <p:nvPr/>
        </p:nvSpPr>
        <p:spPr>
          <a:xfrm>
            <a:off x="274320" y="4892040"/>
            <a:ext cx="8595360" cy="251460"/>
          </a:xfrm>
          <a:prstGeom prst="rect">
            <a:avLst/>
          </a:prstGeom>
          <a:noFill/>
          <a:ln/>
        </p:spPr>
        <p:txBody>
          <a:bodyPr wrap="square" lIns="0" tIns="0" rIns="0" bIns="0" rtlCol="0" anchor="ctr"/>
          <a:lstStyle/>
          <a:p>
            <a:pPr marL="0" indent="0" algn="ctr">
              <a:buNone/>
            </a:pPr>
            <a:r>
              <a:rPr lang="en-US" sz="900" dirty="0">
                <a:solidFill>
                  <a:srgbClr val="8FA3B1"/>
                </a:solidFill>
              </a:rPr>
              <a:t>Facultad de Ciencias · Universidad Nacional Autónoma de México</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Text 1"/>
          <p:cNvSpPr/>
          <p:nvPr/>
        </p:nvSpPr>
        <p:spPr>
          <a:xfrm>
            <a:off x="457200" y="182880"/>
            <a:ext cx="8229600" cy="475488"/>
          </a:xfrm>
          <a:prstGeom prst="rect">
            <a:avLst/>
          </a:prstGeom>
          <a:noFill/>
          <a:ln/>
        </p:spPr>
        <p:txBody>
          <a:bodyPr wrap="square" lIns="0" tIns="0" rIns="0" bIns="0" rtlCol="0" anchor="ctr"/>
          <a:lstStyle/>
          <a:p>
            <a:pPr marL="0" indent="0" algn="l">
              <a:buNone/>
            </a:pPr>
            <a:r>
              <a:rPr lang="en-US" sz="2800" b="1" dirty="0">
                <a:solidFill>
                  <a:srgbClr val="0D1B3E"/>
                </a:solidFill>
              </a:rPr>
              <a:t>Sobre el Diplomado</a:t>
            </a:r>
            <a:endParaRPr lang="en-US" sz="2800" dirty="0"/>
          </a:p>
        </p:txBody>
      </p:sp>
      <p:sp>
        <p:nvSpPr>
          <p:cNvPr id="4" name="Text 2"/>
          <p:cNvSpPr/>
          <p:nvPr/>
        </p:nvSpPr>
        <p:spPr>
          <a:xfrm>
            <a:off x="457200" y="685800"/>
            <a:ext cx="8229600" cy="256032"/>
          </a:xfrm>
          <a:prstGeom prst="rect">
            <a:avLst/>
          </a:prstGeom>
          <a:noFill/>
          <a:ln/>
        </p:spPr>
        <p:txBody>
          <a:bodyPr wrap="square" lIns="0" tIns="0" rIns="0" bIns="0" rtlCol="0" anchor="ctr"/>
          <a:lstStyle/>
          <a:p>
            <a:pPr marL="0" indent="0" algn="l">
              <a:buNone/>
            </a:pPr>
            <a:r>
              <a:rPr lang="en-US" sz="1200" dirty="0">
                <a:solidFill>
                  <a:srgbClr val="0D7A8A"/>
                </a:solidFill>
              </a:rPr>
              <a:t>Machine Learning en Seguros  ·  Facultad de Ciencias, UNAM</a:t>
            </a:r>
            <a:endParaRPr lang="en-US" sz="1200" dirty="0"/>
          </a:p>
        </p:txBody>
      </p:sp>
      <p:sp>
        <p:nvSpPr>
          <p:cNvPr id="5" name="Shape 3"/>
          <p:cNvSpPr/>
          <p:nvPr/>
        </p:nvSpPr>
        <p:spPr>
          <a:xfrm>
            <a:off x="320040" y="1143000"/>
            <a:ext cx="1572768" cy="1828800"/>
          </a:xfrm>
          <a:prstGeom prst="rect">
            <a:avLst/>
          </a:prstGeom>
          <a:solidFill>
            <a:srgbClr val="0D7A8A"/>
          </a:solidFill>
          <a:ln w="12700">
            <a:solidFill>
              <a:srgbClr val="0D7A8A"/>
            </a:solidFill>
            <a:prstDash val="solid"/>
          </a:ln>
        </p:spPr>
        <p:txBody>
          <a:bodyPr/>
          <a:lstStyle/>
          <a:p>
            <a:endParaRPr lang="es-MX"/>
          </a:p>
        </p:txBody>
      </p:sp>
      <p:sp>
        <p:nvSpPr>
          <p:cNvPr id="6" name="Text 4"/>
          <p:cNvSpPr/>
          <p:nvPr/>
        </p:nvSpPr>
        <p:spPr>
          <a:xfrm>
            <a:off x="320040" y="1188720"/>
            <a:ext cx="1572768" cy="621792"/>
          </a:xfrm>
          <a:prstGeom prst="rect">
            <a:avLst/>
          </a:prstGeom>
          <a:noFill/>
          <a:ln/>
        </p:spPr>
        <p:txBody>
          <a:bodyPr wrap="square" lIns="0" tIns="0" rIns="0" bIns="0" rtlCol="0" anchor="ctr"/>
          <a:lstStyle/>
          <a:p>
            <a:pPr marL="0" indent="0" algn="ctr">
              <a:buNone/>
            </a:pPr>
            <a:r>
              <a:rPr lang="en-US" sz="3400" b="1" dirty="0">
                <a:solidFill>
                  <a:srgbClr val="A8D8EA"/>
                </a:solidFill>
              </a:rPr>
              <a:t>01</a:t>
            </a:r>
            <a:endParaRPr lang="en-US" sz="3400" dirty="0"/>
          </a:p>
        </p:txBody>
      </p:sp>
      <p:sp>
        <p:nvSpPr>
          <p:cNvPr id="7" name="Text 5"/>
          <p:cNvSpPr/>
          <p:nvPr/>
        </p:nvSpPr>
        <p:spPr>
          <a:xfrm>
            <a:off x="320040" y="1810512"/>
            <a:ext cx="1572768" cy="658368"/>
          </a:xfrm>
          <a:prstGeom prst="rect">
            <a:avLst/>
          </a:prstGeom>
          <a:noFill/>
          <a:ln/>
        </p:spPr>
        <p:txBody>
          <a:bodyPr wrap="square" lIns="0" tIns="0" rIns="0" bIns="0" rtlCol="0" anchor="t"/>
          <a:lstStyle/>
          <a:p>
            <a:pPr marL="0" indent="0" algn="ctr">
              <a:buNone/>
            </a:pPr>
            <a:r>
              <a:rPr lang="en-US" sz="1100" dirty="0">
                <a:solidFill>
                  <a:srgbClr val="FFFFFF"/>
                </a:solidFill>
              </a:rPr>
              <a:t>Introducción</a:t>
            </a:r>
            <a:endParaRPr lang="en-US" sz="1100" dirty="0"/>
          </a:p>
          <a:p>
            <a:pPr marL="0" indent="0" algn="ctr">
              <a:buNone/>
            </a:pPr>
            <a:r>
              <a:rPr lang="en-US" sz="1100" dirty="0">
                <a:solidFill>
                  <a:srgbClr val="FFFFFF"/>
                </a:solidFill>
              </a:rPr>
              <a:t>a Python</a:t>
            </a:r>
            <a:endParaRPr lang="en-US" sz="1100" dirty="0"/>
          </a:p>
        </p:txBody>
      </p:sp>
      <p:sp>
        <p:nvSpPr>
          <p:cNvPr id="8" name="Text 6"/>
          <p:cNvSpPr/>
          <p:nvPr/>
        </p:nvSpPr>
        <p:spPr>
          <a:xfrm>
            <a:off x="320040" y="2633472"/>
            <a:ext cx="1572768" cy="274320"/>
          </a:xfrm>
          <a:prstGeom prst="rect">
            <a:avLst/>
          </a:prstGeom>
          <a:noFill/>
          <a:ln/>
        </p:spPr>
        <p:txBody>
          <a:bodyPr wrap="square" lIns="0" tIns="0" rIns="0" bIns="0" rtlCol="0" anchor="ctr"/>
          <a:lstStyle/>
          <a:p>
            <a:pPr marL="0" indent="0" algn="ctr">
              <a:buNone/>
            </a:pPr>
            <a:r>
              <a:rPr lang="en-US" sz="1000" b="1" dirty="0">
                <a:solidFill>
                  <a:srgbClr val="A8D8EA"/>
                </a:solidFill>
              </a:rPr>
              <a:t>40 h</a:t>
            </a:r>
            <a:endParaRPr lang="en-US" sz="1000" dirty="0"/>
          </a:p>
        </p:txBody>
      </p:sp>
      <p:sp>
        <p:nvSpPr>
          <p:cNvPr id="9" name="Shape 7"/>
          <p:cNvSpPr/>
          <p:nvPr/>
        </p:nvSpPr>
        <p:spPr>
          <a:xfrm>
            <a:off x="1911096" y="2029968"/>
            <a:ext cx="109728" cy="27432"/>
          </a:xfrm>
          <a:prstGeom prst="rect">
            <a:avLst/>
          </a:prstGeom>
          <a:solidFill>
            <a:srgbClr val="0D7A8A"/>
          </a:solidFill>
          <a:ln w="12700">
            <a:solidFill>
              <a:srgbClr val="0D7A8A"/>
            </a:solidFill>
            <a:prstDash val="solid"/>
          </a:ln>
        </p:spPr>
        <p:txBody>
          <a:bodyPr/>
          <a:lstStyle/>
          <a:p>
            <a:endParaRPr lang="es-MX"/>
          </a:p>
        </p:txBody>
      </p:sp>
      <p:sp>
        <p:nvSpPr>
          <p:cNvPr id="10" name="Shape 8"/>
          <p:cNvSpPr/>
          <p:nvPr/>
        </p:nvSpPr>
        <p:spPr>
          <a:xfrm>
            <a:off x="2039112" y="1143000"/>
            <a:ext cx="1572768" cy="1828800"/>
          </a:xfrm>
          <a:prstGeom prst="rect">
            <a:avLst/>
          </a:prstGeom>
          <a:solidFill>
            <a:srgbClr val="0D1B3E"/>
          </a:solidFill>
          <a:ln w="12700">
            <a:solidFill>
              <a:srgbClr val="0D1B3E"/>
            </a:solidFill>
            <a:prstDash val="solid"/>
          </a:ln>
        </p:spPr>
        <p:txBody>
          <a:bodyPr/>
          <a:lstStyle/>
          <a:p>
            <a:endParaRPr lang="es-MX"/>
          </a:p>
        </p:txBody>
      </p:sp>
      <p:sp>
        <p:nvSpPr>
          <p:cNvPr id="11" name="Text 9"/>
          <p:cNvSpPr/>
          <p:nvPr/>
        </p:nvSpPr>
        <p:spPr>
          <a:xfrm>
            <a:off x="2039112" y="1188720"/>
            <a:ext cx="1572768" cy="621792"/>
          </a:xfrm>
          <a:prstGeom prst="rect">
            <a:avLst/>
          </a:prstGeom>
          <a:noFill/>
          <a:ln/>
        </p:spPr>
        <p:txBody>
          <a:bodyPr wrap="square" lIns="0" tIns="0" rIns="0" bIns="0" rtlCol="0" anchor="ctr"/>
          <a:lstStyle/>
          <a:p>
            <a:pPr marL="0" indent="0" algn="ctr">
              <a:buNone/>
            </a:pPr>
            <a:r>
              <a:rPr lang="en-US" sz="3400" b="1" dirty="0">
                <a:solidFill>
                  <a:srgbClr val="1A5276"/>
                </a:solidFill>
              </a:rPr>
              <a:t>02</a:t>
            </a:r>
            <a:endParaRPr lang="en-US" sz="3400" dirty="0"/>
          </a:p>
        </p:txBody>
      </p:sp>
      <p:sp>
        <p:nvSpPr>
          <p:cNvPr id="12" name="Text 10"/>
          <p:cNvSpPr/>
          <p:nvPr/>
        </p:nvSpPr>
        <p:spPr>
          <a:xfrm>
            <a:off x="2039112" y="1810512"/>
            <a:ext cx="1572768" cy="658368"/>
          </a:xfrm>
          <a:prstGeom prst="rect">
            <a:avLst/>
          </a:prstGeom>
          <a:noFill/>
          <a:ln/>
        </p:spPr>
        <p:txBody>
          <a:bodyPr wrap="square" lIns="0" tIns="0" rIns="0" bIns="0" rtlCol="0" anchor="t"/>
          <a:lstStyle/>
          <a:p>
            <a:pPr marL="0" indent="0" algn="ctr">
              <a:buNone/>
            </a:pPr>
            <a:r>
              <a:rPr lang="en-US" sz="1100" dirty="0">
                <a:solidFill>
                  <a:srgbClr val="FFFFFF"/>
                </a:solidFill>
              </a:rPr>
              <a:t>Análisis</a:t>
            </a:r>
            <a:endParaRPr lang="en-US" sz="1100" dirty="0"/>
          </a:p>
          <a:p>
            <a:pPr marL="0" indent="0" algn="ctr">
              <a:buNone/>
            </a:pPr>
            <a:r>
              <a:rPr lang="en-US" sz="1100" dirty="0">
                <a:solidFill>
                  <a:srgbClr val="FFFFFF"/>
                </a:solidFill>
              </a:rPr>
              <a:t>de Datos</a:t>
            </a:r>
            <a:endParaRPr lang="en-US" sz="1100" dirty="0"/>
          </a:p>
        </p:txBody>
      </p:sp>
      <p:sp>
        <p:nvSpPr>
          <p:cNvPr id="13" name="Text 11"/>
          <p:cNvSpPr/>
          <p:nvPr/>
        </p:nvSpPr>
        <p:spPr>
          <a:xfrm>
            <a:off x="2039112" y="2633472"/>
            <a:ext cx="1572768" cy="274320"/>
          </a:xfrm>
          <a:prstGeom prst="rect">
            <a:avLst/>
          </a:prstGeom>
          <a:noFill/>
          <a:ln/>
        </p:spPr>
        <p:txBody>
          <a:bodyPr wrap="square" lIns="0" tIns="0" rIns="0" bIns="0" rtlCol="0" anchor="ctr"/>
          <a:lstStyle/>
          <a:p>
            <a:pPr marL="0" indent="0" algn="ctr">
              <a:buNone/>
            </a:pPr>
            <a:r>
              <a:rPr lang="en-US" sz="1000" b="1" dirty="0">
                <a:solidFill>
                  <a:srgbClr val="8FA3B1"/>
                </a:solidFill>
              </a:rPr>
              <a:t>50 h</a:t>
            </a:r>
            <a:endParaRPr lang="en-US" sz="1000" dirty="0"/>
          </a:p>
        </p:txBody>
      </p:sp>
      <p:sp>
        <p:nvSpPr>
          <p:cNvPr id="14" name="Shape 12"/>
          <p:cNvSpPr/>
          <p:nvPr/>
        </p:nvSpPr>
        <p:spPr>
          <a:xfrm>
            <a:off x="3630168" y="2029968"/>
            <a:ext cx="109728" cy="27432"/>
          </a:xfrm>
          <a:prstGeom prst="rect">
            <a:avLst/>
          </a:prstGeom>
          <a:solidFill>
            <a:srgbClr val="0D7A8A"/>
          </a:solidFill>
          <a:ln w="12700">
            <a:solidFill>
              <a:srgbClr val="0D7A8A"/>
            </a:solidFill>
            <a:prstDash val="solid"/>
          </a:ln>
        </p:spPr>
        <p:txBody>
          <a:bodyPr/>
          <a:lstStyle/>
          <a:p>
            <a:endParaRPr lang="es-MX"/>
          </a:p>
        </p:txBody>
      </p:sp>
      <p:sp>
        <p:nvSpPr>
          <p:cNvPr id="15" name="Shape 13"/>
          <p:cNvSpPr/>
          <p:nvPr/>
        </p:nvSpPr>
        <p:spPr>
          <a:xfrm>
            <a:off x="3758184" y="1143000"/>
            <a:ext cx="1572768" cy="1828800"/>
          </a:xfrm>
          <a:prstGeom prst="rect">
            <a:avLst/>
          </a:prstGeom>
          <a:solidFill>
            <a:srgbClr val="0D1B3E"/>
          </a:solidFill>
          <a:ln w="12700">
            <a:solidFill>
              <a:srgbClr val="0D1B3E"/>
            </a:solidFill>
            <a:prstDash val="solid"/>
          </a:ln>
        </p:spPr>
        <p:txBody>
          <a:bodyPr/>
          <a:lstStyle/>
          <a:p>
            <a:endParaRPr lang="es-MX"/>
          </a:p>
        </p:txBody>
      </p:sp>
      <p:sp>
        <p:nvSpPr>
          <p:cNvPr id="16" name="Text 14"/>
          <p:cNvSpPr/>
          <p:nvPr/>
        </p:nvSpPr>
        <p:spPr>
          <a:xfrm>
            <a:off x="3758184" y="1188720"/>
            <a:ext cx="1572768" cy="621792"/>
          </a:xfrm>
          <a:prstGeom prst="rect">
            <a:avLst/>
          </a:prstGeom>
          <a:noFill/>
          <a:ln/>
        </p:spPr>
        <p:txBody>
          <a:bodyPr wrap="square" lIns="0" tIns="0" rIns="0" bIns="0" rtlCol="0" anchor="ctr"/>
          <a:lstStyle/>
          <a:p>
            <a:pPr marL="0" indent="0" algn="ctr">
              <a:buNone/>
            </a:pPr>
            <a:r>
              <a:rPr lang="en-US" sz="3400" b="1" dirty="0">
                <a:solidFill>
                  <a:srgbClr val="1A5276"/>
                </a:solidFill>
              </a:rPr>
              <a:t>03</a:t>
            </a:r>
            <a:endParaRPr lang="en-US" sz="3400" dirty="0"/>
          </a:p>
        </p:txBody>
      </p:sp>
      <p:sp>
        <p:nvSpPr>
          <p:cNvPr id="17" name="Text 15"/>
          <p:cNvSpPr/>
          <p:nvPr/>
        </p:nvSpPr>
        <p:spPr>
          <a:xfrm>
            <a:off x="3758184" y="1810512"/>
            <a:ext cx="1572768" cy="658368"/>
          </a:xfrm>
          <a:prstGeom prst="rect">
            <a:avLst/>
          </a:prstGeom>
          <a:noFill/>
          <a:ln/>
        </p:spPr>
        <p:txBody>
          <a:bodyPr wrap="square" lIns="0" tIns="0" rIns="0" bIns="0" rtlCol="0" anchor="t"/>
          <a:lstStyle/>
          <a:p>
            <a:pPr marL="0" indent="0" algn="ctr">
              <a:buNone/>
            </a:pPr>
            <a:r>
              <a:rPr lang="en-US" sz="1100" dirty="0">
                <a:solidFill>
                  <a:srgbClr val="FFFFFF"/>
                </a:solidFill>
              </a:rPr>
              <a:t>Machine</a:t>
            </a:r>
            <a:endParaRPr lang="en-US" sz="1100" dirty="0"/>
          </a:p>
          <a:p>
            <a:pPr marL="0" indent="0" algn="ctr">
              <a:buNone/>
            </a:pPr>
            <a:r>
              <a:rPr lang="en-US" sz="1100" dirty="0">
                <a:solidFill>
                  <a:srgbClr val="FFFFFF"/>
                </a:solidFill>
              </a:rPr>
              <a:t>Learning</a:t>
            </a:r>
            <a:endParaRPr lang="en-US" sz="1100" dirty="0"/>
          </a:p>
        </p:txBody>
      </p:sp>
      <p:sp>
        <p:nvSpPr>
          <p:cNvPr id="18" name="Text 16"/>
          <p:cNvSpPr/>
          <p:nvPr/>
        </p:nvSpPr>
        <p:spPr>
          <a:xfrm>
            <a:off x="3758184" y="2633472"/>
            <a:ext cx="1572768" cy="274320"/>
          </a:xfrm>
          <a:prstGeom prst="rect">
            <a:avLst/>
          </a:prstGeom>
          <a:noFill/>
          <a:ln/>
        </p:spPr>
        <p:txBody>
          <a:bodyPr wrap="square" lIns="0" tIns="0" rIns="0" bIns="0" rtlCol="0" anchor="ctr"/>
          <a:lstStyle/>
          <a:p>
            <a:pPr marL="0" indent="0" algn="ctr">
              <a:buNone/>
            </a:pPr>
            <a:r>
              <a:rPr lang="en-US" sz="1000" b="1" dirty="0">
                <a:solidFill>
                  <a:srgbClr val="8FA3B1"/>
                </a:solidFill>
              </a:rPr>
              <a:t>50 h</a:t>
            </a:r>
            <a:endParaRPr lang="en-US" sz="1000" dirty="0"/>
          </a:p>
        </p:txBody>
      </p:sp>
      <p:sp>
        <p:nvSpPr>
          <p:cNvPr id="19" name="Shape 17"/>
          <p:cNvSpPr/>
          <p:nvPr/>
        </p:nvSpPr>
        <p:spPr>
          <a:xfrm>
            <a:off x="5349240" y="2029968"/>
            <a:ext cx="109728" cy="27432"/>
          </a:xfrm>
          <a:prstGeom prst="rect">
            <a:avLst/>
          </a:prstGeom>
          <a:solidFill>
            <a:srgbClr val="0D7A8A"/>
          </a:solidFill>
          <a:ln w="12700">
            <a:solidFill>
              <a:srgbClr val="0D7A8A"/>
            </a:solidFill>
            <a:prstDash val="solid"/>
          </a:ln>
        </p:spPr>
        <p:txBody>
          <a:bodyPr/>
          <a:lstStyle/>
          <a:p>
            <a:endParaRPr lang="es-MX"/>
          </a:p>
        </p:txBody>
      </p:sp>
      <p:sp>
        <p:nvSpPr>
          <p:cNvPr id="20" name="Shape 18"/>
          <p:cNvSpPr/>
          <p:nvPr/>
        </p:nvSpPr>
        <p:spPr>
          <a:xfrm>
            <a:off x="5477256" y="1143000"/>
            <a:ext cx="1572768" cy="1828800"/>
          </a:xfrm>
          <a:prstGeom prst="rect">
            <a:avLst/>
          </a:prstGeom>
          <a:solidFill>
            <a:srgbClr val="0D1B3E"/>
          </a:solidFill>
          <a:ln w="12700">
            <a:solidFill>
              <a:srgbClr val="0D1B3E"/>
            </a:solidFill>
            <a:prstDash val="solid"/>
          </a:ln>
        </p:spPr>
        <p:txBody>
          <a:bodyPr/>
          <a:lstStyle/>
          <a:p>
            <a:endParaRPr lang="es-MX"/>
          </a:p>
        </p:txBody>
      </p:sp>
      <p:sp>
        <p:nvSpPr>
          <p:cNvPr id="21" name="Text 19"/>
          <p:cNvSpPr/>
          <p:nvPr/>
        </p:nvSpPr>
        <p:spPr>
          <a:xfrm>
            <a:off x="5477256" y="1188720"/>
            <a:ext cx="1572768" cy="621792"/>
          </a:xfrm>
          <a:prstGeom prst="rect">
            <a:avLst/>
          </a:prstGeom>
          <a:noFill/>
          <a:ln/>
        </p:spPr>
        <p:txBody>
          <a:bodyPr wrap="square" lIns="0" tIns="0" rIns="0" bIns="0" rtlCol="0" anchor="ctr"/>
          <a:lstStyle/>
          <a:p>
            <a:pPr marL="0" indent="0" algn="ctr">
              <a:buNone/>
            </a:pPr>
            <a:r>
              <a:rPr lang="en-US" sz="3400" b="1" dirty="0">
                <a:solidFill>
                  <a:srgbClr val="1A5276"/>
                </a:solidFill>
              </a:rPr>
              <a:t>04</a:t>
            </a:r>
            <a:endParaRPr lang="en-US" sz="3400" dirty="0"/>
          </a:p>
        </p:txBody>
      </p:sp>
      <p:sp>
        <p:nvSpPr>
          <p:cNvPr id="22" name="Text 20"/>
          <p:cNvSpPr/>
          <p:nvPr/>
        </p:nvSpPr>
        <p:spPr>
          <a:xfrm>
            <a:off x="5477256" y="1810512"/>
            <a:ext cx="1572768" cy="658368"/>
          </a:xfrm>
          <a:prstGeom prst="rect">
            <a:avLst/>
          </a:prstGeom>
          <a:noFill/>
          <a:ln/>
        </p:spPr>
        <p:txBody>
          <a:bodyPr wrap="square" lIns="0" tIns="0" rIns="0" bIns="0" rtlCol="0" anchor="t"/>
          <a:lstStyle/>
          <a:p>
            <a:pPr marL="0" indent="0" algn="ctr">
              <a:buNone/>
            </a:pPr>
            <a:r>
              <a:rPr lang="en-US" sz="1100" dirty="0">
                <a:solidFill>
                  <a:srgbClr val="FFFFFF"/>
                </a:solidFill>
              </a:rPr>
              <a:t>Pricing y</a:t>
            </a:r>
            <a:endParaRPr lang="en-US" sz="1100" dirty="0"/>
          </a:p>
          <a:p>
            <a:pPr marL="0" indent="0" algn="ctr">
              <a:buNone/>
            </a:pPr>
            <a:r>
              <a:rPr lang="en-US" sz="1100" dirty="0">
                <a:solidFill>
                  <a:srgbClr val="FFFFFF"/>
                </a:solidFill>
              </a:rPr>
              <a:t>Reservas</a:t>
            </a:r>
            <a:endParaRPr lang="en-US" sz="1100" dirty="0"/>
          </a:p>
        </p:txBody>
      </p:sp>
      <p:sp>
        <p:nvSpPr>
          <p:cNvPr id="23" name="Text 21"/>
          <p:cNvSpPr/>
          <p:nvPr/>
        </p:nvSpPr>
        <p:spPr>
          <a:xfrm>
            <a:off x="5477256" y="2633472"/>
            <a:ext cx="1572768" cy="274320"/>
          </a:xfrm>
          <a:prstGeom prst="rect">
            <a:avLst/>
          </a:prstGeom>
          <a:noFill/>
          <a:ln/>
        </p:spPr>
        <p:txBody>
          <a:bodyPr wrap="square" lIns="0" tIns="0" rIns="0" bIns="0" rtlCol="0" anchor="ctr"/>
          <a:lstStyle/>
          <a:p>
            <a:pPr marL="0" indent="0" algn="ctr">
              <a:buNone/>
            </a:pPr>
            <a:r>
              <a:rPr lang="en-US" sz="1000" b="1" dirty="0">
                <a:solidFill>
                  <a:srgbClr val="8FA3B1"/>
                </a:solidFill>
              </a:rPr>
              <a:t>60 h</a:t>
            </a:r>
            <a:endParaRPr lang="en-US" sz="1000" dirty="0"/>
          </a:p>
        </p:txBody>
      </p:sp>
      <p:sp>
        <p:nvSpPr>
          <p:cNvPr id="24" name="Shape 22"/>
          <p:cNvSpPr/>
          <p:nvPr/>
        </p:nvSpPr>
        <p:spPr>
          <a:xfrm>
            <a:off x="7068312" y="2029968"/>
            <a:ext cx="109728" cy="27432"/>
          </a:xfrm>
          <a:prstGeom prst="rect">
            <a:avLst/>
          </a:prstGeom>
          <a:solidFill>
            <a:srgbClr val="0D7A8A"/>
          </a:solidFill>
          <a:ln w="12700">
            <a:solidFill>
              <a:srgbClr val="0D7A8A"/>
            </a:solidFill>
            <a:prstDash val="solid"/>
          </a:ln>
        </p:spPr>
        <p:txBody>
          <a:bodyPr/>
          <a:lstStyle/>
          <a:p>
            <a:endParaRPr lang="es-MX"/>
          </a:p>
        </p:txBody>
      </p:sp>
      <p:sp>
        <p:nvSpPr>
          <p:cNvPr id="25" name="Shape 23"/>
          <p:cNvSpPr/>
          <p:nvPr/>
        </p:nvSpPr>
        <p:spPr>
          <a:xfrm>
            <a:off x="7196328" y="1143000"/>
            <a:ext cx="1572768" cy="1828800"/>
          </a:xfrm>
          <a:prstGeom prst="rect">
            <a:avLst/>
          </a:prstGeom>
          <a:solidFill>
            <a:srgbClr val="0D1B3E"/>
          </a:solidFill>
          <a:ln w="12700">
            <a:solidFill>
              <a:srgbClr val="0D1B3E"/>
            </a:solidFill>
            <a:prstDash val="solid"/>
          </a:ln>
        </p:spPr>
        <p:txBody>
          <a:bodyPr/>
          <a:lstStyle/>
          <a:p>
            <a:endParaRPr lang="es-MX"/>
          </a:p>
        </p:txBody>
      </p:sp>
      <p:sp>
        <p:nvSpPr>
          <p:cNvPr id="26" name="Text 24"/>
          <p:cNvSpPr/>
          <p:nvPr/>
        </p:nvSpPr>
        <p:spPr>
          <a:xfrm>
            <a:off x="7196328" y="1188720"/>
            <a:ext cx="1572768" cy="621792"/>
          </a:xfrm>
          <a:prstGeom prst="rect">
            <a:avLst/>
          </a:prstGeom>
          <a:noFill/>
          <a:ln/>
        </p:spPr>
        <p:txBody>
          <a:bodyPr wrap="square" lIns="0" tIns="0" rIns="0" bIns="0" rtlCol="0" anchor="ctr"/>
          <a:lstStyle/>
          <a:p>
            <a:pPr marL="0" indent="0" algn="ctr">
              <a:buNone/>
            </a:pPr>
            <a:r>
              <a:rPr lang="en-US" sz="3400" b="1" dirty="0">
                <a:solidFill>
                  <a:srgbClr val="1A5276"/>
                </a:solidFill>
              </a:rPr>
              <a:t>05</a:t>
            </a:r>
            <a:endParaRPr lang="en-US" sz="3400" dirty="0"/>
          </a:p>
        </p:txBody>
      </p:sp>
      <p:sp>
        <p:nvSpPr>
          <p:cNvPr id="27" name="Text 25"/>
          <p:cNvSpPr/>
          <p:nvPr/>
        </p:nvSpPr>
        <p:spPr>
          <a:xfrm>
            <a:off x="7196328" y="1810512"/>
            <a:ext cx="1572768" cy="658368"/>
          </a:xfrm>
          <a:prstGeom prst="rect">
            <a:avLst/>
          </a:prstGeom>
          <a:noFill/>
          <a:ln/>
        </p:spPr>
        <p:txBody>
          <a:bodyPr wrap="square" lIns="0" tIns="0" rIns="0" bIns="0" rtlCol="0" anchor="t"/>
          <a:lstStyle/>
          <a:p>
            <a:pPr marL="0" indent="0" algn="ctr">
              <a:buNone/>
            </a:pPr>
            <a:r>
              <a:rPr lang="en-US" sz="1100" dirty="0">
                <a:solidFill>
                  <a:srgbClr val="FFFFFF"/>
                </a:solidFill>
              </a:rPr>
              <a:t>Presentación</a:t>
            </a:r>
            <a:endParaRPr lang="en-US" sz="1100" dirty="0"/>
          </a:p>
          <a:p>
            <a:pPr marL="0" indent="0" algn="ctr">
              <a:buNone/>
            </a:pPr>
            <a:r>
              <a:rPr lang="en-US" sz="1100" dirty="0">
                <a:solidFill>
                  <a:srgbClr val="FFFFFF"/>
                </a:solidFill>
              </a:rPr>
              <a:t>de Resultados</a:t>
            </a:r>
            <a:endParaRPr lang="en-US" sz="1100" dirty="0"/>
          </a:p>
        </p:txBody>
      </p:sp>
      <p:sp>
        <p:nvSpPr>
          <p:cNvPr id="28" name="Text 26"/>
          <p:cNvSpPr/>
          <p:nvPr/>
        </p:nvSpPr>
        <p:spPr>
          <a:xfrm>
            <a:off x="7196328" y="2633472"/>
            <a:ext cx="1572768" cy="274320"/>
          </a:xfrm>
          <a:prstGeom prst="rect">
            <a:avLst/>
          </a:prstGeom>
          <a:noFill/>
          <a:ln/>
        </p:spPr>
        <p:txBody>
          <a:bodyPr wrap="square" lIns="0" tIns="0" rIns="0" bIns="0" rtlCol="0" anchor="ctr"/>
          <a:lstStyle/>
          <a:p>
            <a:pPr marL="0" indent="0" algn="ctr">
              <a:buNone/>
            </a:pPr>
            <a:r>
              <a:rPr lang="en-US" sz="1000" b="1" dirty="0">
                <a:solidFill>
                  <a:srgbClr val="8FA3B1"/>
                </a:solidFill>
              </a:rPr>
              <a:t>50 h</a:t>
            </a:r>
            <a:endParaRPr lang="en-US" sz="1000" dirty="0"/>
          </a:p>
        </p:txBody>
      </p:sp>
      <p:sp>
        <p:nvSpPr>
          <p:cNvPr id="29" name="Shape 27"/>
          <p:cNvSpPr/>
          <p:nvPr/>
        </p:nvSpPr>
        <p:spPr>
          <a:xfrm>
            <a:off x="365760" y="3200400"/>
            <a:ext cx="2697480" cy="1115568"/>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pic>
        <p:nvPicPr>
          <p:cNvPr id="30" name="Image 0" descr="preencoded.png"/>
          <p:cNvPicPr>
            <a:picLocks noChangeAspect="1"/>
          </p:cNvPicPr>
          <p:nvPr/>
        </p:nvPicPr>
        <p:blipFill>
          <a:blip r:embed="rId3"/>
          <a:stretch>
            <a:fillRect/>
          </a:stretch>
        </p:blipFill>
        <p:spPr>
          <a:xfrm>
            <a:off x="548640" y="3328416"/>
            <a:ext cx="329184" cy="329184"/>
          </a:xfrm>
          <a:prstGeom prst="rect">
            <a:avLst/>
          </a:prstGeom>
        </p:spPr>
      </p:pic>
      <p:sp>
        <p:nvSpPr>
          <p:cNvPr id="31" name="Text 28"/>
          <p:cNvSpPr/>
          <p:nvPr/>
        </p:nvSpPr>
        <p:spPr>
          <a:xfrm>
            <a:off x="987552" y="3291840"/>
            <a:ext cx="1993392" cy="347472"/>
          </a:xfrm>
          <a:prstGeom prst="rect">
            <a:avLst/>
          </a:prstGeom>
          <a:noFill/>
          <a:ln/>
        </p:spPr>
        <p:txBody>
          <a:bodyPr wrap="square" lIns="0" tIns="0" rIns="0" bIns="0" rtlCol="0" anchor="ctr"/>
          <a:lstStyle/>
          <a:p>
            <a:pPr marL="0" indent="0">
              <a:buNone/>
            </a:pPr>
            <a:r>
              <a:rPr lang="en-US" sz="1200" b="1" dirty="0">
                <a:solidFill>
                  <a:srgbClr val="0D1B3E"/>
                </a:solidFill>
              </a:rPr>
              <a:t>250 horas totales</a:t>
            </a:r>
            <a:endParaRPr lang="en-US" sz="1200" dirty="0"/>
          </a:p>
        </p:txBody>
      </p:sp>
      <p:sp>
        <p:nvSpPr>
          <p:cNvPr id="32" name="Text 29"/>
          <p:cNvSpPr/>
          <p:nvPr/>
        </p:nvSpPr>
        <p:spPr>
          <a:xfrm>
            <a:off x="987552" y="3639312"/>
            <a:ext cx="1993392" cy="274320"/>
          </a:xfrm>
          <a:prstGeom prst="rect">
            <a:avLst/>
          </a:prstGeom>
          <a:noFill/>
          <a:ln/>
        </p:spPr>
        <p:txBody>
          <a:bodyPr wrap="square" lIns="0" tIns="0" rIns="0" bIns="0" rtlCol="0" anchor="ctr"/>
          <a:lstStyle/>
          <a:p>
            <a:pPr marL="0" indent="0">
              <a:buNone/>
            </a:pPr>
            <a:r>
              <a:rPr lang="en-US" sz="950" dirty="0">
                <a:solidFill>
                  <a:srgbClr val="0D7A8A"/>
                </a:solidFill>
              </a:rPr>
              <a:t>Abril – Octubre 2026</a:t>
            </a:r>
            <a:endParaRPr lang="en-US" sz="950" dirty="0"/>
          </a:p>
        </p:txBody>
      </p:sp>
      <p:sp>
        <p:nvSpPr>
          <p:cNvPr id="33" name="Shape 30"/>
          <p:cNvSpPr/>
          <p:nvPr/>
        </p:nvSpPr>
        <p:spPr>
          <a:xfrm>
            <a:off x="3273552" y="3200400"/>
            <a:ext cx="2697480" cy="1115568"/>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pic>
        <p:nvPicPr>
          <p:cNvPr id="34" name="Image 1" descr="preencoded.png"/>
          <p:cNvPicPr>
            <a:picLocks noChangeAspect="1"/>
          </p:cNvPicPr>
          <p:nvPr/>
        </p:nvPicPr>
        <p:blipFill>
          <a:blip r:embed="rId4"/>
          <a:stretch>
            <a:fillRect/>
          </a:stretch>
        </p:blipFill>
        <p:spPr>
          <a:xfrm>
            <a:off x="3456432" y="3328416"/>
            <a:ext cx="329184" cy="329184"/>
          </a:xfrm>
          <a:prstGeom prst="rect">
            <a:avLst/>
          </a:prstGeom>
        </p:spPr>
      </p:pic>
      <p:sp>
        <p:nvSpPr>
          <p:cNvPr id="35" name="Text 31"/>
          <p:cNvSpPr/>
          <p:nvPr/>
        </p:nvSpPr>
        <p:spPr>
          <a:xfrm>
            <a:off x="3895344" y="3291840"/>
            <a:ext cx="1993392" cy="347472"/>
          </a:xfrm>
          <a:prstGeom prst="rect">
            <a:avLst/>
          </a:prstGeom>
          <a:noFill/>
          <a:ln/>
        </p:spPr>
        <p:txBody>
          <a:bodyPr wrap="square" lIns="0" tIns="0" rIns="0" bIns="0" rtlCol="0" anchor="ctr"/>
          <a:lstStyle/>
          <a:p>
            <a:pPr marL="0" indent="0">
              <a:buNone/>
            </a:pPr>
            <a:r>
              <a:rPr lang="en-US" sz="1200" b="1" dirty="0">
                <a:solidFill>
                  <a:srgbClr val="0D1B3E"/>
                </a:solidFill>
              </a:rPr>
              <a:t>Zoom · En línea</a:t>
            </a:r>
            <a:endParaRPr lang="en-US" sz="1200" dirty="0"/>
          </a:p>
        </p:txBody>
      </p:sp>
      <p:sp>
        <p:nvSpPr>
          <p:cNvPr id="36" name="Text 32"/>
          <p:cNvSpPr/>
          <p:nvPr/>
        </p:nvSpPr>
        <p:spPr>
          <a:xfrm>
            <a:off x="3895344" y="3639312"/>
            <a:ext cx="1993392" cy="274320"/>
          </a:xfrm>
          <a:prstGeom prst="rect">
            <a:avLst/>
          </a:prstGeom>
          <a:noFill/>
          <a:ln/>
        </p:spPr>
        <p:txBody>
          <a:bodyPr wrap="square" lIns="0" tIns="0" rIns="0" bIns="0" rtlCol="0" anchor="ctr"/>
          <a:lstStyle/>
          <a:p>
            <a:pPr marL="0" indent="0">
              <a:buNone/>
            </a:pPr>
            <a:r>
              <a:rPr lang="en-US" sz="950" dirty="0">
                <a:solidFill>
                  <a:srgbClr val="0D7A8A"/>
                </a:solidFill>
              </a:rPr>
              <a:t>Sesiones grabadas y disponibles</a:t>
            </a:r>
            <a:endParaRPr lang="en-US" sz="950" dirty="0"/>
          </a:p>
        </p:txBody>
      </p:sp>
      <p:sp>
        <p:nvSpPr>
          <p:cNvPr id="37" name="Shape 33"/>
          <p:cNvSpPr/>
          <p:nvPr/>
        </p:nvSpPr>
        <p:spPr>
          <a:xfrm>
            <a:off x="6181344" y="3200400"/>
            <a:ext cx="2697480" cy="1115568"/>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pic>
        <p:nvPicPr>
          <p:cNvPr id="38" name="Image 2" descr="preencoded.png"/>
          <p:cNvPicPr>
            <a:picLocks noChangeAspect="1"/>
          </p:cNvPicPr>
          <p:nvPr/>
        </p:nvPicPr>
        <p:blipFill>
          <a:blip r:embed="rId5"/>
          <a:stretch>
            <a:fillRect/>
          </a:stretch>
        </p:blipFill>
        <p:spPr>
          <a:xfrm>
            <a:off x="6364224" y="3328416"/>
            <a:ext cx="329184" cy="329184"/>
          </a:xfrm>
          <a:prstGeom prst="rect">
            <a:avLst/>
          </a:prstGeom>
        </p:spPr>
      </p:pic>
      <p:sp>
        <p:nvSpPr>
          <p:cNvPr id="39" name="Text 34"/>
          <p:cNvSpPr/>
          <p:nvPr/>
        </p:nvSpPr>
        <p:spPr>
          <a:xfrm>
            <a:off x="6803136" y="3291840"/>
            <a:ext cx="1993392" cy="347472"/>
          </a:xfrm>
          <a:prstGeom prst="rect">
            <a:avLst/>
          </a:prstGeom>
          <a:noFill/>
          <a:ln/>
        </p:spPr>
        <p:txBody>
          <a:bodyPr wrap="square" lIns="0" tIns="0" rIns="0" bIns="0" rtlCol="0" anchor="ctr"/>
          <a:lstStyle/>
          <a:p>
            <a:pPr marL="0" indent="0">
              <a:buNone/>
            </a:pPr>
            <a:r>
              <a:rPr lang="en-US" sz="1200" b="1" dirty="0">
                <a:solidFill>
                  <a:srgbClr val="0D1B3E"/>
                </a:solidFill>
              </a:rPr>
              <a:t>3 Instructores</a:t>
            </a:r>
            <a:endParaRPr lang="en-US" sz="1200" dirty="0"/>
          </a:p>
        </p:txBody>
      </p:sp>
      <p:sp>
        <p:nvSpPr>
          <p:cNvPr id="40" name="Text 35"/>
          <p:cNvSpPr/>
          <p:nvPr/>
        </p:nvSpPr>
        <p:spPr>
          <a:xfrm>
            <a:off x="6803136" y="3639312"/>
            <a:ext cx="1993392" cy="274320"/>
          </a:xfrm>
          <a:prstGeom prst="rect">
            <a:avLst/>
          </a:prstGeom>
          <a:noFill/>
          <a:ln/>
        </p:spPr>
        <p:txBody>
          <a:bodyPr wrap="square" lIns="0" tIns="0" rIns="0" bIns="0" rtlCol="0" anchor="ctr"/>
          <a:lstStyle/>
          <a:p>
            <a:pPr marL="0" indent="0">
              <a:buNone/>
            </a:pPr>
            <a:r>
              <a:rPr lang="en-US" sz="950" dirty="0">
                <a:solidFill>
                  <a:srgbClr val="0D7A8A"/>
                </a:solidFill>
              </a:rPr>
              <a:t>Eric · Eduardo · Karla</a:t>
            </a:r>
            <a:endParaRPr lang="en-US" sz="950" dirty="0"/>
          </a:p>
        </p:txBody>
      </p:sp>
      <p:sp>
        <p:nvSpPr>
          <p:cNvPr id="41" name="Shape 36"/>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42" name="Text 37"/>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Módulo 1 · Introducción a Python · Sesión 1  —  15 abril 2026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Text 1"/>
          <p:cNvSpPr/>
          <p:nvPr/>
        </p:nvSpPr>
        <p:spPr>
          <a:xfrm>
            <a:off x="457200" y="182880"/>
            <a:ext cx="8229600" cy="475488"/>
          </a:xfrm>
          <a:prstGeom prst="rect">
            <a:avLst/>
          </a:prstGeom>
          <a:noFill/>
          <a:ln/>
        </p:spPr>
        <p:txBody>
          <a:bodyPr wrap="square" lIns="0" tIns="0" rIns="0" bIns="0" rtlCol="0" anchor="ctr"/>
          <a:lstStyle/>
          <a:p>
            <a:pPr marL="0" indent="0" algn="l">
              <a:buNone/>
            </a:pPr>
            <a:r>
              <a:rPr lang="en-US" sz="2800" b="1" dirty="0">
                <a:solidFill>
                  <a:srgbClr val="FFFFFF"/>
                </a:solidFill>
              </a:rPr>
              <a:t>Modalidad y Logística</a:t>
            </a:r>
            <a:endParaRPr lang="en-US" sz="2800" dirty="0"/>
          </a:p>
        </p:txBody>
      </p:sp>
      <p:sp>
        <p:nvSpPr>
          <p:cNvPr id="4" name="Text 2"/>
          <p:cNvSpPr/>
          <p:nvPr/>
        </p:nvSpPr>
        <p:spPr>
          <a:xfrm>
            <a:off x="457200" y="685800"/>
            <a:ext cx="8229600" cy="256032"/>
          </a:xfrm>
          <a:prstGeom prst="rect">
            <a:avLst/>
          </a:prstGeom>
          <a:noFill/>
          <a:ln/>
        </p:spPr>
        <p:txBody>
          <a:bodyPr wrap="square" lIns="0" tIns="0" rIns="0" bIns="0" rtlCol="0" anchor="ctr"/>
          <a:lstStyle/>
          <a:p>
            <a:pPr marL="0" indent="0" algn="l">
              <a:buNone/>
            </a:pPr>
            <a:r>
              <a:rPr lang="en-US" sz="1200" dirty="0">
                <a:solidFill>
                  <a:srgbClr val="A8D8EA"/>
                </a:solidFill>
              </a:rPr>
              <a:t>Todo lo que necesitas saber antes de arrancar</a:t>
            </a:r>
            <a:endParaRPr lang="en-US" sz="1200" dirty="0"/>
          </a:p>
        </p:txBody>
      </p:sp>
      <p:sp>
        <p:nvSpPr>
          <p:cNvPr id="5" name="Shape 3"/>
          <p:cNvSpPr/>
          <p:nvPr/>
        </p:nvSpPr>
        <p:spPr>
          <a:xfrm>
            <a:off x="365760" y="1024128"/>
            <a:ext cx="3977640" cy="1143000"/>
          </a:xfrm>
          <a:prstGeom prst="rect">
            <a:avLst/>
          </a:prstGeom>
          <a:solidFill>
            <a:srgbClr val="1A5276"/>
          </a:solidFill>
          <a:ln w="12700">
            <a:solidFill>
              <a:srgbClr val="1A5276"/>
            </a:solidFill>
            <a:prstDash val="solid"/>
          </a:ln>
          <a:effectLst>
            <a:outerShdw blurRad="101600" dist="38100" dir="8100000" algn="bl" rotWithShape="0">
              <a:srgbClr val="000000">
                <a:alpha val="10000"/>
              </a:srgbClr>
            </a:outerShdw>
          </a:effectLst>
        </p:spPr>
        <p:txBody>
          <a:bodyPr/>
          <a:lstStyle/>
          <a:p>
            <a:endParaRPr lang="es-MX"/>
          </a:p>
        </p:txBody>
      </p:sp>
      <p:pic>
        <p:nvPicPr>
          <p:cNvPr id="6" name="Image 0" descr="preencoded.png"/>
          <p:cNvPicPr>
            <a:picLocks noChangeAspect="1"/>
          </p:cNvPicPr>
          <p:nvPr/>
        </p:nvPicPr>
        <p:blipFill>
          <a:blip r:embed="rId3"/>
          <a:stretch>
            <a:fillRect/>
          </a:stretch>
        </p:blipFill>
        <p:spPr>
          <a:xfrm>
            <a:off x="530352" y="1188720"/>
            <a:ext cx="384048" cy="384048"/>
          </a:xfrm>
          <a:prstGeom prst="rect">
            <a:avLst/>
          </a:prstGeom>
        </p:spPr>
      </p:pic>
      <p:sp>
        <p:nvSpPr>
          <p:cNvPr id="7" name="Text 4"/>
          <p:cNvSpPr/>
          <p:nvPr/>
        </p:nvSpPr>
        <p:spPr>
          <a:xfrm>
            <a:off x="1024128" y="1152144"/>
            <a:ext cx="3200400" cy="329184"/>
          </a:xfrm>
          <a:prstGeom prst="rect">
            <a:avLst/>
          </a:prstGeom>
          <a:noFill/>
          <a:ln/>
        </p:spPr>
        <p:txBody>
          <a:bodyPr wrap="square" lIns="0" tIns="0" rIns="0" bIns="0" rtlCol="0" anchor="ctr"/>
          <a:lstStyle/>
          <a:p>
            <a:pPr marL="0" indent="0">
              <a:buNone/>
            </a:pPr>
            <a:r>
              <a:rPr lang="en-US" sz="1200" b="1" dirty="0">
                <a:solidFill>
                  <a:srgbClr val="A8D8EA"/>
                </a:solidFill>
              </a:rPr>
              <a:t>Plataforma: Zoom</a:t>
            </a:r>
            <a:endParaRPr lang="en-US" sz="1200" dirty="0"/>
          </a:p>
        </p:txBody>
      </p:sp>
      <p:sp>
        <p:nvSpPr>
          <p:cNvPr id="8" name="Text 5"/>
          <p:cNvSpPr/>
          <p:nvPr/>
        </p:nvSpPr>
        <p:spPr>
          <a:xfrm>
            <a:off x="1024128" y="1499616"/>
            <a:ext cx="3200400" cy="594360"/>
          </a:xfrm>
          <a:prstGeom prst="rect">
            <a:avLst/>
          </a:prstGeom>
          <a:noFill/>
          <a:ln/>
        </p:spPr>
        <p:txBody>
          <a:bodyPr wrap="square" lIns="0" tIns="0" rIns="0" bIns="0" rtlCol="0" anchor="ctr"/>
          <a:lstStyle/>
          <a:p>
            <a:pPr marL="0" indent="0">
              <a:buNone/>
            </a:pPr>
            <a:r>
              <a:rPr lang="en-US" sz="950" dirty="0">
                <a:solidFill>
                  <a:srgbClr val="F0F4F8"/>
                </a:solidFill>
              </a:rPr>
              <a:t>Todas las sesiones son en vivo vía Zoom. Asegúrate de tener la app actualizada. Puedes unirte desde computadora o tablet. Se recomienda tener cámara y micrófono listos para una mejor experiencia.</a:t>
            </a:r>
            <a:endParaRPr lang="en-US" sz="950" dirty="0"/>
          </a:p>
        </p:txBody>
      </p:sp>
      <p:sp>
        <p:nvSpPr>
          <p:cNvPr id="9" name="Shape 6"/>
          <p:cNvSpPr/>
          <p:nvPr/>
        </p:nvSpPr>
        <p:spPr>
          <a:xfrm>
            <a:off x="365760" y="2286000"/>
            <a:ext cx="3977640" cy="1143000"/>
          </a:xfrm>
          <a:prstGeom prst="rect">
            <a:avLst/>
          </a:prstGeom>
          <a:solidFill>
            <a:srgbClr val="1A5276"/>
          </a:solidFill>
          <a:ln w="12700">
            <a:solidFill>
              <a:srgbClr val="1A5276"/>
            </a:solidFill>
            <a:prstDash val="solid"/>
          </a:ln>
          <a:effectLst>
            <a:outerShdw blurRad="101600" dist="38100" dir="8100000" algn="bl" rotWithShape="0">
              <a:srgbClr val="000000">
                <a:alpha val="10000"/>
              </a:srgbClr>
            </a:outerShdw>
          </a:effectLst>
        </p:spPr>
        <p:txBody>
          <a:bodyPr/>
          <a:lstStyle/>
          <a:p>
            <a:endParaRPr lang="es-MX"/>
          </a:p>
        </p:txBody>
      </p:sp>
      <p:pic>
        <p:nvPicPr>
          <p:cNvPr id="10" name="Image 1" descr="preencoded.png"/>
          <p:cNvPicPr>
            <a:picLocks noChangeAspect="1"/>
          </p:cNvPicPr>
          <p:nvPr/>
        </p:nvPicPr>
        <p:blipFill>
          <a:blip r:embed="rId4"/>
          <a:stretch>
            <a:fillRect/>
          </a:stretch>
        </p:blipFill>
        <p:spPr>
          <a:xfrm>
            <a:off x="530352" y="2450592"/>
            <a:ext cx="384048" cy="384048"/>
          </a:xfrm>
          <a:prstGeom prst="rect">
            <a:avLst/>
          </a:prstGeom>
        </p:spPr>
      </p:pic>
      <p:sp>
        <p:nvSpPr>
          <p:cNvPr id="11" name="Text 7"/>
          <p:cNvSpPr/>
          <p:nvPr/>
        </p:nvSpPr>
        <p:spPr>
          <a:xfrm>
            <a:off x="1024128" y="2414016"/>
            <a:ext cx="3200400" cy="329184"/>
          </a:xfrm>
          <a:prstGeom prst="rect">
            <a:avLst/>
          </a:prstGeom>
          <a:noFill/>
          <a:ln/>
        </p:spPr>
        <p:txBody>
          <a:bodyPr wrap="square" lIns="0" tIns="0" rIns="0" bIns="0" rtlCol="0" anchor="ctr"/>
          <a:lstStyle/>
          <a:p>
            <a:pPr marL="0" indent="0">
              <a:buNone/>
            </a:pPr>
            <a:r>
              <a:rPr lang="en-US" sz="1200" b="1" dirty="0">
                <a:solidFill>
                  <a:srgbClr val="A8D8EA"/>
                </a:solidFill>
              </a:rPr>
              <a:t>Registro de asistencia</a:t>
            </a:r>
            <a:endParaRPr lang="en-US" sz="1200" dirty="0"/>
          </a:p>
        </p:txBody>
      </p:sp>
      <p:sp>
        <p:nvSpPr>
          <p:cNvPr id="12" name="Text 8"/>
          <p:cNvSpPr/>
          <p:nvPr/>
        </p:nvSpPr>
        <p:spPr>
          <a:xfrm>
            <a:off x="1024128" y="2761488"/>
            <a:ext cx="3200400" cy="594360"/>
          </a:xfrm>
          <a:prstGeom prst="rect">
            <a:avLst/>
          </a:prstGeom>
          <a:noFill/>
          <a:ln/>
        </p:spPr>
        <p:txBody>
          <a:bodyPr wrap="square" lIns="0" tIns="0" rIns="0" bIns="0" rtlCol="0" anchor="ctr"/>
          <a:lstStyle/>
          <a:p>
            <a:pPr marL="0" indent="0">
              <a:buNone/>
            </a:pPr>
            <a:r>
              <a:rPr lang="en-US" sz="950" dirty="0">
                <a:solidFill>
                  <a:srgbClr val="F0F4F8"/>
                </a:solidFill>
              </a:rPr>
              <a:t>Al inicio de cada sesión se registrará tu asistencia. Se requiere un mínimo del 80% de asistencia para acreditar cada módulo. Si no puedes asistir, puedes ver la grabación aunque no contará como asistencia.</a:t>
            </a:r>
            <a:endParaRPr lang="en-US" sz="950" dirty="0"/>
          </a:p>
        </p:txBody>
      </p:sp>
      <p:sp>
        <p:nvSpPr>
          <p:cNvPr id="13" name="Shape 9"/>
          <p:cNvSpPr/>
          <p:nvPr/>
        </p:nvSpPr>
        <p:spPr>
          <a:xfrm>
            <a:off x="365760" y="3547872"/>
            <a:ext cx="3977640" cy="1143000"/>
          </a:xfrm>
          <a:prstGeom prst="rect">
            <a:avLst/>
          </a:prstGeom>
          <a:solidFill>
            <a:srgbClr val="1A5276"/>
          </a:solidFill>
          <a:ln w="12700">
            <a:solidFill>
              <a:srgbClr val="1A5276"/>
            </a:solidFill>
            <a:prstDash val="solid"/>
          </a:ln>
          <a:effectLst>
            <a:outerShdw blurRad="101600" dist="38100" dir="8100000" algn="bl" rotWithShape="0">
              <a:srgbClr val="000000">
                <a:alpha val="10000"/>
              </a:srgbClr>
            </a:outerShdw>
          </a:effectLst>
        </p:spPr>
        <p:txBody>
          <a:bodyPr/>
          <a:lstStyle/>
          <a:p>
            <a:endParaRPr lang="es-MX"/>
          </a:p>
        </p:txBody>
      </p:sp>
      <p:pic>
        <p:nvPicPr>
          <p:cNvPr id="14" name="Image 2" descr="preencoded.png"/>
          <p:cNvPicPr>
            <a:picLocks noChangeAspect="1"/>
          </p:cNvPicPr>
          <p:nvPr/>
        </p:nvPicPr>
        <p:blipFill>
          <a:blip r:embed="rId5"/>
          <a:stretch>
            <a:fillRect/>
          </a:stretch>
        </p:blipFill>
        <p:spPr>
          <a:xfrm>
            <a:off x="530352" y="3712464"/>
            <a:ext cx="384048" cy="384048"/>
          </a:xfrm>
          <a:prstGeom prst="rect">
            <a:avLst/>
          </a:prstGeom>
        </p:spPr>
      </p:pic>
      <p:sp>
        <p:nvSpPr>
          <p:cNvPr id="15" name="Text 10"/>
          <p:cNvSpPr/>
          <p:nvPr/>
        </p:nvSpPr>
        <p:spPr>
          <a:xfrm>
            <a:off x="1024128" y="3675888"/>
            <a:ext cx="3200400" cy="329184"/>
          </a:xfrm>
          <a:prstGeom prst="rect">
            <a:avLst/>
          </a:prstGeom>
          <a:noFill/>
          <a:ln/>
        </p:spPr>
        <p:txBody>
          <a:bodyPr wrap="square" lIns="0" tIns="0" rIns="0" bIns="0" rtlCol="0" anchor="ctr"/>
          <a:lstStyle/>
          <a:p>
            <a:pPr marL="0" indent="0">
              <a:buNone/>
            </a:pPr>
            <a:r>
              <a:rPr lang="en-US" sz="1200" b="1" dirty="0">
                <a:solidFill>
                  <a:srgbClr val="A8D8EA"/>
                </a:solidFill>
              </a:rPr>
              <a:t>Sesiones grabadas</a:t>
            </a:r>
            <a:endParaRPr lang="en-US" sz="1200" dirty="0"/>
          </a:p>
        </p:txBody>
      </p:sp>
      <p:sp>
        <p:nvSpPr>
          <p:cNvPr id="16" name="Text 11"/>
          <p:cNvSpPr/>
          <p:nvPr/>
        </p:nvSpPr>
        <p:spPr>
          <a:xfrm>
            <a:off x="1024128" y="4023360"/>
            <a:ext cx="3200400" cy="594360"/>
          </a:xfrm>
          <a:prstGeom prst="rect">
            <a:avLst/>
          </a:prstGeom>
          <a:noFill/>
          <a:ln/>
        </p:spPr>
        <p:txBody>
          <a:bodyPr wrap="square" lIns="0" tIns="0" rIns="0" bIns="0" rtlCol="0" anchor="ctr"/>
          <a:lstStyle/>
          <a:p>
            <a:pPr marL="0" indent="0">
              <a:buNone/>
            </a:pPr>
            <a:r>
              <a:rPr lang="en-US" sz="950" dirty="0">
                <a:solidFill>
                  <a:srgbClr val="F0F4F8"/>
                </a:solidFill>
              </a:rPr>
              <a:t>Todas las sesiones quedan grabadas y disponibles exclusivamente para los alumnos inscritos. El acceso es individual e intransferible. Las grabaciones suelen estar disponibles 24 horas después de la sesión.</a:t>
            </a:r>
            <a:endParaRPr lang="en-US" sz="950" dirty="0"/>
          </a:p>
        </p:txBody>
      </p:sp>
      <p:sp>
        <p:nvSpPr>
          <p:cNvPr id="17" name="Shape 12"/>
          <p:cNvSpPr/>
          <p:nvPr/>
        </p:nvSpPr>
        <p:spPr>
          <a:xfrm>
            <a:off x="4617720" y="1024128"/>
            <a:ext cx="4160520" cy="3337560"/>
          </a:xfrm>
          <a:prstGeom prst="rect">
            <a:avLst/>
          </a:prstGeom>
          <a:solidFill>
            <a:srgbClr val="374151"/>
          </a:solidFill>
          <a:ln w="12700">
            <a:solidFill>
              <a:srgbClr val="374151"/>
            </a:solidFill>
            <a:prstDash val="solid"/>
          </a:ln>
          <a:effectLst>
            <a:outerShdw blurRad="101600" dist="38100" dir="8100000" algn="bl" rotWithShape="0">
              <a:srgbClr val="000000">
                <a:alpha val="10000"/>
              </a:srgbClr>
            </a:outerShdw>
          </a:effectLst>
        </p:spPr>
        <p:txBody>
          <a:bodyPr/>
          <a:lstStyle/>
          <a:p>
            <a:endParaRPr lang="es-MX"/>
          </a:p>
        </p:txBody>
      </p:sp>
      <p:sp>
        <p:nvSpPr>
          <p:cNvPr id="18" name="Text 13"/>
          <p:cNvSpPr/>
          <p:nvPr/>
        </p:nvSpPr>
        <p:spPr>
          <a:xfrm>
            <a:off x="4736592" y="1115568"/>
            <a:ext cx="3931920" cy="329184"/>
          </a:xfrm>
          <a:prstGeom prst="rect">
            <a:avLst/>
          </a:prstGeom>
          <a:noFill/>
          <a:ln/>
        </p:spPr>
        <p:txBody>
          <a:bodyPr wrap="square" lIns="0" tIns="0" rIns="0" bIns="0" rtlCol="0" anchor="ctr"/>
          <a:lstStyle/>
          <a:p>
            <a:pPr marL="0" indent="0">
              <a:buNone/>
            </a:pPr>
            <a:r>
              <a:rPr lang="en-US" sz="1300" b="1" dirty="0">
                <a:solidFill>
                  <a:srgbClr val="A8D8EA"/>
                </a:solidFill>
              </a:rPr>
              <a:t>Requisitos técnicos</a:t>
            </a:r>
            <a:endParaRPr lang="en-US" sz="1300" dirty="0"/>
          </a:p>
        </p:txBody>
      </p:sp>
      <p:pic>
        <p:nvPicPr>
          <p:cNvPr id="19" name="Image 3" descr="preencoded.png"/>
          <p:cNvPicPr>
            <a:picLocks noChangeAspect="1"/>
          </p:cNvPicPr>
          <p:nvPr/>
        </p:nvPicPr>
        <p:blipFill>
          <a:blip r:embed="rId6"/>
          <a:stretch>
            <a:fillRect/>
          </a:stretch>
        </p:blipFill>
        <p:spPr>
          <a:xfrm>
            <a:off x="4736592" y="1572768"/>
            <a:ext cx="219456" cy="219456"/>
          </a:xfrm>
          <a:prstGeom prst="rect">
            <a:avLst/>
          </a:prstGeom>
        </p:spPr>
      </p:pic>
      <p:sp>
        <p:nvSpPr>
          <p:cNvPr id="20" name="Text 14"/>
          <p:cNvSpPr/>
          <p:nvPr/>
        </p:nvSpPr>
        <p:spPr>
          <a:xfrm>
            <a:off x="5029200" y="1554480"/>
            <a:ext cx="1005840" cy="256032"/>
          </a:xfrm>
          <a:prstGeom prst="rect">
            <a:avLst/>
          </a:prstGeom>
          <a:noFill/>
          <a:ln/>
        </p:spPr>
        <p:txBody>
          <a:bodyPr wrap="square" lIns="0" tIns="0" rIns="0" bIns="0" rtlCol="0" anchor="ctr"/>
          <a:lstStyle/>
          <a:p>
            <a:pPr marL="0" indent="0">
              <a:buNone/>
            </a:pPr>
            <a:r>
              <a:rPr lang="en-US" sz="1000" b="1" dirty="0">
                <a:solidFill>
                  <a:srgbClr val="A8D8EA"/>
                </a:solidFill>
              </a:rPr>
              <a:t>Procesador:</a:t>
            </a:r>
            <a:endParaRPr lang="en-US" sz="1000" dirty="0"/>
          </a:p>
        </p:txBody>
      </p:sp>
      <p:sp>
        <p:nvSpPr>
          <p:cNvPr id="21" name="Text 15"/>
          <p:cNvSpPr/>
          <p:nvPr/>
        </p:nvSpPr>
        <p:spPr>
          <a:xfrm>
            <a:off x="6053328" y="1554480"/>
            <a:ext cx="2606040" cy="256032"/>
          </a:xfrm>
          <a:prstGeom prst="rect">
            <a:avLst/>
          </a:prstGeom>
          <a:noFill/>
          <a:ln/>
        </p:spPr>
        <p:txBody>
          <a:bodyPr wrap="square" lIns="0" tIns="0" rIns="0" bIns="0" rtlCol="0" anchor="ctr"/>
          <a:lstStyle/>
          <a:p>
            <a:pPr marL="0" indent="0">
              <a:buNone/>
            </a:pPr>
            <a:r>
              <a:rPr lang="en-US" sz="1000" dirty="0">
                <a:solidFill>
                  <a:srgbClr val="F0F4F8"/>
                </a:solidFill>
              </a:rPr>
              <a:t>Intel Core i5 / AMD Ryzen 5 o superior</a:t>
            </a:r>
            <a:endParaRPr lang="en-US" sz="1000" dirty="0"/>
          </a:p>
        </p:txBody>
      </p:sp>
      <p:pic>
        <p:nvPicPr>
          <p:cNvPr id="22" name="Image 4" descr="preencoded.png"/>
          <p:cNvPicPr>
            <a:picLocks noChangeAspect="1"/>
          </p:cNvPicPr>
          <p:nvPr/>
        </p:nvPicPr>
        <p:blipFill>
          <a:blip r:embed="rId6"/>
          <a:stretch>
            <a:fillRect/>
          </a:stretch>
        </p:blipFill>
        <p:spPr>
          <a:xfrm>
            <a:off x="4736592" y="1993392"/>
            <a:ext cx="219456" cy="219456"/>
          </a:xfrm>
          <a:prstGeom prst="rect">
            <a:avLst/>
          </a:prstGeom>
        </p:spPr>
      </p:pic>
      <p:sp>
        <p:nvSpPr>
          <p:cNvPr id="23" name="Text 16"/>
          <p:cNvSpPr/>
          <p:nvPr/>
        </p:nvSpPr>
        <p:spPr>
          <a:xfrm>
            <a:off x="5029200" y="1975104"/>
            <a:ext cx="1005840" cy="256032"/>
          </a:xfrm>
          <a:prstGeom prst="rect">
            <a:avLst/>
          </a:prstGeom>
          <a:noFill/>
          <a:ln/>
        </p:spPr>
        <p:txBody>
          <a:bodyPr wrap="square" lIns="0" tIns="0" rIns="0" bIns="0" rtlCol="0" anchor="ctr"/>
          <a:lstStyle/>
          <a:p>
            <a:pPr marL="0" indent="0">
              <a:buNone/>
            </a:pPr>
            <a:r>
              <a:rPr lang="en-US" sz="1000" b="1" dirty="0">
                <a:solidFill>
                  <a:srgbClr val="A8D8EA"/>
                </a:solidFill>
              </a:rPr>
              <a:t>Memoria RAM:</a:t>
            </a:r>
            <a:endParaRPr lang="en-US" sz="1000" dirty="0"/>
          </a:p>
        </p:txBody>
      </p:sp>
      <p:sp>
        <p:nvSpPr>
          <p:cNvPr id="24" name="Text 17"/>
          <p:cNvSpPr/>
          <p:nvPr/>
        </p:nvSpPr>
        <p:spPr>
          <a:xfrm>
            <a:off x="6053328" y="1975104"/>
            <a:ext cx="2606040" cy="256032"/>
          </a:xfrm>
          <a:prstGeom prst="rect">
            <a:avLst/>
          </a:prstGeom>
          <a:noFill/>
          <a:ln/>
        </p:spPr>
        <p:txBody>
          <a:bodyPr wrap="square" lIns="0" tIns="0" rIns="0" bIns="0" rtlCol="0" anchor="ctr"/>
          <a:lstStyle/>
          <a:p>
            <a:pPr marL="0" indent="0">
              <a:buNone/>
            </a:pPr>
            <a:r>
              <a:rPr lang="en-US" sz="1000" dirty="0">
                <a:solidFill>
                  <a:srgbClr val="F0F4F8"/>
                </a:solidFill>
              </a:rPr>
              <a:t>Mínimo 8 GB  (recomendado 16 GB)</a:t>
            </a:r>
            <a:endParaRPr lang="en-US" sz="1000" dirty="0"/>
          </a:p>
        </p:txBody>
      </p:sp>
      <p:pic>
        <p:nvPicPr>
          <p:cNvPr id="25" name="Image 5" descr="preencoded.png"/>
          <p:cNvPicPr>
            <a:picLocks noChangeAspect="1"/>
          </p:cNvPicPr>
          <p:nvPr/>
        </p:nvPicPr>
        <p:blipFill>
          <a:blip r:embed="rId6"/>
          <a:stretch>
            <a:fillRect/>
          </a:stretch>
        </p:blipFill>
        <p:spPr>
          <a:xfrm>
            <a:off x="4736592" y="2414016"/>
            <a:ext cx="219456" cy="219456"/>
          </a:xfrm>
          <a:prstGeom prst="rect">
            <a:avLst/>
          </a:prstGeom>
        </p:spPr>
      </p:pic>
      <p:sp>
        <p:nvSpPr>
          <p:cNvPr id="26" name="Text 18"/>
          <p:cNvSpPr/>
          <p:nvPr/>
        </p:nvSpPr>
        <p:spPr>
          <a:xfrm>
            <a:off x="5029200" y="2395728"/>
            <a:ext cx="1005840" cy="256032"/>
          </a:xfrm>
          <a:prstGeom prst="rect">
            <a:avLst/>
          </a:prstGeom>
          <a:noFill/>
          <a:ln/>
        </p:spPr>
        <p:txBody>
          <a:bodyPr wrap="square" lIns="0" tIns="0" rIns="0" bIns="0" rtlCol="0" anchor="ctr"/>
          <a:lstStyle/>
          <a:p>
            <a:pPr marL="0" indent="0">
              <a:buNone/>
            </a:pPr>
            <a:r>
              <a:rPr lang="en-US" sz="1000" b="1" dirty="0">
                <a:solidFill>
                  <a:srgbClr val="A8D8EA"/>
                </a:solidFill>
              </a:rPr>
              <a:t>Disco:</a:t>
            </a:r>
            <a:endParaRPr lang="en-US" sz="1000" dirty="0"/>
          </a:p>
        </p:txBody>
      </p:sp>
      <p:sp>
        <p:nvSpPr>
          <p:cNvPr id="27" name="Text 19"/>
          <p:cNvSpPr/>
          <p:nvPr/>
        </p:nvSpPr>
        <p:spPr>
          <a:xfrm>
            <a:off x="6053328" y="2395728"/>
            <a:ext cx="2606040" cy="256032"/>
          </a:xfrm>
          <a:prstGeom prst="rect">
            <a:avLst/>
          </a:prstGeom>
          <a:noFill/>
          <a:ln/>
        </p:spPr>
        <p:txBody>
          <a:bodyPr wrap="square" lIns="0" tIns="0" rIns="0" bIns="0" rtlCol="0" anchor="ctr"/>
          <a:lstStyle/>
          <a:p>
            <a:pPr marL="0" indent="0">
              <a:buNone/>
            </a:pPr>
            <a:r>
              <a:rPr lang="en-US" sz="1000" dirty="0">
                <a:solidFill>
                  <a:srgbClr val="F0F4F8"/>
                </a:solidFill>
              </a:rPr>
              <a:t>256 GB disponibles (SSD preferible)</a:t>
            </a:r>
            <a:endParaRPr lang="en-US" sz="1000" dirty="0"/>
          </a:p>
        </p:txBody>
      </p:sp>
      <p:pic>
        <p:nvPicPr>
          <p:cNvPr id="28" name="Image 6" descr="preencoded.png"/>
          <p:cNvPicPr>
            <a:picLocks noChangeAspect="1"/>
          </p:cNvPicPr>
          <p:nvPr/>
        </p:nvPicPr>
        <p:blipFill>
          <a:blip r:embed="rId6"/>
          <a:stretch>
            <a:fillRect/>
          </a:stretch>
        </p:blipFill>
        <p:spPr>
          <a:xfrm>
            <a:off x="4736592" y="2834640"/>
            <a:ext cx="219456" cy="219456"/>
          </a:xfrm>
          <a:prstGeom prst="rect">
            <a:avLst/>
          </a:prstGeom>
        </p:spPr>
      </p:pic>
      <p:sp>
        <p:nvSpPr>
          <p:cNvPr id="29" name="Text 20"/>
          <p:cNvSpPr/>
          <p:nvPr/>
        </p:nvSpPr>
        <p:spPr>
          <a:xfrm>
            <a:off x="5029200" y="2816352"/>
            <a:ext cx="1005840" cy="256032"/>
          </a:xfrm>
          <a:prstGeom prst="rect">
            <a:avLst/>
          </a:prstGeom>
          <a:noFill/>
          <a:ln/>
        </p:spPr>
        <p:txBody>
          <a:bodyPr wrap="square" lIns="0" tIns="0" rIns="0" bIns="0" rtlCol="0" anchor="ctr"/>
          <a:lstStyle/>
          <a:p>
            <a:pPr marL="0" indent="0">
              <a:buNone/>
            </a:pPr>
            <a:r>
              <a:rPr lang="en-US" sz="1000" b="1" dirty="0">
                <a:solidFill>
                  <a:srgbClr val="A8D8EA"/>
                </a:solidFill>
              </a:rPr>
              <a:t>Sistema:</a:t>
            </a:r>
            <a:endParaRPr lang="en-US" sz="1000" dirty="0"/>
          </a:p>
        </p:txBody>
      </p:sp>
      <p:sp>
        <p:nvSpPr>
          <p:cNvPr id="30" name="Text 21"/>
          <p:cNvSpPr/>
          <p:nvPr/>
        </p:nvSpPr>
        <p:spPr>
          <a:xfrm>
            <a:off x="6053328" y="2816352"/>
            <a:ext cx="2606040" cy="256032"/>
          </a:xfrm>
          <a:prstGeom prst="rect">
            <a:avLst/>
          </a:prstGeom>
          <a:noFill/>
          <a:ln/>
        </p:spPr>
        <p:txBody>
          <a:bodyPr wrap="square" lIns="0" tIns="0" rIns="0" bIns="0" rtlCol="0" anchor="ctr"/>
          <a:lstStyle/>
          <a:p>
            <a:pPr marL="0" indent="0">
              <a:buNone/>
            </a:pPr>
            <a:r>
              <a:rPr lang="en-US" sz="1000" dirty="0">
                <a:solidFill>
                  <a:srgbClr val="F0F4F8"/>
                </a:solidFill>
              </a:rPr>
              <a:t>Windows 10/11 · macOS 12+ · Ubuntu 20+</a:t>
            </a:r>
            <a:endParaRPr lang="en-US" sz="1000" dirty="0"/>
          </a:p>
        </p:txBody>
      </p:sp>
      <p:pic>
        <p:nvPicPr>
          <p:cNvPr id="31" name="Image 7" descr="preencoded.png"/>
          <p:cNvPicPr>
            <a:picLocks noChangeAspect="1"/>
          </p:cNvPicPr>
          <p:nvPr/>
        </p:nvPicPr>
        <p:blipFill>
          <a:blip r:embed="rId6"/>
          <a:stretch>
            <a:fillRect/>
          </a:stretch>
        </p:blipFill>
        <p:spPr>
          <a:xfrm>
            <a:off x="4736592" y="3255264"/>
            <a:ext cx="219456" cy="219456"/>
          </a:xfrm>
          <a:prstGeom prst="rect">
            <a:avLst/>
          </a:prstGeom>
        </p:spPr>
      </p:pic>
      <p:sp>
        <p:nvSpPr>
          <p:cNvPr id="32" name="Text 22"/>
          <p:cNvSpPr/>
          <p:nvPr/>
        </p:nvSpPr>
        <p:spPr>
          <a:xfrm>
            <a:off x="5029200" y="3236976"/>
            <a:ext cx="1005840" cy="256032"/>
          </a:xfrm>
          <a:prstGeom prst="rect">
            <a:avLst/>
          </a:prstGeom>
          <a:noFill/>
          <a:ln/>
        </p:spPr>
        <p:txBody>
          <a:bodyPr wrap="square" lIns="0" tIns="0" rIns="0" bIns="0" rtlCol="0" anchor="ctr"/>
          <a:lstStyle/>
          <a:p>
            <a:pPr marL="0" indent="0">
              <a:buNone/>
            </a:pPr>
            <a:r>
              <a:rPr lang="en-US" sz="1000" b="1" dirty="0">
                <a:solidFill>
                  <a:srgbClr val="A8D8EA"/>
                </a:solidFill>
              </a:rPr>
              <a:t>Internet:</a:t>
            </a:r>
            <a:endParaRPr lang="en-US" sz="1000" dirty="0"/>
          </a:p>
        </p:txBody>
      </p:sp>
      <p:sp>
        <p:nvSpPr>
          <p:cNvPr id="33" name="Text 23"/>
          <p:cNvSpPr/>
          <p:nvPr/>
        </p:nvSpPr>
        <p:spPr>
          <a:xfrm>
            <a:off x="6053328" y="3236976"/>
            <a:ext cx="2606040" cy="256032"/>
          </a:xfrm>
          <a:prstGeom prst="rect">
            <a:avLst/>
          </a:prstGeom>
          <a:noFill/>
          <a:ln/>
        </p:spPr>
        <p:txBody>
          <a:bodyPr wrap="square" lIns="0" tIns="0" rIns="0" bIns="0" rtlCol="0" anchor="ctr"/>
          <a:lstStyle/>
          <a:p>
            <a:pPr marL="0" indent="0">
              <a:buNone/>
            </a:pPr>
            <a:r>
              <a:rPr lang="en-US" sz="1000" dirty="0">
                <a:solidFill>
                  <a:srgbClr val="F0F4F8"/>
                </a:solidFill>
              </a:rPr>
              <a:t>Conexión estable — mínimo 5 Mbps</a:t>
            </a:r>
            <a:endParaRPr lang="en-US" sz="1000" dirty="0"/>
          </a:p>
        </p:txBody>
      </p:sp>
      <p:pic>
        <p:nvPicPr>
          <p:cNvPr id="34" name="Image 8" descr="preencoded.png"/>
          <p:cNvPicPr>
            <a:picLocks noChangeAspect="1"/>
          </p:cNvPicPr>
          <p:nvPr/>
        </p:nvPicPr>
        <p:blipFill>
          <a:blip r:embed="rId6"/>
          <a:stretch>
            <a:fillRect/>
          </a:stretch>
        </p:blipFill>
        <p:spPr>
          <a:xfrm>
            <a:off x="4736592" y="3675888"/>
            <a:ext cx="219456" cy="219456"/>
          </a:xfrm>
          <a:prstGeom prst="rect">
            <a:avLst/>
          </a:prstGeom>
        </p:spPr>
      </p:pic>
      <p:sp>
        <p:nvSpPr>
          <p:cNvPr id="35" name="Text 24"/>
          <p:cNvSpPr/>
          <p:nvPr/>
        </p:nvSpPr>
        <p:spPr>
          <a:xfrm>
            <a:off x="5029200" y="3657600"/>
            <a:ext cx="1005840" cy="256032"/>
          </a:xfrm>
          <a:prstGeom prst="rect">
            <a:avLst/>
          </a:prstGeom>
          <a:noFill/>
          <a:ln/>
        </p:spPr>
        <p:txBody>
          <a:bodyPr wrap="square" lIns="0" tIns="0" rIns="0" bIns="0" rtlCol="0" anchor="ctr"/>
          <a:lstStyle/>
          <a:p>
            <a:pPr marL="0" indent="0">
              <a:buNone/>
            </a:pPr>
            <a:r>
              <a:rPr lang="en-US" sz="1000" b="1" dirty="0">
                <a:solidFill>
                  <a:srgbClr val="A8D8EA"/>
                </a:solidFill>
              </a:rPr>
              <a:t>Software:</a:t>
            </a:r>
            <a:endParaRPr lang="en-US" sz="1000" dirty="0"/>
          </a:p>
        </p:txBody>
      </p:sp>
      <p:sp>
        <p:nvSpPr>
          <p:cNvPr id="36" name="Text 25"/>
          <p:cNvSpPr/>
          <p:nvPr/>
        </p:nvSpPr>
        <p:spPr>
          <a:xfrm>
            <a:off x="6053328" y="3657600"/>
            <a:ext cx="2606040" cy="256032"/>
          </a:xfrm>
          <a:prstGeom prst="rect">
            <a:avLst/>
          </a:prstGeom>
          <a:noFill/>
          <a:ln/>
        </p:spPr>
        <p:txBody>
          <a:bodyPr wrap="square" lIns="0" tIns="0" rIns="0" bIns="0" rtlCol="0" anchor="ctr"/>
          <a:lstStyle/>
          <a:p>
            <a:pPr marL="0" indent="0">
              <a:buNone/>
            </a:pPr>
            <a:r>
              <a:rPr lang="en-US" sz="1000" dirty="0">
                <a:solidFill>
                  <a:srgbClr val="F0F4F8"/>
                </a:solidFill>
              </a:rPr>
              <a:t>Python · Anaconda · VS Code  (instalamos hoy)</a:t>
            </a:r>
            <a:endParaRPr lang="en-US" sz="1000" dirty="0"/>
          </a:p>
        </p:txBody>
      </p:sp>
      <p:sp>
        <p:nvSpPr>
          <p:cNvPr id="37" name="Shape 26"/>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38" name="Text 27"/>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Módulo 1 · Introducción a Python · Sesión 1  —  15 abril 2026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Text 1"/>
          <p:cNvSpPr/>
          <p:nvPr/>
        </p:nvSpPr>
        <p:spPr>
          <a:xfrm>
            <a:off x="457200" y="182880"/>
            <a:ext cx="8229600" cy="475488"/>
          </a:xfrm>
          <a:prstGeom prst="rect">
            <a:avLst/>
          </a:prstGeom>
          <a:noFill/>
          <a:ln/>
        </p:spPr>
        <p:txBody>
          <a:bodyPr wrap="square" lIns="0" tIns="0" rIns="0" bIns="0" rtlCol="0" anchor="ctr"/>
          <a:lstStyle/>
          <a:p>
            <a:pPr marL="0" indent="0" algn="l">
              <a:buNone/>
            </a:pPr>
            <a:r>
              <a:rPr lang="en-US" sz="2800" b="1" dirty="0">
                <a:solidFill>
                  <a:srgbClr val="0D1B3E"/>
                </a:solidFill>
              </a:rPr>
              <a:t>Sistema de Evaluación</a:t>
            </a:r>
            <a:endParaRPr lang="en-US" sz="2800" dirty="0"/>
          </a:p>
        </p:txBody>
      </p:sp>
      <p:sp>
        <p:nvSpPr>
          <p:cNvPr id="4" name="Text 2"/>
          <p:cNvSpPr/>
          <p:nvPr/>
        </p:nvSpPr>
        <p:spPr>
          <a:xfrm>
            <a:off x="457200" y="685800"/>
            <a:ext cx="8229600" cy="256032"/>
          </a:xfrm>
          <a:prstGeom prst="rect">
            <a:avLst/>
          </a:prstGeom>
          <a:noFill/>
          <a:ln/>
        </p:spPr>
        <p:txBody>
          <a:bodyPr wrap="square" lIns="0" tIns="0" rIns="0" bIns="0" rtlCol="0" anchor="ctr"/>
          <a:lstStyle/>
          <a:p>
            <a:pPr marL="0" indent="0" algn="l">
              <a:buNone/>
            </a:pPr>
            <a:r>
              <a:rPr lang="en-US" sz="1200" dirty="0">
                <a:solidFill>
                  <a:srgbClr val="0D7A8A"/>
                </a:solidFill>
              </a:rPr>
              <a:t>La evaluación es continua y cubre toda la duración de cada módulo</a:t>
            </a:r>
            <a:endParaRPr lang="en-US" sz="1200" dirty="0"/>
          </a:p>
        </p:txBody>
      </p:sp>
      <p:sp>
        <p:nvSpPr>
          <p:cNvPr id="5" name="Shape 3"/>
          <p:cNvSpPr/>
          <p:nvPr/>
        </p:nvSpPr>
        <p:spPr>
          <a:xfrm>
            <a:off x="292608" y="1115568"/>
            <a:ext cx="2761488" cy="621792"/>
          </a:xfrm>
          <a:prstGeom prst="rect">
            <a:avLst/>
          </a:prstGeom>
          <a:solidFill>
            <a:srgbClr val="0D7A8A"/>
          </a:solidFill>
          <a:ln w="12700">
            <a:solidFill>
              <a:srgbClr val="0D7A8A"/>
            </a:solidFill>
            <a:prstDash val="solid"/>
          </a:ln>
        </p:spPr>
        <p:txBody>
          <a:bodyPr/>
          <a:lstStyle/>
          <a:p>
            <a:endParaRPr lang="es-MX"/>
          </a:p>
        </p:txBody>
      </p:sp>
      <p:pic>
        <p:nvPicPr>
          <p:cNvPr id="6" name="Image 0" descr="preencoded.png"/>
          <p:cNvPicPr>
            <a:picLocks noChangeAspect="1"/>
          </p:cNvPicPr>
          <p:nvPr/>
        </p:nvPicPr>
        <p:blipFill>
          <a:blip r:embed="rId3"/>
          <a:stretch>
            <a:fillRect/>
          </a:stretch>
        </p:blipFill>
        <p:spPr>
          <a:xfrm>
            <a:off x="429768" y="1188720"/>
            <a:ext cx="365760" cy="365760"/>
          </a:xfrm>
          <a:prstGeom prst="rect">
            <a:avLst/>
          </a:prstGeom>
        </p:spPr>
      </p:pic>
      <p:sp>
        <p:nvSpPr>
          <p:cNvPr id="7" name="Text 4"/>
          <p:cNvSpPr/>
          <p:nvPr/>
        </p:nvSpPr>
        <p:spPr>
          <a:xfrm>
            <a:off x="886968" y="1170432"/>
            <a:ext cx="2084832" cy="292608"/>
          </a:xfrm>
          <a:prstGeom prst="rect">
            <a:avLst/>
          </a:prstGeom>
          <a:noFill/>
          <a:ln/>
        </p:spPr>
        <p:txBody>
          <a:bodyPr wrap="square" lIns="0" tIns="0" rIns="0" bIns="0" rtlCol="0" anchor="ctr"/>
          <a:lstStyle/>
          <a:p>
            <a:pPr marL="0" indent="0">
              <a:buNone/>
            </a:pPr>
            <a:r>
              <a:rPr lang="en-US" sz="1200" b="1" dirty="0">
                <a:solidFill>
                  <a:srgbClr val="FFFFFF"/>
                </a:solidFill>
              </a:rPr>
              <a:t>Tareas / Prácticas</a:t>
            </a:r>
            <a:endParaRPr lang="en-US" sz="1200" dirty="0"/>
          </a:p>
        </p:txBody>
      </p:sp>
      <p:sp>
        <p:nvSpPr>
          <p:cNvPr id="8" name="Text 5"/>
          <p:cNvSpPr/>
          <p:nvPr/>
        </p:nvSpPr>
        <p:spPr>
          <a:xfrm>
            <a:off x="886968" y="1463040"/>
            <a:ext cx="2084832" cy="219456"/>
          </a:xfrm>
          <a:prstGeom prst="rect">
            <a:avLst/>
          </a:prstGeom>
          <a:noFill/>
          <a:ln/>
        </p:spPr>
        <p:txBody>
          <a:bodyPr wrap="square" lIns="0" tIns="0" rIns="0" bIns="0" rtlCol="0" anchor="ctr"/>
          <a:lstStyle/>
          <a:p>
            <a:pPr marL="0" indent="0">
              <a:buNone/>
            </a:pPr>
            <a:r>
              <a:rPr lang="en-US" sz="900" dirty="0">
                <a:solidFill>
                  <a:srgbClr val="A8D8EA"/>
                </a:solidFill>
              </a:rPr>
              <a:t>Quincenales</a:t>
            </a:r>
            <a:endParaRPr lang="en-US" sz="900" dirty="0"/>
          </a:p>
        </p:txBody>
      </p:sp>
      <p:sp>
        <p:nvSpPr>
          <p:cNvPr id="9" name="Shape 6"/>
          <p:cNvSpPr/>
          <p:nvPr/>
        </p:nvSpPr>
        <p:spPr>
          <a:xfrm>
            <a:off x="292608" y="1737360"/>
            <a:ext cx="2761488" cy="2423160"/>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10" name="Text 7"/>
          <p:cNvSpPr/>
          <p:nvPr/>
        </p:nvSpPr>
        <p:spPr>
          <a:xfrm>
            <a:off x="438912" y="1847088"/>
            <a:ext cx="2487168" cy="2212848"/>
          </a:xfrm>
          <a:prstGeom prst="rect">
            <a:avLst/>
          </a:prstGeom>
          <a:noFill/>
          <a:ln/>
        </p:spPr>
        <p:txBody>
          <a:bodyPr wrap="square" lIns="0" tIns="0" rIns="0" bIns="0" rtlCol="0" anchor="ctr"/>
          <a:lstStyle/>
          <a:p>
            <a:pPr marL="0" indent="0">
              <a:buNone/>
            </a:pPr>
            <a:r>
              <a:rPr lang="en-US" sz="1000" dirty="0">
                <a:solidFill>
                  <a:srgbClr val="374151"/>
                </a:solidFill>
              </a:rPr>
              <a:t>Cada dos semanas se entregará una práctica. El objetivo es aplicar los conceptos vistos en clase a problemas reales del sector seguros: cálculo de primas, análisis de siniestros, limpieza de datos de pólizas, etc. Se entregan como notebooks de Jupyter (.ipynb).</a:t>
            </a:r>
            <a:endParaRPr lang="en-US" sz="1000" dirty="0"/>
          </a:p>
        </p:txBody>
      </p:sp>
      <p:sp>
        <p:nvSpPr>
          <p:cNvPr id="11" name="Shape 8"/>
          <p:cNvSpPr/>
          <p:nvPr/>
        </p:nvSpPr>
        <p:spPr>
          <a:xfrm>
            <a:off x="3200400" y="1115568"/>
            <a:ext cx="2761488" cy="621792"/>
          </a:xfrm>
          <a:prstGeom prst="rect">
            <a:avLst/>
          </a:prstGeom>
          <a:solidFill>
            <a:srgbClr val="F4A261"/>
          </a:solidFill>
          <a:ln w="12700">
            <a:solidFill>
              <a:srgbClr val="F4A261"/>
            </a:solidFill>
            <a:prstDash val="solid"/>
          </a:ln>
        </p:spPr>
        <p:txBody>
          <a:bodyPr/>
          <a:lstStyle/>
          <a:p>
            <a:endParaRPr lang="es-MX"/>
          </a:p>
        </p:txBody>
      </p:sp>
      <p:pic>
        <p:nvPicPr>
          <p:cNvPr id="12" name="Image 1" descr="preencoded.png"/>
          <p:cNvPicPr>
            <a:picLocks noChangeAspect="1"/>
          </p:cNvPicPr>
          <p:nvPr/>
        </p:nvPicPr>
        <p:blipFill>
          <a:blip r:embed="rId4"/>
          <a:stretch>
            <a:fillRect/>
          </a:stretch>
        </p:blipFill>
        <p:spPr>
          <a:xfrm>
            <a:off x="3337560" y="1188720"/>
            <a:ext cx="365760" cy="365760"/>
          </a:xfrm>
          <a:prstGeom prst="rect">
            <a:avLst/>
          </a:prstGeom>
        </p:spPr>
      </p:pic>
      <p:sp>
        <p:nvSpPr>
          <p:cNvPr id="13" name="Text 9"/>
          <p:cNvSpPr/>
          <p:nvPr/>
        </p:nvSpPr>
        <p:spPr>
          <a:xfrm>
            <a:off x="3794760" y="1170432"/>
            <a:ext cx="2084832" cy="292608"/>
          </a:xfrm>
          <a:prstGeom prst="rect">
            <a:avLst/>
          </a:prstGeom>
          <a:noFill/>
          <a:ln/>
        </p:spPr>
        <p:txBody>
          <a:bodyPr wrap="square" lIns="0" tIns="0" rIns="0" bIns="0" rtlCol="0" anchor="ctr"/>
          <a:lstStyle/>
          <a:p>
            <a:pPr marL="0" indent="0">
              <a:buNone/>
            </a:pPr>
            <a:r>
              <a:rPr lang="en-US" sz="1200" b="1" dirty="0">
                <a:solidFill>
                  <a:srgbClr val="FFFFFF"/>
                </a:solidFill>
              </a:rPr>
              <a:t>Ejercicios en Clase</a:t>
            </a:r>
            <a:endParaRPr lang="en-US" sz="1200" dirty="0"/>
          </a:p>
        </p:txBody>
      </p:sp>
      <p:sp>
        <p:nvSpPr>
          <p:cNvPr id="14" name="Text 10"/>
          <p:cNvSpPr/>
          <p:nvPr/>
        </p:nvSpPr>
        <p:spPr>
          <a:xfrm>
            <a:off x="3794760" y="1463040"/>
            <a:ext cx="2084832" cy="219456"/>
          </a:xfrm>
          <a:prstGeom prst="rect">
            <a:avLst/>
          </a:prstGeom>
          <a:noFill/>
          <a:ln/>
        </p:spPr>
        <p:txBody>
          <a:bodyPr wrap="square" lIns="0" tIns="0" rIns="0" bIns="0" rtlCol="0" anchor="ctr"/>
          <a:lstStyle/>
          <a:p>
            <a:pPr marL="0" indent="0">
              <a:buNone/>
            </a:pPr>
            <a:r>
              <a:rPr lang="en-US" sz="900" dirty="0">
                <a:solidFill>
                  <a:srgbClr val="0D1B3E"/>
                </a:solidFill>
              </a:rPr>
              <a:t>Durante la sesión en vivo</a:t>
            </a:r>
            <a:endParaRPr lang="en-US" sz="900" dirty="0"/>
          </a:p>
        </p:txBody>
      </p:sp>
      <p:sp>
        <p:nvSpPr>
          <p:cNvPr id="15" name="Shape 11"/>
          <p:cNvSpPr/>
          <p:nvPr/>
        </p:nvSpPr>
        <p:spPr>
          <a:xfrm>
            <a:off x="3200400" y="1737360"/>
            <a:ext cx="2761488" cy="2423160"/>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16" name="Text 12"/>
          <p:cNvSpPr/>
          <p:nvPr/>
        </p:nvSpPr>
        <p:spPr>
          <a:xfrm>
            <a:off x="3346704" y="1847088"/>
            <a:ext cx="2487168" cy="2212848"/>
          </a:xfrm>
          <a:prstGeom prst="rect">
            <a:avLst/>
          </a:prstGeom>
          <a:noFill/>
          <a:ln/>
        </p:spPr>
        <p:txBody>
          <a:bodyPr wrap="square" lIns="0" tIns="0" rIns="0" bIns="0" rtlCol="0" anchor="ctr"/>
          <a:lstStyle/>
          <a:p>
            <a:pPr marL="0" indent="0">
              <a:buNone/>
            </a:pPr>
            <a:r>
              <a:rPr lang="en-US" sz="1000" dirty="0">
                <a:solidFill>
                  <a:srgbClr val="374151"/>
                </a:solidFill>
              </a:rPr>
              <a:t>A lo largo de cada sesión realizamos ejercicios cortos en conjunto. No se califican individualmente, pero son esenciales para consolidar lo aprendido en el momento. Se resuelven directamente en tu notebook mientras el instructor guía.</a:t>
            </a:r>
            <a:endParaRPr lang="en-US" sz="1000" dirty="0"/>
          </a:p>
        </p:txBody>
      </p:sp>
      <p:sp>
        <p:nvSpPr>
          <p:cNvPr id="17" name="Shape 13"/>
          <p:cNvSpPr/>
          <p:nvPr/>
        </p:nvSpPr>
        <p:spPr>
          <a:xfrm>
            <a:off x="6108192" y="1115568"/>
            <a:ext cx="2761488" cy="621792"/>
          </a:xfrm>
          <a:prstGeom prst="rect">
            <a:avLst/>
          </a:prstGeom>
          <a:solidFill>
            <a:srgbClr val="1A5276"/>
          </a:solidFill>
          <a:ln w="12700">
            <a:solidFill>
              <a:srgbClr val="1A5276"/>
            </a:solidFill>
            <a:prstDash val="solid"/>
          </a:ln>
        </p:spPr>
        <p:txBody>
          <a:bodyPr/>
          <a:lstStyle/>
          <a:p>
            <a:endParaRPr lang="es-MX"/>
          </a:p>
        </p:txBody>
      </p:sp>
      <p:pic>
        <p:nvPicPr>
          <p:cNvPr id="18" name="Image 2" descr="preencoded.png"/>
          <p:cNvPicPr>
            <a:picLocks noChangeAspect="1"/>
          </p:cNvPicPr>
          <p:nvPr/>
        </p:nvPicPr>
        <p:blipFill>
          <a:blip r:embed="rId5"/>
          <a:stretch>
            <a:fillRect/>
          </a:stretch>
        </p:blipFill>
        <p:spPr>
          <a:xfrm>
            <a:off x="6245352" y="1188720"/>
            <a:ext cx="365760" cy="365760"/>
          </a:xfrm>
          <a:prstGeom prst="rect">
            <a:avLst/>
          </a:prstGeom>
        </p:spPr>
      </p:pic>
      <p:sp>
        <p:nvSpPr>
          <p:cNvPr id="19" name="Text 14"/>
          <p:cNvSpPr/>
          <p:nvPr/>
        </p:nvSpPr>
        <p:spPr>
          <a:xfrm>
            <a:off x="6702552" y="1170432"/>
            <a:ext cx="2084832" cy="292608"/>
          </a:xfrm>
          <a:prstGeom prst="rect">
            <a:avLst/>
          </a:prstGeom>
          <a:noFill/>
          <a:ln/>
        </p:spPr>
        <p:txBody>
          <a:bodyPr wrap="square" lIns="0" tIns="0" rIns="0" bIns="0" rtlCol="0" anchor="ctr"/>
          <a:lstStyle/>
          <a:p>
            <a:pPr marL="0" indent="0">
              <a:buNone/>
            </a:pPr>
            <a:r>
              <a:rPr lang="en-US" sz="1200" b="1" dirty="0">
                <a:solidFill>
                  <a:srgbClr val="FFFFFF"/>
                </a:solidFill>
              </a:rPr>
              <a:t>Actividades Asíncronas</a:t>
            </a:r>
            <a:endParaRPr lang="en-US" sz="1200" dirty="0"/>
          </a:p>
        </p:txBody>
      </p:sp>
      <p:sp>
        <p:nvSpPr>
          <p:cNvPr id="20" name="Text 15"/>
          <p:cNvSpPr/>
          <p:nvPr/>
        </p:nvSpPr>
        <p:spPr>
          <a:xfrm>
            <a:off x="6702552" y="1463040"/>
            <a:ext cx="2084832" cy="219456"/>
          </a:xfrm>
          <a:prstGeom prst="rect">
            <a:avLst/>
          </a:prstGeom>
          <a:noFill/>
          <a:ln/>
        </p:spPr>
        <p:txBody>
          <a:bodyPr wrap="square" lIns="0" tIns="0" rIns="0" bIns="0" rtlCol="0" anchor="ctr"/>
          <a:lstStyle/>
          <a:p>
            <a:pPr marL="0" indent="0">
              <a:buNone/>
            </a:pPr>
            <a:r>
              <a:rPr lang="en-US" sz="900" dirty="0">
                <a:solidFill>
                  <a:srgbClr val="A8D8EA"/>
                </a:solidFill>
              </a:rPr>
              <a:t>A tu ritmo, entre sesiones</a:t>
            </a:r>
            <a:endParaRPr lang="en-US" sz="900" dirty="0"/>
          </a:p>
        </p:txBody>
      </p:sp>
      <p:sp>
        <p:nvSpPr>
          <p:cNvPr id="21" name="Shape 16"/>
          <p:cNvSpPr/>
          <p:nvPr/>
        </p:nvSpPr>
        <p:spPr>
          <a:xfrm>
            <a:off x="6108192" y="1737360"/>
            <a:ext cx="2761488" cy="2423160"/>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22" name="Text 17"/>
          <p:cNvSpPr/>
          <p:nvPr/>
        </p:nvSpPr>
        <p:spPr>
          <a:xfrm>
            <a:off x="6254496" y="1847088"/>
            <a:ext cx="2487168" cy="2212848"/>
          </a:xfrm>
          <a:prstGeom prst="rect">
            <a:avLst/>
          </a:prstGeom>
          <a:noFill/>
          <a:ln/>
        </p:spPr>
        <p:txBody>
          <a:bodyPr wrap="square" lIns="0" tIns="0" rIns="0" bIns="0" rtlCol="0" anchor="ctr"/>
          <a:lstStyle/>
          <a:p>
            <a:pPr marL="0" indent="0">
              <a:buNone/>
            </a:pPr>
            <a:r>
              <a:rPr lang="en-US" sz="1000" dirty="0">
                <a:solidFill>
                  <a:srgbClr val="374151"/>
                </a:solidFill>
              </a:rPr>
              <a:t>Material complementario disponible en la plataforma: lecturas, videos cortos y ejercicios adicionales. Puedes completarlos cuando mejor te acomode entre sesiones. Algunos son opcionales, otros contribuyen a la evaluación del módulo.</a:t>
            </a:r>
            <a:endParaRPr lang="en-US" sz="1000" dirty="0"/>
          </a:p>
        </p:txBody>
      </p:sp>
      <p:sp>
        <p:nvSpPr>
          <p:cNvPr id="23" name="Shape 18"/>
          <p:cNvSpPr/>
          <p:nvPr/>
        </p:nvSpPr>
        <p:spPr>
          <a:xfrm>
            <a:off x="292608" y="4315968"/>
            <a:ext cx="8558784" cy="594360"/>
          </a:xfrm>
          <a:prstGeom prst="rect">
            <a:avLst/>
          </a:prstGeom>
          <a:solidFill>
            <a:srgbClr val="0D1B3E"/>
          </a:solidFill>
          <a:ln w="12700">
            <a:solidFill>
              <a:srgbClr val="0D1B3E"/>
            </a:solidFill>
            <a:prstDash val="solid"/>
          </a:ln>
        </p:spPr>
        <p:txBody>
          <a:bodyPr/>
          <a:lstStyle/>
          <a:p>
            <a:endParaRPr lang="es-MX"/>
          </a:p>
        </p:txBody>
      </p:sp>
      <p:pic>
        <p:nvPicPr>
          <p:cNvPr id="24" name="Image 3" descr="preencoded.png"/>
          <p:cNvPicPr>
            <a:picLocks noChangeAspect="1"/>
          </p:cNvPicPr>
          <p:nvPr/>
        </p:nvPicPr>
        <p:blipFill>
          <a:blip r:embed="rId6"/>
          <a:stretch>
            <a:fillRect/>
          </a:stretch>
        </p:blipFill>
        <p:spPr>
          <a:xfrm>
            <a:off x="457200" y="4407408"/>
            <a:ext cx="329184" cy="329184"/>
          </a:xfrm>
          <a:prstGeom prst="rect">
            <a:avLst/>
          </a:prstGeom>
        </p:spPr>
      </p:pic>
      <p:sp>
        <p:nvSpPr>
          <p:cNvPr id="25" name="Text 19"/>
          <p:cNvSpPr/>
          <p:nvPr/>
        </p:nvSpPr>
        <p:spPr>
          <a:xfrm>
            <a:off x="896112" y="4370832"/>
            <a:ext cx="5120640" cy="329184"/>
          </a:xfrm>
          <a:prstGeom prst="rect">
            <a:avLst/>
          </a:prstGeom>
          <a:noFill/>
          <a:ln/>
        </p:spPr>
        <p:txBody>
          <a:bodyPr wrap="square" lIns="0" tIns="0" rIns="0" bIns="0" rtlCol="0" anchor="ctr"/>
          <a:lstStyle/>
          <a:p>
            <a:pPr marL="0" indent="0">
              <a:buNone/>
            </a:pPr>
            <a:r>
              <a:rPr lang="en-US" sz="1200" b="1" dirty="0">
                <a:solidFill>
                  <a:srgbClr val="FFFFFF"/>
                </a:solidFill>
              </a:rPr>
              <a:t>Asistencia mínima: 80% de las sesiones para acreditar cada módulo.</a:t>
            </a:r>
            <a:endParaRPr lang="en-US" sz="1200" dirty="0"/>
          </a:p>
        </p:txBody>
      </p:sp>
      <p:sp>
        <p:nvSpPr>
          <p:cNvPr id="26" name="Text 20"/>
          <p:cNvSpPr/>
          <p:nvPr/>
        </p:nvSpPr>
        <p:spPr>
          <a:xfrm>
            <a:off x="896112" y="4681728"/>
            <a:ext cx="5120640" cy="201168"/>
          </a:xfrm>
          <a:prstGeom prst="rect">
            <a:avLst/>
          </a:prstGeom>
          <a:noFill/>
          <a:ln/>
        </p:spPr>
        <p:txBody>
          <a:bodyPr wrap="square" lIns="0" tIns="0" rIns="0" bIns="0" rtlCol="0" anchor="ctr"/>
          <a:lstStyle/>
          <a:p>
            <a:pPr marL="0" indent="0">
              <a:buNone/>
            </a:pPr>
            <a:r>
              <a:rPr lang="en-US" sz="1000" dirty="0">
                <a:solidFill>
                  <a:srgbClr val="A8D8EA"/>
                </a:solidFill>
              </a:rPr>
              <a:t>El registro se toma al inicio de cada sesión en Zoom.</a:t>
            </a:r>
            <a:endParaRPr lang="en-US" sz="1000" dirty="0"/>
          </a:p>
        </p:txBody>
      </p:sp>
      <p:sp>
        <p:nvSpPr>
          <p:cNvPr id="27" name="Shape 21"/>
          <p:cNvSpPr/>
          <p:nvPr/>
        </p:nvSpPr>
        <p:spPr>
          <a:xfrm>
            <a:off x="6400800" y="4361688"/>
            <a:ext cx="2359152" cy="502920"/>
          </a:xfrm>
          <a:prstGeom prst="rect">
            <a:avLst/>
          </a:prstGeom>
          <a:solidFill>
            <a:srgbClr val="0D7A8A"/>
          </a:solidFill>
          <a:ln w="12700">
            <a:solidFill>
              <a:srgbClr val="0D7A8A"/>
            </a:solidFill>
            <a:prstDash val="solid"/>
          </a:ln>
        </p:spPr>
        <p:txBody>
          <a:bodyPr/>
          <a:lstStyle/>
          <a:p>
            <a:endParaRPr lang="es-MX"/>
          </a:p>
        </p:txBody>
      </p:sp>
      <p:sp>
        <p:nvSpPr>
          <p:cNvPr id="28" name="Text 22"/>
          <p:cNvSpPr/>
          <p:nvPr/>
        </p:nvSpPr>
        <p:spPr>
          <a:xfrm>
            <a:off x="6400800" y="4361688"/>
            <a:ext cx="2359152" cy="502920"/>
          </a:xfrm>
          <a:prstGeom prst="rect">
            <a:avLst/>
          </a:prstGeom>
          <a:noFill/>
          <a:ln/>
        </p:spPr>
        <p:txBody>
          <a:bodyPr wrap="square" lIns="0" tIns="0" rIns="0" bIns="0" rtlCol="0" anchor="ctr"/>
          <a:lstStyle/>
          <a:p>
            <a:pPr marL="0" indent="0" algn="ctr">
              <a:buNone/>
            </a:pPr>
            <a:r>
              <a:rPr lang="en-US" sz="1000" b="1" dirty="0">
                <a:solidFill>
                  <a:srgbClr val="FFFFFF"/>
                </a:solidFill>
              </a:rPr>
              <a:t>Examen al final</a:t>
            </a:r>
            <a:endParaRPr lang="en-US" sz="1000" dirty="0"/>
          </a:p>
          <a:p>
            <a:pPr marL="0" indent="0" algn="ctr">
              <a:buNone/>
            </a:pPr>
            <a:r>
              <a:rPr lang="en-US" sz="1000" b="1" dirty="0">
                <a:solidFill>
                  <a:srgbClr val="FFFFFF"/>
                </a:solidFill>
              </a:rPr>
              <a:t>de cada módulo</a:t>
            </a:r>
            <a:endParaRPr lang="en-US" sz="1000" dirty="0"/>
          </a:p>
        </p:txBody>
      </p:sp>
      <p:sp>
        <p:nvSpPr>
          <p:cNvPr id="29" name="Shape 23"/>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30" name="Text 24"/>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Módulo 1 · Introducción a Python · Sesión 1  —  15 abril 2026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Text 1"/>
          <p:cNvSpPr/>
          <p:nvPr/>
        </p:nvSpPr>
        <p:spPr>
          <a:xfrm>
            <a:off x="457200" y="182880"/>
            <a:ext cx="8229600" cy="475488"/>
          </a:xfrm>
          <a:prstGeom prst="rect">
            <a:avLst/>
          </a:prstGeom>
          <a:noFill/>
          <a:ln/>
        </p:spPr>
        <p:txBody>
          <a:bodyPr wrap="square" lIns="0" tIns="0" rIns="0" bIns="0" rtlCol="0" anchor="ctr"/>
          <a:lstStyle/>
          <a:p>
            <a:pPr marL="0" indent="0" algn="l">
              <a:buNone/>
            </a:pPr>
            <a:r>
              <a:rPr lang="en-US" sz="2800" b="1" dirty="0">
                <a:solidFill>
                  <a:srgbClr val="FFFFFF"/>
                </a:solidFill>
              </a:rPr>
              <a:t>Agenda de Hoy</a:t>
            </a:r>
            <a:endParaRPr lang="en-US" sz="2800" dirty="0"/>
          </a:p>
        </p:txBody>
      </p:sp>
      <p:sp>
        <p:nvSpPr>
          <p:cNvPr id="4" name="Text 2"/>
          <p:cNvSpPr/>
          <p:nvPr/>
        </p:nvSpPr>
        <p:spPr>
          <a:xfrm>
            <a:off x="457200" y="685800"/>
            <a:ext cx="8229600" cy="256032"/>
          </a:xfrm>
          <a:prstGeom prst="rect">
            <a:avLst/>
          </a:prstGeom>
          <a:noFill/>
          <a:ln/>
        </p:spPr>
        <p:txBody>
          <a:bodyPr wrap="square" lIns="0" tIns="0" rIns="0" bIns="0" rtlCol="0" anchor="ctr"/>
          <a:lstStyle/>
          <a:p>
            <a:pPr marL="0" indent="0" algn="l">
              <a:buNone/>
            </a:pPr>
            <a:r>
              <a:rPr lang="en-US" sz="1200" dirty="0">
                <a:solidFill>
                  <a:srgbClr val="A8D8EA"/>
                </a:solidFill>
              </a:rPr>
              <a:t>Sesión 1  ·  3 horas  ·  Miércoles 15 de abril</a:t>
            </a:r>
            <a:endParaRPr lang="en-US" sz="1200" dirty="0"/>
          </a:p>
        </p:txBody>
      </p:sp>
      <p:sp>
        <p:nvSpPr>
          <p:cNvPr id="5" name="Shape 3"/>
          <p:cNvSpPr/>
          <p:nvPr/>
        </p:nvSpPr>
        <p:spPr>
          <a:xfrm>
            <a:off x="347472" y="1069848"/>
            <a:ext cx="8449056" cy="457200"/>
          </a:xfrm>
          <a:prstGeom prst="rect">
            <a:avLst/>
          </a:prstGeom>
          <a:solidFill>
            <a:srgbClr val="1A5276">
              <a:alpha val="18000"/>
            </a:srgbClr>
          </a:solidFill>
          <a:ln w="12700">
            <a:solidFill>
              <a:srgbClr val="1A5276">
                <a:alpha val="18000"/>
              </a:srgbClr>
            </a:solidFill>
            <a:prstDash val="solid"/>
          </a:ln>
        </p:spPr>
        <p:txBody>
          <a:bodyPr/>
          <a:lstStyle/>
          <a:p>
            <a:endParaRPr lang="es-MX"/>
          </a:p>
        </p:txBody>
      </p:sp>
      <p:sp>
        <p:nvSpPr>
          <p:cNvPr id="6" name="Shape 4"/>
          <p:cNvSpPr/>
          <p:nvPr/>
        </p:nvSpPr>
        <p:spPr>
          <a:xfrm>
            <a:off x="347472" y="1133856"/>
            <a:ext cx="1508760" cy="292608"/>
          </a:xfrm>
          <a:prstGeom prst="rect">
            <a:avLst/>
          </a:prstGeom>
          <a:solidFill>
            <a:srgbClr val="0D7A8A"/>
          </a:solidFill>
          <a:ln w="12700">
            <a:solidFill>
              <a:srgbClr val="0D7A8A"/>
            </a:solidFill>
            <a:prstDash val="solid"/>
          </a:ln>
        </p:spPr>
        <p:txBody>
          <a:bodyPr/>
          <a:lstStyle/>
          <a:p>
            <a:endParaRPr lang="es-MX"/>
          </a:p>
        </p:txBody>
      </p:sp>
      <p:sp>
        <p:nvSpPr>
          <p:cNvPr id="7" name="Text 5"/>
          <p:cNvSpPr/>
          <p:nvPr/>
        </p:nvSpPr>
        <p:spPr>
          <a:xfrm>
            <a:off x="347472" y="1133856"/>
            <a:ext cx="1508760" cy="292608"/>
          </a:xfrm>
          <a:prstGeom prst="rect">
            <a:avLst/>
          </a:prstGeom>
          <a:noFill/>
          <a:ln/>
        </p:spPr>
        <p:txBody>
          <a:bodyPr wrap="square" lIns="0" tIns="0" rIns="0" bIns="0" rtlCol="0" anchor="ctr"/>
          <a:lstStyle/>
          <a:p>
            <a:pPr marL="0" indent="0" algn="ctr">
              <a:buNone/>
            </a:pPr>
            <a:r>
              <a:rPr lang="en-US" sz="950" b="1" dirty="0">
                <a:solidFill>
                  <a:srgbClr val="FFFFFF"/>
                </a:solidFill>
              </a:rPr>
              <a:t>18:00–18:20</a:t>
            </a:r>
            <a:endParaRPr lang="en-US" sz="950" dirty="0"/>
          </a:p>
        </p:txBody>
      </p:sp>
      <p:pic>
        <p:nvPicPr>
          <p:cNvPr id="8" name="Image 0" descr="preencoded.png"/>
          <p:cNvPicPr>
            <a:picLocks noChangeAspect="1"/>
          </p:cNvPicPr>
          <p:nvPr/>
        </p:nvPicPr>
        <p:blipFill>
          <a:blip r:embed="rId3"/>
          <a:stretch>
            <a:fillRect/>
          </a:stretch>
        </p:blipFill>
        <p:spPr>
          <a:xfrm>
            <a:off x="1956816" y="1152144"/>
            <a:ext cx="237744" cy="237744"/>
          </a:xfrm>
          <a:prstGeom prst="rect">
            <a:avLst/>
          </a:prstGeom>
        </p:spPr>
      </p:pic>
      <p:sp>
        <p:nvSpPr>
          <p:cNvPr id="9" name="Text 6"/>
          <p:cNvSpPr/>
          <p:nvPr/>
        </p:nvSpPr>
        <p:spPr>
          <a:xfrm>
            <a:off x="2304288" y="1133856"/>
            <a:ext cx="6400800" cy="292608"/>
          </a:xfrm>
          <a:prstGeom prst="rect">
            <a:avLst/>
          </a:prstGeom>
          <a:noFill/>
          <a:ln/>
        </p:spPr>
        <p:txBody>
          <a:bodyPr wrap="square" lIns="0" tIns="0" rIns="0" bIns="0" rtlCol="0" anchor="ctr"/>
          <a:lstStyle/>
          <a:p>
            <a:pPr marL="0" indent="0">
              <a:buNone/>
            </a:pPr>
            <a:r>
              <a:rPr lang="en-US" sz="1200" dirty="0">
                <a:solidFill>
                  <a:srgbClr val="FFFFFF"/>
                </a:solidFill>
              </a:rPr>
              <a:t>Bienvenida, presentación del diplomado y logística</a:t>
            </a:r>
            <a:endParaRPr lang="en-US" sz="1200" dirty="0"/>
          </a:p>
        </p:txBody>
      </p:sp>
      <p:sp>
        <p:nvSpPr>
          <p:cNvPr id="10" name="Shape 7"/>
          <p:cNvSpPr/>
          <p:nvPr/>
        </p:nvSpPr>
        <p:spPr>
          <a:xfrm>
            <a:off x="347472" y="1645920"/>
            <a:ext cx="1508760" cy="292608"/>
          </a:xfrm>
          <a:prstGeom prst="rect">
            <a:avLst/>
          </a:prstGeom>
          <a:solidFill>
            <a:srgbClr val="0D7A8A"/>
          </a:solidFill>
          <a:ln w="12700">
            <a:solidFill>
              <a:srgbClr val="0D7A8A"/>
            </a:solidFill>
            <a:prstDash val="solid"/>
          </a:ln>
        </p:spPr>
        <p:txBody>
          <a:bodyPr/>
          <a:lstStyle/>
          <a:p>
            <a:endParaRPr lang="es-MX"/>
          </a:p>
        </p:txBody>
      </p:sp>
      <p:sp>
        <p:nvSpPr>
          <p:cNvPr id="11" name="Text 8"/>
          <p:cNvSpPr/>
          <p:nvPr/>
        </p:nvSpPr>
        <p:spPr>
          <a:xfrm>
            <a:off x="347472" y="1645920"/>
            <a:ext cx="1508760" cy="292608"/>
          </a:xfrm>
          <a:prstGeom prst="rect">
            <a:avLst/>
          </a:prstGeom>
          <a:noFill/>
          <a:ln/>
        </p:spPr>
        <p:txBody>
          <a:bodyPr wrap="square" lIns="0" tIns="0" rIns="0" bIns="0" rtlCol="0" anchor="ctr"/>
          <a:lstStyle/>
          <a:p>
            <a:pPr marL="0" indent="0" algn="ctr">
              <a:buNone/>
            </a:pPr>
            <a:r>
              <a:rPr lang="en-US" sz="950" b="1" dirty="0">
                <a:solidFill>
                  <a:srgbClr val="FFFFFF"/>
                </a:solidFill>
              </a:rPr>
              <a:t>18:20–19:00</a:t>
            </a:r>
            <a:endParaRPr lang="en-US" sz="950" dirty="0"/>
          </a:p>
        </p:txBody>
      </p:sp>
      <p:pic>
        <p:nvPicPr>
          <p:cNvPr id="12" name="Image 1" descr="preencoded.png"/>
          <p:cNvPicPr>
            <a:picLocks noChangeAspect="1"/>
          </p:cNvPicPr>
          <p:nvPr/>
        </p:nvPicPr>
        <p:blipFill>
          <a:blip r:embed="rId4"/>
          <a:stretch>
            <a:fillRect/>
          </a:stretch>
        </p:blipFill>
        <p:spPr>
          <a:xfrm>
            <a:off x="1956816" y="1664208"/>
            <a:ext cx="237744" cy="237744"/>
          </a:xfrm>
          <a:prstGeom prst="rect">
            <a:avLst/>
          </a:prstGeom>
        </p:spPr>
      </p:pic>
      <p:sp>
        <p:nvSpPr>
          <p:cNvPr id="13" name="Text 9"/>
          <p:cNvSpPr/>
          <p:nvPr/>
        </p:nvSpPr>
        <p:spPr>
          <a:xfrm>
            <a:off x="2304288" y="1645920"/>
            <a:ext cx="6400800" cy="292608"/>
          </a:xfrm>
          <a:prstGeom prst="rect">
            <a:avLst/>
          </a:prstGeom>
          <a:noFill/>
          <a:ln/>
        </p:spPr>
        <p:txBody>
          <a:bodyPr wrap="square" lIns="0" tIns="0" rIns="0" bIns="0" rtlCol="0" anchor="ctr"/>
          <a:lstStyle/>
          <a:p>
            <a:pPr marL="0" indent="0">
              <a:buNone/>
            </a:pPr>
            <a:r>
              <a:rPr lang="en-US" sz="1200" dirty="0">
                <a:solidFill>
                  <a:srgbClr val="FFFFFF"/>
                </a:solidFill>
              </a:rPr>
              <a:t>¿Qué es Python? Historia, ecosistema y por qué en seguros</a:t>
            </a:r>
            <a:endParaRPr lang="en-US" sz="1200" dirty="0"/>
          </a:p>
        </p:txBody>
      </p:sp>
      <p:sp>
        <p:nvSpPr>
          <p:cNvPr id="14" name="Shape 10"/>
          <p:cNvSpPr/>
          <p:nvPr/>
        </p:nvSpPr>
        <p:spPr>
          <a:xfrm>
            <a:off x="347472" y="2093976"/>
            <a:ext cx="8449056" cy="457200"/>
          </a:xfrm>
          <a:prstGeom prst="rect">
            <a:avLst/>
          </a:prstGeom>
          <a:solidFill>
            <a:srgbClr val="1A5276">
              <a:alpha val="18000"/>
            </a:srgbClr>
          </a:solidFill>
          <a:ln w="12700">
            <a:solidFill>
              <a:srgbClr val="1A5276">
                <a:alpha val="18000"/>
              </a:srgbClr>
            </a:solidFill>
            <a:prstDash val="solid"/>
          </a:ln>
        </p:spPr>
        <p:txBody>
          <a:bodyPr/>
          <a:lstStyle/>
          <a:p>
            <a:endParaRPr lang="es-MX"/>
          </a:p>
        </p:txBody>
      </p:sp>
      <p:sp>
        <p:nvSpPr>
          <p:cNvPr id="15" name="Shape 11"/>
          <p:cNvSpPr/>
          <p:nvPr/>
        </p:nvSpPr>
        <p:spPr>
          <a:xfrm>
            <a:off x="347472" y="2157984"/>
            <a:ext cx="1508760" cy="292608"/>
          </a:xfrm>
          <a:prstGeom prst="rect">
            <a:avLst/>
          </a:prstGeom>
          <a:solidFill>
            <a:srgbClr val="1A5276"/>
          </a:solidFill>
          <a:ln w="12700">
            <a:solidFill>
              <a:srgbClr val="1A5276"/>
            </a:solidFill>
            <a:prstDash val="solid"/>
          </a:ln>
        </p:spPr>
        <p:txBody>
          <a:bodyPr/>
          <a:lstStyle/>
          <a:p>
            <a:endParaRPr lang="es-MX"/>
          </a:p>
        </p:txBody>
      </p:sp>
      <p:sp>
        <p:nvSpPr>
          <p:cNvPr id="16" name="Text 12"/>
          <p:cNvSpPr/>
          <p:nvPr/>
        </p:nvSpPr>
        <p:spPr>
          <a:xfrm>
            <a:off x="347472" y="2157984"/>
            <a:ext cx="1508760" cy="292608"/>
          </a:xfrm>
          <a:prstGeom prst="rect">
            <a:avLst/>
          </a:prstGeom>
          <a:noFill/>
          <a:ln/>
        </p:spPr>
        <p:txBody>
          <a:bodyPr wrap="square" lIns="0" tIns="0" rIns="0" bIns="0" rtlCol="0" anchor="ctr"/>
          <a:lstStyle/>
          <a:p>
            <a:pPr marL="0" indent="0" algn="ctr">
              <a:buNone/>
            </a:pPr>
            <a:r>
              <a:rPr lang="en-US" sz="950" b="1" dirty="0">
                <a:solidFill>
                  <a:srgbClr val="FFFFFF"/>
                </a:solidFill>
              </a:rPr>
              <a:t>19:00–19:35</a:t>
            </a:r>
            <a:endParaRPr lang="en-US" sz="950" dirty="0"/>
          </a:p>
        </p:txBody>
      </p:sp>
      <p:pic>
        <p:nvPicPr>
          <p:cNvPr id="17" name="Image 2" descr="preencoded.png"/>
          <p:cNvPicPr>
            <a:picLocks noChangeAspect="1"/>
          </p:cNvPicPr>
          <p:nvPr/>
        </p:nvPicPr>
        <p:blipFill>
          <a:blip r:embed="rId5"/>
          <a:stretch>
            <a:fillRect/>
          </a:stretch>
        </p:blipFill>
        <p:spPr>
          <a:xfrm>
            <a:off x="1956816" y="2176272"/>
            <a:ext cx="237744" cy="237744"/>
          </a:xfrm>
          <a:prstGeom prst="rect">
            <a:avLst/>
          </a:prstGeom>
        </p:spPr>
      </p:pic>
      <p:sp>
        <p:nvSpPr>
          <p:cNvPr id="18" name="Text 13"/>
          <p:cNvSpPr/>
          <p:nvPr/>
        </p:nvSpPr>
        <p:spPr>
          <a:xfrm>
            <a:off x="2304288" y="2157984"/>
            <a:ext cx="6400800" cy="292608"/>
          </a:xfrm>
          <a:prstGeom prst="rect">
            <a:avLst/>
          </a:prstGeom>
          <a:noFill/>
          <a:ln/>
        </p:spPr>
        <p:txBody>
          <a:bodyPr wrap="square" lIns="0" tIns="0" rIns="0" bIns="0" rtlCol="0" anchor="ctr"/>
          <a:lstStyle/>
          <a:p>
            <a:pPr marL="0" indent="0">
              <a:buNone/>
            </a:pPr>
            <a:r>
              <a:rPr lang="en-US" sz="1200" dirty="0">
                <a:solidFill>
                  <a:srgbClr val="FFFFFF"/>
                </a:solidFill>
              </a:rPr>
              <a:t>Instalación: Python + Anaconda (paso a paso en tu computadora)</a:t>
            </a:r>
            <a:endParaRPr lang="en-US" sz="1200" dirty="0"/>
          </a:p>
        </p:txBody>
      </p:sp>
      <p:sp>
        <p:nvSpPr>
          <p:cNvPr id="19" name="Shape 14"/>
          <p:cNvSpPr/>
          <p:nvPr/>
        </p:nvSpPr>
        <p:spPr>
          <a:xfrm>
            <a:off x="347472" y="2670048"/>
            <a:ext cx="1508760" cy="292608"/>
          </a:xfrm>
          <a:prstGeom prst="rect">
            <a:avLst/>
          </a:prstGeom>
          <a:solidFill>
            <a:srgbClr val="374151"/>
          </a:solidFill>
          <a:ln w="12700">
            <a:solidFill>
              <a:srgbClr val="374151"/>
            </a:solidFill>
            <a:prstDash val="solid"/>
          </a:ln>
        </p:spPr>
        <p:txBody>
          <a:bodyPr/>
          <a:lstStyle/>
          <a:p>
            <a:endParaRPr lang="es-MX"/>
          </a:p>
        </p:txBody>
      </p:sp>
      <p:sp>
        <p:nvSpPr>
          <p:cNvPr id="20" name="Text 15"/>
          <p:cNvSpPr/>
          <p:nvPr/>
        </p:nvSpPr>
        <p:spPr>
          <a:xfrm>
            <a:off x="347472" y="2670048"/>
            <a:ext cx="1508760" cy="292608"/>
          </a:xfrm>
          <a:prstGeom prst="rect">
            <a:avLst/>
          </a:prstGeom>
          <a:noFill/>
          <a:ln/>
        </p:spPr>
        <p:txBody>
          <a:bodyPr wrap="square" lIns="0" tIns="0" rIns="0" bIns="0" rtlCol="0" anchor="ctr"/>
          <a:lstStyle/>
          <a:p>
            <a:pPr marL="0" indent="0" algn="ctr">
              <a:buNone/>
            </a:pPr>
            <a:r>
              <a:rPr lang="en-US" sz="950" b="1" dirty="0">
                <a:solidFill>
                  <a:srgbClr val="FFFFFF"/>
                </a:solidFill>
              </a:rPr>
              <a:t>19:35–19:45</a:t>
            </a:r>
            <a:endParaRPr lang="en-US" sz="950" dirty="0"/>
          </a:p>
        </p:txBody>
      </p:sp>
      <p:pic>
        <p:nvPicPr>
          <p:cNvPr id="21" name="Image 3" descr="preencoded.png"/>
          <p:cNvPicPr>
            <a:picLocks noChangeAspect="1"/>
          </p:cNvPicPr>
          <p:nvPr/>
        </p:nvPicPr>
        <p:blipFill>
          <a:blip r:embed="rId6"/>
          <a:stretch>
            <a:fillRect/>
          </a:stretch>
        </p:blipFill>
        <p:spPr>
          <a:xfrm>
            <a:off x="1956816" y="2688336"/>
            <a:ext cx="237744" cy="237744"/>
          </a:xfrm>
          <a:prstGeom prst="rect">
            <a:avLst/>
          </a:prstGeom>
        </p:spPr>
      </p:pic>
      <p:sp>
        <p:nvSpPr>
          <p:cNvPr id="22" name="Text 16"/>
          <p:cNvSpPr/>
          <p:nvPr/>
        </p:nvSpPr>
        <p:spPr>
          <a:xfrm>
            <a:off x="2304288" y="2670048"/>
            <a:ext cx="6400800" cy="292608"/>
          </a:xfrm>
          <a:prstGeom prst="rect">
            <a:avLst/>
          </a:prstGeom>
          <a:noFill/>
          <a:ln/>
        </p:spPr>
        <p:txBody>
          <a:bodyPr wrap="square" lIns="0" tIns="0" rIns="0" bIns="0" rtlCol="0" anchor="ctr"/>
          <a:lstStyle/>
          <a:p>
            <a:pPr marL="0" indent="0">
              <a:buNone/>
            </a:pPr>
            <a:r>
              <a:rPr lang="en-US" sz="1200" dirty="0">
                <a:solidFill>
                  <a:srgbClr val="8FA3B1"/>
                </a:solidFill>
              </a:rPr>
              <a:t>Receso  (10 minutos)</a:t>
            </a:r>
            <a:endParaRPr lang="en-US" sz="1200" dirty="0"/>
          </a:p>
        </p:txBody>
      </p:sp>
      <p:sp>
        <p:nvSpPr>
          <p:cNvPr id="23" name="Shape 17"/>
          <p:cNvSpPr/>
          <p:nvPr/>
        </p:nvSpPr>
        <p:spPr>
          <a:xfrm>
            <a:off x="347472" y="3118104"/>
            <a:ext cx="8449056" cy="457200"/>
          </a:xfrm>
          <a:prstGeom prst="rect">
            <a:avLst/>
          </a:prstGeom>
          <a:solidFill>
            <a:srgbClr val="1A5276">
              <a:alpha val="18000"/>
            </a:srgbClr>
          </a:solidFill>
          <a:ln w="12700">
            <a:solidFill>
              <a:srgbClr val="1A5276">
                <a:alpha val="18000"/>
              </a:srgbClr>
            </a:solidFill>
            <a:prstDash val="solid"/>
          </a:ln>
        </p:spPr>
        <p:txBody>
          <a:bodyPr/>
          <a:lstStyle/>
          <a:p>
            <a:endParaRPr lang="es-MX"/>
          </a:p>
        </p:txBody>
      </p:sp>
      <p:sp>
        <p:nvSpPr>
          <p:cNvPr id="24" name="Shape 18"/>
          <p:cNvSpPr/>
          <p:nvPr/>
        </p:nvSpPr>
        <p:spPr>
          <a:xfrm>
            <a:off x="347472" y="3182112"/>
            <a:ext cx="1508760" cy="292608"/>
          </a:xfrm>
          <a:prstGeom prst="rect">
            <a:avLst/>
          </a:prstGeom>
          <a:solidFill>
            <a:srgbClr val="1A5276"/>
          </a:solidFill>
          <a:ln w="12700">
            <a:solidFill>
              <a:srgbClr val="1A5276"/>
            </a:solidFill>
            <a:prstDash val="solid"/>
          </a:ln>
        </p:spPr>
        <p:txBody>
          <a:bodyPr/>
          <a:lstStyle/>
          <a:p>
            <a:endParaRPr lang="es-MX"/>
          </a:p>
        </p:txBody>
      </p:sp>
      <p:sp>
        <p:nvSpPr>
          <p:cNvPr id="25" name="Text 19"/>
          <p:cNvSpPr/>
          <p:nvPr/>
        </p:nvSpPr>
        <p:spPr>
          <a:xfrm>
            <a:off x="347472" y="3182112"/>
            <a:ext cx="1508760" cy="292608"/>
          </a:xfrm>
          <a:prstGeom prst="rect">
            <a:avLst/>
          </a:prstGeom>
          <a:noFill/>
          <a:ln/>
        </p:spPr>
        <p:txBody>
          <a:bodyPr wrap="square" lIns="0" tIns="0" rIns="0" bIns="0" rtlCol="0" anchor="ctr"/>
          <a:lstStyle/>
          <a:p>
            <a:pPr marL="0" indent="0" algn="ctr">
              <a:buNone/>
            </a:pPr>
            <a:r>
              <a:rPr lang="en-US" sz="950" b="1" dirty="0">
                <a:solidFill>
                  <a:srgbClr val="FFFFFF"/>
                </a:solidFill>
              </a:rPr>
              <a:t>19:45–20:15</a:t>
            </a:r>
            <a:endParaRPr lang="en-US" sz="950" dirty="0"/>
          </a:p>
        </p:txBody>
      </p:sp>
      <p:pic>
        <p:nvPicPr>
          <p:cNvPr id="26" name="Image 4" descr="preencoded.png"/>
          <p:cNvPicPr>
            <a:picLocks noChangeAspect="1"/>
          </p:cNvPicPr>
          <p:nvPr/>
        </p:nvPicPr>
        <p:blipFill>
          <a:blip r:embed="rId7"/>
          <a:stretch>
            <a:fillRect/>
          </a:stretch>
        </p:blipFill>
        <p:spPr>
          <a:xfrm>
            <a:off x="1956816" y="3200400"/>
            <a:ext cx="237744" cy="237744"/>
          </a:xfrm>
          <a:prstGeom prst="rect">
            <a:avLst/>
          </a:prstGeom>
        </p:spPr>
      </p:pic>
      <p:sp>
        <p:nvSpPr>
          <p:cNvPr id="27" name="Text 20"/>
          <p:cNvSpPr/>
          <p:nvPr/>
        </p:nvSpPr>
        <p:spPr>
          <a:xfrm>
            <a:off x="2304288" y="3182112"/>
            <a:ext cx="6400800" cy="292608"/>
          </a:xfrm>
          <a:prstGeom prst="rect">
            <a:avLst/>
          </a:prstGeom>
          <a:noFill/>
          <a:ln/>
        </p:spPr>
        <p:txBody>
          <a:bodyPr wrap="square" lIns="0" tIns="0" rIns="0" bIns="0" rtlCol="0" anchor="ctr"/>
          <a:lstStyle/>
          <a:p>
            <a:pPr marL="0" indent="0">
              <a:buNone/>
            </a:pPr>
            <a:r>
              <a:rPr lang="en-US" sz="1200" dirty="0">
                <a:solidFill>
                  <a:srgbClr val="FFFFFF"/>
                </a:solidFill>
              </a:rPr>
              <a:t>Instalación: VS Code + Jupyter + Bibliotecas esenciales</a:t>
            </a:r>
            <a:endParaRPr lang="en-US" sz="1200" dirty="0"/>
          </a:p>
        </p:txBody>
      </p:sp>
      <p:sp>
        <p:nvSpPr>
          <p:cNvPr id="28" name="Shape 21"/>
          <p:cNvSpPr/>
          <p:nvPr/>
        </p:nvSpPr>
        <p:spPr>
          <a:xfrm>
            <a:off x="347472" y="3694176"/>
            <a:ext cx="1508760" cy="292608"/>
          </a:xfrm>
          <a:prstGeom prst="rect">
            <a:avLst/>
          </a:prstGeom>
          <a:solidFill>
            <a:srgbClr val="1E8449"/>
          </a:solidFill>
          <a:ln w="12700">
            <a:solidFill>
              <a:srgbClr val="1E8449"/>
            </a:solidFill>
            <a:prstDash val="solid"/>
          </a:ln>
        </p:spPr>
        <p:txBody>
          <a:bodyPr/>
          <a:lstStyle/>
          <a:p>
            <a:endParaRPr lang="es-MX"/>
          </a:p>
        </p:txBody>
      </p:sp>
      <p:sp>
        <p:nvSpPr>
          <p:cNvPr id="29" name="Text 22"/>
          <p:cNvSpPr/>
          <p:nvPr/>
        </p:nvSpPr>
        <p:spPr>
          <a:xfrm>
            <a:off x="347472" y="3694176"/>
            <a:ext cx="1508760" cy="292608"/>
          </a:xfrm>
          <a:prstGeom prst="rect">
            <a:avLst/>
          </a:prstGeom>
          <a:noFill/>
          <a:ln/>
        </p:spPr>
        <p:txBody>
          <a:bodyPr wrap="square" lIns="0" tIns="0" rIns="0" bIns="0" rtlCol="0" anchor="ctr"/>
          <a:lstStyle/>
          <a:p>
            <a:pPr marL="0" indent="0" algn="ctr">
              <a:buNone/>
            </a:pPr>
            <a:r>
              <a:rPr lang="en-US" sz="950" b="1" dirty="0">
                <a:solidFill>
                  <a:srgbClr val="FFFFFF"/>
                </a:solidFill>
              </a:rPr>
              <a:t>20:15–20:45</a:t>
            </a:r>
            <a:endParaRPr lang="en-US" sz="950" dirty="0"/>
          </a:p>
        </p:txBody>
      </p:sp>
      <p:pic>
        <p:nvPicPr>
          <p:cNvPr id="30" name="Image 5" descr="preencoded.png"/>
          <p:cNvPicPr>
            <a:picLocks noChangeAspect="1"/>
          </p:cNvPicPr>
          <p:nvPr/>
        </p:nvPicPr>
        <p:blipFill>
          <a:blip r:embed="rId8"/>
          <a:stretch>
            <a:fillRect/>
          </a:stretch>
        </p:blipFill>
        <p:spPr>
          <a:xfrm>
            <a:off x="1956816" y="3712464"/>
            <a:ext cx="237744" cy="237744"/>
          </a:xfrm>
          <a:prstGeom prst="rect">
            <a:avLst/>
          </a:prstGeom>
        </p:spPr>
      </p:pic>
      <p:sp>
        <p:nvSpPr>
          <p:cNvPr id="31" name="Text 23"/>
          <p:cNvSpPr/>
          <p:nvPr/>
        </p:nvSpPr>
        <p:spPr>
          <a:xfrm>
            <a:off x="2304288" y="3694176"/>
            <a:ext cx="6400800" cy="292608"/>
          </a:xfrm>
          <a:prstGeom prst="rect">
            <a:avLst/>
          </a:prstGeom>
          <a:noFill/>
          <a:ln/>
        </p:spPr>
        <p:txBody>
          <a:bodyPr wrap="square" lIns="0" tIns="0" rIns="0" bIns="0" rtlCol="0" anchor="ctr"/>
          <a:lstStyle/>
          <a:p>
            <a:pPr marL="0" indent="0">
              <a:buNone/>
            </a:pPr>
            <a:r>
              <a:rPr lang="en-US" sz="1200" dirty="0">
                <a:solidFill>
                  <a:srgbClr val="FFFFFF"/>
                </a:solidFill>
              </a:rPr>
              <a:t>¡Primer notebook! Ejecutamos nuestro primer código actuarial</a:t>
            </a:r>
            <a:endParaRPr lang="en-US" sz="1200" dirty="0"/>
          </a:p>
        </p:txBody>
      </p:sp>
      <p:sp>
        <p:nvSpPr>
          <p:cNvPr id="32" name="Shape 24"/>
          <p:cNvSpPr/>
          <p:nvPr/>
        </p:nvSpPr>
        <p:spPr>
          <a:xfrm>
            <a:off x="347472" y="4142232"/>
            <a:ext cx="8449056" cy="457200"/>
          </a:xfrm>
          <a:prstGeom prst="rect">
            <a:avLst/>
          </a:prstGeom>
          <a:solidFill>
            <a:srgbClr val="1A5276">
              <a:alpha val="18000"/>
            </a:srgbClr>
          </a:solidFill>
          <a:ln w="12700">
            <a:solidFill>
              <a:srgbClr val="1A5276">
                <a:alpha val="18000"/>
              </a:srgbClr>
            </a:solidFill>
            <a:prstDash val="solid"/>
          </a:ln>
        </p:spPr>
        <p:txBody>
          <a:bodyPr/>
          <a:lstStyle/>
          <a:p>
            <a:endParaRPr lang="es-MX"/>
          </a:p>
        </p:txBody>
      </p:sp>
      <p:sp>
        <p:nvSpPr>
          <p:cNvPr id="33" name="Shape 25"/>
          <p:cNvSpPr/>
          <p:nvPr/>
        </p:nvSpPr>
        <p:spPr>
          <a:xfrm>
            <a:off x="347472" y="4206240"/>
            <a:ext cx="1508760" cy="292608"/>
          </a:xfrm>
          <a:prstGeom prst="rect">
            <a:avLst/>
          </a:prstGeom>
          <a:solidFill>
            <a:srgbClr val="F4A261"/>
          </a:solidFill>
          <a:ln w="12700">
            <a:solidFill>
              <a:srgbClr val="F4A261"/>
            </a:solidFill>
            <a:prstDash val="solid"/>
          </a:ln>
        </p:spPr>
        <p:txBody>
          <a:bodyPr/>
          <a:lstStyle/>
          <a:p>
            <a:endParaRPr lang="es-MX"/>
          </a:p>
        </p:txBody>
      </p:sp>
      <p:sp>
        <p:nvSpPr>
          <p:cNvPr id="34" name="Text 26"/>
          <p:cNvSpPr/>
          <p:nvPr/>
        </p:nvSpPr>
        <p:spPr>
          <a:xfrm>
            <a:off x="347472" y="4206240"/>
            <a:ext cx="1508760" cy="292608"/>
          </a:xfrm>
          <a:prstGeom prst="rect">
            <a:avLst/>
          </a:prstGeom>
          <a:noFill/>
          <a:ln/>
        </p:spPr>
        <p:txBody>
          <a:bodyPr wrap="square" lIns="0" tIns="0" rIns="0" bIns="0" rtlCol="0" anchor="ctr"/>
          <a:lstStyle/>
          <a:p>
            <a:pPr marL="0" indent="0" algn="ctr">
              <a:buNone/>
            </a:pPr>
            <a:r>
              <a:rPr lang="en-US" sz="950" b="1" dirty="0">
                <a:solidFill>
                  <a:srgbClr val="FFFFFF"/>
                </a:solidFill>
              </a:rPr>
              <a:t>20:45–21:00</a:t>
            </a:r>
            <a:endParaRPr lang="en-US" sz="950" dirty="0"/>
          </a:p>
        </p:txBody>
      </p:sp>
      <p:pic>
        <p:nvPicPr>
          <p:cNvPr id="35" name="Image 6" descr="preencoded.png"/>
          <p:cNvPicPr>
            <a:picLocks noChangeAspect="1"/>
          </p:cNvPicPr>
          <p:nvPr/>
        </p:nvPicPr>
        <p:blipFill>
          <a:blip r:embed="rId9"/>
          <a:stretch>
            <a:fillRect/>
          </a:stretch>
        </p:blipFill>
        <p:spPr>
          <a:xfrm>
            <a:off x="1956816" y="4224528"/>
            <a:ext cx="237744" cy="237744"/>
          </a:xfrm>
          <a:prstGeom prst="rect">
            <a:avLst/>
          </a:prstGeom>
        </p:spPr>
      </p:pic>
      <p:sp>
        <p:nvSpPr>
          <p:cNvPr id="36" name="Text 27"/>
          <p:cNvSpPr/>
          <p:nvPr/>
        </p:nvSpPr>
        <p:spPr>
          <a:xfrm>
            <a:off x="2304288" y="4206240"/>
            <a:ext cx="6400800" cy="292608"/>
          </a:xfrm>
          <a:prstGeom prst="rect">
            <a:avLst/>
          </a:prstGeom>
          <a:noFill/>
          <a:ln/>
        </p:spPr>
        <p:txBody>
          <a:bodyPr wrap="square" lIns="0" tIns="0" rIns="0" bIns="0" rtlCol="0" anchor="ctr"/>
          <a:lstStyle/>
          <a:p>
            <a:pPr marL="0" indent="0">
              <a:buNone/>
            </a:pPr>
            <a:r>
              <a:rPr lang="en-US" sz="1200" dirty="0">
                <a:solidFill>
                  <a:srgbClr val="FFFFFF"/>
                </a:solidFill>
              </a:rPr>
              <a:t>Dudas, cierre y registro de asistencia</a:t>
            </a:r>
            <a:endParaRPr lang="en-US" sz="1200" dirty="0"/>
          </a:p>
        </p:txBody>
      </p:sp>
      <p:sp>
        <p:nvSpPr>
          <p:cNvPr id="37" name="Shape 28"/>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38" name="Text 29"/>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Módulo 1 · Introducción a Python · Sesión 1  —  15 abril 2026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Text 1"/>
          <p:cNvSpPr/>
          <p:nvPr/>
        </p:nvSpPr>
        <p:spPr>
          <a:xfrm>
            <a:off x="457200" y="182880"/>
            <a:ext cx="8229600" cy="475488"/>
          </a:xfrm>
          <a:prstGeom prst="rect">
            <a:avLst/>
          </a:prstGeom>
          <a:noFill/>
          <a:ln/>
        </p:spPr>
        <p:txBody>
          <a:bodyPr wrap="square" lIns="0" tIns="0" rIns="0" bIns="0" rtlCol="0" anchor="ctr"/>
          <a:lstStyle/>
          <a:p>
            <a:pPr marL="0" indent="0" algn="l">
              <a:buNone/>
            </a:pPr>
            <a:r>
              <a:rPr lang="en-US" sz="2800" b="1" dirty="0">
                <a:solidFill>
                  <a:srgbClr val="0D1B3E"/>
                </a:solidFill>
              </a:rPr>
              <a:t>¿Qué es Python?</a:t>
            </a:r>
            <a:endParaRPr lang="en-US" sz="2800" dirty="0"/>
          </a:p>
        </p:txBody>
      </p:sp>
      <p:sp>
        <p:nvSpPr>
          <p:cNvPr id="4" name="Text 2"/>
          <p:cNvSpPr/>
          <p:nvPr/>
        </p:nvSpPr>
        <p:spPr>
          <a:xfrm>
            <a:off x="457200" y="685800"/>
            <a:ext cx="8229600" cy="256032"/>
          </a:xfrm>
          <a:prstGeom prst="rect">
            <a:avLst/>
          </a:prstGeom>
          <a:noFill/>
          <a:ln/>
        </p:spPr>
        <p:txBody>
          <a:bodyPr wrap="square" lIns="0" tIns="0" rIns="0" bIns="0" rtlCol="0" anchor="ctr"/>
          <a:lstStyle/>
          <a:p>
            <a:pPr marL="0" indent="0" algn="l">
              <a:buNone/>
            </a:pPr>
            <a:r>
              <a:rPr lang="en-US" sz="1200" dirty="0">
                <a:solidFill>
                  <a:srgbClr val="0D7A8A"/>
                </a:solidFill>
              </a:rPr>
              <a:t>Un lenguaje de programación de propósito general, interpretado y de alto nivel</a:t>
            </a:r>
            <a:endParaRPr lang="en-US" sz="1200" dirty="0"/>
          </a:p>
        </p:txBody>
      </p:sp>
      <p:sp>
        <p:nvSpPr>
          <p:cNvPr id="5" name="Shape 3"/>
          <p:cNvSpPr/>
          <p:nvPr/>
        </p:nvSpPr>
        <p:spPr>
          <a:xfrm>
            <a:off x="365760" y="987552"/>
            <a:ext cx="8412480" cy="1170432"/>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6" name="Text 4"/>
          <p:cNvSpPr/>
          <p:nvPr/>
        </p:nvSpPr>
        <p:spPr>
          <a:xfrm>
            <a:off x="548640" y="1051560"/>
            <a:ext cx="8046720" cy="1005840"/>
          </a:xfrm>
          <a:prstGeom prst="rect">
            <a:avLst/>
          </a:prstGeom>
          <a:noFill/>
          <a:ln/>
        </p:spPr>
        <p:txBody>
          <a:bodyPr wrap="square" lIns="0" tIns="0" rIns="0" bIns="0" rtlCol="0" anchor="ctr"/>
          <a:lstStyle/>
          <a:p>
            <a:pPr marL="0" indent="0">
              <a:buNone/>
            </a:pPr>
            <a:r>
              <a:rPr lang="en-US" sz="1150" dirty="0">
                <a:solidFill>
                  <a:srgbClr val="374151"/>
                </a:solidFill>
              </a:rPr>
              <a:t>Python es un lenguaje de programación creado por Guido van Rossum en 1991. Su filosofía central es que el código debe ser fácil de leer y escribir — casi como escribir pseudocódigo en inglés. A diferencia de otros lenguajes, Python no necesita compilarse: el intérprete ejecuta el código línea por línea directamente.</a:t>
            </a:r>
            <a:endParaRPr lang="en-US" sz="1150" dirty="0"/>
          </a:p>
        </p:txBody>
      </p:sp>
      <p:sp>
        <p:nvSpPr>
          <p:cNvPr id="7" name="Shape 5"/>
          <p:cNvSpPr/>
          <p:nvPr/>
        </p:nvSpPr>
        <p:spPr>
          <a:xfrm>
            <a:off x="365760" y="2331720"/>
            <a:ext cx="1965960" cy="365760"/>
          </a:xfrm>
          <a:prstGeom prst="rect">
            <a:avLst/>
          </a:prstGeom>
          <a:solidFill>
            <a:srgbClr val="0D7A8A"/>
          </a:solidFill>
          <a:ln w="12700">
            <a:solidFill>
              <a:srgbClr val="0D7A8A"/>
            </a:solidFill>
            <a:prstDash val="solid"/>
          </a:ln>
        </p:spPr>
        <p:txBody>
          <a:bodyPr/>
          <a:lstStyle/>
          <a:p>
            <a:endParaRPr lang="es-MX"/>
          </a:p>
        </p:txBody>
      </p:sp>
      <p:sp>
        <p:nvSpPr>
          <p:cNvPr id="8" name="Text 6"/>
          <p:cNvSpPr/>
          <p:nvPr/>
        </p:nvSpPr>
        <p:spPr>
          <a:xfrm>
            <a:off x="365760" y="2331720"/>
            <a:ext cx="1965960" cy="365760"/>
          </a:xfrm>
          <a:prstGeom prst="rect">
            <a:avLst/>
          </a:prstGeom>
          <a:noFill/>
          <a:ln/>
        </p:spPr>
        <p:txBody>
          <a:bodyPr wrap="square" lIns="0" tIns="0" rIns="0" bIns="0" rtlCol="0" anchor="ctr"/>
          <a:lstStyle/>
          <a:p>
            <a:pPr marL="0" indent="0" algn="ctr">
              <a:buNone/>
            </a:pPr>
            <a:r>
              <a:rPr lang="en-US" sz="1100" b="1" dirty="0">
                <a:solidFill>
                  <a:srgbClr val="FFFFFF"/>
                </a:solidFill>
              </a:rPr>
              <a:t>Interpretado</a:t>
            </a:r>
            <a:endParaRPr lang="en-US" sz="1100" dirty="0"/>
          </a:p>
        </p:txBody>
      </p:sp>
      <p:sp>
        <p:nvSpPr>
          <p:cNvPr id="9" name="Shape 7"/>
          <p:cNvSpPr/>
          <p:nvPr/>
        </p:nvSpPr>
        <p:spPr>
          <a:xfrm>
            <a:off x="365760" y="2697480"/>
            <a:ext cx="1965960" cy="1508760"/>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10" name="Text 8"/>
          <p:cNvSpPr/>
          <p:nvPr/>
        </p:nvSpPr>
        <p:spPr>
          <a:xfrm>
            <a:off x="475488" y="2788920"/>
            <a:ext cx="1764792" cy="1353312"/>
          </a:xfrm>
          <a:prstGeom prst="rect">
            <a:avLst/>
          </a:prstGeom>
          <a:noFill/>
          <a:ln/>
        </p:spPr>
        <p:txBody>
          <a:bodyPr wrap="square" lIns="0" tIns="0" rIns="0" bIns="0" rtlCol="0" anchor="ctr"/>
          <a:lstStyle/>
          <a:p>
            <a:pPr marL="0" indent="0">
              <a:buNone/>
            </a:pPr>
            <a:r>
              <a:rPr lang="en-US" sz="950" dirty="0">
                <a:solidFill>
                  <a:srgbClr val="374151"/>
                </a:solidFill>
              </a:rPr>
              <a:t>No se compila. El intérprete ejecuta cada línea al momento, lo que facilita depurar errores y experimentar rápidamente.</a:t>
            </a:r>
            <a:endParaRPr lang="en-US" sz="950" dirty="0"/>
          </a:p>
        </p:txBody>
      </p:sp>
      <p:sp>
        <p:nvSpPr>
          <p:cNvPr id="11" name="Shape 9"/>
          <p:cNvSpPr/>
          <p:nvPr/>
        </p:nvSpPr>
        <p:spPr>
          <a:xfrm>
            <a:off x="2487168" y="2331720"/>
            <a:ext cx="1965960" cy="365760"/>
          </a:xfrm>
          <a:prstGeom prst="rect">
            <a:avLst/>
          </a:prstGeom>
          <a:solidFill>
            <a:srgbClr val="1A5276"/>
          </a:solidFill>
          <a:ln w="12700">
            <a:solidFill>
              <a:srgbClr val="1A5276"/>
            </a:solidFill>
            <a:prstDash val="solid"/>
          </a:ln>
        </p:spPr>
        <p:txBody>
          <a:bodyPr/>
          <a:lstStyle/>
          <a:p>
            <a:endParaRPr lang="es-MX"/>
          </a:p>
        </p:txBody>
      </p:sp>
      <p:sp>
        <p:nvSpPr>
          <p:cNvPr id="12" name="Text 10"/>
          <p:cNvSpPr/>
          <p:nvPr/>
        </p:nvSpPr>
        <p:spPr>
          <a:xfrm>
            <a:off x="2487168" y="2331720"/>
            <a:ext cx="1965960" cy="365760"/>
          </a:xfrm>
          <a:prstGeom prst="rect">
            <a:avLst/>
          </a:prstGeom>
          <a:noFill/>
          <a:ln/>
        </p:spPr>
        <p:txBody>
          <a:bodyPr wrap="square" lIns="0" tIns="0" rIns="0" bIns="0" rtlCol="0" anchor="ctr"/>
          <a:lstStyle/>
          <a:p>
            <a:pPr marL="0" indent="0" algn="ctr">
              <a:buNone/>
            </a:pPr>
            <a:r>
              <a:rPr lang="en-US" sz="1100" b="1" dirty="0">
                <a:solidFill>
                  <a:srgbClr val="FFFFFF"/>
                </a:solidFill>
              </a:rPr>
              <a:t>Tipado dinámico</a:t>
            </a:r>
            <a:endParaRPr lang="en-US" sz="1100" dirty="0"/>
          </a:p>
        </p:txBody>
      </p:sp>
      <p:sp>
        <p:nvSpPr>
          <p:cNvPr id="13" name="Shape 11"/>
          <p:cNvSpPr/>
          <p:nvPr/>
        </p:nvSpPr>
        <p:spPr>
          <a:xfrm>
            <a:off x="2487168" y="2697480"/>
            <a:ext cx="1965960" cy="1508760"/>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14" name="Text 12"/>
          <p:cNvSpPr/>
          <p:nvPr/>
        </p:nvSpPr>
        <p:spPr>
          <a:xfrm>
            <a:off x="2596896" y="2788920"/>
            <a:ext cx="1764792" cy="1353312"/>
          </a:xfrm>
          <a:prstGeom prst="rect">
            <a:avLst/>
          </a:prstGeom>
          <a:noFill/>
          <a:ln/>
        </p:spPr>
        <p:txBody>
          <a:bodyPr wrap="square" lIns="0" tIns="0" rIns="0" bIns="0" rtlCol="0" anchor="ctr"/>
          <a:lstStyle/>
          <a:p>
            <a:pPr marL="0" indent="0">
              <a:buNone/>
            </a:pPr>
            <a:r>
              <a:rPr lang="en-US" sz="950" dirty="0">
                <a:solidFill>
                  <a:srgbClr val="374151"/>
                </a:solidFill>
              </a:rPr>
              <a:t>No necesitas declarar el tipo de una variable (entero, texto, etc.). Python lo infiere automáticamente cuando asignas un valor.</a:t>
            </a:r>
            <a:endParaRPr lang="en-US" sz="950" dirty="0"/>
          </a:p>
        </p:txBody>
      </p:sp>
      <p:sp>
        <p:nvSpPr>
          <p:cNvPr id="15" name="Shape 13"/>
          <p:cNvSpPr/>
          <p:nvPr/>
        </p:nvSpPr>
        <p:spPr>
          <a:xfrm>
            <a:off x="4608576" y="2331720"/>
            <a:ext cx="1965960" cy="365760"/>
          </a:xfrm>
          <a:prstGeom prst="rect">
            <a:avLst/>
          </a:prstGeom>
          <a:solidFill>
            <a:srgbClr val="1E8449"/>
          </a:solidFill>
          <a:ln w="12700">
            <a:solidFill>
              <a:srgbClr val="1E8449"/>
            </a:solidFill>
            <a:prstDash val="solid"/>
          </a:ln>
        </p:spPr>
        <p:txBody>
          <a:bodyPr/>
          <a:lstStyle/>
          <a:p>
            <a:endParaRPr lang="es-MX"/>
          </a:p>
        </p:txBody>
      </p:sp>
      <p:sp>
        <p:nvSpPr>
          <p:cNvPr id="16" name="Text 14"/>
          <p:cNvSpPr/>
          <p:nvPr/>
        </p:nvSpPr>
        <p:spPr>
          <a:xfrm>
            <a:off x="4608576" y="2331720"/>
            <a:ext cx="1965960" cy="365760"/>
          </a:xfrm>
          <a:prstGeom prst="rect">
            <a:avLst/>
          </a:prstGeom>
          <a:noFill/>
          <a:ln/>
        </p:spPr>
        <p:txBody>
          <a:bodyPr wrap="square" lIns="0" tIns="0" rIns="0" bIns="0" rtlCol="0" anchor="ctr"/>
          <a:lstStyle/>
          <a:p>
            <a:pPr marL="0" indent="0" algn="ctr">
              <a:buNone/>
            </a:pPr>
            <a:r>
              <a:rPr lang="en-US" sz="1100" b="1" dirty="0">
                <a:solidFill>
                  <a:srgbClr val="FFFFFF"/>
                </a:solidFill>
              </a:rPr>
              <a:t>Multiplataforma</a:t>
            </a:r>
            <a:endParaRPr lang="en-US" sz="1100" dirty="0"/>
          </a:p>
        </p:txBody>
      </p:sp>
      <p:sp>
        <p:nvSpPr>
          <p:cNvPr id="17" name="Shape 15"/>
          <p:cNvSpPr/>
          <p:nvPr/>
        </p:nvSpPr>
        <p:spPr>
          <a:xfrm>
            <a:off x="4608576" y="2697480"/>
            <a:ext cx="1965960" cy="1508760"/>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18" name="Text 16"/>
          <p:cNvSpPr/>
          <p:nvPr/>
        </p:nvSpPr>
        <p:spPr>
          <a:xfrm>
            <a:off x="4718304" y="2788920"/>
            <a:ext cx="1764792" cy="1353312"/>
          </a:xfrm>
          <a:prstGeom prst="rect">
            <a:avLst/>
          </a:prstGeom>
          <a:noFill/>
          <a:ln/>
        </p:spPr>
        <p:txBody>
          <a:bodyPr wrap="square" lIns="0" tIns="0" rIns="0" bIns="0" rtlCol="0" anchor="ctr"/>
          <a:lstStyle/>
          <a:p>
            <a:pPr marL="0" indent="0">
              <a:buNone/>
            </a:pPr>
            <a:r>
              <a:rPr lang="en-US" sz="950" dirty="0">
                <a:solidFill>
                  <a:srgbClr val="374151"/>
                </a:solidFill>
              </a:rPr>
              <a:t>El mismo código corre igual en Windows, macOS y Linux sin modificación alguna. Esto facilita compartir trabajo con colegas.</a:t>
            </a:r>
            <a:endParaRPr lang="en-US" sz="950" dirty="0"/>
          </a:p>
        </p:txBody>
      </p:sp>
      <p:sp>
        <p:nvSpPr>
          <p:cNvPr id="19" name="Shape 17"/>
          <p:cNvSpPr/>
          <p:nvPr/>
        </p:nvSpPr>
        <p:spPr>
          <a:xfrm>
            <a:off x="6729984" y="2331720"/>
            <a:ext cx="1965960" cy="365760"/>
          </a:xfrm>
          <a:prstGeom prst="rect">
            <a:avLst/>
          </a:prstGeom>
          <a:solidFill>
            <a:srgbClr val="6C3483"/>
          </a:solidFill>
          <a:ln w="12700">
            <a:solidFill>
              <a:srgbClr val="6C3483"/>
            </a:solidFill>
            <a:prstDash val="solid"/>
          </a:ln>
        </p:spPr>
        <p:txBody>
          <a:bodyPr/>
          <a:lstStyle/>
          <a:p>
            <a:endParaRPr lang="es-MX"/>
          </a:p>
        </p:txBody>
      </p:sp>
      <p:sp>
        <p:nvSpPr>
          <p:cNvPr id="20" name="Text 18"/>
          <p:cNvSpPr/>
          <p:nvPr/>
        </p:nvSpPr>
        <p:spPr>
          <a:xfrm>
            <a:off x="6729984" y="2331720"/>
            <a:ext cx="1965960" cy="365760"/>
          </a:xfrm>
          <a:prstGeom prst="rect">
            <a:avLst/>
          </a:prstGeom>
          <a:noFill/>
          <a:ln/>
        </p:spPr>
        <p:txBody>
          <a:bodyPr wrap="square" lIns="0" tIns="0" rIns="0" bIns="0" rtlCol="0" anchor="ctr"/>
          <a:lstStyle/>
          <a:p>
            <a:pPr marL="0" indent="0" algn="ctr">
              <a:buNone/>
            </a:pPr>
            <a:r>
              <a:rPr lang="en-US" sz="1100" b="1" dirty="0">
                <a:solidFill>
                  <a:srgbClr val="FFFFFF"/>
                </a:solidFill>
              </a:rPr>
              <a:t>Gran ecosistema</a:t>
            </a:r>
            <a:endParaRPr lang="en-US" sz="1100" dirty="0"/>
          </a:p>
        </p:txBody>
      </p:sp>
      <p:sp>
        <p:nvSpPr>
          <p:cNvPr id="21" name="Shape 19"/>
          <p:cNvSpPr/>
          <p:nvPr/>
        </p:nvSpPr>
        <p:spPr>
          <a:xfrm>
            <a:off x="6729984" y="2697480"/>
            <a:ext cx="1965960" cy="1508760"/>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22" name="Text 20"/>
          <p:cNvSpPr/>
          <p:nvPr/>
        </p:nvSpPr>
        <p:spPr>
          <a:xfrm>
            <a:off x="6839712" y="2788920"/>
            <a:ext cx="1764792" cy="1353312"/>
          </a:xfrm>
          <a:prstGeom prst="rect">
            <a:avLst/>
          </a:prstGeom>
          <a:noFill/>
          <a:ln/>
        </p:spPr>
        <p:txBody>
          <a:bodyPr wrap="square" lIns="0" tIns="0" rIns="0" bIns="0" rtlCol="0" anchor="ctr"/>
          <a:lstStyle/>
          <a:p>
            <a:pPr marL="0" indent="0">
              <a:buNone/>
            </a:pPr>
            <a:r>
              <a:rPr lang="en-US" sz="950" dirty="0">
                <a:solidFill>
                  <a:srgbClr val="374151"/>
                </a:solidFill>
              </a:rPr>
              <a:t>Cuenta con más de 400,000 paquetes disponibles en PyPI. Para casi cualquier tarea existe una biblioteca especializada ya hecha.</a:t>
            </a:r>
            <a:endParaRPr lang="en-US" sz="950" dirty="0"/>
          </a:p>
        </p:txBody>
      </p:sp>
      <p:sp>
        <p:nvSpPr>
          <p:cNvPr id="23" name="Shape 21"/>
          <p:cNvSpPr/>
          <p:nvPr/>
        </p:nvSpPr>
        <p:spPr>
          <a:xfrm>
            <a:off x="365760" y="4315968"/>
            <a:ext cx="8412480" cy="548640"/>
          </a:xfrm>
          <a:prstGeom prst="rect">
            <a:avLst/>
          </a:prstGeom>
          <a:solidFill>
            <a:srgbClr val="F4A261">
              <a:alpha val="12000"/>
            </a:srgbClr>
          </a:solidFill>
          <a:ln w="12700">
            <a:solidFill>
              <a:srgbClr val="F4A261"/>
            </a:solidFill>
            <a:prstDash val="solid"/>
          </a:ln>
        </p:spPr>
        <p:txBody>
          <a:bodyPr/>
          <a:lstStyle/>
          <a:p>
            <a:endParaRPr lang="es-MX"/>
          </a:p>
        </p:txBody>
      </p:sp>
      <p:pic>
        <p:nvPicPr>
          <p:cNvPr id="24" name="Image 0" descr="preencoded.png"/>
          <p:cNvPicPr>
            <a:picLocks noChangeAspect="1"/>
          </p:cNvPicPr>
          <p:nvPr/>
        </p:nvPicPr>
        <p:blipFill>
          <a:blip r:embed="rId3"/>
          <a:stretch>
            <a:fillRect/>
          </a:stretch>
        </p:blipFill>
        <p:spPr>
          <a:xfrm>
            <a:off x="512064" y="4407408"/>
            <a:ext cx="274320" cy="274320"/>
          </a:xfrm>
          <a:prstGeom prst="rect">
            <a:avLst/>
          </a:prstGeom>
        </p:spPr>
      </p:pic>
      <p:sp>
        <p:nvSpPr>
          <p:cNvPr id="25" name="Text 22"/>
          <p:cNvSpPr/>
          <p:nvPr/>
        </p:nvSpPr>
        <p:spPr>
          <a:xfrm>
            <a:off x="896112" y="4343400"/>
            <a:ext cx="7772400" cy="502920"/>
          </a:xfrm>
          <a:prstGeom prst="rect">
            <a:avLst/>
          </a:prstGeom>
          <a:noFill/>
          <a:ln/>
        </p:spPr>
        <p:txBody>
          <a:bodyPr wrap="square" lIns="0" tIns="0" rIns="0" bIns="0" rtlCol="0" anchor="ctr"/>
          <a:lstStyle/>
          <a:p>
            <a:pPr marL="0" indent="0">
              <a:buNone/>
            </a:pPr>
            <a:r>
              <a:rPr lang="en-US" sz="1000" dirty="0">
                <a:solidFill>
                  <a:srgbClr val="374151"/>
                </a:solidFill>
              </a:rPr>
              <a:t>El nombre Python no viene de la serpiente — Guido van Rossum era fan del programa de comedia británico Monty Python's Flying Circus.</a:t>
            </a:r>
            <a:endParaRPr lang="en-US" sz="1000" dirty="0"/>
          </a:p>
        </p:txBody>
      </p:sp>
      <p:sp>
        <p:nvSpPr>
          <p:cNvPr id="26" name="Shape 23"/>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27" name="Text 24"/>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Módulo 1 · Introducción a Python · Sesión 1  —  15 abril 2026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Text 1"/>
          <p:cNvSpPr/>
          <p:nvPr/>
        </p:nvSpPr>
        <p:spPr>
          <a:xfrm>
            <a:off x="457200" y="182880"/>
            <a:ext cx="8229600" cy="475488"/>
          </a:xfrm>
          <a:prstGeom prst="rect">
            <a:avLst/>
          </a:prstGeom>
          <a:noFill/>
          <a:ln/>
        </p:spPr>
        <p:txBody>
          <a:bodyPr wrap="square" lIns="0" tIns="0" rIns="0" bIns="0" rtlCol="0" anchor="ctr"/>
          <a:lstStyle/>
          <a:p>
            <a:pPr marL="0" indent="0" algn="l">
              <a:buNone/>
            </a:pPr>
            <a:r>
              <a:rPr lang="en-US" sz="2800" b="1" dirty="0">
                <a:solidFill>
                  <a:srgbClr val="FFFFFF"/>
                </a:solidFill>
              </a:rPr>
              <a:t>Python en Contexto</a:t>
            </a:r>
            <a:endParaRPr lang="en-US" sz="2800" dirty="0"/>
          </a:p>
        </p:txBody>
      </p:sp>
      <p:sp>
        <p:nvSpPr>
          <p:cNvPr id="4" name="Text 2"/>
          <p:cNvSpPr/>
          <p:nvPr/>
        </p:nvSpPr>
        <p:spPr>
          <a:xfrm>
            <a:off x="457200" y="685800"/>
            <a:ext cx="8229600" cy="256032"/>
          </a:xfrm>
          <a:prstGeom prst="rect">
            <a:avLst/>
          </a:prstGeom>
          <a:noFill/>
          <a:ln/>
        </p:spPr>
        <p:txBody>
          <a:bodyPr wrap="square" lIns="0" tIns="0" rIns="0" bIns="0" rtlCol="0" anchor="ctr"/>
          <a:lstStyle/>
          <a:p>
            <a:pPr marL="0" indent="0" algn="l">
              <a:buNone/>
            </a:pPr>
            <a:r>
              <a:rPr lang="en-US" sz="1200" dirty="0">
                <a:solidFill>
                  <a:srgbClr val="A8D8EA"/>
                </a:solidFill>
              </a:rPr>
              <a:t>¿Cómo se compara con las herramientas que ya conoces?</a:t>
            </a:r>
            <a:endParaRPr lang="en-US" sz="1200" dirty="0"/>
          </a:p>
        </p:txBody>
      </p:sp>
      <p:sp>
        <p:nvSpPr>
          <p:cNvPr id="5" name="Shape 3"/>
          <p:cNvSpPr/>
          <p:nvPr/>
        </p:nvSpPr>
        <p:spPr>
          <a:xfrm>
            <a:off x="347472" y="1097280"/>
            <a:ext cx="1828800" cy="438912"/>
          </a:xfrm>
          <a:prstGeom prst="rect">
            <a:avLst/>
          </a:prstGeom>
          <a:solidFill>
            <a:srgbClr val="0D7A8A"/>
          </a:solidFill>
          <a:ln w="12700">
            <a:solidFill>
              <a:srgbClr val="0D1B3E"/>
            </a:solidFill>
            <a:prstDash val="solid"/>
          </a:ln>
        </p:spPr>
        <p:txBody>
          <a:bodyPr/>
          <a:lstStyle/>
          <a:p>
            <a:endParaRPr lang="es-MX"/>
          </a:p>
        </p:txBody>
      </p:sp>
      <p:sp>
        <p:nvSpPr>
          <p:cNvPr id="6" name="Text 4"/>
          <p:cNvSpPr/>
          <p:nvPr/>
        </p:nvSpPr>
        <p:spPr>
          <a:xfrm>
            <a:off x="393192" y="1097280"/>
            <a:ext cx="1755648" cy="438912"/>
          </a:xfrm>
          <a:prstGeom prst="rect">
            <a:avLst/>
          </a:prstGeom>
          <a:noFill/>
          <a:ln/>
        </p:spPr>
        <p:txBody>
          <a:bodyPr wrap="square" lIns="0" tIns="0" rIns="0" bIns="0" rtlCol="0" anchor="ctr"/>
          <a:lstStyle/>
          <a:p>
            <a:pPr marL="0" indent="0" algn="l">
              <a:buNone/>
            </a:pPr>
            <a:endParaRPr lang="en-US" sz="1100" dirty="0"/>
          </a:p>
        </p:txBody>
      </p:sp>
      <p:sp>
        <p:nvSpPr>
          <p:cNvPr id="7" name="Shape 5"/>
          <p:cNvSpPr/>
          <p:nvPr/>
        </p:nvSpPr>
        <p:spPr>
          <a:xfrm>
            <a:off x="2212848" y="1097280"/>
            <a:ext cx="1417320" cy="438912"/>
          </a:xfrm>
          <a:prstGeom prst="rect">
            <a:avLst/>
          </a:prstGeom>
          <a:solidFill>
            <a:srgbClr val="0D7A8A"/>
          </a:solidFill>
          <a:ln w="12700">
            <a:solidFill>
              <a:srgbClr val="0D1B3E"/>
            </a:solidFill>
            <a:prstDash val="solid"/>
          </a:ln>
        </p:spPr>
        <p:txBody>
          <a:bodyPr/>
          <a:lstStyle/>
          <a:p>
            <a:endParaRPr lang="es-MX"/>
          </a:p>
        </p:txBody>
      </p:sp>
      <p:sp>
        <p:nvSpPr>
          <p:cNvPr id="8" name="Text 6"/>
          <p:cNvSpPr/>
          <p:nvPr/>
        </p:nvSpPr>
        <p:spPr>
          <a:xfrm>
            <a:off x="2258568" y="1097280"/>
            <a:ext cx="1344168" cy="438912"/>
          </a:xfrm>
          <a:prstGeom prst="rect">
            <a:avLst/>
          </a:prstGeom>
          <a:noFill/>
          <a:ln/>
        </p:spPr>
        <p:txBody>
          <a:bodyPr wrap="square" lIns="0" tIns="0" rIns="0" bIns="0" rtlCol="0" anchor="ctr"/>
          <a:lstStyle/>
          <a:p>
            <a:pPr marL="0" indent="0" algn="ctr">
              <a:buNone/>
            </a:pPr>
            <a:r>
              <a:rPr lang="en-US" sz="1100" b="1" dirty="0">
                <a:solidFill>
                  <a:srgbClr val="FFFFFF"/>
                </a:solidFill>
              </a:rPr>
              <a:t>Excel</a:t>
            </a:r>
            <a:endParaRPr lang="en-US" sz="1100" dirty="0"/>
          </a:p>
        </p:txBody>
      </p:sp>
      <p:sp>
        <p:nvSpPr>
          <p:cNvPr id="9" name="Shape 7"/>
          <p:cNvSpPr/>
          <p:nvPr/>
        </p:nvSpPr>
        <p:spPr>
          <a:xfrm>
            <a:off x="3639312" y="1097280"/>
            <a:ext cx="1417320" cy="438912"/>
          </a:xfrm>
          <a:prstGeom prst="rect">
            <a:avLst/>
          </a:prstGeom>
          <a:solidFill>
            <a:srgbClr val="0D7A8A"/>
          </a:solidFill>
          <a:ln w="12700">
            <a:solidFill>
              <a:srgbClr val="0D1B3E"/>
            </a:solidFill>
            <a:prstDash val="solid"/>
          </a:ln>
        </p:spPr>
        <p:txBody>
          <a:bodyPr/>
          <a:lstStyle/>
          <a:p>
            <a:endParaRPr lang="es-MX"/>
          </a:p>
        </p:txBody>
      </p:sp>
      <p:sp>
        <p:nvSpPr>
          <p:cNvPr id="10" name="Text 8"/>
          <p:cNvSpPr/>
          <p:nvPr/>
        </p:nvSpPr>
        <p:spPr>
          <a:xfrm>
            <a:off x="3685032" y="1097280"/>
            <a:ext cx="1344168" cy="438912"/>
          </a:xfrm>
          <a:prstGeom prst="rect">
            <a:avLst/>
          </a:prstGeom>
          <a:noFill/>
          <a:ln/>
        </p:spPr>
        <p:txBody>
          <a:bodyPr wrap="square" lIns="0" tIns="0" rIns="0" bIns="0" rtlCol="0" anchor="ctr"/>
          <a:lstStyle/>
          <a:p>
            <a:pPr marL="0" indent="0" algn="ctr">
              <a:buNone/>
            </a:pPr>
            <a:r>
              <a:rPr lang="en-US" sz="1100" b="1" dirty="0">
                <a:solidFill>
                  <a:srgbClr val="FFFFFF"/>
                </a:solidFill>
              </a:rPr>
              <a:t>R</a:t>
            </a:r>
            <a:endParaRPr lang="en-US" sz="1100" dirty="0"/>
          </a:p>
        </p:txBody>
      </p:sp>
      <p:sp>
        <p:nvSpPr>
          <p:cNvPr id="11" name="Shape 9"/>
          <p:cNvSpPr/>
          <p:nvPr/>
        </p:nvSpPr>
        <p:spPr>
          <a:xfrm>
            <a:off x="5074920" y="1097280"/>
            <a:ext cx="1600200" cy="438912"/>
          </a:xfrm>
          <a:prstGeom prst="rect">
            <a:avLst/>
          </a:prstGeom>
          <a:solidFill>
            <a:srgbClr val="0D7A8A"/>
          </a:solidFill>
          <a:ln w="12700">
            <a:solidFill>
              <a:srgbClr val="0D1B3E"/>
            </a:solidFill>
            <a:prstDash val="solid"/>
          </a:ln>
        </p:spPr>
        <p:txBody>
          <a:bodyPr/>
          <a:lstStyle/>
          <a:p>
            <a:endParaRPr lang="es-MX"/>
          </a:p>
        </p:txBody>
      </p:sp>
      <p:sp>
        <p:nvSpPr>
          <p:cNvPr id="12" name="Text 10"/>
          <p:cNvSpPr/>
          <p:nvPr/>
        </p:nvSpPr>
        <p:spPr>
          <a:xfrm>
            <a:off x="5120640" y="1097280"/>
            <a:ext cx="1527048" cy="438912"/>
          </a:xfrm>
          <a:prstGeom prst="rect">
            <a:avLst/>
          </a:prstGeom>
          <a:noFill/>
          <a:ln/>
        </p:spPr>
        <p:txBody>
          <a:bodyPr wrap="square" lIns="0" tIns="0" rIns="0" bIns="0" rtlCol="0" anchor="ctr"/>
          <a:lstStyle/>
          <a:p>
            <a:pPr marL="0" indent="0" algn="ctr">
              <a:buNone/>
            </a:pPr>
            <a:r>
              <a:rPr lang="en-US" sz="1100" b="1" dirty="0">
                <a:solidFill>
                  <a:srgbClr val="FFFFFF"/>
                </a:solidFill>
              </a:rPr>
              <a:t>Python</a:t>
            </a:r>
            <a:endParaRPr lang="en-US" sz="1100" dirty="0"/>
          </a:p>
        </p:txBody>
      </p:sp>
      <p:sp>
        <p:nvSpPr>
          <p:cNvPr id="13" name="Shape 11"/>
          <p:cNvSpPr/>
          <p:nvPr/>
        </p:nvSpPr>
        <p:spPr>
          <a:xfrm>
            <a:off x="6693408" y="1097280"/>
            <a:ext cx="1417320" cy="438912"/>
          </a:xfrm>
          <a:prstGeom prst="rect">
            <a:avLst/>
          </a:prstGeom>
          <a:solidFill>
            <a:srgbClr val="0D7A8A"/>
          </a:solidFill>
          <a:ln w="12700">
            <a:solidFill>
              <a:srgbClr val="0D1B3E"/>
            </a:solidFill>
            <a:prstDash val="solid"/>
          </a:ln>
        </p:spPr>
        <p:txBody>
          <a:bodyPr/>
          <a:lstStyle/>
          <a:p>
            <a:endParaRPr lang="es-MX"/>
          </a:p>
        </p:txBody>
      </p:sp>
      <p:sp>
        <p:nvSpPr>
          <p:cNvPr id="14" name="Text 12"/>
          <p:cNvSpPr/>
          <p:nvPr/>
        </p:nvSpPr>
        <p:spPr>
          <a:xfrm>
            <a:off x="6739128" y="1097280"/>
            <a:ext cx="1344168" cy="438912"/>
          </a:xfrm>
          <a:prstGeom prst="rect">
            <a:avLst/>
          </a:prstGeom>
          <a:noFill/>
          <a:ln/>
        </p:spPr>
        <p:txBody>
          <a:bodyPr wrap="square" lIns="0" tIns="0" rIns="0" bIns="0" rtlCol="0" anchor="ctr"/>
          <a:lstStyle/>
          <a:p>
            <a:pPr marL="0" indent="0" algn="ctr">
              <a:buNone/>
            </a:pPr>
            <a:r>
              <a:rPr lang="en-US" sz="1100" b="1" dirty="0">
                <a:solidFill>
                  <a:srgbClr val="FFFFFF"/>
                </a:solidFill>
              </a:rPr>
              <a:t>SQL</a:t>
            </a:r>
            <a:endParaRPr lang="en-US" sz="1100" dirty="0"/>
          </a:p>
        </p:txBody>
      </p:sp>
      <p:sp>
        <p:nvSpPr>
          <p:cNvPr id="15" name="Shape 13"/>
          <p:cNvSpPr/>
          <p:nvPr/>
        </p:nvSpPr>
        <p:spPr>
          <a:xfrm>
            <a:off x="347472" y="1591056"/>
            <a:ext cx="1828800" cy="438912"/>
          </a:xfrm>
          <a:prstGeom prst="rect">
            <a:avLst/>
          </a:prstGeom>
          <a:solidFill>
            <a:srgbClr val="0F2035"/>
          </a:solidFill>
          <a:ln w="12700">
            <a:solidFill>
              <a:srgbClr val="0D1B3E"/>
            </a:solidFill>
            <a:prstDash val="solid"/>
          </a:ln>
        </p:spPr>
        <p:txBody>
          <a:bodyPr/>
          <a:lstStyle/>
          <a:p>
            <a:endParaRPr lang="es-MX"/>
          </a:p>
        </p:txBody>
      </p:sp>
      <p:sp>
        <p:nvSpPr>
          <p:cNvPr id="16" name="Text 14"/>
          <p:cNvSpPr/>
          <p:nvPr/>
        </p:nvSpPr>
        <p:spPr>
          <a:xfrm>
            <a:off x="393192" y="1591056"/>
            <a:ext cx="1755648" cy="438912"/>
          </a:xfrm>
          <a:prstGeom prst="rect">
            <a:avLst/>
          </a:prstGeom>
          <a:noFill/>
          <a:ln/>
        </p:spPr>
        <p:txBody>
          <a:bodyPr wrap="square" lIns="0" tIns="0" rIns="0" bIns="0" rtlCol="0" anchor="ctr"/>
          <a:lstStyle/>
          <a:p>
            <a:pPr marL="0" indent="0" algn="l">
              <a:buNone/>
            </a:pPr>
            <a:r>
              <a:rPr lang="en-US" sz="1100" b="1" dirty="0">
                <a:solidFill>
                  <a:srgbClr val="F0F4F8"/>
                </a:solidFill>
              </a:rPr>
              <a:t>Facilidad</a:t>
            </a:r>
            <a:endParaRPr lang="en-US" sz="1100" dirty="0"/>
          </a:p>
        </p:txBody>
      </p:sp>
      <p:sp>
        <p:nvSpPr>
          <p:cNvPr id="17" name="Shape 15"/>
          <p:cNvSpPr/>
          <p:nvPr/>
        </p:nvSpPr>
        <p:spPr>
          <a:xfrm>
            <a:off x="2212848" y="1591056"/>
            <a:ext cx="1417320" cy="438912"/>
          </a:xfrm>
          <a:prstGeom prst="rect">
            <a:avLst/>
          </a:prstGeom>
          <a:solidFill>
            <a:srgbClr val="0F2035"/>
          </a:solidFill>
          <a:ln w="12700">
            <a:solidFill>
              <a:srgbClr val="0D1B3E"/>
            </a:solidFill>
            <a:prstDash val="solid"/>
          </a:ln>
        </p:spPr>
        <p:txBody>
          <a:bodyPr/>
          <a:lstStyle/>
          <a:p>
            <a:endParaRPr lang="es-MX"/>
          </a:p>
        </p:txBody>
      </p:sp>
      <p:sp>
        <p:nvSpPr>
          <p:cNvPr id="18" name="Text 16"/>
          <p:cNvSpPr/>
          <p:nvPr/>
        </p:nvSpPr>
        <p:spPr>
          <a:xfrm>
            <a:off x="2258568" y="1591056"/>
            <a:ext cx="1344168" cy="438912"/>
          </a:xfrm>
          <a:prstGeom prst="rect">
            <a:avLst/>
          </a:prstGeom>
          <a:noFill/>
          <a:ln/>
        </p:spPr>
        <p:txBody>
          <a:bodyPr wrap="square" lIns="0" tIns="0" rIns="0" bIns="0" rtlCol="0" anchor="ctr"/>
          <a:lstStyle/>
          <a:p>
            <a:pPr marL="0" indent="0" algn="ctr">
              <a:buNone/>
            </a:pPr>
            <a:r>
              <a:rPr lang="en-US" sz="1050" dirty="0">
                <a:solidFill>
                  <a:srgbClr val="F0F4F8"/>
                </a:solidFill>
              </a:rPr>
              <a:t>★★★★★</a:t>
            </a:r>
            <a:endParaRPr lang="en-US" sz="1050" dirty="0"/>
          </a:p>
        </p:txBody>
      </p:sp>
      <p:sp>
        <p:nvSpPr>
          <p:cNvPr id="19" name="Shape 17"/>
          <p:cNvSpPr/>
          <p:nvPr/>
        </p:nvSpPr>
        <p:spPr>
          <a:xfrm>
            <a:off x="3639312" y="1591056"/>
            <a:ext cx="1417320" cy="438912"/>
          </a:xfrm>
          <a:prstGeom prst="rect">
            <a:avLst/>
          </a:prstGeom>
          <a:solidFill>
            <a:srgbClr val="0F2035"/>
          </a:solidFill>
          <a:ln w="12700">
            <a:solidFill>
              <a:srgbClr val="0D1B3E"/>
            </a:solidFill>
            <a:prstDash val="solid"/>
          </a:ln>
        </p:spPr>
        <p:txBody>
          <a:bodyPr/>
          <a:lstStyle/>
          <a:p>
            <a:endParaRPr lang="es-MX"/>
          </a:p>
        </p:txBody>
      </p:sp>
      <p:sp>
        <p:nvSpPr>
          <p:cNvPr id="20" name="Text 18"/>
          <p:cNvSpPr/>
          <p:nvPr/>
        </p:nvSpPr>
        <p:spPr>
          <a:xfrm>
            <a:off x="3685032" y="1591056"/>
            <a:ext cx="1344168" cy="438912"/>
          </a:xfrm>
          <a:prstGeom prst="rect">
            <a:avLst/>
          </a:prstGeom>
          <a:noFill/>
          <a:ln/>
        </p:spPr>
        <p:txBody>
          <a:bodyPr wrap="square" lIns="0" tIns="0" rIns="0" bIns="0" rtlCol="0" anchor="ctr"/>
          <a:lstStyle/>
          <a:p>
            <a:pPr marL="0" indent="0" algn="ctr">
              <a:buNone/>
            </a:pPr>
            <a:r>
              <a:rPr lang="en-US" sz="1050" dirty="0">
                <a:solidFill>
                  <a:srgbClr val="F0F4F8"/>
                </a:solidFill>
              </a:rPr>
              <a:t>★★★</a:t>
            </a:r>
            <a:endParaRPr lang="en-US" sz="1050" dirty="0"/>
          </a:p>
        </p:txBody>
      </p:sp>
      <p:sp>
        <p:nvSpPr>
          <p:cNvPr id="21" name="Shape 19"/>
          <p:cNvSpPr/>
          <p:nvPr/>
        </p:nvSpPr>
        <p:spPr>
          <a:xfrm>
            <a:off x="5074920" y="1591056"/>
            <a:ext cx="1600200" cy="438912"/>
          </a:xfrm>
          <a:prstGeom prst="rect">
            <a:avLst/>
          </a:prstGeom>
          <a:solidFill>
            <a:srgbClr val="1A4A6A"/>
          </a:solidFill>
          <a:ln w="12700">
            <a:solidFill>
              <a:srgbClr val="0D1B3E"/>
            </a:solidFill>
            <a:prstDash val="solid"/>
          </a:ln>
        </p:spPr>
        <p:txBody>
          <a:bodyPr/>
          <a:lstStyle/>
          <a:p>
            <a:endParaRPr lang="es-MX"/>
          </a:p>
        </p:txBody>
      </p:sp>
      <p:sp>
        <p:nvSpPr>
          <p:cNvPr id="22" name="Text 20"/>
          <p:cNvSpPr/>
          <p:nvPr/>
        </p:nvSpPr>
        <p:spPr>
          <a:xfrm>
            <a:off x="5120640" y="1591056"/>
            <a:ext cx="1527048" cy="438912"/>
          </a:xfrm>
          <a:prstGeom prst="rect">
            <a:avLst/>
          </a:prstGeom>
          <a:noFill/>
          <a:ln/>
        </p:spPr>
        <p:txBody>
          <a:bodyPr wrap="square" lIns="0" tIns="0" rIns="0" bIns="0" rtlCol="0" anchor="ctr"/>
          <a:lstStyle/>
          <a:p>
            <a:pPr marL="0" indent="0" algn="ctr">
              <a:buNone/>
            </a:pPr>
            <a:r>
              <a:rPr lang="en-US" sz="1050" b="1" dirty="0">
                <a:solidFill>
                  <a:srgbClr val="A8D8EA"/>
                </a:solidFill>
              </a:rPr>
              <a:t>★★★★</a:t>
            </a:r>
            <a:endParaRPr lang="en-US" sz="1050" dirty="0"/>
          </a:p>
        </p:txBody>
      </p:sp>
      <p:sp>
        <p:nvSpPr>
          <p:cNvPr id="23" name="Shape 21"/>
          <p:cNvSpPr/>
          <p:nvPr/>
        </p:nvSpPr>
        <p:spPr>
          <a:xfrm>
            <a:off x="6693408" y="1591056"/>
            <a:ext cx="1417320" cy="438912"/>
          </a:xfrm>
          <a:prstGeom prst="rect">
            <a:avLst/>
          </a:prstGeom>
          <a:solidFill>
            <a:srgbClr val="0F2035"/>
          </a:solidFill>
          <a:ln w="12700">
            <a:solidFill>
              <a:srgbClr val="0D1B3E"/>
            </a:solidFill>
            <a:prstDash val="solid"/>
          </a:ln>
        </p:spPr>
        <p:txBody>
          <a:bodyPr/>
          <a:lstStyle/>
          <a:p>
            <a:endParaRPr lang="es-MX"/>
          </a:p>
        </p:txBody>
      </p:sp>
      <p:sp>
        <p:nvSpPr>
          <p:cNvPr id="24" name="Text 22"/>
          <p:cNvSpPr/>
          <p:nvPr/>
        </p:nvSpPr>
        <p:spPr>
          <a:xfrm>
            <a:off x="6739128" y="1591056"/>
            <a:ext cx="1344168" cy="438912"/>
          </a:xfrm>
          <a:prstGeom prst="rect">
            <a:avLst/>
          </a:prstGeom>
          <a:noFill/>
          <a:ln/>
        </p:spPr>
        <p:txBody>
          <a:bodyPr wrap="square" lIns="0" tIns="0" rIns="0" bIns="0" rtlCol="0" anchor="ctr"/>
          <a:lstStyle/>
          <a:p>
            <a:pPr marL="0" indent="0" algn="ctr">
              <a:buNone/>
            </a:pPr>
            <a:r>
              <a:rPr lang="en-US" sz="1050" dirty="0">
                <a:solidFill>
                  <a:srgbClr val="F0F4F8"/>
                </a:solidFill>
              </a:rPr>
              <a:t>★★★</a:t>
            </a:r>
            <a:endParaRPr lang="en-US" sz="1050" dirty="0"/>
          </a:p>
        </p:txBody>
      </p:sp>
      <p:sp>
        <p:nvSpPr>
          <p:cNvPr id="25" name="Shape 23"/>
          <p:cNvSpPr/>
          <p:nvPr/>
        </p:nvSpPr>
        <p:spPr>
          <a:xfrm>
            <a:off x="347472" y="2084832"/>
            <a:ext cx="1828800" cy="438912"/>
          </a:xfrm>
          <a:prstGeom prst="rect">
            <a:avLst/>
          </a:prstGeom>
          <a:solidFill>
            <a:srgbClr val="162945"/>
          </a:solidFill>
          <a:ln w="12700">
            <a:solidFill>
              <a:srgbClr val="0D1B3E"/>
            </a:solidFill>
            <a:prstDash val="solid"/>
          </a:ln>
        </p:spPr>
        <p:txBody>
          <a:bodyPr/>
          <a:lstStyle/>
          <a:p>
            <a:endParaRPr lang="es-MX"/>
          </a:p>
        </p:txBody>
      </p:sp>
      <p:sp>
        <p:nvSpPr>
          <p:cNvPr id="26" name="Text 24"/>
          <p:cNvSpPr/>
          <p:nvPr/>
        </p:nvSpPr>
        <p:spPr>
          <a:xfrm>
            <a:off x="393192" y="2084832"/>
            <a:ext cx="1755648" cy="438912"/>
          </a:xfrm>
          <a:prstGeom prst="rect">
            <a:avLst/>
          </a:prstGeom>
          <a:noFill/>
          <a:ln/>
        </p:spPr>
        <p:txBody>
          <a:bodyPr wrap="square" lIns="0" tIns="0" rIns="0" bIns="0" rtlCol="0" anchor="ctr"/>
          <a:lstStyle/>
          <a:p>
            <a:pPr marL="0" indent="0" algn="l">
              <a:buNone/>
            </a:pPr>
            <a:r>
              <a:rPr lang="en-US" sz="1100" b="1" dirty="0">
                <a:solidFill>
                  <a:srgbClr val="F0F4F8"/>
                </a:solidFill>
              </a:rPr>
              <a:t>Estadística</a:t>
            </a:r>
            <a:endParaRPr lang="en-US" sz="1100" dirty="0"/>
          </a:p>
        </p:txBody>
      </p:sp>
      <p:sp>
        <p:nvSpPr>
          <p:cNvPr id="27" name="Shape 25"/>
          <p:cNvSpPr/>
          <p:nvPr/>
        </p:nvSpPr>
        <p:spPr>
          <a:xfrm>
            <a:off x="2212848" y="2084832"/>
            <a:ext cx="1417320" cy="438912"/>
          </a:xfrm>
          <a:prstGeom prst="rect">
            <a:avLst/>
          </a:prstGeom>
          <a:solidFill>
            <a:srgbClr val="162945"/>
          </a:solidFill>
          <a:ln w="12700">
            <a:solidFill>
              <a:srgbClr val="0D1B3E"/>
            </a:solidFill>
            <a:prstDash val="solid"/>
          </a:ln>
        </p:spPr>
        <p:txBody>
          <a:bodyPr/>
          <a:lstStyle/>
          <a:p>
            <a:endParaRPr lang="es-MX"/>
          </a:p>
        </p:txBody>
      </p:sp>
      <p:sp>
        <p:nvSpPr>
          <p:cNvPr id="28" name="Text 26"/>
          <p:cNvSpPr/>
          <p:nvPr/>
        </p:nvSpPr>
        <p:spPr>
          <a:xfrm>
            <a:off x="2258568" y="2084832"/>
            <a:ext cx="1344168" cy="438912"/>
          </a:xfrm>
          <a:prstGeom prst="rect">
            <a:avLst/>
          </a:prstGeom>
          <a:noFill/>
          <a:ln/>
        </p:spPr>
        <p:txBody>
          <a:bodyPr wrap="square" lIns="0" tIns="0" rIns="0" bIns="0" rtlCol="0" anchor="ctr"/>
          <a:lstStyle/>
          <a:p>
            <a:pPr marL="0" indent="0" algn="ctr">
              <a:buNone/>
            </a:pPr>
            <a:r>
              <a:rPr lang="en-US" sz="1050" dirty="0">
                <a:solidFill>
                  <a:srgbClr val="F0F4F8"/>
                </a:solidFill>
              </a:rPr>
              <a:t>★★</a:t>
            </a:r>
            <a:endParaRPr lang="en-US" sz="1050" dirty="0"/>
          </a:p>
        </p:txBody>
      </p:sp>
      <p:sp>
        <p:nvSpPr>
          <p:cNvPr id="29" name="Shape 27"/>
          <p:cNvSpPr/>
          <p:nvPr/>
        </p:nvSpPr>
        <p:spPr>
          <a:xfrm>
            <a:off x="3639312" y="2084832"/>
            <a:ext cx="1417320" cy="438912"/>
          </a:xfrm>
          <a:prstGeom prst="rect">
            <a:avLst/>
          </a:prstGeom>
          <a:solidFill>
            <a:srgbClr val="162945"/>
          </a:solidFill>
          <a:ln w="12700">
            <a:solidFill>
              <a:srgbClr val="0D1B3E"/>
            </a:solidFill>
            <a:prstDash val="solid"/>
          </a:ln>
        </p:spPr>
        <p:txBody>
          <a:bodyPr/>
          <a:lstStyle/>
          <a:p>
            <a:endParaRPr lang="es-MX"/>
          </a:p>
        </p:txBody>
      </p:sp>
      <p:sp>
        <p:nvSpPr>
          <p:cNvPr id="30" name="Text 28"/>
          <p:cNvSpPr/>
          <p:nvPr/>
        </p:nvSpPr>
        <p:spPr>
          <a:xfrm>
            <a:off x="3685032" y="2084832"/>
            <a:ext cx="1344168" cy="438912"/>
          </a:xfrm>
          <a:prstGeom prst="rect">
            <a:avLst/>
          </a:prstGeom>
          <a:noFill/>
          <a:ln/>
        </p:spPr>
        <p:txBody>
          <a:bodyPr wrap="square" lIns="0" tIns="0" rIns="0" bIns="0" rtlCol="0" anchor="ctr"/>
          <a:lstStyle/>
          <a:p>
            <a:pPr marL="0" indent="0" algn="ctr">
              <a:buNone/>
            </a:pPr>
            <a:r>
              <a:rPr lang="en-US" sz="1050" dirty="0">
                <a:solidFill>
                  <a:srgbClr val="F0F4F8"/>
                </a:solidFill>
              </a:rPr>
              <a:t>★★★★★</a:t>
            </a:r>
            <a:endParaRPr lang="en-US" sz="1050" dirty="0"/>
          </a:p>
        </p:txBody>
      </p:sp>
      <p:sp>
        <p:nvSpPr>
          <p:cNvPr id="31" name="Shape 29"/>
          <p:cNvSpPr/>
          <p:nvPr/>
        </p:nvSpPr>
        <p:spPr>
          <a:xfrm>
            <a:off x="5074920" y="2084832"/>
            <a:ext cx="1600200" cy="438912"/>
          </a:xfrm>
          <a:prstGeom prst="rect">
            <a:avLst/>
          </a:prstGeom>
          <a:solidFill>
            <a:srgbClr val="1A5276"/>
          </a:solidFill>
          <a:ln w="12700">
            <a:solidFill>
              <a:srgbClr val="0D1B3E"/>
            </a:solidFill>
            <a:prstDash val="solid"/>
          </a:ln>
        </p:spPr>
        <p:txBody>
          <a:bodyPr/>
          <a:lstStyle/>
          <a:p>
            <a:endParaRPr lang="es-MX"/>
          </a:p>
        </p:txBody>
      </p:sp>
      <p:sp>
        <p:nvSpPr>
          <p:cNvPr id="32" name="Text 30"/>
          <p:cNvSpPr/>
          <p:nvPr/>
        </p:nvSpPr>
        <p:spPr>
          <a:xfrm>
            <a:off x="5120640" y="2084832"/>
            <a:ext cx="1527048" cy="438912"/>
          </a:xfrm>
          <a:prstGeom prst="rect">
            <a:avLst/>
          </a:prstGeom>
          <a:noFill/>
          <a:ln/>
        </p:spPr>
        <p:txBody>
          <a:bodyPr wrap="square" lIns="0" tIns="0" rIns="0" bIns="0" rtlCol="0" anchor="ctr"/>
          <a:lstStyle/>
          <a:p>
            <a:pPr marL="0" indent="0" algn="ctr">
              <a:buNone/>
            </a:pPr>
            <a:r>
              <a:rPr lang="en-US" sz="1050" b="1" dirty="0">
                <a:solidFill>
                  <a:srgbClr val="A8D8EA"/>
                </a:solidFill>
              </a:rPr>
              <a:t>★★★★</a:t>
            </a:r>
            <a:endParaRPr lang="en-US" sz="1050" dirty="0"/>
          </a:p>
        </p:txBody>
      </p:sp>
      <p:sp>
        <p:nvSpPr>
          <p:cNvPr id="33" name="Shape 31"/>
          <p:cNvSpPr/>
          <p:nvPr/>
        </p:nvSpPr>
        <p:spPr>
          <a:xfrm>
            <a:off x="6693408" y="2084832"/>
            <a:ext cx="1417320" cy="438912"/>
          </a:xfrm>
          <a:prstGeom prst="rect">
            <a:avLst/>
          </a:prstGeom>
          <a:solidFill>
            <a:srgbClr val="162945"/>
          </a:solidFill>
          <a:ln w="12700">
            <a:solidFill>
              <a:srgbClr val="0D1B3E"/>
            </a:solidFill>
            <a:prstDash val="solid"/>
          </a:ln>
        </p:spPr>
        <p:txBody>
          <a:bodyPr/>
          <a:lstStyle/>
          <a:p>
            <a:endParaRPr lang="es-MX"/>
          </a:p>
        </p:txBody>
      </p:sp>
      <p:sp>
        <p:nvSpPr>
          <p:cNvPr id="34" name="Text 32"/>
          <p:cNvSpPr/>
          <p:nvPr/>
        </p:nvSpPr>
        <p:spPr>
          <a:xfrm>
            <a:off x="6739128" y="2084832"/>
            <a:ext cx="1344168" cy="438912"/>
          </a:xfrm>
          <a:prstGeom prst="rect">
            <a:avLst/>
          </a:prstGeom>
          <a:noFill/>
          <a:ln/>
        </p:spPr>
        <p:txBody>
          <a:bodyPr wrap="square" lIns="0" tIns="0" rIns="0" bIns="0" rtlCol="0" anchor="ctr"/>
          <a:lstStyle/>
          <a:p>
            <a:pPr marL="0" indent="0" algn="ctr">
              <a:buNone/>
            </a:pPr>
            <a:r>
              <a:rPr lang="en-US" sz="1050" dirty="0">
                <a:solidFill>
                  <a:srgbClr val="F0F4F8"/>
                </a:solidFill>
              </a:rPr>
              <a:t>★★</a:t>
            </a:r>
            <a:endParaRPr lang="en-US" sz="1050" dirty="0"/>
          </a:p>
        </p:txBody>
      </p:sp>
      <p:sp>
        <p:nvSpPr>
          <p:cNvPr id="35" name="Shape 33"/>
          <p:cNvSpPr/>
          <p:nvPr/>
        </p:nvSpPr>
        <p:spPr>
          <a:xfrm>
            <a:off x="347472" y="2578608"/>
            <a:ext cx="1828800" cy="438912"/>
          </a:xfrm>
          <a:prstGeom prst="rect">
            <a:avLst/>
          </a:prstGeom>
          <a:solidFill>
            <a:srgbClr val="0F2035"/>
          </a:solidFill>
          <a:ln w="12700">
            <a:solidFill>
              <a:srgbClr val="0D1B3E"/>
            </a:solidFill>
            <a:prstDash val="solid"/>
          </a:ln>
        </p:spPr>
        <p:txBody>
          <a:bodyPr/>
          <a:lstStyle/>
          <a:p>
            <a:endParaRPr lang="es-MX"/>
          </a:p>
        </p:txBody>
      </p:sp>
      <p:sp>
        <p:nvSpPr>
          <p:cNvPr id="36" name="Text 34"/>
          <p:cNvSpPr/>
          <p:nvPr/>
        </p:nvSpPr>
        <p:spPr>
          <a:xfrm>
            <a:off x="393192" y="2578608"/>
            <a:ext cx="1755648" cy="438912"/>
          </a:xfrm>
          <a:prstGeom prst="rect">
            <a:avLst/>
          </a:prstGeom>
          <a:noFill/>
          <a:ln/>
        </p:spPr>
        <p:txBody>
          <a:bodyPr wrap="square" lIns="0" tIns="0" rIns="0" bIns="0" rtlCol="0" anchor="ctr"/>
          <a:lstStyle/>
          <a:p>
            <a:pPr marL="0" indent="0" algn="l">
              <a:buNone/>
            </a:pPr>
            <a:r>
              <a:rPr lang="en-US" sz="1100" b="1" dirty="0">
                <a:solidFill>
                  <a:srgbClr val="F0F4F8"/>
                </a:solidFill>
              </a:rPr>
              <a:t>Datos grandes</a:t>
            </a:r>
            <a:endParaRPr lang="en-US" sz="1100" dirty="0"/>
          </a:p>
        </p:txBody>
      </p:sp>
      <p:sp>
        <p:nvSpPr>
          <p:cNvPr id="37" name="Shape 35"/>
          <p:cNvSpPr/>
          <p:nvPr/>
        </p:nvSpPr>
        <p:spPr>
          <a:xfrm>
            <a:off x="2212848" y="2578608"/>
            <a:ext cx="1417320" cy="438912"/>
          </a:xfrm>
          <a:prstGeom prst="rect">
            <a:avLst/>
          </a:prstGeom>
          <a:solidFill>
            <a:srgbClr val="0F2035"/>
          </a:solidFill>
          <a:ln w="12700">
            <a:solidFill>
              <a:srgbClr val="0D1B3E"/>
            </a:solidFill>
            <a:prstDash val="solid"/>
          </a:ln>
        </p:spPr>
        <p:txBody>
          <a:bodyPr/>
          <a:lstStyle/>
          <a:p>
            <a:endParaRPr lang="es-MX"/>
          </a:p>
        </p:txBody>
      </p:sp>
      <p:sp>
        <p:nvSpPr>
          <p:cNvPr id="38" name="Text 36"/>
          <p:cNvSpPr/>
          <p:nvPr/>
        </p:nvSpPr>
        <p:spPr>
          <a:xfrm>
            <a:off x="2258568" y="2578608"/>
            <a:ext cx="1344168" cy="438912"/>
          </a:xfrm>
          <a:prstGeom prst="rect">
            <a:avLst/>
          </a:prstGeom>
          <a:noFill/>
          <a:ln/>
        </p:spPr>
        <p:txBody>
          <a:bodyPr wrap="square" lIns="0" tIns="0" rIns="0" bIns="0" rtlCol="0" anchor="ctr"/>
          <a:lstStyle/>
          <a:p>
            <a:pPr marL="0" indent="0" algn="ctr">
              <a:buNone/>
            </a:pPr>
            <a:r>
              <a:rPr lang="en-US" sz="1050" dirty="0">
                <a:solidFill>
                  <a:srgbClr val="F0F4F8"/>
                </a:solidFill>
              </a:rPr>
              <a:t>★</a:t>
            </a:r>
            <a:endParaRPr lang="en-US" sz="1050" dirty="0"/>
          </a:p>
        </p:txBody>
      </p:sp>
      <p:sp>
        <p:nvSpPr>
          <p:cNvPr id="39" name="Shape 37"/>
          <p:cNvSpPr/>
          <p:nvPr/>
        </p:nvSpPr>
        <p:spPr>
          <a:xfrm>
            <a:off x="3639312" y="2578608"/>
            <a:ext cx="1417320" cy="438912"/>
          </a:xfrm>
          <a:prstGeom prst="rect">
            <a:avLst/>
          </a:prstGeom>
          <a:solidFill>
            <a:srgbClr val="0F2035"/>
          </a:solidFill>
          <a:ln w="12700">
            <a:solidFill>
              <a:srgbClr val="0D1B3E"/>
            </a:solidFill>
            <a:prstDash val="solid"/>
          </a:ln>
        </p:spPr>
        <p:txBody>
          <a:bodyPr/>
          <a:lstStyle/>
          <a:p>
            <a:endParaRPr lang="es-MX"/>
          </a:p>
        </p:txBody>
      </p:sp>
      <p:sp>
        <p:nvSpPr>
          <p:cNvPr id="40" name="Text 38"/>
          <p:cNvSpPr/>
          <p:nvPr/>
        </p:nvSpPr>
        <p:spPr>
          <a:xfrm>
            <a:off x="3685032" y="2578608"/>
            <a:ext cx="1344168" cy="438912"/>
          </a:xfrm>
          <a:prstGeom prst="rect">
            <a:avLst/>
          </a:prstGeom>
          <a:noFill/>
          <a:ln/>
        </p:spPr>
        <p:txBody>
          <a:bodyPr wrap="square" lIns="0" tIns="0" rIns="0" bIns="0" rtlCol="0" anchor="ctr"/>
          <a:lstStyle/>
          <a:p>
            <a:pPr marL="0" indent="0" algn="ctr">
              <a:buNone/>
            </a:pPr>
            <a:r>
              <a:rPr lang="en-US" sz="1050" dirty="0">
                <a:solidFill>
                  <a:srgbClr val="F0F4F8"/>
                </a:solidFill>
              </a:rPr>
              <a:t>★★★</a:t>
            </a:r>
            <a:endParaRPr lang="en-US" sz="1050" dirty="0"/>
          </a:p>
        </p:txBody>
      </p:sp>
      <p:sp>
        <p:nvSpPr>
          <p:cNvPr id="41" name="Shape 39"/>
          <p:cNvSpPr/>
          <p:nvPr/>
        </p:nvSpPr>
        <p:spPr>
          <a:xfrm>
            <a:off x="5074920" y="2578608"/>
            <a:ext cx="1600200" cy="438912"/>
          </a:xfrm>
          <a:prstGeom prst="rect">
            <a:avLst/>
          </a:prstGeom>
          <a:solidFill>
            <a:srgbClr val="1A4A6A"/>
          </a:solidFill>
          <a:ln w="12700">
            <a:solidFill>
              <a:srgbClr val="0D1B3E"/>
            </a:solidFill>
            <a:prstDash val="solid"/>
          </a:ln>
        </p:spPr>
        <p:txBody>
          <a:bodyPr/>
          <a:lstStyle/>
          <a:p>
            <a:endParaRPr lang="es-MX"/>
          </a:p>
        </p:txBody>
      </p:sp>
      <p:sp>
        <p:nvSpPr>
          <p:cNvPr id="42" name="Text 40"/>
          <p:cNvSpPr/>
          <p:nvPr/>
        </p:nvSpPr>
        <p:spPr>
          <a:xfrm>
            <a:off x="5120640" y="2578608"/>
            <a:ext cx="1527048" cy="438912"/>
          </a:xfrm>
          <a:prstGeom prst="rect">
            <a:avLst/>
          </a:prstGeom>
          <a:noFill/>
          <a:ln/>
        </p:spPr>
        <p:txBody>
          <a:bodyPr wrap="square" lIns="0" tIns="0" rIns="0" bIns="0" rtlCol="0" anchor="ctr"/>
          <a:lstStyle/>
          <a:p>
            <a:pPr marL="0" indent="0" algn="ctr">
              <a:buNone/>
            </a:pPr>
            <a:r>
              <a:rPr lang="en-US" sz="1050" b="1" dirty="0">
                <a:solidFill>
                  <a:srgbClr val="A8D8EA"/>
                </a:solidFill>
              </a:rPr>
              <a:t>★★★★★</a:t>
            </a:r>
            <a:endParaRPr lang="en-US" sz="1050" dirty="0"/>
          </a:p>
        </p:txBody>
      </p:sp>
      <p:sp>
        <p:nvSpPr>
          <p:cNvPr id="43" name="Shape 41"/>
          <p:cNvSpPr/>
          <p:nvPr/>
        </p:nvSpPr>
        <p:spPr>
          <a:xfrm>
            <a:off x="6693408" y="2578608"/>
            <a:ext cx="1417320" cy="438912"/>
          </a:xfrm>
          <a:prstGeom prst="rect">
            <a:avLst/>
          </a:prstGeom>
          <a:solidFill>
            <a:srgbClr val="0F2035"/>
          </a:solidFill>
          <a:ln w="12700">
            <a:solidFill>
              <a:srgbClr val="0D1B3E"/>
            </a:solidFill>
            <a:prstDash val="solid"/>
          </a:ln>
        </p:spPr>
        <p:txBody>
          <a:bodyPr/>
          <a:lstStyle/>
          <a:p>
            <a:endParaRPr lang="es-MX"/>
          </a:p>
        </p:txBody>
      </p:sp>
      <p:sp>
        <p:nvSpPr>
          <p:cNvPr id="44" name="Text 42"/>
          <p:cNvSpPr/>
          <p:nvPr/>
        </p:nvSpPr>
        <p:spPr>
          <a:xfrm>
            <a:off x="6739128" y="2578608"/>
            <a:ext cx="1344168" cy="438912"/>
          </a:xfrm>
          <a:prstGeom prst="rect">
            <a:avLst/>
          </a:prstGeom>
          <a:noFill/>
          <a:ln/>
        </p:spPr>
        <p:txBody>
          <a:bodyPr wrap="square" lIns="0" tIns="0" rIns="0" bIns="0" rtlCol="0" anchor="ctr"/>
          <a:lstStyle/>
          <a:p>
            <a:pPr marL="0" indent="0" algn="ctr">
              <a:buNone/>
            </a:pPr>
            <a:r>
              <a:rPr lang="en-US" sz="1050" dirty="0">
                <a:solidFill>
                  <a:srgbClr val="F0F4F8"/>
                </a:solidFill>
              </a:rPr>
              <a:t>★★★★</a:t>
            </a:r>
            <a:endParaRPr lang="en-US" sz="1050" dirty="0"/>
          </a:p>
        </p:txBody>
      </p:sp>
      <p:sp>
        <p:nvSpPr>
          <p:cNvPr id="45" name="Shape 43"/>
          <p:cNvSpPr/>
          <p:nvPr/>
        </p:nvSpPr>
        <p:spPr>
          <a:xfrm>
            <a:off x="347472" y="3072384"/>
            <a:ext cx="1828800" cy="438912"/>
          </a:xfrm>
          <a:prstGeom prst="rect">
            <a:avLst/>
          </a:prstGeom>
          <a:solidFill>
            <a:srgbClr val="162945"/>
          </a:solidFill>
          <a:ln w="12700">
            <a:solidFill>
              <a:srgbClr val="0D1B3E"/>
            </a:solidFill>
            <a:prstDash val="solid"/>
          </a:ln>
        </p:spPr>
        <p:txBody>
          <a:bodyPr/>
          <a:lstStyle/>
          <a:p>
            <a:endParaRPr lang="es-MX"/>
          </a:p>
        </p:txBody>
      </p:sp>
      <p:sp>
        <p:nvSpPr>
          <p:cNvPr id="46" name="Text 44"/>
          <p:cNvSpPr/>
          <p:nvPr/>
        </p:nvSpPr>
        <p:spPr>
          <a:xfrm>
            <a:off x="393192" y="3072384"/>
            <a:ext cx="1755648" cy="438912"/>
          </a:xfrm>
          <a:prstGeom prst="rect">
            <a:avLst/>
          </a:prstGeom>
          <a:noFill/>
          <a:ln/>
        </p:spPr>
        <p:txBody>
          <a:bodyPr wrap="square" lIns="0" tIns="0" rIns="0" bIns="0" rtlCol="0" anchor="ctr"/>
          <a:lstStyle/>
          <a:p>
            <a:pPr marL="0" indent="0" algn="l">
              <a:buNone/>
            </a:pPr>
            <a:r>
              <a:rPr lang="en-US" sz="1100" b="1" dirty="0">
                <a:solidFill>
                  <a:srgbClr val="F0F4F8"/>
                </a:solidFill>
              </a:rPr>
              <a:t>Visualización</a:t>
            </a:r>
            <a:endParaRPr lang="en-US" sz="1100" dirty="0"/>
          </a:p>
        </p:txBody>
      </p:sp>
      <p:sp>
        <p:nvSpPr>
          <p:cNvPr id="47" name="Shape 45"/>
          <p:cNvSpPr/>
          <p:nvPr/>
        </p:nvSpPr>
        <p:spPr>
          <a:xfrm>
            <a:off x="2212848" y="3072384"/>
            <a:ext cx="1417320" cy="438912"/>
          </a:xfrm>
          <a:prstGeom prst="rect">
            <a:avLst/>
          </a:prstGeom>
          <a:solidFill>
            <a:srgbClr val="162945"/>
          </a:solidFill>
          <a:ln w="12700">
            <a:solidFill>
              <a:srgbClr val="0D1B3E"/>
            </a:solidFill>
            <a:prstDash val="solid"/>
          </a:ln>
        </p:spPr>
        <p:txBody>
          <a:bodyPr/>
          <a:lstStyle/>
          <a:p>
            <a:endParaRPr lang="es-MX"/>
          </a:p>
        </p:txBody>
      </p:sp>
      <p:sp>
        <p:nvSpPr>
          <p:cNvPr id="48" name="Text 46"/>
          <p:cNvSpPr/>
          <p:nvPr/>
        </p:nvSpPr>
        <p:spPr>
          <a:xfrm>
            <a:off x="2258568" y="3072384"/>
            <a:ext cx="1344168" cy="438912"/>
          </a:xfrm>
          <a:prstGeom prst="rect">
            <a:avLst/>
          </a:prstGeom>
          <a:noFill/>
          <a:ln/>
        </p:spPr>
        <p:txBody>
          <a:bodyPr wrap="square" lIns="0" tIns="0" rIns="0" bIns="0" rtlCol="0" anchor="ctr"/>
          <a:lstStyle/>
          <a:p>
            <a:pPr marL="0" indent="0" algn="ctr">
              <a:buNone/>
            </a:pPr>
            <a:r>
              <a:rPr lang="en-US" sz="1050" dirty="0">
                <a:solidFill>
                  <a:srgbClr val="F0F4F8"/>
                </a:solidFill>
              </a:rPr>
              <a:t>★★★</a:t>
            </a:r>
            <a:endParaRPr lang="en-US" sz="1050" dirty="0"/>
          </a:p>
        </p:txBody>
      </p:sp>
      <p:sp>
        <p:nvSpPr>
          <p:cNvPr id="49" name="Shape 47"/>
          <p:cNvSpPr/>
          <p:nvPr/>
        </p:nvSpPr>
        <p:spPr>
          <a:xfrm>
            <a:off x="3639312" y="3072384"/>
            <a:ext cx="1417320" cy="438912"/>
          </a:xfrm>
          <a:prstGeom prst="rect">
            <a:avLst/>
          </a:prstGeom>
          <a:solidFill>
            <a:srgbClr val="162945"/>
          </a:solidFill>
          <a:ln w="12700">
            <a:solidFill>
              <a:srgbClr val="0D1B3E"/>
            </a:solidFill>
            <a:prstDash val="solid"/>
          </a:ln>
        </p:spPr>
        <p:txBody>
          <a:bodyPr/>
          <a:lstStyle/>
          <a:p>
            <a:endParaRPr lang="es-MX"/>
          </a:p>
        </p:txBody>
      </p:sp>
      <p:sp>
        <p:nvSpPr>
          <p:cNvPr id="50" name="Text 48"/>
          <p:cNvSpPr/>
          <p:nvPr/>
        </p:nvSpPr>
        <p:spPr>
          <a:xfrm>
            <a:off x="3685032" y="3072384"/>
            <a:ext cx="1344168" cy="438912"/>
          </a:xfrm>
          <a:prstGeom prst="rect">
            <a:avLst/>
          </a:prstGeom>
          <a:noFill/>
          <a:ln/>
        </p:spPr>
        <p:txBody>
          <a:bodyPr wrap="square" lIns="0" tIns="0" rIns="0" bIns="0" rtlCol="0" anchor="ctr"/>
          <a:lstStyle/>
          <a:p>
            <a:pPr marL="0" indent="0" algn="ctr">
              <a:buNone/>
            </a:pPr>
            <a:r>
              <a:rPr lang="en-US" sz="1050" dirty="0">
                <a:solidFill>
                  <a:srgbClr val="F0F4F8"/>
                </a:solidFill>
              </a:rPr>
              <a:t>★★★★</a:t>
            </a:r>
            <a:endParaRPr lang="en-US" sz="1050" dirty="0"/>
          </a:p>
        </p:txBody>
      </p:sp>
      <p:sp>
        <p:nvSpPr>
          <p:cNvPr id="51" name="Shape 49"/>
          <p:cNvSpPr/>
          <p:nvPr/>
        </p:nvSpPr>
        <p:spPr>
          <a:xfrm>
            <a:off x="5074920" y="3072384"/>
            <a:ext cx="1600200" cy="438912"/>
          </a:xfrm>
          <a:prstGeom prst="rect">
            <a:avLst/>
          </a:prstGeom>
          <a:solidFill>
            <a:srgbClr val="1A5276"/>
          </a:solidFill>
          <a:ln w="12700">
            <a:solidFill>
              <a:srgbClr val="0D1B3E"/>
            </a:solidFill>
            <a:prstDash val="solid"/>
          </a:ln>
        </p:spPr>
        <p:txBody>
          <a:bodyPr/>
          <a:lstStyle/>
          <a:p>
            <a:endParaRPr lang="es-MX"/>
          </a:p>
        </p:txBody>
      </p:sp>
      <p:sp>
        <p:nvSpPr>
          <p:cNvPr id="52" name="Text 50"/>
          <p:cNvSpPr/>
          <p:nvPr/>
        </p:nvSpPr>
        <p:spPr>
          <a:xfrm>
            <a:off x="5120640" y="3072384"/>
            <a:ext cx="1527048" cy="438912"/>
          </a:xfrm>
          <a:prstGeom prst="rect">
            <a:avLst/>
          </a:prstGeom>
          <a:noFill/>
          <a:ln/>
        </p:spPr>
        <p:txBody>
          <a:bodyPr wrap="square" lIns="0" tIns="0" rIns="0" bIns="0" rtlCol="0" anchor="ctr"/>
          <a:lstStyle/>
          <a:p>
            <a:pPr marL="0" indent="0" algn="ctr">
              <a:buNone/>
            </a:pPr>
            <a:r>
              <a:rPr lang="en-US" sz="1050" b="1" dirty="0">
                <a:solidFill>
                  <a:srgbClr val="A8D8EA"/>
                </a:solidFill>
              </a:rPr>
              <a:t>★★★★★</a:t>
            </a:r>
            <a:endParaRPr lang="en-US" sz="1050" dirty="0"/>
          </a:p>
        </p:txBody>
      </p:sp>
      <p:sp>
        <p:nvSpPr>
          <p:cNvPr id="53" name="Shape 51"/>
          <p:cNvSpPr/>
          <p:nvPr/>
        </p:nvSpPr>
        <p:spPr>
          <a:xfrm>
            <a:off x="6693408" y="3072384"/>
            <a:ext cx="1417320" cy="438912"/>
          </a:xfrm>
          <a:prstGeom prst="rect">
            <a:avLst/>
          </a:prstGeom>
          <a:solidFill>
            <a:srgbClr val="162945"/>
          </a:solidFill>
          <a:ln w="12700">
            <a:solidFill>
              <a:srgbClr val="0D1B3E"/>
            </a:solidFill>
            <a:prstDash val="solid"/>
          </a:ln>
        </p:spPr>
        <p:txBody>
          <a:bodyPr/>
          <a:lstStyle/>
          <a:p>
            <a:endParaRPr lang="es-MX"/>
          </a:p>
        </p:txBody>
      </p:sp>
      <p:sp>
        <p:nvSpPr>
          <p:cNvPr id="54" name="Text 52"/>
          <p:cNvSpPr/>
          <p:nvPr/>
        </p:nvSpPr>
        <p:spPr>
          <a:xfrm>
            <a:off x="6739128" y="3072384"/>
            <a:ext cx="1344168" cy="438912"/>
          </a:xfrm>
          <a:prstGeom prst="rect">
            <a:avLst/>
          </a:prstGeom>
          <a:noFill/>
          <a:ln/>
        </p:spPr>
        <p:txBody>
          <a:bodyPr wrap="square" lIns="0" tIns="0" rIns="0" bIns="0" rtlCol="0" anchor="ctr"/>
          <a:lstStyle/>
          <a:p>
            <a:pPr marL="0" indent="0" algn="ctr">
              <a:buNone/>
            </a:pPr>
            <a:r>
              <a:rPr lang="en-US" sz="1050" dirty="0">
                <a:solidFill>
                  <a:srgbClr val="F0F4F8"/>
                </a:solidFill>
              </a:rPr>
              <a:t>★</a:t>
            </a:r>
            <a:endParaRPr lang="en-US" sz="1050" dirty="0"/>
          </a:p>
        </p:txBody>
      </p:sp>
      <p:sp>
        <p:nvSpPr>
          <p:cNvPr id="55" name="Shape 53"/>
          <p:cNvSpPr/>
          <p:nvPr/>
        </p:nvSpPr>
        <p:spPr>
          <a:xfrm>
            <a:off x="347472" y="3566160"/>
            <a:ext cx="1828800" cy="438912"/>
          </a:xfrm>
          <a:prstGeom prst="rect">
            <a:avLst/>
          </a:prstGeom>
          <a:solidFill>
            <a:srgbClr val="0F2035"/>
          </a:solidFill>
          <a:ln w="12700">
            <a:solidFill>
              <a:srgbClr val="0D1B3E"/>
            </a:solidFill>
            <a:prstDash val="solid"/>
          </a:ln>
        </p:spPr>
        <p:txBody>
          <a:bodyPr/>
          <a:lstStyle/>
          <a:p>
            <a:endParaRPr lang="es-MX"/>
          </a:p>
        </p:txBody>
      </p:sp>
      <p:sp>
        <p:nvSpPr>
          <p:cNvPr id="56" name="Text 54"/>
          <p:cNvSpPr/>
          <p:nvPr/>
        </p:nvSpPr>
        <p:spPr>
          <a:xfrm>
            <a:off x="393192" y="3566160"/>
            <a:ext cx="1755648" cy="438912"/>
          </a:xfrm>
          <a:prstGeom prst="rect">
            <a:avLst/>
          </a:prstGeom>
          <a:noFill/>
          <a:ln/>
        </p:spPr>
        <p:txBody>
          <a:bodyPr wrap="square" lIns="0" tIns="0" rIns="0" bIns="0" rtlCol="0" anchor="ctr"/>
          <a:lstStyle/>
          <a:p>
            <a:pPr marL="0" indent="0" algn="l">
              <a:buNone/>
            </a:pPr>
            <a:r>
              <a:rPr lang="en-US" sz="1100" b="1" dirty="0">
                <a:solidFill>
                  <a:srgbClr val="F0F4F8"/>
                </a:solidFill>
              </a:rPr>
              <a:t>ML / IA</a:t>
            </a:r>
            <a:endParaRPr lang="en-US" sz="1100" dirty="0"/>
          </a:p>
        </p:txBody>
      </p:sp>
      <p:sp>
        <p:nvSpPr>
          <p:cNvPr id="57" name="Shape 55"/>
          <p:cNvSpPr/>
          <p:nvPr/>
        </p:nvSpPr>
        <p:spPr>
          <a:xfrm>
            <a:off x="2212848" y="3566160"/>
            <a:ext cx="1417320" cy="438912"/>
          </a:xfrm>
          <a:prstGeom prst="rect">
            <a:avLst/>
          </a:prstGeom>
          <a:solidFill>
            <a:srgbClr val="0F2035"/>
          </a:solidFill>
          <a:ln w="12700">
            <a:solidFill>
              <a:srgbClr val="0D1B3E"/>
            </a:solidFill>
            <a:prstDash val="solid"/>
          </a:ln>
        </p:spPr>
        <p:txBody>
          <a:bodyPr/>
          <a:lstStyle/>
          <a:p>
            <a:endParaRPr lang="es-MX"/>
          </a:p>
        </p:txBody>
      </p:sp>
      <p:sp>
        <p:nvSpPr>
          <p:cNvPr id="58" name="Text 56"/>
          <p:cNvSpPr/>
          <p:nvPr/>
        </p:nvSpPr>
        <p:spPr>
          <a:xfrm>
            <a:off x="2258568" y="3566160"/>
            <a:ext cx="1344168" cy="438912"/>
          </a:xfrm>
          <a:prstGeom prst="rect">
            <a:avLst/>
          </a:prstGeom>
          <a:noFill/>
          <a:ln/>
        </p:spPr>
        <p:txBody>
          <a:bodyPr wrap="square" lIns="0" tIns="0" rIns="0" bIns="0" rtlCol="0" anchor="ctr"/>
          <a:lstStyle/>
          <a:p>
            <a:pPr marL="0" indent="0" algn="ctr">
              <a:buNone/>
            </a:pPr>
            <a:r>
              <a:rPr lang="en-US" sz="1050" dirty="0">
                <a:solidFill>
                  <a:srgbClr val="F0F4F8"/>
                </a:solidFill>
              </a:rPr>
              <a:t>★</a:t>
            </a:r>
            <a:endParaRPr lang="en-US" sz="1050" dirty="0"/>
          </a:p>
        </p:txBody>
      </p:sp>
      <p:sp>
        <p:nvSpPr>
          <p:cNvPr id="59" name="Shape 57"/>
          <p:cNvSpPr/>
          <p:nvPr/>
        </p:nvSpPr>
        <p:spPr>
          <a:xfrm>
            <a:off x="3639312" y="3566160"/>
            <a:ext cx="1417320" cy="438912"/>
          </a:xfrm>
          <a:prstGeom prst="rect">
            <a:avLst/>
          </a:prstGeom>
          <a:solidFill>
            <a:srgbClr val="0F2035"/>
          </a:solidFill>
          <a:ln w="12700">
            <a:solidFill>
              <a:srgbClr val="0D1B3E"/>
            </a:solidFill>
            <a:prstDash val="solid"/>
          </a:ln>
        </p:spPr>
        <p:txBody>
          <a:bodyPr/>
          <a:lstStyle/>
          <a:p>
            <a:endParaRPr lang="es-MX"/>
          </a:p>
        </p:txBody>
      </p:sp>
      <p:sp>
        <p:nvSpPr>
          <p:cNvPr id="60" name="Text 58"/>
          <p:cNvSpPr/>
          <p:nvPr/>
        </p:nvSpPr>
        <p:spPr>
          <a:xfrm>
            <a:off x="3685032" y="3566160"/>
            <a:ext cx="1344168" cy="438912"/>
          </a:xfrm>
          <a:prstGeom prst="rect">
            <a:avLst/>
          </a:prstGeom>
          <a:noFill/>
          <a:ln/>
        </p:spPr>
        <p:txBody>
          <a:bodyPr wrap="square" lIns="0" tIns="0" rIns="0" bIns="0" rtlCol="0" anchor="ctr"/>
          <a:lstStyle/>
          <a:p>
            <a:pPr marL="0" indent="0" algn="ctr">
              <a:buNone/>
            </a:pPr>
            <a:r>
              <a:rPr lang="en-US" sz="1050" dirty="0">
                <a:solidFill>
                  <a:srgbClr val="F0F4F8"/>
                </a:solidFill>
              </a:rPr>
              <a:t>★★★</a:t>
            </a:r>
            <a:endParaRPr lang="en-US" sz="1050" dirty="0"/>
          </a:p>
        </p:txBody>
      </p:sp>
      <p:sp>
        <p:nvSpPr>
          <p:cNvPr id="61" name="Shape 59"/>
          <p:cNvSpPr/>
          <p:nvPr/>
        </p:nvSpPr>
        <p:spPr>
          <a:xfrm>
            <a:off x="5074920" y="3566160"/>
            <a:ext cx="1600200" cy="438912"/>
          </a:xfrm>
          <a:prstGeom prst="rect">
            <a:avLst/>
          </a:prstGeom>
          <a:solidFill>
            <a:srgbClr val="1A4A6A"/>
          </a:solidFill>
          <a:ln w="12700">
            <a:solidFill>
              <a:srgbClr val="0D1B3E"/>
            </a:solidFill>
            <a:prstDash val="solid"/>
          </a:ln>
        </p:spPr>
        <p:txBody>
          <a:bodyPr/>
          <a:lstStyle/>
          <a:p>
            <a:endParaRPr lang="es-MX"/>
          </a:p>
        </p:txBody>
      </p:sp>
      <p:sp>
        <p:nvSpPr>
          <p:cNvPr id="62" name="Text 60"/>
          <p:cNvSpPr/>
          <p:nvPr/>
        </p:nvSpPr>
        <p:spPr>
          <a:xfrm>
            <a:off x="5120640" y="3566160"/>
            <a:ext cx="1527048" cy="438912"/>
          </a:xfrm>
          <a:prstGeom prst="rect">
            <a:avLst/>
          </a:prstGeom>
          <a:noFill/>
          <a:ln/>
        </p:spPr>
        <p:txBody>
          <a:bodyPr wrap="square" lIns="0" tIns="0" rIns="0" bIns="0" rtlCol="0" anchor="ctr"/>
          <a:lstStyle/>
          <a:p>
            <a:pPr marL="0" indent="0" algn="ctr">
              <a:buNone/>
            </a:pPr>
            <a:r>
              <a:rPr lang="en-US" sz="1050" b="1" dirty="0">
                <a:solidFill>
                  <a:srgbClr val="A8D8EA"/>
                </a:solidFill>
              </a:rPr>
              <a:t>★★★★★</a:t>
            </a:r>
            <a:endParaRPr lang="en-US" sz="1050" dirty="0"/>
          </a:p>
        </p:txBody>
      </p:sp>
      <p:sp>
        <p:nvSpPr>
          <p:cNvPr id="63" name="Shape 61"/>
          <p:cNvSpPr/>
          <p:nvPr/>
        </p:nvSpPr>
        <p:spPr>
          <a:xfrm>
            <a:off x="6693408" y="3566160"/>
            <a:ext cx="1417320" cy="438912"/>
          </a:xfrm>
          <a:prstGeom prst="rect">
            <a:avLst/>
          </a:prstGeom>
          <a:solidFill>
            <a:srgbClr val="0F2035"/>
          </a:solidFill>
          <a:ln w="12700">
            <a:solidFill>
              <a:srgbClr val="0D1B3E"/>
            </a:solidFill>
            <a:prstDash val="solid"/>
          </a:ln>
        </p:spPr>
        <p:txBody>
          <a:bodyPr/>
          <a:lstStyle/>
          <a:p>
            <a:endParaRPr lang="es-MX"/>
          </a:p>
        </p:txBody>
      </p:sp>
      <p:sp>
        <p:nvSpPr>
          <p:cNvPr id="64" name="Text 62"/>
          <p:cNvSpPr/>
          <p:nvPr/>
        </p:nvSpPr>
        <p:spPr>
          <a:xfrm>
            <a:off x="6739128" y="3566160"/>
            <a:ext cx="1344168" cy="438912"/>
          </a:xfrm>
          <a:prstGeom prst="rect">
            <a:avLst/>
          </a:prstGeom>
          <a:noFill/>
          <a:ln/>
        </p:spPr>
        <p:txBody>
          <a:bodyPr wrap="square" lIns="0" tIns="0" rIns="0" bIns="0" rtlCol="0" anchor="ctr"/>
          <a:lstStyle/>
          <a:p>
            <a:pPr marL="0" indent="0" algn="ctr">
              <a:buNone/>
            </a:pPr>
            <a:r>
              <a:rPr lang="en-US" sz="1050" dirty="0">
                <a:solidFill>
                  <a:srgbClr val="F0F4F8"/>
                </a:solidFill>
              </a:rPr>
              <a:t>★</a:t>
            </a:r>
            <a:endParaRPr lang="en-US" sz="1050" dirty="0"/>
          </a:p>
        </p:txBody>
      </p:sp>
      <p:sp>
        <p:nvSpPr>
          <p:cNvPr id="65" name="Shape 63"/>
          <p:cNvSpPr/>
          <p:nvPr/>
        </p:nvSpPr>
        <p:spPr>
          <a:xfrm>
            <a:off x="347472" y="4059936"/>
            <a:ext cx="1828800" cy="438912"/>
          </a:xfrm>
          <a:prstGeom prst="rect">
            <a:avLst/>
          </a:prstGeom>
          <a:solidFill>
            <a:srgbClr val="162945"/>
          </a:solidFill>
          <a:ln w="12700">
            <a:solidFill>
              <a:srgbClr val="0D1B3E"/>
            </a:solidFill>
            <a:prstDash val="solid"/>
          </a:ln>
        </p:spPr>
        <p:txBody>
          <a:bodyPr/>
          <a:lstStyle/>
          <a:p>
            <a:endParaRPr lang="es-MX"/>
          </a:p>
        </p:txBody>
      </p:sp>
      <p:sp>
        <p:nvSpPr>
          <p:cNvPr id="66" name="Text 64"/>
          <p:cNvSpPr/>
          <p:nvPr/>
        </p:nvSpPr>
        <p:spPr>
          <a:xfrm>
            <a:off x="393192" y="4059936"/>
            <a:ext cx="1755648" cy="438912"/>
          </a:xfrm>
          <a:prstGeom prst="rect">
            <a:avLst/>
          </a:prstGeom>
          <a:noFill/>
          <a:ln/>
        </p:spPr>
        <p:txBody>
          <a:bodyPr wrap="square" lIns="0" tIns="0" rIns="0" bIns="0" rtlCol="0" anchor="ctr"/>
          <a:lstStyle/>
          <a:p>
            <a:pPr marL="0" indent="0" algn="l">
              <a:buNone/>
            </a:pPr>
            <a:r>
              <a:rPr lang="en-US" sz="1100" b="1" dirty="0">
                <a:solidFill>
                  <a:srgbClr val="F0F4F8"/>
                </a:solidFill>
              </a:rPr>
              <a:t>Automatizar</a:t>
            </a:r>
            <a:endParaRPr lang="en-US" sz="1100" dirty="0"/>
          </a:p>
        </p:txBody>
      </p:sp>
      <p:sp>
        <p:nvSpPr>
          <p:cNvPr id="67" name="Shape 65"/>
          <p:cNvSpPr/>
          <p:nvPr/>
        </p:nvSpPr>
        <p:spPr>
          <a:xfrm>
            <a:off x="2212848" y="4059936"/>
            <a:ext cx="1417320" cy="438912"/>
          </a:xfrm>
          <a:prstGeom prst="rect">
            <a:avLst/>
          </a:prstGeom>
          <a:solidFill>
            <a:srgbClr val="162945"/>
          </a:solidFill>
          <a:ln w="12700">
            <a:solidFill>
              <a:srgbClr val="0D1B3E"/>
            </a:solidFill>
            <a:prstDash val="solid"/>
          </a:ln>
        </p:spPr>
        <p:txBody>
          <a:bodyPr/>
          <a:lstStyle/>
          <a:p>
            <a:endParaRPr lang="es-MX"/>
          </a:p>
        </p:txBody>
      </p:sp>
      <p:sp>
        <p:nvSpPr>
          <p:cNvPr id="68" name="Text 66"/>
          <p:cNvSpPr/>
          <p:nvPr/>
        </p:nvSpPr>
        <p:spPr>
          <a:xfrm>
            <a:off x="2258568" y="4059936"/>
            <a:ext cx="1344168" cy="438912"/>
          </a:xfrm>
          <a:prstGeom prst="rect">
            <a:avLst/>
          </a:prstGeom>
          <a:noFill/>
          <a:ln/>
        </p:spPr>
        <p:txBody>
          <a:bodyPr wrap="square" lIns="0" tIns="0" rIns="0" bIns="0" rtlCol="0" anchor="ctr"/>
          <a:lstStyle/>
          <a:p>
            <a:pPr marL="0" indent="0" algn="ctr">
              <a:buNone/>
            </a:pPr>
            <a:r>
              <a:rPr lang="en-US" sz="1050" dirty="0">
                <a:solidFill>
                  <a:srgbClr val="F0F4F8"/>
                </a:solidFill>
              </a:rPr>
              <a:t>★★ (VBA)</a:t>
            </a:r>
            <a:endParaRPr lang="en-US" sz="1050" dirty="0"/>
          </a:p>
        </p:txBody>
      </p:sp>
      <p:sp>
        <p:nvSpPr>
          <p:cNvPr id="69" name="Shape 67"/>
          <p:cNvSpPr/>
          <p:nvPr/>
        </p:nvSpPr>
        <p:spPr>
          <a:xfrm>
            <a:off x="3639312" y="4059936"/>
            <a:ext cx="1417320" cy="438912"/>
          </a:xfrm>
          <a:prstGeom prst="rect">
            <a:avLst/>
          </a:prstGeom>
          <a:solidFill>
            <a:srgbClr val="162945"/>
          </a:solidFill>
          <a:ln w="12700">
            <a:solidFill>
              <a:srgbClr val="0D1B3E"/>
            </a:solidFill>
            <a:prstDash val="solid"/>
          </a:ln>
        </p:spPr>
        <p:txBody>
          <a:bodyPr/>
          <a:lstStyle/>
          <a:p>
            <a:endParaRPr lang="es-MX"/>
          </a:p>
        </p:txBody>
      </p:sp>
      <p:sp>
        <p:nvSpPr>
          <p:cNvPr id="70" name="Text 68"/>
          <p:cNvSpPr/>
          <p:nvPr/>
        </p:nvSpPr>
        <p:spPr>
          <a:xfrm>
            <a:off x="3685032" y="4059936"/>
            <a:ext cx="1344168" cy="438912"/>
          </a:xfrm>
          <a:prstGeom prst="rect">
            <a:avLst/>
          </a:prstGeom>
          <a:noFill/>
          <a:ln/>
        </p:spPr>
        <p:txBody>
          <a:bodyPr wrap="square" lIns="0" tIns="0" rIns="0" bIns="0" rtlCol="0" anchor="ctr"/>
          <a:lstStyle/>
          <a:p>
            <a:pPr marL="0" indent="0" algn="ctr">
              <a:buNone/>
            </a:pPr>
            <a:r>
              <a:rPr lang="en-US" sz="1050" dirty="0">
                <a:solidFill>
                  <a:srgbClr val="F0F4F8"/>
                </a:solidFill>
              </a:rPr>
              <a:t>★★★</a:t>
            </a:r>
            <a:endParaRPr lang="en-US" sz="1050" dirty="0"/>
          </a:p>
        </p:txBody>
      </p:sp>
      <p:sp>
        <p:nvSpPr>
          <p:cNvPr id="71" name="Shape 69"/>
          <p:cNvSpPr/>
          <p:nvPr/>
        </p:nvSpPr>
        <p:spPr>
          <a:xfrm>
            <a:off x="5074920" y="4059936"/>
            <a:ext cx="1600200" cy="438912"/>
          </a:xfrm>
          <a:prstGeom prst="rect">
            <a:avLst/>
          </a:prstGeom>
          <a:solidFill>
            <a:srgbClr val="1A5276"/>
          </a:solidFill>
          <a:ln w="12700">
            <a:solidFill>
              <a:srgbClr val="0D1B3E"/>
            </a:solidFill>
            <a:prstDash val="solid"/>
          </a:ln>
        </p:spPr>
        <p:txBody>
          <a:bodyPr/>
          <a:lstStyle/>
          <a:p>
            <a:endParaRPr lang="es-MX"/>
          </a:p>
        </p:txBody>
      </p:sp>
      <p:sp>
        <p:nvSpPr>
          <p:cNvPr id="72" name="Text 70"/>
          <p:cNvSpPr/>
          <p:nvPr/>
        </p:nvSpPr>
        <p:spPr>
          <a:xfrm>
            <a:off x="5120640" y="4059936"/>
            <a:ext cx="1527048" cy="438912"/>
          </a:xfrm>
          <a:prstGeom prst="rect">
            <a:avLst/>
          </a:prstGeom>
          <a:noFill/>
          <a:ln/>
        </p:spPr>
        <p:txBody>
          <a:bodyPr wrap="square" lIns="0" tIns="0" rIns="0" bIns="0" rtlCol="0" anchor="ctr"/>
          <a:lstStyle/>
          <a:p>
            <a:pPr marL="0" indent="0" algn="ctr">
              <a:buNone/>
            </a:pPr>
            <a:r>
              <a:rPr lang="en-US" sz="1050" b="1" dirty="0">
                <a:solidFill>
                  <a:srgbClr val="A8D8EA"/>
                </a:solidFill>
              </a:rPr>
              <a:t>★★★★★</a:t>
            </a:r>
            <a:endParaRPr lang="en-US" sz="1050" dirty="0"/>
          </a:p>
        </p:txBody>
      </p:sp>
      <p:sp>
        <p:nvSpPr>
          <p:cNvPr id="73" name="Shape 71"/>
          <p:cNvSpPr/>
          <p:nvPr/>
        </p:nvSpPr>
        <p:spPr>
          <a:xfrm>
            <a:off x="6693408" y="4059936"/>
            <a:ext cx="1417320" cy="438912"/>
          </a:xfrm>
          <a:prstGeom prst="rect">
            <a:avLst/>
          </a:prstGeom>
          <a:solidFill>
            <a:srgbClr val="162945"/>
          </a:solidFill>
          <a:ln w="12700">
            <a:solidFill>
              <a:srgbClr val="0D1B3E"/>
            </a:solidFill>
            <a:prstDash val="solid"/>
          </a:ln>
        </p:spPr>
        <p:txBody>
          <a:bodyPr/>
          <a:lstStyle/>
          <a:p>
            <a:endParaRPr lang="es-MX"/>
          </a:p>
        </p:txBody>
      </p:sp>
      <p:sp>
        <p:nvSpPr>
          <p:cNvPr id="74" name="Text 72"/>
          <p:cNvSpPr/>
          <p:nvPr/>
        </p:nvSpPr>
        <p:spPr>
          <a:xfrm>
            <a:off x="6739128" y="4059936"/>
            <a:ext cx="1344168" cy="438912"/>
          </a:xfrm>
          <a:prstGeom prst="rect">
            <a:avLst/>
          </a:prstGeom>
          <a:noFill/>
          <a:ln/>
        </p:spPr>
        <p:txBody>
          <a:bodyPr wrap="square" lIns="0" tIns="0" rIns="0" bIns="0" rtlCol="0" anchor="ctr"/>
          <a:lstStyle/>
          <a:p>
            <a:pPr marL="0" indent="0" algn="ctr">
              <a:buNone/>
            </a:pPr>
            <a:r>
              <a:rPr lang="en-US" sz="1050" dirty="0">
                <a:solidFill>
                  <a:srgbClr val="F0F4F8"/>
                </a:solidFill>
              </a:rPr>
              <a:t>★★</a:t>
            </a:r>
            <a:endParaRPr lang="en-US" sz="1050" dirty="0"/>
          </a:p>
        </p:txBody>
      </p:sp>
      <p:sp>
        <p:nvSpPr>
          <p:cNvPr id="75" name="Shape 73"/>
          <p:cNvSpPr/>
          <p:nvPr/>
        </p:nvSpPr>
        <p:spPr>
          <a:xfrm>
            <a:off x="347472" y="4572000"/>
            <a:ext cx="8430768" cy="502920"/>
          </a:xfrm>
          <a:prstGeom prst="rect">
            <a:avLst/>
          </a:prstGeom>
          <a:solidFill>
            <a:srgbClr val="0D7A8A">
              <a:alpha val="12000"/>
            </a:srgbClr>
          </a:solidFill>
          <a:ln w="12700">
            <a:solidFill>
              <a:srgbClr val="0D7A8A"/>
            </a:solidFill>
            <a:prstDash val="solid"/>
          </a:ln>
        </p:spPr>
        <p:txBody>
          <a:bodyPr/>
          <a:lstStyle/>
          <a:p>
            <a:endParaRPr lang="es-MX"/>
          </a:p>
        </p:txBody>
      </p:sp>
      <p:pic>
        <p:nvPicPr>
          <p:cNvPr id="76" name="Image 0" descr="preencoded.png"/>
          <p:cNvPicPr>
            <a:picLocks noChangeAspect="1"/>
          </p:cNvPicPr>
          <p:nvPr/>
        </p:nvPicPr>
        <p:blipFill>
          <a:blip r:embed="rId3"/>
          <a:stretch>
            <a:fillRect/>
          </a:stretch>
        </p:blipFill>
        <p:spPr>
          <a:xfrm>
            <a:off x="475488" y="4663440"/>
            <a:ext cx="256032" cy="256032"/>
          </a:xfrm>
          <a:prstGeom prst="rect">
            <a:avLst/>
          </a:prstGeom>
        </p:spPr>
      </p:pic>
      <p:sp>
        <p:nvSpPr>
          <p:cNvPr id="77" name="Text 74"/>
          <p:cNvSpPr/>
          <p:nvPr/>
        </p:nvSpPr>
        <p:spPr>
          <a:xfrm>
            <a:off x="822960" y="4608576"/>
            <a:ext cx="7863840" cy="438912"/>
          </a:xfrm>
          <a:prstGeom prst="rect">
            <a:avLst/>
          </a:prstGeom>
          <a:noFill/>
          <a:ln/>
        </p:spPr>
        <p:txBody>
          <a:bodyPr wrap="square" lIns="0" tIns="0" rIns="0" bIns="0" rtlCol="0" anchor="ctr"/>
          <a:lstStyle/>
          <a:p>
            <a:pPr marL="0" indent="0">
              <a:buNone/>
            </a:pPr>
            <a:r>
              <a:rPr lang="en-US" sz="1000" dirty="0">
                <a:solidFill>
                  <a:srgbClr val="0D1B3E"/>
                </a:solidFill>
              </a:rPr>
              <a:t>En el mundo actuarial y de seguros, Python complementa (no reemplaza) a R y Excel. La fortaleza de Python es integrar análisis, modelado y automatización en un solo flujo de trabajo.</a:t>
            </a:r>
            <a:endParaRPr lang="en-US" sz="1000" dirty="0"/>
          </a:p>
        </p:txBody>
      </p:sp>
      <p:sp>
        <p:nvSpPr>
          <p:cNvPr id="78" name="Shape 75"/>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79" name="Text 76"/>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Módulo 1 · Introducción a Python · Sesión 1  —  15 abril 2026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Text 1"/>
          <p:cNvSpPr/>
          <p:nvPr/>
        </p:nvSpPr>
        <p:spPr>
          <a:xfrm>
            <a:off x="457200" y="182880"/>
            <a:ext cx="8229600" cy="475488"/>
          </a:xfrm>
          <a:prstGeom prst="rect">
            <a:avLst/>
          </a:prstGeom>
          <a:noFill/>
          <a:ln/>
        </p:spPr>
        <p:txBody>
          <a:bodyPr wrap="square" lIns="0" tIns="0" rIns="0" bIns="0" rtlCol="0" anchor="ctr"/>
          <a:lstStyle/>
          <a:p>
            <a:pPr marL="0" indent="0" algn="l">
              <a:buNone/>
            </a:pPr>
            <a:r>
              <a:rPr lang="en-US" sz="2800" b="1" dirty="0">
                <a:solidFill>
                  <a:srgbClr val="0D1B3E"/>
                </a:solidFill>
              </a:rPr>
              <a:t>¿Por Qué Python en Seguros?</a:t>
            </a:r>
            <a:endParaRPr lang="en-US" sz="2800" dirty="0"/>
          </a:p>
        </p:txBody>
      </p:sp>
      <p:sp>
        <p:nvSpPr>
          <p:cNvPr id="4" name="Text 2"/>
          <p:cNvSpPr/>
          <p:nvPr/>
        </p:nvSpPr>
        <p:spPr>
          <a:xfrm>
            <a:off x="457200" y="685800"/>
            <a:ext cx="8229600" cy="256032"/>
          </a:xfrm>
          <a:prstGeom prst="rect">
            <a:avLst/>
          </a:prstGeom>
          <a:noFill/>
          <a:ln/>
        </p:spPr>
        <p:txBody>
          <a:bodyPr wrap="square" lIns="0" tIns="0" rIns="0" bIns="0" rtlCol="0" anchor="ctr"/>
          <a:lstStyle/>
          <a:p>
            <a:pPr marL="0" indent="0" algn="l">
              <a:buNone/>
            </a:pPr>
            <a:r>
              <a:rPr lang="en-US" sz="1200" dirty="0">
                <a:solidFill>
                  <a:srgbClr val="0D7A8A"/>
                </a:solidFill>
              </a:rPr>
              <a:t>Casos de uso reales que veremos a lo largo del diplomado</a:t>
            </a:r>
            <a:endParaRPr lang="en-US" sz="1200" dirty="0"/>
          </a:p>
        </p:txBody>
      </p:sp>
      <p:sp>
        <p:nvSpPr>
          <p:cNvPr id="5" name="Shape 3"/>
          <p:cNvSpPr/>
          <p:nvPr/>
        </p:nvSpPr>
        <p:spPr>
          <a:xfrm>
            <a:off x="320040" y="1115568"/>
            <a:ext cx="2743200" cy="347472"/>
          </a:xfrm>
          <a:prstGeom prst="rect">
            <a:avLst/>
          </a:prstGeom>
          <a:solidFill>
            <a:srgbClr val="0D7A8A"/>
          </a:solidFill>
          <a:ln w="12700">
            <a:solidFill>
              <a:srgbClr val="0D7A8A"/>
            </a:solidFill>
            <a:prstDash val="solid"/>
          </a:ln>
        </p:spPr>
        <p:txBody>
          <a:bodyPr/>
          <a:lstStyle/>
          <a:p>
            <a:endParaRPr lang="es-MX"/>
          </a:p>
        </p:txBody>
      </p:sp>
      <p:sp>
        <p:nvSpPr>
          <p:cNvPr id="6" name="Text 4"/>
          <p:cNvSpPr/>
          <p:nvPr/>
        </p:nvSpPr>
        <p:spPr>
          <a:xfrm>
            <a:off x="411480" y="1115568"/>
            <a:ext cx="2377440" cy="347472"/>
          </a:xfrm>
          <a:prstGeom prst="rect">
            <a:avLst/>
          </a:prstGeom>
          <a:noFill/>
          <a:ln/>
        </p:spPr>
        <p:txBody>
          <a:bodyPr wrap="square" lIns="0" tIns="0" rIns="0" bIns="0" rtlCol="0" anchor="ctr"/>
          <a:lstStyle/>
          <a:p>
            <a:pPr marL="0" indent="0">
              <a:buNone/>
            </a:pPr>
            <a:r>
              <a:rPr lang="en-US" sz="1150" b="1" dirty="0">
                <a:solidFill>
                  <a:srgbClr val="FFFFFF"/>
                </a:solidFill>
              </a:rPr>
              <a:t>Pricing actuarial</a:t>
            </a:r>
            <a:endParaRPr lang="en-US" sz="1150" dirty="0"/>
          </a:p>
        </p:txBody>
      </p:sp>
      <p:sp>
        <p:nvSpPr>
          <p:cNvPr id="7" name="Shape 5"/>
          <p:cNvSpPr/>
          <p:nvPr/>
        </p:nvSpPr>
        <p:spPr>
          <a:xfrm>
            <a:off x="2651760" y="1115568"/>
            <a:ext cx="402336" cy="347472"/>
          </a:xfrm>
          <a:prstGeom prst="rect">
            <a:avLst/>
          </a:prstGeom>
          <a:solidFill>
            <a:srgbClr val="0D7A8A"/>
          </a:solidFill>
          <a:ln w="12700">
            <a:solidFill>
              <a:srgbClr val="071228"/>
            </a:solidFill>
            <a:prstDash val="solid"/>
          </a:ln>
        </p:spPr>
        <p:txBody>
          <a:bodyPr/>
          <a:lstStyle/>
          <a:p>
            <a:endParaRPr lang="es-MX"/>
          </a:p>
        </p:txBody>
      </p:sp>
      <p:sp>
        <p:nvSpPr>
          <p:cNvPr id="8" name="Text 6"/>
          <p:cNvSpPr/>
          <p:nvPr/>
        </p:nvSpPr>
        <p:spPr>
          <a:xfrm>
            <a:off x="2651760" y="1115568"/>
            <a:ext cx="402336" cy="347472"/>
          </a:xfrm>
          <a:prstGeom prst="rect">
            <a:avLst/>
          </a:prstGeom>
          <a:noFill/>
          <a:ln/>
        </p:spPr>
        <p:txBody>
          <a:bodyPr wrap="square" lIns="0" tIns="0" rIns="0" bIns="0" rtlCol="0" anchor="ctr"/>
          <a:lstStyle/>
          <a:p>
            <a:pPr marL="0" indent="0" algn="ctr">
              <a:buNone/>
            </a:pPr>
            <a:r>
              <a:rPr lang="en-US" sz="750" b="1" dirty="0">
                <a:solidFill>
                  <a:srgbClr val="FFFFFF"/>
                </a:solidFill>
              </a:rPr>
              <a:t>Módulo 4</a:t>
            </a:r>
            <a:endParaRPr lang="en-US" sz="750" dirty="0"/>
          </a:p>
        </p:txBody>
      </p:sp>
      <p:sp>
        <p:nvSpPr>
          <p:cNvPr id="9" name="Shape 7"/>
          <p:cNvSpPr/>
          <p:nvPr/>
        </p:nvSpPr>
        <p:spPr>
          <a:xfrm>
            <a:off x="320040" y="1463040"/>
            <a:ext cx="2743200" cy="1298448"/>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10" name="Text 8"/>
          <p:cNvSpPr/>
          <p:nvPr/>
        </p:nvSpPr>
        <p:spPr>
          <a:xfrm>
            <a:off x="411480" y="1554480"/>
            <a:ext cx="2578608" cy="1152144"/>
          </a:xfrm>
          <a:prstGeom prst="rect">
            <a:avLst/>
          </a:prstGeom>
          <a:noFill/>
          <a:ln/>
        </p:spPr>
        <p:txBody>
          <a:bodyPr wrap="square" lIns="0" tIns="0" rIns="0" bIns="0" rtlCol="0" anchor="ctr"/>
          <a:lstStyle/>
          <a:p>
            <a:pPr marL="0" indent="0">
              <a:buNone/>
            </a:pPr>
            <a:r>
              <a:rPr lang="en-US" sz="950" dirty="0">
                <a:solidFill>
                  <a:srgbClr val="374151"/>
                </a:solidFill>
              </a:rPr>
              <a:t>Ajustar modelos de Regresión Lineal Generalizada (GLM) sobre millones de pólizas para calcular tarifas de prima pura. Con Python puedes hacerlo en minutos usando statsmodels o scikit-learn.</a:t>
            </a:r>
            <a:endParaRPr lang="en-US" sz="950" dirty="0"/>
          </a:p>
        </p:txBody>
      </p:sp>
      <p:sp>
        <p:nvSpPr>
          <p:cNvPr id="11" name="Shape 9"/>
          <p:cNvSpPr/>
          <p:nvPr/>
        </p:nvSpPr>
        <p:spPr>
          <a:xfrm>
            <a:off x="3227832" y="1115568"/>
            <a:ext cx="2743200" cy="347472"/>
          </a:xfrm>
          <a:prstGeom prst="rect">
            <a:avLst/>
          </a:prstGeom>
          <a:solidFill>
            <a:srgbClr val="1A5276"/>
          </a:solidFill>
          <a:ln w="12700">
            <a:solidFill>
              <a:srgbClr val="1A5276"/>
            </a:solidFill>
            <a:prstDash val="solid"/>
          </a:ln>
        </p:spPr>
        <p:txBody>
          <a:bodyPr/>
          <a:lstStyle/>
          <a:p>
            <a:endParaRPr lang="es-MX"/>
          </a:p>
        </p:txBody>
      </p:sp>
      <p:sp>
        <p:nvSpPr>
          <p:cNvPr id="12" name="Text 10"/>
          <p:cNvSpPr/>
          <p:nvPr/>
        </p:nvSpPr>
        <p:spPr>
          <a:xfrm>
            <a:off x="3319272" y="1115568"/>
            <a:ext cx="2377440" cy="347472"/>
          </a:xfrm>
          <a:prstGeom prst="rect">
            <a:avLst/>
          </a:prstGeom>
          <a:noFill/>
          <a:ln/>
        </p:spPr>
        <p:txBody>
          <a:bodyPr wrap="square" lIns="0" tIns="0" rIns="0" bIns="0" rtlCol="0" anchor="ctr"/>
          <a:lstStyle/>
          <a:p>
            <a:pPr marL="0" indent="0">
              <a:buNone/>
            </a:pPr>
            <a:r>
              <a:rPr lang="en-US" sz="1150" b="1" dirty="0">
                <a:solidFill>
                  <a:srgbClr val="FFFFFF"/>
                </a:solidFill>
              </a:rPr>
              <a:t>Análisis de siniestros</a:t>
            </a:r>
            <a:endParaRPr lang="en-US" sz="1150" dirty="0"/>
          </a:p>
        </p:txBody>
      </p:sp>
      <p:sp>
        <p:nvSpPr>
          <p:cNvPr id="13" name="Shape 11"/>
          <p:cNvSpPr/>
          <p:nvPr/>
        </p:nvSpPr>
        <p:spPr>
          <a:xfrm>
            <a:off x="5559552" y="1115568"/>
            <a:ext cx="402336" cy="347472"/>
          </a:xfrm>
          <a:prstGeom prst="rect">
            <a:avLst/>
          </a:prstGeom>
          <a:solidFill>
            <a:srgbClr val="1A5276"/>
          </a:solidFill>
          <a:ln w="12700">
            <a:solidFill>
              <a:srgbClr val="071228"/>
            </a:solidFill>
            <a:prstDash val="solid"/>
          </a:ln>
        </p:spPr>
        <p:txBody>
          <a:bodyPr/>
          <a:lstStyle/>
          <a:p>
            <a:endParaRPr lang="es-MX"/>
          </a:p>
        </p:txBody>
      </p:sp>
      <p:sp>
        <p:nvSpPr>
          <p:cNvPr id="14" name="Text 12"/>
          <p:cNvSpPr/>
          <p:nvPr/>
        </p:nvSpPr>
        <p:spPr>
          <a:xfrm>
            <a:off x="5559552" y="1115568"/>
            <a:ext cx="402336" cy="347472"/>
          </a:xfrm>
          <a:prstGeom prst="rect">
            <a:avLst/>
          </a:prstGeom>
          <a:noFill/>
          <a:ln/>
        </p:spPr>
        <p:txBody>
          <a:bodyPr wrap="square" lIns="0" tIns="0" rIns="0" bIns="0" rtlCol="0" anchor="ctr"/>
          <a:lstStyle/>
          <a:p>
            <a:pPr marL="0" indent="0" algn="ctr">
              <a:buNone/>
            </a:pPr>
            <a:r>
              <a:rPr lang="en-US" sz="750" b="1" dirty="0">
                <a:solidFill>
                  <a:srgbClr val="FFFFFF"/>
                </a:solidFill>
              </a:rPr>
              <a:t>Módulo 2</a:t>
            </a:r>
            <a:endParaRPr lang="en-US" sz="750" dirty="0"/>
          </a:p>
        </p:txBody>
      </p:sp>
      <p:sp>
        <p:nvSpPr>
          <p:cNvPr id="15" name="Shape 13"/>
          <p:cNvSpPr/>
          <p:nvPr/>
        </p:nvSpPr>
        <p:spPr>
          <a:xfrm>
            <a:off x="3227832" y="1463040"/>
            <a:ext cx="2743200" cy="1298448"/>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16" name="Text 14"/>
          <p:cNvSpPr/>
          <p:nvPr/>
        </p:nvSpPr>
        <p:spPr>
          <a:xfrm>
            <a:off x="3319272" y="1554480"/>
            <a:ext cx="2578608" cy="1152144"/>
          </a:xfrm>
          <a:prstGeom prst="rect">
            <a:avLst/>
          </a:prstGeom>
          <a:noFill/>
          <a:ln/>
        </p:spPr>
        <p:txBody>
          <a:bodyPr wrap="square" lIns="0" tIns="0" rIns="0" bIns="0" rtlCol="0" anchor="ctr"/>
          <a:lstStyle/>
          <a:p>
            <a:pPr marL="0" indent="0">
              <a:buNone/>
            </a:pPr>
            <a:r>
              <a:rPr lang="en-US" sz="950" dirty="0">
                <a:solidFill>
                  <a:srgbClr val="374151"/>
                </a:solidFill>
              </a:rPr>
              <a:t>Cargar y limpiar bases de datos de siniestros con Pandas, identificar outliers, imputar valores faltantes y preparar los datos para modelado predictivo.</a:t>
            </a:r>
            <a:endParaRPr lang="en-US" sz="950" dirty="0"/>
          </a:p>
        </p:txBody>
      </p:sp>
      <p:sp>
        <p:nvSpPr>
          <p:cNvPr id="17" name="Shape 15"/>
          <p:cNvSpPr/>
          <p:nvPr/>
        </p:nvSpPr>
        <p:spPr>
          <a:xfrm>
            <a:off x="6135624" y="1115568"/>
            <a:ext cx="2743200" cy="347472"/>
          </a:xfrm>
          <a:prstGeom prst="rect">
            <a:avLst/>
          </a:prstGeom>
          <a:solidFill>
            <a:srgbClr val="1E8449"/>
          </a:solidFill>
          <a:ln w="12700">
            <a:solidFill>
              <a:srgbClr val="1E8449"/>
            </a:solidFill>
            <a:prstDash val="solid"/>
          </a:ln>
        </p:spPr>
        <p:txBody>
          <a:bodyPr/>
          <a:lstStyle/>
          <a:p>
            <a:endParaRPr lang="es-MX"/>
          </a:p>
        </p:txBody>
      </p:sp>
      <p:sp>
        <p:nvSpPr>
          <p:cNvPr id="18" name="Text 16"/>
          <p:cNvSpPr/>
          <p:nvPr/>
        </p:nvSpPr>
        <p:spPr>
          <a:xfrm>
            <a:off x="6227064" y="1115568"/>
            <a:ext cx="2377440" cy="347472"/>
          </a:xfrm>
          <a:prstGeom prst="rect">
            <a:avLst/>
          </a:prstGeom>
          <a:noFill/>
          <a:ln/>
        </p:spPr>
        <p:txBody>
          <a:bodyPr wrap="square" lIns="0" tIns="0" rIns="0" bIns="0" rtlCol="0" anchor="ctr"/>
          <a:lstStyle/>
          <a:p>
            <a:pPr marL="0" indent="0">
              <a:buNone/>
            </a:pPr>
            <a:r>
              <a:rPr lang="en-US" sz="1150" b="1" dirty="0">
                <a:solidFill>
                  <a:srgbClr val="FFFFFF"/>
                </a:solidFill>
              </a:rPr>
              <a:t>Detección de fraude</a:t>
            </a:r>
            <a:endParaRPr lang="en-US" sz="1150" dirty="0"/>
          </a:p>
        </p:txBody>
      </p:sp>
      <p:sp>
        <p:nvSpPr>
          <p:cNvPr id="19" name="Shape 17"/>
          <p:cNvSpPr/>
          <p:nvPr/>
        </p:nvSpPr>
        <p:spPr>
          <a:xfrm>
            <a:off x="8467344" y="1115568"/>
            <a:ext cx="402336" cy="347472"/>
          </a:xfrm>
          <a:prstGeom prst="rect">
            <a:avLst/>
          </a:prstGeom>
          <a:solidFill>
            <a:srgbClr val="1E8449"/>
          </a:solidFill>
          <a:ln w="12700">
            <a:solidFill>
              <a:srgbClr val="071228"/>
            </a:solidFill>
            <a:prstDash val="solid"/>
          </a:ln>
        </p:spPr>
        <p:txBody>
          <a:bodyPr/>
          <a:lstStyle/>
          <a:p>
            <a:endParaRPr lang="es-MX"/>
          </a:p>
        </p:txBody>
      </p:sp>
      <p:sp>
        <p:nvSpPr>
          <p:cNvPr id="20" name="Text 18"/>
          <p:cNvSpPr/>
          <p:nvPr/>
        </p:nvSpPr>
        <p:spPr>
          <a:xfrm>
            <a:off x="8467344" y="1115568"/>
            <a:ext cx="402336" cy="347472"/>
          </a:xfrm>
          <a:prstGeom prst="rect">
            <a:avLst/>
          </a:prstGeom>
          <a:noFill/>
          <a:ln/>
        </p:spPr>
        <p:txBody>
          <a:bodyPr wrap="square" lIns="0" tIns="0" rIns="0" bIns="0" rtlCol="0" anchor="ctr"/>
          <a:lstStyle/>
          <a:p>
            <a:pPr marL="0" indent="0" algn="ctr">
              <a:buNone/>
            </a:pPr>
            <a:r>
              <a:rPr lang="en-US" sz="750" b="1" dirty="0">
                <a:solidFill>
                  <a:srgbClr val="FFFFFF"/>
                </a:solidFill>
              </a:rPr>
              <a:t>Módulo 3</a:t>
            </a:r>
            <a:endParaRPr lang="en-US" sz="750" dirty="0"/>
          </a:p>
        </p:txBody>
      </p:sp>
      <p:sp>
        <p:nvSpPr>
          <p:cNvPr id="21" name="Shape 19"/>
          <p:cNvSpPr/>
          <p:nvPr/>
        </p:nvSpPr>
        <p:spPr>
          <a:xfrm>
            <a:off x="6135624" y="1463040"/>
            <a:ext cx="2743200" cy="1298448"/>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22" name="Text 20"/>
          <p:cNvSpPr/>
          <p:nvPr/>
        </p:nvSpPr>
        <p:spPr>
          <a:xfrm>
            <a:off x="6227064" y="1554480"/>
            <a:ext cx="2578608" cy="1152144"/>
          </a:xfrm>
          <a:prstGeom prst="rect">
            <a:avLst/>
          </a:prstGeom>
          <a:noFill/>
          <a:ln/>
        </p:spPr>
        <p:txBody>
          <a:bodyPr wrap="square" lIns="0" tIns="0" rIns="0" bIns="0" rtlCol="0" anchor="ctr"/>
          <a:lstStyle/>
          <a:p>
            <a:pPr marL="0" indent="0">
              <a:buNone/>
            </a:pPr>
            <a:r>
              <a:rPr lang="en-US" sz="950" dirty="0">
                <a:solidFill>
                  <a:srgbClr val="374151"/>
                </a:solidFill>
              </a:rPr>
              <a:t>Entrenar modelos de clasificación (Random Forest, XGBoost) para detectar patrones sospechosos en reclamaciones. El modelo aprende de casos históricos de fraude confirmado.</a:t>
            </a:r>
            <a:endParaRPr lang="en-US" sz="950" dirty="0"/>
          </a:p>
        </p:txBody>
      </p:sp>
      <p:sp>
        <p:nvSpPr>
          <p:cNvPr id="23" name="Shape 21"/>
          <p:cNvSpPr/>
          <p:nvPr/>
        </p:nvSpPr>
        <p:spPr>
          <a:xfrm>
            <a:off x="320040" y="2834640"/>
            <a:ext cx="2743200" cy="347472"/>
          </a:xfrm>
          <a:prstGeom prst="rect">
            <a:avLst/>
          </a:prstGeom>
          <a:solidFill>
            <a:srgbClr val="6C3483"/>
          </a:solidFill>
          <a:ln w="12700">
            <a:solidFill>
              <a:srgbClr val="6C3483"/>
            </a:solidFill>
            <a:prstDash val="solid"/>
          </a:ln>
        </p:spPr>
        <p:txBody>
          <a:bodyPr/>
          <a:lstStyle/>
          <a:p>
            <a:endParaRPr lang="es-MX"/>
          </a:p>
        </p:txBody>
      </p:sp>
      <p:sp>
        <p:nvSpPr>
          <p:cNvPr id="24" name="Text 22"/>
          <p:cNvSpPr/>
          <p:nvPr/>
        </p:nvSpPr>
        <p:spPr>
          <a:xfrm>
            <a:off x="411480" y="2834640"/>
            <a:ext cx="2377440" cy="347472"/>
          </a:xfrm>
          <a:prstGeom prst="rect">
            <a:avLst/>
          </a:prstGeom>
          <a:noFill/>
          <a:ln/>
        </p:spPr>
        <p:txBody>
          <a:bodyPr wrap="square" lIns="0" tIns="0" rIns="0" bIns="0" rtlCol="0" anchor="ctr"/>
          <a:lstStyle/>
          <a:p>
            <a:pPr marL="0" indent="0">
              <a:buNone/>
            </a:pPr>
            <a:r>
              <a:rPr lang="en-US" sz="1150" b="1" dirty="0">
                <a:solidFill>
                  <a:srgbClr val="FFFFFF"/>
                </a:solidFill>
              </a:rPr>
              <a:t>Reservas IBNR</a:t>
            </a:r>
            <a:endParaRPr lang="en-US" sz="1150" dirty="0"/>
          </a:p>
        </p:txBody>
      </p:sp>
      <p:sp>
        <p:nvSpPr>
          <p:cNvPr id="25" name="Shape 23"/>
          <p:cNvSpPr/>
          <p:nvPr/>
        </p:nvSpPr>
        <p:spPr>
          <a:xfrm>
            <a:off x="2651760" y="2834640"/>
            <a:ext cx="402336" cy="347472"/>
          </a:xfrm>
          <a:prstGeom prst="rect">
            <a:avLst/>
          </a:prstGeom>
          <a:solidFill>
            <a:srgbClr val="6C3483"/>
          </a:solidFill>
          <a:ln w="12700">
            <a:solidFill>
              <a:srgbClr val="071228"/>
            </a:solidFill>
            <a:prstDash val="solid"/>
          </a:ln>
        </p:spPr>
        <p:txBody>
          <a:bodyPr/>
          <a:lstStyle/>
          <a:p>
            <a:endParaRPr lang="es-MX"/>
          </a:p>
        </p:txBody>
      </p:sp>
      <p:sp>
        <p:nvSpPr>
          <p:cNvPr id="26" name="Text 24"/>
          <p:cNvSpPr/>
          <p:nvPr/>
        </p:nvSpPr>
        <p:spPr>
          <a:xfrm>
            <a:off x="2651760" y="2834640"/>
            <a:ext cx="402336" cy="347472"/>
          </a:xfrm>
          <a:prstGeom prst="rect">
            <a:avLst/>
          </a:prstGeom>
          <a:noFill/>
          <a:ln/>
        </p:spPr>
        <p:txBody>
          <a:bodyPr wrap="square" lIns="0" tIns="0" rIns="0" bIns="0" rtlCol="0" anchor="ctr"/>
          <a:lstStyle/>
          <a:p>
            <a:pPr marL="0" indent="0" algn="ctr">
              <a:buNone/>
            </a:pPr>
            <a:r>
              <a:rPr lang="en-US" sz="750" b="1" dirty="0">
                <a:solidFill>
                  <a:srgbClr val="FFFFFF"/>
                </a:solidFill>
              </a:rPr>
              <a:t>Módulo 4</a:t>
            </a:r>
            <a:endParaRPr lang="en-US" sz="750" dirty="0"/>
          </a:p>
        </p:txBody>
      </p:sp>
      <p:sp>
        <p:nvSpPr>
          <p:cNvPr id="27" name="Shape 25"/>
          <p:cNvSpPr/>
          <p:nvPr/>
        </p:nvSpPr>
        <p:spPr>
          <a:xfrm>
            <a:off x="320040" y="3182112"/>
            <a:ext cx="2743200" cy="1298448"/>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28" name="Text 26"/>
          <p:cNvSpPr/>
          <p:nvPr/>
        </p:nvSpPr>
        <p:spPr>
          <a:xfrm>
            <a:off x="411480" y="3273552"/>
            <a:ext cx="2578608" cy="1152144"/>
          </a:xfrm>
          <a:prstGeom prst="rect">
            <a:avLst/>
          </a:prstGeom>
          <a:noFill/>
          <a:ln/>
        </p:spPr>
        <p:txBody>
          <a:bodyPr wrap="square" lIns="0" tIns="0" rIns="0" bIns="0" rtlCol="0" anchor="ctr"/>
          <a:lstStyle/>
          <a:p>
            <a:pPr marL="0" indent="0">
              <a:buNone/>
            </a:pPr>
            <a:r>
              <a:rPr lang="en-US" sz="950" dirty="0">
                <a:solidFill>
                  <a:srgbClr val="374151"/>
                </a:solidFill>
              </a:rPr>
              <a:t>Implementar métodos como Chain-Ladder y Bornhuetter-Ferguson en Python, y complementarlos con modelos predictivos para estimar las reservas de siniestros ocurridos pero no reportados.</a:t>
            </a:r>
            <a:endParaRPr lang="en-US" sz="950" dirty="0"/>
          </a:p>
        </p:txBody>
      </p:sp>
      <p:sp>
        <p:nvSpPr>
          <p:cNvPr id="29" name="Shape 27"/>
          <p:cNvSpPr/>
          <p:nvPr/>
        </p:nvSpPr>
        <p:spPr>
          <a:xfrm>
            <a:off x="3227832" y="2834640"/>
            <a:ext cx="2743200" cy="347472"/>
          </a:xfrm>
          <a:prstGeom prst="rect">
            <a:avLst/>
          </a:prstGeom>
          <a:solidFill>
            <a:srgbClr val="F4A261"/>
          </a:solidFill>
          <a:ln w="12700">
            <a:solidFill>
              <a:srgbClr val="F4A261"/>
            </a:solidFill>
            <a:prstDash val="solid"/>
          </a:ln>
        </p:spPr>
        <p:txBody>
          <a:bodyPr/>
          <a:lstStyle/>
          <a:p>
            <a:endParaRPr lang="es-MX"/>
          </a:p>
        </p:txBody>
      </p:sp>
      <p:sp>
        <p:nvSpPr>
          <p:cNvPr id="30" name="Text 28"/>
          <p:cNvSpPr/>
          <p:nvPr/>
        </p:nvSpPr>
        <p:spPr>
          <a:xfrm>
            <a:off x="3319272" y="2834640"/>
            <a:ext cx="2377440" cy="347472"/>
          </a:xfrm>
          <a:prstGeom prst="rect">
            <a:avLst/>
          </a:prstGeom>
          <a:noFill/>
          <a:ln/>
        </p:spPr>
        <p:txBody>
          <a:bodyPr wrap="square" lIns="0" tIns="0" rIns="0" bIns="0" rtlCol="0" anchor="ctr"/>
          <a:lstStyle/>
          <a:p>
            <a:pPr marL="0" indent="0">
              <a:buNone/>
            </a:pPr>
            <a:r>
              <a:rPr lang="en-US" sz="1150" b="1" dirty="0">
                <a:solidFill>
                  <a:srgbClr val="FFFFFF"/>
                </a:solidFill>
              </a:rPr>
              <a:t>Dashboards actuariales</a:t>
            </a:r>
            <a:endParaRPr lang="en-US" sz="1150" dirty="0"/>
          </a:p>
        </p:txBody>
      </p:sp>
      <p:sp>
        <p:nvSpPr>
          <p:cNvPr id="31" name="Shape 29"/>
          <p:cNvSpPr/>
          <p:nvPr/>
        </p:nvSpPr>
        <p:spPr>
          <a:xfrm>
            <a:off x="5559552" y="2834640"/>
            <a:ext cx="402336" cy="347472"/>
          </a:xfrm>
          <a:prstGeom prst="rect">
            <a:avLst/>
          </a:prstGeom>
          <a:solidFill>
            <a:srgbClr val="F4A261"/>
          </a:solidFill>
          <a:ln w="12700">
            <a:solidFill>
              <a:srgbClr val="071228"/>
            </a:solidFill>
            <a:prstDash val="solid"/>
          </a:ln>
        </p:spPr>
        <p:txBody>
          <a:bodyPr/>
          <a:lstStyle/>
          <a:p>
            <a:endParaRPr lang="es-MX"/>
          </a:p>
        </p:txBody>
      </p:sp>
      <p:sp>
        <p:nvSpPr>
          <p:cNvPr id="32" name="Text 30"/>
          <p:cNvSpPr/>
          <p:nvPr/>
        </p:nvSpPr>
        <p:spPr>
          <a:xfrm>
            <a:off x="5559552" y="2834640"/>
            <a:ext cx="402336" cy="347472"/>
          </a:xfrm>
          <a:prstGeom prst="rect">
            <a:avLst/>
          </a:prstGeom>
          <a:noFill/>
          <a:ln/>
        </p:spPr>
        <p:txBody>
          <a:bodyPr wrap="square" lIns="0" tIns="0" rIns="0" bIns="0" rtlCol="0" anchor="ctr"/>
          <a:lstStyle/>
          <a:p>
            <a:pPr marL="0" indent="0" algn="ctr">
              <a:buNone/>
            </a:pPr>
            <a:r>
              <a:rPr lang="en-US" sz="750" b="1" dirty="0">
                <a:solidFill>
                  <a:srgbClr val="FFFFFF"/>
                </a:solidFill>
              </a:rPr>
              <a:t>Módulo 5</a:t>
            </a:r>
            <a:endParaRPr lang="en-US" sz="750" dirty="0"/>
          </a:p>
        </p:txBody>
      </p:sp>
      <p:sp>
        <p:nvSpPr>
          <p:cNvPr id="33" name="Shape 31"/>
          <p:cNvSpPr/>
          <p:nvPr/>
        </p:nvSpPr>
        <p:spPr>
          <a:xfrm>
            <a:off x="3227832" y="3182112"/>
            <a:ext cx="2743200" cy="1298448"/>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34" name="Text 32"/>
          <p:cNvSpPr/>
          <p:nvPr/>
        </p:nvSpPr>
        <p:spPr>
          <a:xfrm>
            <a:off x="3319272" y="3273552"/>
            <a:ext cx="2578608" cy="1152144"/>
          </a:xfrm>
          <a:prstGeom prst="rect">
            <a:avLst/>
          </a:prstGeom>
          <a:noFill/>
          <a:ln/>
        </p:spPr>
        <p:txBody>
          <a:bodyPr wrap="square" lIns="0" tIns="0" rIns="0" bIns="0" rtlCol="0" anchor="ctr"/>
          <a:lstStyle/>
          <a:p>
            <a:pPr marL="0" indent="0">
              <a:buNone/>
            </a:pPr>
            <a:r>
              <a:rPr lang="en-US" sz="950" dirty="0">
                <a:solidFill>
                  <a:srgbClr val="374151"/>
                </a:solidFill>
              </a:rPr>
              <a:t>Construir tableros interactivos con Streamlit o Dash que muestren KPIs de la cartera, evolución de la siniestralidad y resultados de modelos, actualizables con nuevos datos.</a:t>
            </a:r>
            <a:endParaRPr lang="en-US" sz="950" dirty="0"/>
          </a:p>
        </p:txBody>
      </p:sp>
      <p:sp>
        <p:nvSpPr>
          <p:cNvPr id="35" name="Shape 33"/>
          <p:cNvSpPr/>
          <p:nvPr/>
        </p:nvSpPr>
        <p:spPr>
          <a:xfrm>
            <a:off x="6135624" y="2834640"/>
            <a:ext cx="2743200" cy="347472"/>
          </a:xfrm>
          <a:prstGeom prst="rect">
            <a:avLst/>
          </a:prstGeom>
          <a:solidFill>
            <a:srgbClr val="C0392B"/>
          </a:solidFill>
          <a:ln w="12700">
            <a:solidFill>
              <a:srgbClr val="C0392B"/>
            </a:solidFill>
            <a:prstDash val="solid"/>
          </a:ln>
        </p:spPr>
        <p:txBody>
          <a:bodyPr/>
          <a:lstStyle/>
          <a:p>
            <a:endParaRPr lang="es-MX"/>
          </a:p>
        </p:txBody>
      </p:sp>
      <p:sp>
        <p:nvSpPr>
          <p:cNvPr id="36" name="Text 34"/>
          <p:cNvSpPr/>
          <p:nvPr/>
        </p:nvSpPr>
        <p:spPr>
          <a:xfrm>
            <a:off x="6227064" y="2834640"/>
            <a:ext cx="2377440" cy="347472"/>
          </a:xfrm>
          <a:prstGeom prst="rect">
            <a:avLst/>
          </a:prstGeom>
          <a:noFill/>
          <a:ln/>
        </p:spPr>
        <p:txBody>
          <a:bodyPr wrap="square" lIns="0" tIns="0" rIns="0" bIns="0" rtlCol="0" anchor="ctr"/>
          <a:lstStyle/>
          <a:p>
            <a:pPr marL="0" indent="0">
              <a:buNone/>
            </a:pPr>
            <a:r>
              <a:rPr lang="en-US" sz="1150" b="1" dirty="0">
                <a:solidFill>
                  <a:srgbClr val="FFFFFF"/>
                </a:solidFill>
              </a:rPr>
              <a:t>Automatización</a:t>
            </a:r>
            <a:endParaRPr lang="en-US" sz="1150" dirty="0"/>
          </a:p>
        </p:txBody>
      </p:sp>
      <p:sp>
        <p:nvSpPr>
          <p:cNvPr id="37" name="Shape 35"/>
          <p:cNvSpPr/>
          <p:nvPr/>
        </p:nvSpPr>
        <p:spPr>
          <a:xfrm>
            <a:off x="8467344" y="2834640"/>
            <a:ext cx="402336" cy="347472"/>
          </a:xfrm>
          <a:prstGeom prst="rect">
            <a:avLst/>
          </a:prstGeom>
          <a:solidFill>
            <a:srgbClr val="C0392B"/>
          </a:solidFill>
          <a:ln w="12700">
            <a:solidFill>
              <a:srgbClr val="071228"/>
            </a:solidFill>
            <a:prstDash val="solid"/>
          </a:ln>
        </p:spPr>
        <p:txBody>
          <a:bodyPr/>
          <a:lstStyle/>
          <a:p>
            <a:endParaRPr lang="es-MX"/>
          </a:p>
        </p:txBody>
      </p:sp>
      <p:sp>
        <p:nvSpPr>
          <p:cNvPr id="38" name="Text 36"/>
          <p:cNvSpPr/>
          <p:nvPr/>
        </p:nvSpPr>
        <p:spPr>
          <a:xfrm>
            <a:off x="8467344" y="2834640"/>
            <a:ext cx="402336" cy="347472"/>
          </a:xfrm>
          <a:prstGeom prst="rect">
            <a:avLst/>
          </a:prstGeom>
          <a:noFill/>
          <a:ln/>
        </p:spPr>
        <p:txBody>
          <a:bodyPr wrap="square" lIns="0" tIns="0" rIns="0" bIns="0" rtlCol="0" anchor="ctr"/>
          <a:lstStyle/>
          <a:p>
            <a:pPr marL="0" indent="0" algn="ctr">
              <a:buNone/>
            </a:pPr>
            <a:r>
              <a:rPr lang="en-US" sz="750" b="1" dirty="0">
                <a:solidFill>
                  <a:srgbClr val="FFFFFF"/>
                </a:solidFill>
              </a:rPr>
              <a:t>Módulo 5</a:t>
            </a:r>
            <a:endParaRPr lang="en-US" sz="750" dirty="0"/>
          </a:p>
        </p:txBody>
      </p:sp>
      <p:sp>
        <p:nvSpPr>
          <p:cNvPr id="39" name="Shape 37"/>
          <p:cNvSpPr/>
          <p:nvPr/>
        </p:nvSpPr>
        <p:spPr>
          <a:xfrm>
            <a:off x="6135624" y="3182112"/>
            <a:ext cx="2743200" cy="1298448"/>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40" name="Text 38"/>
          <p:cNvSpPr/>
          <p:nvPr/>
        </p:nvSpPr>
        <p:spPr>
          <a:xfrm>
            <a:off x="6227064" y="3273552"/>
            <a:ext cx="2578608" cy="1152144"/>
          </a:xfrm>
          <a:prstGeom prst="rect">
            <a:avLst/>
          </a:prstGeom>
          <a:noFill/>
          <a:ln/>
        </p:spPr>
        <p:txBody>
          <a:bodyPr wrap="square" lIns="0" tIns="0" rIns="0" bIns="0" rtlCol="0" anchor="ctr"/>
          <a:lstStyle/>
          <a:p>
            <a:pPr marL="0" indent="0">
              <a:buNone/>
            </a:pPr>
            <a:r>
              <a:rPr lang="en-US" sz="950" dirty="0">
                <a:solidFill>
                  <a:srgbClr val="374151"/>
                </a:solidFill>
              </a:rPr>
              <a:t>Eliminar tareas repetitivas: generación de reportes Excel automáticos, envío de correos con resultados, descarga y procesamiento de datos de fuentes externas.</a:t>
            </a:r>
            <a:endParaRPr lang="en-US" sz="950" dirty="0"/>
          </a:p>
        </p:txBody>
      </p:sp>
      <p:sp>
        <p:nvSpPr>
          <p:cNvPr id="41" name="Shape 39"/>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42" name="Text 40"/>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Módulo 1 · Introducción a Python · Sesión 1  —  15 abril 2026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Text 1"/>
          <p:cNvSpPr/>
          <p:nvPr/>
        </p:nvSpPr>
        <p:spPr>
          <a:xfrm>
            <a:off x="457200" y="182880"/>
            <a:ext cx="8229600" cy="475488"/>
          </a:xfrm>
          <a:prstGeom prst="rect">
            <a:avLst/>
          </a:prstGeom>
          <a:noFill/>
          <a:ln/>
        </p:spPr>
        <p:txBody>
          <a:bodyPr wrap="square" lIns="0" tIns="0" rIns="0" bIns="0" rtlCol="0" anchor="ctr"/>
          <a:lstStyle/>
          <a:p>
            <a:pPr marL="0" indent="0" algn="l">
              <a:buNone/>
            </a:pPr>
            <a:r>
              <a:rPr lang="en-US" sz="2800" b="1" dirty="0">
                <a:solidFill>
                  <a:srgbClr val="FFFFFF"/>
                </a:solidFill>
              </a:rPr>
              <a:t>El Ecosistema Python</a:t>
            </a:r>
            <a:endParaRPr lang="en-US" sz="2800" dirty="0"/>
          </a:p>
        </p:txBody>
      </p:sp>
      <p:sp>
        <p:nvSpPr>
          <p:cNvPr id="4" name="Text 2"/>
          <p:cNvSpPr/>
          <p:nvPr/>
        </p:nvSpPr>
        <p:spPr>
          <a:xfrm>
            <a:off x="457200" y="685800"/>
            <a:ext cx="8229600" cy="256032"/>
          </a:xfrm>
          <a:prstGeom prst="rect">
            <a:avLst/>
          </a:prstGeom>
          <a:noFill/>
          <a:ln/>
        </p:spPr>
        <p:txBody>
          <a:bodyPr wrap="square" lIns="0" tIns="0" rIns="0" bIns="0" rtlCol="0" anchor="ctr"/>
          <a:lstStyle/>
          <a:p>
            <a:pPr marL="0" indent="0" algn="l">
              <a:buNone/>
            </a:pPr>
            <a:r>
              <a:rPr lang="en-US" sz="1200" dirty="0">
                <a:solidFill>
                  <a:srgbClr val="A8D8EA"/>
                </a:solidFill>
              </a:rPr>
              <a:t>Las piezas que conforman tu entorno de trabajo</a:t>
            </a:r>
            <a:endParaRPr lang="en-US" sz="1200" dirty="0"/>
          </a:p>
        </p:txBody>
      </p:sp>
      <p:sp>
        <p:nvSpPr>
          <p:cNvPr id="5" name="Shape 3"/>
          <p:cNvSpPr/>
          <p:nvPr/>
        </p:nvSpPr>
        <p:spPr>
          <a:xfrm>
            <a:off x="320040" y="1115568"/>
            <a:ext cx="2743200" cy="1572768"/>
          </a:xfrm>
          <a:prstGeom prst="rect">
            <a:avLst/>
          </a:prstGeom>
          <a:solidFill>
            <a:srgbClr val="1A5276"/>
          </a:solidFill>
          <a:ln w="12700">
            <a:solidFill>
              <a:srgbClr val="1A5276"/>
            </a:solidFill>
            <a:prstDash val="solid"/>
          </a:ln>
          <a:effectLst>
            <a:outerShdw blurRad="101600" dist="38100" dir="8100000" algn="bl" rotWithShape="0">
              <a:srgbClr val="000000">
                <a:alpha val="10000"/>
              </a:srgbClr>
            </a:outerShdw>
          </a:effectLst>
        </p:spPr>
        <p:txBody>
          <a:bodyPr/>
          <a:lstStyle/>
          <a:p>
            <a:endParaRPr lang="es-MX"/>
          </a:p>
        </p:txBody>
      </p:sp>
      <p:sp>
        <p:nvSpPr>
          <p:cNvPr id="6" name="Shape 4"/>
          <p:cNvSpPr/>
          <p:nvPr/>
        </p:nvSpPr>
        <p:spPr>
          <a:xfrm>
            <a:off x="320040" y="1115568"/>
            <a:ext cx="530352" cy="1572768"/>
          </a:xfrm>
          <a:prstGeom prst="rect">
            <a:avLst/>
          </a:prstGeom>
          <a:solidFill>
            <a:srgbClr val="0D7A8A"/>
          </a:solidFill>
          <a:ln w="12700">
            <a:solidFill>
              <a:srgbClr val="0D7A8A"/>
            </a:solidFill>
            <a:prstDash val="solid"/>
          </a:ln>
        </p:spPr>
        <p:txBody>
          <a:bodyPr/>
          <a:lstStyle/>
          <a:p>
            <a:endParaRPr lang="es-MX"/>
          </a:p>
        </p:txBody>
      </p:sp>
      <p:pic>
        <p:nvPicPr>
          <p:cNvPr id="7" name="Image 0" descr="preencoded.png"/>
          <p:cNvPicPr>
            <a:picLocks noChangeAspect="1"/>
          </p:cNvPicPr>
          <p:nvPr/>
        </p:nvPicPr>
        <p:blipFill>
          <a:blip r:embed="rId3"/>
          <a:stretch>
            <a:fillRect/>
          </a:stretch>
        </p:blipFill>
        <p:spPr>
          <a:xfrm>
            <a:off x="402336" y="1682496"/>
            <a:ext cx="365760" cy="365760"/>
          </a:xfrm>
          <a:prstGeom prst="rect">
            <a:avLst/>
          </a:prstGeom>
        </p:spPr>
      </p:pic>
      <p:sp>
        <p:nvSpPr>
          <p:cNvPr id="8" name="Text 5"/>
          <p:cNvSpPr/>
          <p:nvPr/>
        </p:nvSpPr>
        <p:spPr>
          <a:xfrm>
            <a:off x="960120" y="1207008"/>
            <a:ext cx="2029968" cy="365760"/>
          </a:xfrm>
          <a:prstGeom prst="rect">
            <a:avLst/>
          </a:prstGeom>
          <a:noFill/>
          <a:ln/>
        </p:spPr>
        <p:txBody>
          <a:bodyPr wrap="square" lIns="0" tIns="0" rIns="0" bIns="0" rtlCol="0" anchor="ctr"/>
          <a:lstStyle/>
          <a:p>
            <a:pPr marL="0" indent="0">
              <a:buNone/>
            </a:pPr>
            <a:r>
              <a:rPr lang="en-US" sz="1200" b="1" dirty="0">
                <a:solidFill>
                  <a:srgbClr val="A8D8EA"/>
                </a:solidFill>
              </a:rPr>
              <a:t>Python (intérprete)</a:t>
            </a:r>
            <a:endParaRPr lang="en-US" sz="1200" dirty="0"/>
          </a:p>
        </p:txBody>
      </p:sp>
      <p:sp>
        <p:nvSpPr>
          <p:cNvPr id="9" name="Text 6"/>
          <p:cNvSpPr/>
          <p:nvPr/>
        </p:nvSpPr>
        <p:spPr>
          <a:xfrm>
            <a:off x="960120" y="1591056"/>
            <a:ext cx="2029968" cy="1024128"/>
          </a:xfrm>
          <a:prstGeom prst="rect">
            <a:avLst/>
          </a:prstGeom>
          <a:noFill/>
          <a:ln/>
        </p:spPr>
        <p:txBody>
          <a:bodyPr wrap="square" lIns="0" tIns="0" rIns="0" bIns="0" rtlCol="0" anchor="ctr"/>
          <a:lstStyle/>
          <a:p>
            <a:pPr marL="0" indent="0">
              <a:buNone/>
            </a:pPr>
            <a:r>
              <a:rPr lang="en-US" sz="950" dirty="0">
                <a:solidFill>
                  <a:srgbClr val="F0F4F8"/>
                </a:solidFill>
              </a:rPr>
              <a:t>El motor. Cuando instalas Python, instalas el programa que entiende y ejecuta tu código. Por sí solo Python ya es funcional, pero para trabajo científico necesitamos las bibliotecas.</a:t>
            </a:r>
            <a:endParaRPr lang="en-US" sz="950" dirty="0"/>
          </a:p>
        </p:txBody>
      </p:sp>
      <p:sp>
        <p:nvSpPr>
          <p:cNvPr id="10" name="Shape 7"/>
          <p:cNvSpPr/>
          <p:nvPr/>
        </p:nvSpPr>
        <p:spPr>
          <a:xfrm>
            <a:off x="3227832" y="1115568"/>
            <a:ext cx="2743200" cy="1572768"/>
          </a:xfrm>
          <a:prstGeom prst="rect">
            <a:avLst/>
          </a:prstGeom>
          <a:solidFill>
            <a:srgbClr val="1A5276"/>
          </a:solidFill>
          <a:ln w="12700">
            <a:solidFill>
              <a:srgbClr val="1A5276"/>
            </a:solidFill>
            <a:prstDash val="solid"/>
          </a:ln>
          <a:effectLst>
            <a:outerShdw blurRad="101600" dist="38100" dir="8100000" algn="bl" rotWithShape="0">
              <a:srgbClr val="000000">
                <a:alpha val="10000"/>
              </a:srgbClr>
            </a:outerShdw>
          </a:effectLst>
        </p:spPr>
        <p:txBody>
          <a:bodyPr/>
          <a:lstStyle/>
          <a:p>
            <a:endParaRPr lang="es-MX"/>
          </a:p>
        </p:txBody>
      </p:sp>
      <p:sp>
        <p:nvSpPr>
          <p:cNvPr id="11" name="Shape 8"/>
          <p:cNvSpPr/>
          <p:nvPr/>
        </p:nvSpPr>
        <p:spPr>
          <a:xfrm>
            <a:off x="3227832" y="1115568"/>
            <a:ext cx="530352" cy="1572768"/>
          </a:xfrm>
          <a:prstGeom prst="rect">
            <a:avLst/>
          </a:prstGeom>
          <a:solidFill>
            <a:srgbClr val="1A5276"/>
          </a:solidFill>
          <a:ln w="12700">
            <a:solidFill>
              <a:srgbClr val="1A5276"/>
            </a:solidFill>
            <a:prstDash val="solid"/>
          </a:ln>
        </p:spPr>
        <p:txBody>
          <a:bodyPr/>
          <a:lstStyle/>
          <a:p>
            <a:endParaRPr lang="es-MX"/>
          </a:p>
        </p:txBody>
      </p:sp>
      <p:pic>
        <p:nvPicPr>
          <p:cNvPr id="12" name="Image 1" descr="preencoded.png"/>
          <p:cNvPicPr>
            <a:picLocks noChangeAspect="1"/>
          </p:cNvPicPr>
          <p:nvPr/>
        </p:nvPicPr>
        <p:blipFill>
          <a:blip r:embed="rId4"/>
          <a:stretch>
            <a:fillRect/>
          </a:stretch>
        </p:blipFill>
        <p:spPr>
          <a:xfrm>
            <a:off x="3310128" y="1682496"/>
            <a:ext cx="365760" cy="365760"/>
          </a:xfrm>
          <a:prstGeom prst="rect">
            <a:avLst/>
          </a:prstGeom>
        </p:spPr>
      </p:pic>
      <p:sp>
        <p:nvSpPr>
          <p:cNvPr id="13" name="Text 9"/>
          <p:cNvSpPr/>
          <p:nvPr/>
        </p:nvSpPr>
        <p:spPr>
          <a:xfrm>
            <a:off x="3867912" y="1207008"/>
            <a:ext cx="2029968" cy="365760"/>
          </a:xfrm>
          <a:prstGeom prst="rect">
            <a:avLst/>
          </a:prstGeom>
          <a:noFill/>
          <a:ln/>
        </p:spPr>
        <p:txBody>
          <a:bodyPr wrap="square" lIns="0" tIns="0" rIns="0" bIns="0" rtlCol="0" anchor="ctr"/>
          <a:lstStyle/>
          <a:p>
            <a:pPr marL="0" indent="0">
              <a:buNone/>
            </a:pPr>
            <a:r>
              <a:rPr lang="en-US" sz="1200" b="1" dirty="0">
                <a:solidFill>
                  <a:srgbClr val="A8D8EA"/>
                </a:solidFill>
              </a:rPr>
              <a:t>Anaconda / Miniconda</a:t>
            </a:r>
            <a:endParaRPr lang="en-US" sz="1200" dirty="0"/>
          </a:p>
        </p:txBody>
      </p:sp>
      <p:sp>
        <p:nvSpPr>
          <p:cNvPr id="14" name="Text 10"/>
          <p:cNvSpPr/>
          <p:nvPr/>
        </p:nvSpPr>
        <p:spPr>
          <a:xfrm>
            <a:off x="3867912" y="1591056"/>
            <a:ext cx="2029968" cy="1024128"/>
          </a:xfrm>
          <a:prstGeom prst="rect">
            <a:avLst/>
          </a:prstGeom>
          <a:noFill/>
          <a:ln/>
        </p:spPr>
        <p:txBody>
          <a:bodyPr wrap="square" lIns="0" tIns="0" rIns="0" bIns="0" rtlCol="0" anchor="ctr"/>
          <a:lstStyle/>
          <a:p>
            <a:pPr marL="0" indent="0">
              <a:buNone/>
            </a:pPr>
            <a:r>
              <a:rPr lang="en-US" sz="950" dirty="0">
                <a:solidFill>
                  <a:srgbClr val="F0F4F8"/>
                </a:solidFill>
              </a:rPr>
              <a:t>Una distribución de Python que viene pre-empaquetada con más de 150 bibliotecas científicas listas para usar (NumPy, Pandas, etc.) y el gestor de paquetes conda.</a:t>
            </a:r>
            <a:endParaRPr lang="en-US" sz="950" dirty="0"/>
          </a:p>
        </p:txBody>
      </p:sp>
      <p:sp>
        <p:nvSpPr>
          <p:cNvPr id="15" name="Shape 11"/>
          <p:cNvSpPr/>
          <p:nvPr/>
        </p:nvSpPr>
        <p:spPr>
          <a:xfrm>
            <a:off x="6135624" y="1115568"/>
            <a:ext cx="2743200" cy="1572768"/>
          </a:xfrm>
          <a:prstGeom prst="rect">
            <a:avLst/>
          </a:prstGeom>
          <a:solidFill>
            <a:srgbClr val="1A5276"/>
          </a:solidFill>
          <a:ln w="12700">
            <a:solidFill>
              <a:srgbClr val="1A5276"/>
            </a:solidFill>
            <a:prstDash val="solid"/>
          </a:ln>
          <a:effectLst>
            <a:outerShdw blurRad="101600" dist="38100" dir="8100000" algn="bl" rotWithShape="0">
              <a:srgbClr val="000000">
                <a:alpha val="10000"/>
              </a:srgbClr>
            </a:outerShdw>
          </a:effectLst>
        </p:spPr>
        <p:txBody>
          <a:bodyPr/>
          <a:lstStyle/>
          <a:p>
            <a:endParaRPr lang="es-MX"/>
          </a:p>
        </p:txBody>
      </p:sp>
      <p:sp>
        <p:nvSpPr>
          <p:cNvPr id="16" name="Shape 12"/>
          <p:cNvSpPr/>
          <p:nvPr/>
        </p:nvSpPr>
        <p:spPr>
          <a:xfrm>
            <a:off x="6135624" y="1115568"/>
            <a:ext cx="530352" cy="1572768"/>
          </a:xfrm>
          <a:prstGeom prst="rect">
            <a:avLst/>
          </a:prstGeom>
          <a:solidFill>
            <a:srgbClr val="1E8449"/>
          </a:solidFill>
          <a:ln w="12700">
            <a:solidFill>
              <a:srgbClr val="1E8449"/>
            </a:solidFill>
            <a:prstDash val="solid"/>
          </a:ln>
        </p:spPr>
        <p:txBody>
          <a:bodyPr/>
          <a:lstStyle/>
          <a:p>
            <a:endParaRPr lang="es-MX"/>
          </a:p>
        </p:txBody>
      </p:sp>
      <p:pic>
        <p:nvPicPr>
          <p:cNvPr id="17" name="Image 2" descr="preencoded.png"/>
          <p:cNvPicPr>
            <a:picLocks noChangeAspect="1"/>
          </p:cNvPicPr>
          <p:nvPr/>
        </p:nvPicPr>
        <p:blipFill>
          <a:blip r:embed="rId5"/>
          <a:stretch>
            <a:fillRect/>
          </a:stretch>
        </p:blipFill>
        <p:spPr>
          <a:xfrm>
            <a:off x="6217920" y="1682496"/>
            <a:ext cx="365760" cy="365760"/>
          </a:xfrm>
          <a:prstGeom prst="rect">
            <a:avLst/>
          </a:prstGeom>
        </p:spPr>
      </p:pic>
      <p:sp>
        <p:nvSpPr>
          <p:cNvPr id="18" name="Text 13"/>
          <p:cNvSpPr/>
          <p:nvPr/>
        </p:nvSpPr>
        <p:spPr>
          <a:xfrm>
            <a:off x="6775704" y="1207008"/>
            <a:ext cx="2029968" cy="365760"/>
          </a:xfrm>
          <a:prstGeom prst="rect">
            <a:avLst/>
          </a:prstGeom>
          <a:noFill/>
          <a:ln/>
        </p:spPr>
        <p:txBody>
          <a:bodyPr wrap="square" lIns="0" tIns="0" rIns="0" bIns="0" rtlCol="0" anchor="ctr"/>
          <a:lstStyle/>
          <a:p>
            <a:pPr marL="0" indent="0">
              <a:buNone/>
            </a:pPr>
            <a:r>
              <a:rPr lang="en-US" sz="1200" b="1" dirty="0">
                <a:solidFill>
                  <a:srgbClr val="A8D8EA"/>
                </a:solidFill>
              </a:rPr>
              <a:t>Terminal / Consola</a:t>
            </a:r>
            <a:endParaRPr lang="en-US" sz="1200" dirty="0"/>
          </a:p>
        </p:txBody>
      </p:sp>
      <p:sp>
        <p:nvSpPr>
          <p:cNvPr id="19" name="Text 14"/>
          <p:cNvSpPr/>
          <p:nvPr/>
        </p:nvSpPr>
        <p:spPr>
          <a:xfrm>
            <a:off x="6775704" y="1591056"/>
            <a:ext cx="2029968" cy="1024128"/>
          </a:xfrm>
          <a:prstGeom prst="rect">
            <a:avLst/>
          </a:prstGeom>
          <a:noFill/>
          <a:ln/>
        </p:spPr>
        <p:txBody>
          <a:bodyPr wrap="square" lIns="0" tIns="0" rIns="0" bIns="0" rtlCol="0" anchor="ctr"/>
          <a:lstStyle/>
          <a:p>
            <a:pPr marL="0" indent="0">
              <a:buNone/>
            </a:pPr>
            <a:r>
              <a:rPr lang="en-US" sz="950" dirty="0">
                <a:solidFill>
                  <a:srgbClr val="F0F4F8"/>
                </a:solidFill>
              </a:rPr>
              <a:t>La interfaz de línea de comandos desde donde instalas paquetes, creas entornos virtuales y ejecutas scripts. En Windows: PowerShell o Anaconda Prompt. En Mac/Linux: Terminal.</a:t>
            </a:r>
            <a:endParaRPr lang="en-US" sz="950" dirty="0"/>
          </a:p>
        </p:txBody>
      </p:sp>
      <p:sp>
        <p:nvSpPr>
          <p:cNvPr id="20" name="Shape 15"/>
          <p:cNvSpPr/>
          <p:nvPr/>
        </p:nvSpPr>
        <p:spPr>
          <a:xfrm>
            <a:off x="320040" y="2807208"/>
            <a:ext cx="2743200" cy="1572768"/>
          </a:xfrm>
          <a:prstGeom prst="rect">
            <a:avLst/>
          </a:prstGeom>
          <a:solidFill>
            <a:srgbClr val="1A5276"/>
          </a:solidFill>
          <a:ln w="12700">
            <a:solidFill>
              <a:srgbClr val="1A5276"/>
            </a:solidFill>
            <a:prstDash val="solid"/>
          </a:ln>
          <a:effectLst>
            <a:outerShdw blurRad="101600" dist="38100" dir="8100000" algn="bl" rotWithShape="0">
              <a:srgbClr val="000000">
                <a:alpha val="10000"/>
              </a:srgbClr>
            </a:outerShdw>
          </a:effectLst>
        </p:spPr>
        <p:txBody>
          <a:bodyPr/>
          <a:lstStyle/>
          <a:p>
            <a:endParaRPr lang="es-MX"/>
          </a:p>
        </p:txBody>
      </p:sp>
      <p:sp>
        <p:nvSpPr>
          <p:cNvPr id="21" name="Shape 16"/>
          <p:cNvSpPr/>
          <p:nvPr/>
        </p:nvSpPr>
        <p:spPr>
          <a:xfrm>
            <a:off x="320040" y="2807208"/>
            <a:ext cx="530352" cy="1572768"/>
          </a:xfrm>
          <a:prstGeom prst="rect">
            <a:avLst/>
          </a:prstGeom>
          <a:solidFill>
            <a:srgbClr val="6C3483"/>
          </a:solidFill>
          <a:ln w="12700">
            <a:solidFill>
              <a:srgbClr val="6C3483"/>
            </a:solidFill>
            <a:prstDash val="solid"/>
          </a:ln>
        </p:spPr>
        <p:txBody>
          <a:bodyPr/>
          <a:lstStyle/>
          <a:p>
            <a:endParaRPr lang="es-MX"/>
          </a:p>
        </p:txBody>
      </p:sp>
      <p:pic>
        <p:nvPicPr>
          <p:cNvPr id="22" name="Image 3" descr="preencoded.png"/>
          <p:cNvPicPr>
            <a:picLocks noChangeAspect="1"/>
          </p:cNvPicPr>
          <p:nvPr/>
        </p:nvPicPr>
        <p:blipFill>
          <a:blip r:embed="rId6"/>
          <a:stretch>
            <a:fillRect/>
          </a:stretch>
        </p:blipFill>
        <p:spPr>
          <a:xfrm>
            <a:off x="402336" y="3374136"/>
            <a:ext cx="365760" cy="365760"/>
          </a:xfrm>
          <a:prstGeom prst="rect">
            <a:avLst/>
          </a:prstGeom>
        </p:spPr>
      </p:pic>
      <p:sp>
        <p:nvSpPr>
          <p:cNvPr id="23" name="Text 17"/>
          <p:cNvSpPr/>
          <p:nvPr/>
        </p:nvSpPr>
        <p:spPr>
          <a:xfrm>
            <a:off x="960120" y="2898648"/>
            <a:ext cx="2029968" cy="365760"/>
          </a:xfrm>
          <a:prstGeom prst="rect">
            <a:avLst/>
          </a:prstGeom>
          <a:noFill/>
          <a:ln/>
        </p:spPr>
        <p:txBody>
          <a:bodyPr wrap="square" lIns="0" tIns="0" rIns="0" bIns="0" rtlCol="0" anchor="ctr"/>
          <a:lstStyle/>
          <a:p>
            <a:pPr marL="0" indent="0">
              <a:buNone/>
            </a:pPr>
            <a:r>
              <a:rPr lang="en-US" sz="1200" b="1" dirty="0">
                <a:solidFill>
                  <a:srgbClr val="A8D8EA"/>
                </a:solidFill>
              </a:rPr>
              <a:t>VS Code (editor)</a:t>
            </a:r>
            <a:endParaRPr lang="en-US" sz="1200" dirty="0"/>
          </a:p>
        </p:txBody>
      </p:sp>
      <p:sp>
        <p:nvSpPr>
          <p:cNvPr id="24" name="Text 18"/>
          <p:cNvSpPr/>
          <p:nvPr/>
        </p:nvSpPr>
        <p:spPr>
          <a:xfrm>
            <a:off x="960120" y="3282696"/>
            <a:ext cx="2029968" cy="1024128"/>
          </a:xfrm>
          <a:prstGeom prst="rect">
            <a:avLst/>
          </a:prstGeom>
          <a:noFill/>
          <a:ln/>
        </p:spPr>
        <p:txBody>
          <a:bodyPr wrap="square" lIns="0" tIns="0" rIns="0" bIns="0" rtlCol="0" anchor="ctr"/>
          <a:lstStyle/>
          <a:p>
            <a:pPr marL="0" indent="0">
              <a:buNone/>
            </a:pPr>
            <a:r>
              <a:rPr lang="en-US" sz="950" dirty="0">
                <a:solidFill>
                  <a:srgbClr val="F0F4F8"/>
                </a:solidFill>
              </a:rPr>
              <a:t>El editor de código. Donde escribirás tus scripts y notebooks. Tiene resaltado de sintaxis, autocompletado, depurador integrado y soporte completo para Jupyter Notebooks.</a:t>
            </a:r>
            <a:endParaRPr lang="en-US" sz="950" dirty="0"/>
          </a:p>
        </p:txBody>
      </p:sp>
      <p:sp>
        <p:nvSpPr>
          <p:cNvPr id="25" name="Shape 19"/>
          <p:cNvSpPr/>
          <p:nvPr/>
        </p:nvSpPr>
        <p:spPr>
          <a:xfrm>
            <a:off x="3227832" y="2807208"/>
            <a:ext cx="2743200" cy="1572768"/>
          </a:xfrm>
          <a:prstGeom prst="rect">
            <a:avLst/>
          </a:prstGeom>
          <a:solidFill>
            <a:srgbClr val="1A5276"/>
          </a:solidFill>
          <a:ln w="12700">
            <a:solidFill>
              <a:srgbClr val="1A5276"/>
            </a:solidFill>
            <a:prstDash val="solid"/>
          </a:ln>
          <a:effectLst>
            <a:outerShdw blurRad="101600" dist="38100" dir="8100000" algn="bl" rotWithShape="0">
              <a:srgbClr val="000000">
                <a:alpha val="10000"/>
              </a:srgbClr>
            </a:outerShdw>
          </a:effectLst>
        </p:spPr>
        <p:txBody>
          <a:bodyPr/>
          <a:lstStyle/>
          <a:p>
            <a:endParaRPr lang="es-MX"/>
          </a:p>
        </p:txBody>
      </p:sp>
      <p:sp>
        <p:nvSpPr>
          <p:cNvPr id="26" name="Shape 20"/>
          <p:cNvSpPr/>
          <p:nvPr/>
        </p:nvSpPr>
        <p:spPr>
          <a:xfrm>
            <a:off x="3227832" y="2807208"/>
            <a:ext cx="530352" cy="1572768"/>
          </a:xfrm>
          <a:prstGeom prst="rect">
            <a:avLst/>
          </a:prstGeom>
          <a:solidFill>
            <a:srgbClr val="E37B2A"/>
          </a:solidFill>
          <a:ln w="12700">
            <a:solidFill>
              <a:srgbClr val="E37B2A"/>
            </a:solidFill>
            <a:prstDash val="solid"/>
          </a:ln>
        </p:spPr>
        <p:txBody>
          <a:bodyPr/>
          <a:lstStyle/>
          <a:p>
            <a:endParaRPr lang="es-MX"/>
          </a:p>
        </p:txBody>
      </p:sp>
      <p:pic>
        <p:nvPicPr>
          <p:cNvPr id="27" name="Image 4" descr="preencoded.png"/>
          <p:cNvPicPr>
            <a:picLocks noChangeAspect="1"/>
          </p:cNvPicPr>
          <p:nvPr/>
        </p:nvPicPr>
        <p:blipFill>
          <a:blip r:embed="rId7"/>
          <a:stretch>
            <a:fillRect/>
          </a:stretch>
        </p:blipFill>
        <p:spPr>
          <a:xfrm>
            <a:off x="3310128" y="3374136"/>
            <a:ext cx="365760" cy="365760"/>
          </a:xfrm>
          <a:prstGeom prst="rect">
            <a:avLst/>
          </a:prstGeom>
        </p:spPr>
      </p:pic>
      <p:sp>
        <p:nvSpPr>
          <p:cNvPr id="28" name="Text 21"/>
          <p:cNvSpPr/>
          <p:nvPr/>
        </p:nvSpPr>
        <p:spPr>
          <a:xfrm>
            <a:off x="3867912" y="2898648"/>
            <a:ext cx="2029968" cy="365760"/>
          </a:xfrm>
          <a:prstGeom prst="rect">
            <a:avLst/>
          </a:prstGeom>
          <a:noFill/>
          <a:ln/>
        </p:spPr>
        <p:txBody>
          <a:bodyPr wrap="square" lIns="0" tIns="0" rIns="0" bIns="0" rtlCol="0" anchor="ctr"/>
          <a:lstStyle/>
          <a:p>
            <a:pPr marL="0" indent="0">
              <a:buNone/>
            </a:pPr>
            <a:r>
              <a:rPr lang="en-US" sz="1200" b="1" dirty="0">
                <a:solidFill>
                  <a:srgbClr val="A8D8EA"/>
                </a:solidFill>
              </a:rPr>
              <a:t>Jupyter Notebook</a:t>
            </a:r>
            <a:endParaRPr lang="en-US" sz="1200" dirty="0"/>
          </a:p>
        </p:txBody>
      </p:sp>
      <p:sp>
        <p:nvSpPr>
          <p:cNvPr id="29" name="Text 22"/>
          <p:cNvSpPr/>
          <p:nvPr/>
        </p:nvSpPr>
        <p:spPr>
          <a:xfrm>
            <a:off x="3867912" y="3282696"/>
            <a:ext cx="2029968" cy="1024128"/>
          </a:xfrm>
          <a:prstGeom prst="rect">
            <a:avLst/>
          </a:prstGeom>
          <a:noFill/>
          <a:ln/>
        </p:spPr>
        <p:txBody>
          <a:bodyPr wrap="square" lIns="0" tIns="0" rIns="0" bIns="0" rtlCol="0" anchor="ctr"/>
          <a:lstStyle/>
          <a:p>
            <a:pPr marL="0" indent="0">
              <a:buNone/>
            </a:pPr>
            <a:r>
              <a:rPr lang="en-US" sz="950" dirty="0">
                <a:solidFill>
                  <a:srgbClr val="F0F4F8"/>
                </a:solidFill>
              </a:rPr>
              <a:t>Un entorno interactivo donde el código y los resultados (gráficas, tablas, texto) conviven en el mismo documento. Es el formato estándar en ciencia de datos y actuaría.</a:t>
            </a:r>
            <a:endParaRPr lang="en-US" sz="950" dirty="0"/>
          </a:p>
        </p:txBody>
      </p:sp>
      <p:sp>
        <p:nvSpPr>
          <p:cNvPr id="30" name="Shape 23"/>
          <p:cNvSpPr/>
          <p:nvPr/>
        </p:nvSpPr>
        <p:spPr>
          <a:xfrm>
            <a:off x="6135624" y="2807208"/>
            <a:ext cx="2743200" cy="1572768"/>
          </a:xfrm>
          <a:prstGeom prst="rect">
            <a:avLst/>
          </a:prstGeom>
          <a:solidFill>
            <a:srgbClr val="1A5276"/>
          </a:solidFill>
          <a:ln w="12700">
            <a:solidFill>
              <a:srgbClr val="1A5276"/>
            </a:solidFill>
            <a:prstDash val="solid"/>
          </a:ln>
          <a:effectLst>
            <a:outerShdw blurRad="101600" dist="38100" dir="8100000" algn="bl" rotWithShape="0">
              <a:srgbClr val="000000">
                <a:alpha val="10000"/>
              </a:srgbClr>
            </a:outerShdw>
          </a:effectLst>
        </p:spPr>
        <p:txBody>
          <a:bodyPr/>
          <a:lstStyle/>
          <a:p>
            <a:endParaRPr lang="es-MX"/>
          </a:p>
        </p:txBody>
      </p:sp>
      <p:sp>
        <p:nvSpPr>
          <p:cNvPr id="31" name="Shape 24"/>
          <p:cNvSpPr/>
          <p:nvPr/>
        </p:nvSpPr>
        <p:spPr>
          <a:xfrm>
            <a:off x="6135624" y="2807208"/>
            <a:ext cx="530352" cy="1572768"/>
          </a:xfrm>
          <a:prstGeom prst="rect">
            <a:avLst/>
          </a:prstGeom>
          <a:solidFill>
            <a:srgbClr val="0D7A8A"/>
          </a:solidFill>
          <a:ln w="12700">
            <a:solidFill>
              <a:srgbClr val="0D7A8A"/>
            </a:solidFill>
            <a:prstDash val="solid"/>
          </a:ln>
        </p:spPr>
        <p:txBody>
          <a:bodyPr/>
          <a:lstStyle/>
          <a:p>
            <a:endParaRPr lang="es-MX"/>
          </a:p>
        </p:txBody>
      </p:sp>
      <p:pic>
        <p:nvPicPr>
          <p:cNvPr id="32" name="Image 5" descr="preencoded.png"/>
          <p:cNvPicPr>
            <a:picLocks noChangeAspect="1"/>
          </p:cNvPicPr>
          <p:nvPr/>
        </p:nvPicPr>
        <p:blipFill>
          <a:blip r:embed="rId8"/>
          <a:stretch>
            <a:fillRect/>
          </a:stretch>
        </p:blipFill>
        <p:spPr>
          <a:xfrm>
            <a:off x="6217920" y="3374136"/>
            <a:ext cx="365760" cy="365760"/>
          </a:xfrm>
          <a:prstGeom prst="rect">
            <a:avLst/>
          </a:prstGeom>
        </p:spPr>
      </p:pic>
      <p:sp>
        <p:nvSpPr>
          <p:cNvPr id="33" name="Text 25"/>
          <p:cNvSpPr/>
          <p:nvPr/>
        </p:nvSpPr>
        <p:spPr>
          <a:xfrm>
            <a:off x="6775704" y="2898648"/>
            <a:ext cx="2029968" cy="365760"/>
          </a:xfrm>
          <a:prstGeom prst="rect">
            <a:avLst/>
          </a:prstGeom>
          <a:noFill/>
          <a:ln/>
        </p:spPr>
        <p:txBody>
          <a:bodyPr wrap="square" lIns="0" tIns="0" rIns="0" bIns="0" rtlCol="0" anchor="ctr"/>
          <a:lstStyle/>
          <a:p>
            <a:pPr marL="0" indent="0">
              <a:buNone/>
            </a:pPr>
            <a:r>
              <a:rPr lang="en-US" sz="1200" b="1" dirty="0">
                <a:solidFill>
                  <a:srgbClr val="A8D8EA"/>
                </a:solidFill>
              </a:rPr>
              <a:t>PyPI / conda-forge</a:t>
            </a:r>
            <a:endParaRPr lang="en-US" sz="1200" dirty="0"/>
          </a:p>
        </p:txBody>
      </p:sp>
      <p:sp>
        <p:nvSpPr>
          <p:cNvPr id="34" name="Text 26"/>
          <p:cNvSpPr/>
          <p:nvPr/>
        </p:nvSpPr>
        <p:spPr>
          <a:xfrm>
            <a:off x="6775704" y="3282696"/>
            <a:ext cx="2029968" cy="1024128"/>
          </a:xfrm>
          <a:prstGeom prst="rect">
            <a:avLst/>
          </a:prstGeom>
          <a:noFill/>
          <a:ln/>
        </p:spPr>
        <p:txBody>
          <a:bodyPr wrap="square" lIns="0" tIns="0" rIns="0" bIns="0" rtlCol="0" anchor="ctr"/>
          <a:lstStyle/>
          <a:p>
            <a:pPr marL="0" indent="0">
              <a:buNone/>
            </a:pPr>
            <a:r>
              <a:rPr lang="en-US" sz="950" dirty="0">
                <a:solidFill>
                  <a:srgbClr val="F0F4F8"/>
                </a:solidFill>
              </a:rPr>
              <a:t>Los repositorios de paquetes. PyPI tiene más de 400,000 bibliotecas descargables con pip. conda-forge es el repositorio equivalente para el ecosistema conda/Anaconda.</a:t>
            </a:r>
            <a:endParaRPr lang="en-US" sz="950" dirty="0"/>
          </a:p>
        </p:txBody>
      </p:sp>
      <p:sp>
        <p:nvSpPr>
          <p:cNvPr id="35" name="Shape 27"/>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36" name="Text 28"/>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Módulo 1 · Introducción a Python · Sesión 1  —  15 abril 2026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Text 1"/>
          <p:cNvSpPr/>
          <p:nvPr/>
        </p:nvSpPr>
        <p:spPr>
          <a:xfrm>
            <a:off x="457200" y="182880"/>
            <a:ext cx="8229600" cy="475488"/>
          </a:xfrm>
          <a:prstGeom prst="rect">
            <a:avLst/>
          </a:prstGeom>
          <a:noFill/>
          <a:ln/>
        </p:spPr>
        <p:txBody>
          <a:bodyPr wrap="square" lIns="0" tIns="0" rIns="0" bIns="0" rtlCol="0" anchor="ctr"/>
          <a:lstStyle/>
          <a:p>
            <a:pPr marL="0" indent="0" algn="l">
              <a:buNone/>
            </a:pPr>
            <a:r>
              <a:rPr lang="en-US" sz="2800" b="1" dirty="0">
                <a:solidFill>
                  <a:srgbClr val="0D1B3E"/>
                </a:solidFill>
              </a:rPr>
              <a:t>¿Qué Vamos a Instalar Hoy?</a:t>
            </a:r>
            <a:endParaRPr lang="en-US" sz="2800" dirty="0"/>
          </a:p>
        </p:txBody>
      </p:sp>
      <p:sp>
        <p:nvSpPr>
          <p:cNvPr id="4" name="Text 2"/>
          <p:cNvSpPr/>
          <p:nvPr/>
        </p:nvSpPr>
        <p:spPr>
          <a:xfrm>
            <a:off x="457200" y="685800"/>
            <a:ext cx="8229600" cy="256032"/>
          </a:xfrm>
          <a:prstGeom prst="rect">
            <a:avLst/>
          </a:prstGeom>
          <a:noFill/>
          <a:ln/>
        </p:spPr>
        <p:txBody>
          <a:bodyPr wrap="square" lIns="0" tIns="0" rIns="0" bIns="0" rtlCol="0" anchor="ctr"/>
          <a:lstStyle/>
          <a:p>
            <a:pPr marL="0" indent="0" algn="l">
              <a:buNone/>
            </a:pPr>
            <a:r>
              <a:rPr lang="en-US" sz="1200" dirty="0">
                <a:solidFill>
                  <a:srgbClr val="0D7A8A"/>
                </a:solidFill>
              </a:rPr>
              <a:t>Panorama del entorno completo que tendrás al final de esta sesión</a:t>
            </a:r>
            <a:endParaRPr lang="en-US" sz="1200" dirty="0"/>
          </a:p>
        </p:txBody>
      </p:sp>
      <p:sp>
        <p:nvSpPr>
          <p:cNvPr id="5" name="Shape 3"/>
          <p:cNvSpPr/>
          <p:nvPr/>
        </p:nvSpPr>
        <p:spPr>
          <a:xfrm>
            <a:off x="365760" y="1188720"/>
            <a:ext cx="1572768" cy="2011680"/>
          </a:xfrm>
          <a:prstGeom prst="rect">
            <a:avLst/>
          </a:prstGeom>
          <a:solidFill>
            <a:srgbClr val="0D7A8A"/>
          </a:solidFill>
          <a:ln w="12700">
            <a:solidFill>
              <a:srgbClr val="0D7A8A"/>
            </a:solidFill>
            <a:prstDash val="solid"/>
          </a:ln>
        </p:spPr>
        <p:txBody>
          <a:bodyPr/>
          <a:lstStyle/>
          <a:p>
            <a:endParaRPr lang="es-MX"/>
          </a:p>
        </p:txBody>
      </p:sp>
      <p:sp>
        <p:nvSpPr>
          <p:cNvPr id="6" name="Shape 4"/>
          <p:cNvSpPr/>
          <p:nvPr/>
        </p:nvSpPr>
        <p:spPr>
          <a:xfrm>
            <a:off x="365760" y="1188720"/>
            <a:ext cx="1572768" cy="475488"/>
          </a:xfrm>
          <a:prstGeom prst="rect">
            <a:avLst/>
          </a:prstGeom>
          <a:solidFill>
            <a:srgbClr val="0D7A8A"/>
          </a:solidFill>
          <a:ln w="12700">
            <a:solidFill>
              <a:srgbClr val="0D7A8A"/>
            </a:solidFill>
            <a:prstDash val="solid"/>
          </a:ln>
        </p:spPr>
        <p:txBody>
          <a:bodyPr/>
          <a:lstStyle/>
          <a:p>
            <a:endParaRPr lang="es-MX"/>
          </a:p>
        </p:txBody>
      </p:sp>
      <p:sp>
        <p:nvSpPr>
          <p:cNvPr id="7" name="Text 5"/>
          <p:cNvSpPr/>
          <p:nvPr/>
        </p:nvSpPr>
        <p:spPr>
          <a:xfrm>
            <a:off x="365760" y="1188720"/>
            <a:ext cx="1572768" cy="475488"/>
          </a:xfrm>
          <a:prstGeom prst="rect">
            <a:avLst/>
          </a:prstGeom>
          <a:noFill/>
          <a:ln/>
        </p:spPr>
        <p:txBody>
          <a:bodyPr wrap="square" lIns="0" tIns="0" rIns="0" bIns="0" rtlCol="0" anchor="ctr"/>
          <a:lstStyle/>
          <a:p>
            <a:pPr marL="0" indent="0" algn="ctr">
              <a:buNone/>
            </a:pPr>
            <a:r>
              <a:rPr lang="en-US" sz="2000" b="1" dirty="0">
                <a:solidFill>
                  <a:srgbClr val="FFFFFF"/>
                </a:solidFill>
              </a:rPr>
              <a:t>1</a:t>
            </a:r>
            <a:endParaRPr lang="en-US" sz="2000" dirty="0"/>
          </a:p>
        </p:txBody>
      </p:sp>
      <p:pic>
        <p:nvPicPr>
          <p:cNvPr id="8" name="Image 0" descr="preencoded.png"/>
          <p:cNvPicPr>
            <a:picLocks noChangeAspect="1"/>
          </p:cNvPicPr>
          <p:nvPr/>
        </p:nvPicPr>
        <p:blipFill>
          <a:blip r:embed="rId3"/>
          <a:stretch>
            <a:fillRect/>
          </a:stretch>
        </p:blipFill>
        <p:spPr>
          <a:xfrm>
            <a:off x="914400" y="1755648"/>
            <a:ext cx="457200" cy="457200"/>
          </a:xfrm>
          <a:prstGeom prst="rect">
            <a:avLst/>
          </a:prstGeom>
        </p:spPr>
      </p:pic>
      <p:sp>
        <p:nvSpPr>
          <p:cNvPr id="9" name="Text 6"/>
          <p:cNvSpPr/>
          <p:nvPr/>
        </p:nvSpPr>
        <p:spPr>
          <a:xfrm>
            <a:off x="365760" y="2304288"/>
            <a:ext cx="1572768" cy="365760"/>
          </a:xfrm>
          <a:prstGeom prst="rect">
            <a:avLst/>
          </a:prstGeom>
          <a:noFill/>
          <a:ln/>
        </p:spPr>
        <p:txBody>
          <a:bodyPr wrap="square" lIns="0" tIns="0" rIns="0" bIns="0" rtlCol="0" anchor="ctr"/>
          <a:lstStyle/>
          <a:p>
            <a:pPr marL="0" indent="0" algn="ctr">
              <a:buNone/>
            </a:pPr>
            <a:r>
              <a:rPr lang="en-US" sz="1200" b="1" dirty="0">
                <a:solidFill>
                  <a:srgbClr val="FFFFFF"/>
                </a:solidFill>
              </a:rPr>
              <a:t>Anaconda</a:t>
            </a:r>
            <a:endParaRPr lang="en-US" sz="1200" dirty="0"/>
          </a:p>
        </p:txBody>
      </p:sp>
      <p:sp>
        <p:nvSpPr>
          <p:cNvPr id="10" name="Text 7"/>
          <p:cNvSpPr/>
          <p:nvPr/>
        </p:nvSpPr>
        <p:spPr>
          <a:xfrm>
            <a:off x="365760" y="2670048"/>
            <a:ext cx="1572768" cy="475488"/>
          </a:xfrm>
          <a:prstGeom prst="rect">
            <a:avLst/>
          </a:prstGeom>
          <a:noFill/>
          <a:ln/>
        </p:spPr>
        <p:txBody>
          <a:bodyPr wrap="square" lIns="0" tIns="0" rIns="0" bIns="0" rtlCol="0" anchor="ctr"/>
          <a:lstStyle/>
          <a:p>
            <a:pPr marL="0" indent="0" algn="ctr">
              <a:buNone/>
            </a:pPr>
            <a:r>
              <a:rPr lang="en-US" sz="900" dirty="0">
                <a:solidFill>
                  <a:srgbClr val="FFFFFF"/>
                </a:solidFill>
              </a:rPr>
              <a:t>Python + bibliotecas científicas</a:t>
            </a:r>
            <a:endParaRPr lang="en-US" sz="900" dirty="0"/>
          </a:p>
        </p:txBody>
      </p:sp>
      <p:sp>
        <p:nvSpPr>
          <p:cNvPr id="11" name="Shape 8"/>
          <p:cNvSpPr/>
          <p:nvPr/>
        </p:nvSpPr>
        <p:spPr>
          <a:xfrm>
            <a:off x="1956816" y="2148840"/>
            <a:ext cx="128016" cy="27432"/>
          </a:xfrm>
          <a:prstGeom prst="rect">
            <a:avLst/>
          </a:prstGeom>
          <a:solidFill>
            <a:srgbClr val="0D7A8A"/>
          </a:solidFill>
          <a:ln w="12700">
            <a:solidFill>
              <a:srgbClr val="0D7A8A"/>
            </a:solidFill>
            <a:prstDash val="solid"/>
          </a:ln>
        </p:spPr>
        <p:txBody>
          <a:bodyPr/>
          <a:lstStyle/>
          <a:p>
            <a:endParaRPr lang="es-MX"/>
          </a:p>
        </p:txBody>
      </p:sp>
      <p:sp>
        <p:nvSpPr>
          <p:cNvPr id="12" name="Text 9"/>
          <p:cNvSpPr/>
          <p:nvPr/>
        </p:nvSpPr>
        <p:spPr>
          <a:xfrm>
            <a:off x="1938528" y="2029968"/>
            <a:ext cx="164592" cy="256032"/>
          </a:xfrm>
          <a:prstGeom prst="rect">
            <a:avLst/>
          </a:prstGeom>
          <a:noFill/>
          <a:ln/>
        </p:spPr>
        <p:txBody>
          <a:bodyPr wrap="square" lIns="0" tIns="0" rIns="0" bIns="0" rtlCol="0" anchor="ctr"/>
          <a:lstStyle/>
          <a:p>
            <a:pPr marL="0" indent="0" algn="ctr">
              <a:buNone/>
            </a:pPr>
            <a:r>
              <a:rPr lang="en-US" sz="1400" b="1" dirty="0">
                <a:solidFill>
                  <a:srgbClr val="0D7A8A"/>
                </a:solidFill>
              </a:rPr>
              <a:t>→</a:t>
            </a:r>
            <a:endParaRPr lang="en-US" sz="1400" dirty="0"/>
          </a:p>
        </p:txBody>
      </p:sp>
      <p:sp>
        <p:nvSpPr>
          <p:cNvPr id="13" name="Shape 10"/>
          <p:cNvSpPr/>
          <p:nvPr/>
        </p:nvSpPr>
        <p:spPr>
          <a:xfrm>
            <a:off x="2103120" y="1188720"/>
            <a:ext cx="1572768" cy="2011680"/>
          </a:xfrm>
          <a:prstGeom prst="rect">
            <a:avLst/>
          </a:prstGeom>
          <a:solidFill>
            <a:srgbClr val="1A5276"/>
          </a:solidFill>
          <a:ln w="12700">
            <a:solidFill>
              <a:srgbClr val="1A5276"/>
            </a:solidFill>
            <a:prstDash val="solid"/>
          </a:ln>
        </p:spPr>
        <p:txBody>
          <a:bodyPr/>
          <a:lstStyle/>
          <a:p>
            <a:endParaRPr lang="es-MX"/>
          </a:p>
        </p:txBody>
      </p:sp>
      <p:sp>
        <p:nvSpPr>
          <p:cNvPr id="14" name="Shape 11"/>
          <p:cNvSpPr/>
          <p:nvPr/>
        </p:nvSpPr>
        <p:spPr>
          <a:xfrm>
            <a:off x="2103120" y="1188720"/>
            <a:ext cx="1572768" cy="475488"/>
          </a:xfrm>
          <a:prstGeom prst="rect">
            <a:avLst/>
          </a:prstGeom>
          <a:solidFill>
            <a:srgbClr val="1A5276"/>
          </a:solidFill>
          <a:ln w="12700">
            <a:solidFill>
              <a:srgbClr val="1A5276"/>
            </a:solidFill>
            <a:prstDash val="solid"/>
          </a:ln>
        </p:spPr>
        <p:txBody>
          <a:bodyPr/>
          <a:lstStyle/>
          <a:p>
            <a:endParaRPr lang="es-MX"/>
          </a:p>
        </p:txBody>
      </p:sp>
      <p:sp>
        <p:nvSpPr>
          <p:cNvPr id="15" name="Text 12"/>
          <p:cNvSpPr/>
          <p:nvPr/>
        </p:nvSpPr>
        <p:spPr>
          <a:xfrm>
            <a:off x="2103120" y="1188720"/>
            <a:ext cx="1572768" cy="475488"/>
          </a:xfrm>
          <a:prstGeom prst="rect">
            <a:avLst/>
          </a:prstGeom>
          <a:noFill/>
          <a:ln/>
        </p:spPr>
        <p:txBody>
          <a:bodyPr wrap="square" lIns="0" tIns="0" rIns="0" bIns="0" rtlCol="0" anchor="ctr"/>
          <a:lstStyle/>
          <a:p>
            <a:pPr marL="0" indent="0" algn="ctr">
              <a:buNone/>
            </a:pPr>
            <a:r>
              <a:rPr lang="en-US" sz="2000" b="1" dirty="0">
                <a:solidFill>
                  <a:srgbClr val="FFFFFF"/>
                </a:solidFill>
              </a:rPr>
              <a:t>2</a:t>
            </a:r>
            <a:endParaRPr lang="en-US" sz="2000" dirty="0"/>
          </a:p>
        </p:txBody>
      </p:sp>
      <p:pic>
        <p:nvPicPr>
          <p:cNvPr id="16" name="Image 1" descr="preencoded.png"/>
          <p:cNvPicPr>
            <a:picLocks noChangeAspect="1"/>
          </p:cNvPicPr>
          <p:nvPr/>
        </p:nvPicPr>
        <p:blipFill>
          <a:blip r:embed="rId4"/>
          <a:stretch>
            <a:fillRect/>
          </a:stretch>
        </p:blipFill>
        <p:spPr>
          <a:xfrm>
            <a:off x="2651760" y="1755648"/>
            <a:ext cx="457200" cy="457200"/>
          </a:xfrm>
          <a:prstGeom prst="rect">
            <a:avLst/>
          </a:prstGeom>
        </p:spPr>
      </p:pic>
      <p:sp>
        <p:nvSpPr>
          <p:cNvPr id="17" name="Text 13"/>
          <p:cNvSpPr/>
          <p:nvPr/>
        </p:nvSpPr>
        <p:spPr>
          <a:xfrm>
            <a:off x="2103120" y="2304288"/>
            <a:ext cx="1572768" cy="365760"/>
          </a:xfrm>
          <a:prstGeom prst="rect">
            <a:avLst/>
          </a:prstGeom>
          <a:noFill/>
          <a:ln/>
        </p:spPr>
        <p:txBody>
          <a:bodyPr wrap="square" lIns="0" tIns="0" rIns="0" bIns="0" rtlCol="0" anchor="ctr"/>
          <a:lstStyle/>
          <a:p>
            <a:pPr marL="0" indent="0" algn="ctr">
              <a:buNone/>
            </a:pPr>
            <a:r>
              <a:rPr lang="en-US" sz="1200" b="1" dirty="0">
                <a:solidFill>
                  <a:srgbClr val="FFFFFF"/>
                </a:solidFill>
              </a:rPr>
              <a:t>VS Code</a:t>
            </a:r>
            <a:endParaRPr lang="en-US" sz="1200" dirty="0"/>
          </a:p>
        </p:txBody>
      </p:sp>
      <p:sp>
        <p:nvSpPr>
          <p:cNvPr id="18" name="Text 14"/>
          <p:cNvSpPr/>
          <p:nvPr/>
        </p:nvSpPr>
        <p:spPr>
          <a:xfrm>
            <a:off x="2103120" y="2670048"/>
            <a:ext cx="1572768" cy="475488"/>
          </a:xfrm>
          <a:prstGeom prst="rect">
            <a:avLst/>
          </a:prstGeom>
          <a:noFill/>
          <a:ln/>
        </p:spPr>
        <p:txBody>
          <a:bodyPr wrap="square" lIns="0" tIns="0" rIns="0" bIns="0" rtlCol="0" anchor="ctr"/>
          <a:lstStyle/>
          <a:p>
            <a:pPr marL="0" indent="0" algn="ctr">
              <a:buNone/>
            </a:pPr>
            <a:r>
              <a:rPr lang="en-US" sz="900" dirty="0">
                <a:solidFill>
                  <a:srgbClr val="FFFFFF"/>
                </a:solidFill>
              </a:rPr>
              <a:t>Editor de código profesional</a:t>
            </a:r>
            <a:endParaRPr lang="en-US" sz="900" dirty="0"/>
          </a:p>
        </p:txBody>
      </p:sp>
      <p:sp>
        <p:nvSpPr>
          <p:cNvPr id="19" name="Shape 15"/>
          <p:cNvSpPr/>
          <p:nvPr/>
        </p:nvSpPr>
        <p:spPr>
          <a:xfrm>
            <a:off x="3694176" y="2148840"/>
            <a:ext cx="128016" cy="27432"/>
          </a:xfrm>
          <a:prstGeom prst="rect">
            <a:avLst/>
          </a:prstGeom>
          <a:solidFill>
            <a:srgbClr val="0D7A8A"/>
          </a:solidFill>
          <a:ln w="12700">
            <a:solidFill>
              <a:srgbClr val="0D7A8A"/>
            </a:solidFill>
            <a:prstDash val="solid"/>
          </a:ln>
        </p:spPr>
        <p:txBody>
          <a:bodyPr/>
          <a:lstStyle/>
          <a:p>
            <a:endParaRPr lang="es-MX"/>
          </a:p>
        </p:txBody>
      </p:sp>
      <p:sp>
        <p:nvSpPr>
          <p:cNvPr id="20" name="Text 16"/>
          <p:cNvSpPr/>
          <p:nvPr/>
        </p:nvSpPr>
        <p:spPr>
          <a:xfrm>
            <a:off x="3675888" y="2029968"/>
            <a:ext cx="164592" cy="256032"/>
          </a:xfrm>
          <a:prstGeom prst="rect">
            <a:avLst/>
          </a:prstGeom>
          <a:noFill/>
          <a:ln/>
        </p:spPr>
        <p:txBody>
          <a:bodyPr wrap="square" lIns="0" tIns="0" rIns="0" bIns="0" rtlCol="0" anchor="ctr"/>
          <a:lstStyle/>
          <a:p>
            <a:pPr marL="0" indent="0" algn="ctr">
              <a:buNone/>
            </a:pPr>
            <a:r>
              <a:rPr lang="en-US" sz="1400" b="1" dirty="0">
                <a:solidFill>
                  <a:srgbClr val="0D7A8A"/>
                </a:solidFill>
              </a:rPr>
              <a:t>→</a:t>
            </a:r>
            <a:endParaRPr lang="en-US" sz="1400" dirty="0"/>
          </a:p>
        </p:txBody>
      </p:sp>
      <p:sp>
        <p:nvSpPr>
          <p:cNvPr id="21" name="Shape 17"/>
          <p:cNvSpPr/>
          <p:nvPr/>
        </p:nvSpPr>
        <p:spPr>
          <a:xfrm>
            <a:off x="3840480" y="1188720"/>
            <a:ext cx="1572768" cy="2011680"/>
          </a:xfrm>
          <a:prstGeom prst="rect">
            <a:avLst/>
          </a:prstGeom>
          <a:solidFill>
            <a:srgbClr val="E37B2A"/>
          </a:solidFill>
          <a:ln w="12700">
            <a:solidFill>
              <a:srgbClr val="E37B2A"/>
            </a:solidFill>
            <a:prstDash val="solid"/>
          </a:ln>
        </p:spPr>
        <p:txBody>
          <a:bodyPr/>
          <a:lstStyle/>
          <a:p>
            <a:endParaRPr lang="es-MX"/>
          </a:p>
        </p:txBody>
      </p:sp>
      <p:sp>
        <p:nvSpPr>
          <p:cNvPr id="22" name="Shape 18"/>
          <p:cNvSpPr/>
          <p:nvPr/>
        </p:nvSpPr>
        <p:spPr>
          <a:xfrm>
            <a:off x="3840480" y="1188720"/>
            <a:ext cx="1572768" cy="475488"/>
          </a:xfrm>
          <a:prstGeom prst="rect">
            <a:avLst/>
          </a:prstGeom>
          <a:solidFill>
            <a:srgbClr val="E37B2A"/>
          </a:solidFill>
          <a:ln w="12700">
            <a:solidFill>
              <a:srgbClr val="E37B2A"/>
            </a:solidFill>
            <a:prstDash val="solid"/>
          </a:ln>
        </p:spPr>
        <p:txBody>
          <a:bodyPr/>
          <a:lstStyle/>
          <a:p>
            <a:endParaRPr lang="es-MX"/>
          </a:p>
        </p:txBody>
      </p:sp>
      <p:sp>
        <p:nvSpPr>
          <p:cNvPr id="23" name="Text 19"/>
          <p:cNvSpPr/>
          <p:nvPr/>
        </p:nvSpPr>
        <p:spPr>
          <a:xfrm>
            <a:off x="3840480" y="1188720"/>
            <a:ext cx="1572768" cy="475488"/>
          </a:xfrm>
          <a:prstGeom prst="rect">
            <a:avLst/>
          </a:prstGeom>
          <a:noFill/>
          <a:ln/>
        </p:spPr>
        <p:txBody>
          <a:bodyPr wrap="square" lIns="0" tIns="0" rIns="0" bIns="0" rtlCol="0" anchor="ctr"/>
          <a:lstStyle/>
          <a:p>
            <a:pPr marL="0" indent="0" algn="ctr">
              <a:buNone/>
            </a:pPr>
            <a:r>
              <a:rPr lang="en-US" sz="2000" b="1" dirty="0">
                <a:solidFill>
                  <a:srgbClr val="FFFFFF"/>
                </a:solidFill>
              </a:rPr>
              <a:t>3</a:t>
            </a:r>
            <a:endParaRPr lang="en-US" sz="2000" dirty="0"/>
          </a:p>
        </p:txBody>
      </p:sp>
      <p:pic>
        <p:nvPicPr>
          <p:cNvPr id="24" name="Image 2" descr="preencoded.png"/>
          <p:cNvPicPr>
            <a:picLocks noChangeAspect="1"/>
          </p:cNvPicPr>
          <p:nvPr/>
        </p:nvPicPr>
        <p:blipFill>
          <a:blip r:embed="rId5"/>
          <a:stretch>
            <a:fillRect/>
          </a:stretch>
        </p:blipFill>
        <p:spPr>
          <a:xfrm>
            <a:off x="4389120" y="1755648"/>
            <a:ext cx="457200" cy="457200"/>
          </a:xfrm>
          <a:prstGeom prst="rect">
            <a:avLst/>
          </a:prstGeom>
        </p:spPr>
      </p:pic>
      <p:sp>
        <p:nvSpPr>
          <p:cNvPr id="25" name="Text 20"/>
          <p:cNvSpPr/>
          <p:nvPr/>
        </p:nvSpPr>
        <p:spPr>
          <a:xfrm>
            <a:off x="3840480" y="2304288"/>
            <a:ext cx="1572768" cy="365760"/>
          </a:xfrm>
          <a:prstGeom prst="rect">
            <a:avLst/>
          </a:prstGeom>
          <a:noFill/>
          <a:ln/>
        </p:spPr>
        <p:txBody>
          <a:bodyPr wrap="square" lIns="0" tIns="0" rIns="0" bIns="0" rtlCol="0" anchor="ctr"/>
          <a:lstStyle/>
          <a:p>
            <a:pPr marL="0" indent="0" algn="ctr">
              <a:buNone/>
            </a:pPr>
            <a:r>
              <a:rPr lang="en-US" sz="1200" b="1" dirty="0">
                <a:solidFill>
                  <a:srgbClr val="FFFFFF"/>
                </a:solidFill>
              </a:rPr>
              <a:t>Jupyter</a:t>
            </a:r>
            <a:endParaRPr lang="en-US" sz="1200" dirty="0"/>
          </a:p>
        </p:txBody>
      </p:sp>
      <p:sp>
        <p:nvSpPr>
          <p:cNvPr id="26" name="Text 21"/>
          <p:cNvSpPr/>
          <p:nvPr/>
        </p:nvSpPr>
        <p:spPr>
          <a:xfrm>
            <a:off x="3840480" y="2670048"/>
            <a:ext cx="1572768" cy="475488"/>
          </a:xfrm>
          <a:prstGeom prst="rect">
            <a:avLst/>
          </a:prstGeom>
          <a:noFill/>
          <a:ln/>
        </p:spPr>
        <p:txBody>
          <a:bodyPr wrap="square" lIns="0" tIns="0" rIns="0" bIns="0" rtlCol="0" anchor="ctr"/>
          <a:lstStyle/>
          <a:p>
            <a:pPr marL="0" indent="0" algn="ctr">
              <a:buNone/>
            </a:pPr>
            <a:r>
              <a:rPr lang="en-US" sz="900" dirty="0">
                <a:solidFill>
                  <a:srgbClr val="FFFFFF"/>
                </a:solidFill>
              </a:rPr>
              <a:t>Ya incluido en Anaconda</a:t>
            </a:r>
            <a:endParaRPr lang="en-US" sz="900" dirty="0"/>
          </a:p>
        </p:txBody>
      </p:sp>
      <p:sp>
        <p:nvSpPr>
          <p:cNvPr id="27" name="Shape 22"/>
          <p:cNvSpPr/>
          <p:nvPr/>
        </p:nvSpPr>
        <p:spPr>
          <a:xfrm>
            <a:off x="5431536" y="2148840"/>
            <a:ext cx="128016" cy="27432"/>
          </a:xfrm>
          <a:prstGeom prst="rect">
            <a:avLst/>
          </a:prstGeom>
          <a:solidFill>
            <a:srgbClr val="0D7A8A"/>
          </a:solidFill>
          <a:ln w="12700">
            <a:solidFill>
              <a:srgbClr val="0D7A8A"/>
            </a:solidFill>
            <a:prstDash val="solid"/>
          </a:ln>
        </p:spPr>
        <p:txBody>
          <a:bodyPr/>
          <a:lstStyle/>
          <a:p>
            <a:endParaRPr lang="es-MX"/>
          </a:p>
        </p:txBody>
      </p:sp>
      <p:sp>
        <p:nvSpPr>
          <p:cNvPr id="28" name="Text 23"/>
          <p:cNvSpPr/>
          <p:nvPr/>
        </p:nvSpPr>
        <p:spPr>
          <a:xfrm>
            <a:off x="5413248" y="2029968"/>
            <a:ext cx="164592" cy="256032"/>
          </a:xfrm>
          <a:prstGeom prst="rect">
            <a:avLst/>
          </a:prstGeom>
          <a:noFill/>
          <a:ln/>
        </p:spPr>
        <p:txBody>
          <a:bodyPr wrap="square" lIns="0" tIns="0" rIns="0" bIns="0" rtlCol="0" anchor="ctr"/>
          <a:lstStyle/>
          <a:p>
            <a:pPr marL="0" indent="0" algn="ctr">
              <a:buNone/>
            </a:pPr>
            <a:r>
              <a:rPr lang="en-US" sz="1400" b="1" dirty="0">
                <a:solidFill>
                  <a:srgbClr val="0D7A8A"/>
                </a:solidFill>
              </a:rPr>
              <a:t>→</a:t>
            </a:r>
            <a:endParaRPr lang="en-US" sz="1400" dirty="0"/>
          </a:p>
        </p:txBody>
      </p:sp>
      <p:sp>
        <p:nvSpPr>
          <p:cNvPr id="29" name="Shape 24"/>
          <p:cNvSpPr/>
          <p:nvPr/>
        </p:nvSpPr>
        <p:spPr>
          <a:xfrm>
            <a:off x="5577840" y="1188720"/>
            <a:ext cx="1572768" cy="2011680"/>
          </a:xfrm>
          <a:prstGeom prst="rect">
            <a:avLst/>
          </a:prstGeom>
          <a:solidFill>
            <a:srgbClr val="1E8449"/>
          </a:solidFill>
          <a:ln w="12700">
            <a:solidFill>
              <a:srgbClr val="1E8449"/>
            </a:solidFill>
            <a:prstDash val="solid"/>
          </a:ln>
        </p:spPr>
        <p:txBody>
          <a:bodyPr/>
          <a:lstStyle/>
          <a:p>
            <a:endParaRPr lang="es-MX"/>
          </a:p>
        </p:txBody>
      </p:sp>
      <p:sp>
        <p:nvSpPr>
          <p:cNvPr id="30" name="Shape 25"/>
          <p:cNvSpPr/>
          <p:nvPr/>
        </p:nvSpPr>
        <p:spPr>
          <a:xfrm>
            <a:off x="5577840" y="1188720"/>
            <a:ext cx="1572768" cy="475488"/>
          </a:xfrm>
          <a:prstGeom prst="rect">
            <a:avLst/>
          </a:prstGeom>
          <a:solidFill>
            <a:srgbClr val="1E8449"/>
          </a:solidFill>
          <a:ln w="12700">
            <a:solidFill>
              <a:srgbClr val="1E8449"/>
            </a:solidFill>
            <a:prstDash val="solid"/>
          </a:ln>
        </p:spPr>
        <p:txBody>
          <a:bodyPr/>
          <a:lstStyle/>
          <a:p>
            <a:endParaRPr lang="es-MX"/>
          </a:p>
        </p:txBody>
      </p:sp>
      <p:sp>
        <p:nvSpPr>
          <p:cNvPr id="31" name="Text 26"/>
          <p:cNvSpPr/>
          <p:nvPr/>
        </p:nvSpPr>
        <p:spPr>
          <a:xfrm>
            <a:off x="5577840" y="1188720"/>
            <a:ext cx="1572768" cy="475488"/>
          </a:xfrm>
          <a:prstGeom prst="rect">
            <a:avLst/>
          </a:prstGeom>
          <a:noFill/>
          <a:ln/>
        </p:spPr>
        <p:txBody>
          <a:bodyPr wrap="square" lIns="0" tIns="0" rIns="0" bIns="0" rtlCol="0" anchor="ctr"/>
          <a:lstStyle/>
          <a:p>
            <a:pPr marL="0" indent="0" algn="ctr">
              <a:buNone/>
            </a:pPr>
            <a:r>
              <a:rPr lang="en-US" sz="2000" b="1" dirty="0">
                <a:solidFill>
                  <a:srgbClr val="FFFFFF"/>
                </a:solidFill>
              </a:rPr>
              <a:t>4</a:t>
            </a:r>
            <a:endParaRPr lang="en-US" sz="2000" dirty="0"/>
          </a:p>
        </p:txBody>
      </p:sp>
      <p:pic>
        <p:nvPicPr>
          <p:cNvPr id="32" name="Image 3" descr="preencoded.png"/>
          <p:cNvPicPr>
            <a:picLocks noChangeAspect="1"/>
          </p:cNvPicPr>
          <p:nvPr/>
        </p:nvPicPr>
        <p:blipFill>
          <a:blip r:embed="rId4"/>
          <a:stretch>
            <a:fillRect/>
          </a:stretch>
        </p:blipFill>
        <p:spPr>
          <a:xfrm>
            <a:off x="6126480" y="1755648"/>
            <a:ext cx="457200" cy="457200"/>
          </a:xfrm>
          <a:prstGeom prst="rect">
            <a:avLst/>
          </a:prstGeom>
        </p:spPr>
      </p:pic>
      <p:sp>
        <p:nvSpPr>
          <p:cNvPr id="33" name="Text 27"/>
          <p:cNvSpPr/>
          <p:nvPr/>
        </p:nvSpPr>
        <p:spPr>
          <a:xfrm>
            <a:off x="5577840" y="2304288"/>
            <a:ext cx="1572768" cy="365760"/>
          </a:xfrm>
          <a:prstGeom prst="rect">
            <a:avLst/>
          </a:prstGeom>
          <a:noFill/>
          <a:ln/>
        </p:spPr>
        <p:txBody>
          <a:bodyPr wrap="square" lIns="0" tIns="0" rIns="0" bIns="0" rtlCol="0" anchor="ctr"/>
          <a:lstStyle/>
          <a:p>
            <a:pPr marL="0" indent="0" algn="ctr">
              <a:buNone/>
            </a:pPr>
            <a:r>
              <a:rPr lang="en-US" sz="1200" b="1" dirty="0">
                <a:solidFill>
                  <a:srgbClr val="FFFFFF"/>
                </a:solidFill>
              </a:rPr>
              <a:t>Bibliotecas</a:t>
            </a:r>
            <a:endParaRPr lang="en-US" sz="1200" dirty="0"/>
          </a:p>
        </p:txBody>
      </p:sp>
      <p:sp>
        <p:nvSpPr>
          <p:cNvPr id="34" name="Text 28"/>
          <p:cNvSpPr/>
          <p:nvPr/>
        </p:nvSpPr>
        <p:spPr>
          <a:xfrm>
            <a:off x="5577840" y="2670048"/>
            <a:ext cx="1572768" cy="475488"/>
          </a:xfrm>
          <a:prstGeom prst="rect">
            <a:avLst/>
          </a:prstGeom>
          <a:noFill/>
          <a:ln/>
        </p:spPr>
        <p:txBody>
          <a:bodyPr wrap="square" lIns="0" tIns="0" rIns="0" bIns="0" rtlCol="0" anchor="ctr"/>
          <a:lstStyle/>
          <a:p>
            <a:pPr marL="0" indent="0" algn="ctr">
              <a:buNone/>
            </a:pPr>
            <a:r>
              <a:rPr lang="en-US" sz="900" dirty="0">
                <a:solidFill>
                  <a:srgbClr val="FFFFFF"/>
                </a:solidFill>
              </a:rPr>
              <a:t>NumPy, Pandas, Seaborn, sklearn</a:t>
            </a:r>
            <a:endParaRPr lang="en-US" sz="900" dirty="0"/>
          </a:p>
        </p:txBody>
      </p:sp>
      <p:sp>
        <p:nvSpPr>
          <p:cNvPr id="35" name="Shape 29"/>
          <p:cNvSpPr/>
          <p:nvPr/>
        </p:nvSpPr>
        <p:spPr>
          <a:xfrm>
            <a:off x="7168896" y="2148840"/>
            <a:ext cx="128016" cy="27432"/>
          </a:xfrm>
          <a:prstGeom prst="rect">
            <a:avLst/>
          </a:prstGeom>
          <a:solidFill>
            <a:srgbClr val="0D7A8A"/>
          </a:solidFill>
          <a:ln w="12700">
            <a:solidFill>
              <a:srgbClr val="0D7A8A"/>
            </a:solidFill>
            <a:prstDash val="solid"/>
          </a:ln>
        </p:spPr>
        <p:txBody>
          <a:bodyPr/>
          <a:lstStyle/>
          <a:p>
            <a:endParaRPr lang="es-MX"/>
          </a:p>
        </p:txBody>
      </p:sp>
      <p:sp>
        <p:nvSpPr>
          <p:cNvPr id="36" name="Text 30"/>
          <p:cNvSpPr/>
          <p:nvPr/>
        </p:nvSpPr>
        <p:spPr>
          <a:xfrm>
            <a:off x="7150608" y="2029968"/>
            <a:ext cx="164592" cy="256032"/>
          </a:xfrm>
          <a:prstGeom prst="rect">
            <a:avLst/>
          </a:prstGeom>
          <a:noFill/>
          <a:ln/>
        </p:spPr>
        <p:txBody>
          <a:bodyPr wrap="square" lIns="0" tIns="0" rIns="0" bIns="0" rtlCol="0" anchor="ctr"/>
          <a:lstStyle/>
          <a:p>
            <a:pPr marL="0" indent="0" algn="ctr">
              <a:buNone/>
            </a:pPr>
            <a:r>
              <a:rPr lang="en-US" sz="1400" b="1" dirty="0">
                <a:solidFill>
                  <a:srgbClr val="0D7A8A"/>
                </a:solidFill>
              </a:rPr>
              <a:t>→</a:t>
            </a:r>
            <a:endParaRPr lang="en-US" sz="1400" dirty="0"/>
          </a:p>
        </p:txBody>
      </p:sp>
      <p:sp>
        <p:nvSpPr>
          <p:cNvPr id="37" name="Shape 31"/>
          <p:cNvSpPr/>
          <p:nvPr/>
        </p:nvSpPr>
        <p:spPr>
          <a:xfrm>
            <a:off x="7315200" y="1188720"/>
            <a:ext cx="1572768" cy="2011680"/>
          </a:xfrm>
          <a:prstGeom prst="rect">
            <a:avLst/>
          </a:prstGeom>
          <a:solidFill>
            <a:srgbClr val="6C3483"/>
          </a:solidFill>
          <a:ln w="12700">
            <a:solidFill>
              <a:srgbClr val="6C3483"/>
            </a:solidFill>
            <a:prstDash val="solid"/>
          </a:ln>
        </p:spPr>
        <p:txBody>
          <a:bodyPr/>
          <a:lstStyle/>
          <a:p>
            <a:endParaRPr lang="es-MX"/>
          </a:p>
        </p:txBody>
      </p:sp>
      <p:sp>
        <p:nvSpPr>
          <p:cNvPr id="38" name="Shape 32"/>
          <p:cNvSpPr/>
          <p:nvPr/>
        </p:nvSpPr>
        <p:spPr>
          <a:xfrm>
            <a:off x="7315200" y="1188720"/>
            <a:ext cx="1572768" cy="475488"/>
          </a:xfrm>
          <a:prstGeom prst="rect">
            <a:avLst/>
          </a:prstGeom>
          <a:solidFill>
            <a:srgbClr val="6C3483"/>
          </a:solidFill>
          <a:ln w="12700">
            <a:solidFill>
              <a:srgbClr val="6C3483"/>
            </a:solidFill>
            <a:prstDash val="solid"/>
          </a:ln>
        </p:spPr>
        <p:txBody>
          <a:bodyPr/>
          <a:lstStyle/>
          <a:p>
            <a:endParaRPr lang="es-MX"/>
          </a:p>
        </p:txBody>
      </p:sp>
      <p:sp>
        <p:nvSpPr>
          <p:cNvPr id="39" name="Text 33"/>
          <p:cNvSpPr/>
          <p:nvPr/>
        </p:nvSpPr>
        <p:spPr>
          <a:xfrm>
            <a:off x="7315200" y="1188720"/>
            <a:ext cx="1572768" cy="475488"/>
          </a:xfrm>
          <a:prstGeom prst="rect">
            <a:avLst/>
          </a:prstGeom>
          <a:noFill/>
          <a:ln/>
        </p:spPr>
        <p:txBody>
          <a:bodyPr wrap="square" lIns="0" tIns="0" rIns="0" bIns="0" rtlCol="0" anchor="ctr"/>
          <a:lstStyle/>
          <a:p>
            <a:pPr marL="0" indent="0" algn="ctr">
              <a:buNone/>
            </a:pPr>
            <a:r>
              <a:rPr lang="en-US" sz="2000" b="1" dirty="0">
                <a:solidFill>
                  <a:srgbClr val="FFFFFF"/>
                </a:solidFill>
              </a:rPr>
              <a:t>5</a:t>
            </a:r>
            <a:endParaRPr lang="en-US" sz="2000" dirty="0"/>
          </a:p>
        </p:txBody>
      </p:sp>
      <p:pic>
        <p:nvPicPr>
          <p:cNvPr id="40" name="Image 4" descr="preencoded.png"/>
          <p:cNvPicPr>
            <a:picLocks noChangeAspect="1"/>
          </p:cNvPicPr>
          <p:nvPr/>
        </p:nvPicPr>
        <p:blipFill>
          <a:blip r:embed="rId6"/>
          <a:stretch>
            <a:fillRect/>
          </a:stretch>
        </p:blipFill>
        <p:spPr>
          <a:xfrm>
            <a:off x="7863840" y="1755648"/>
            <a:ext cx="457200" cy="457200"/>
          </a:xfrm>
          <a:prstGeom prst="rect">
            <a:avLst/>
          </a:prstGeom>
        </p:spPr>
      </p:pic>
      <p:sp>
        <p:nvSpPr>
          <p:cNvPr id="41" name="Text 34"/>
          <p:cNvSpPr/>
          <p:nvPr/>
        </p:nvSpPr>
        <p:spPr>
          <a:xfrm>
            <a:off x="7315200" y="2304288"/>
            <a:ext cx="1572768" cy="365760"/>
          </a:xfrm>
          <a:prstGeom prst="rect">
            <a:avLst/>
          </a:prstGeom>
          <a:noFill/>
          <a:ln/>
        </p:spPr>
        <p:txBody>
          <a:bodyPr wrap="square" lIns="0" tIns="0" rIns="0" bIns="0" rtlCol="0" anchor="ctr"/>
          <a:lstStyle/>
          <a:p>
            <a:pPr marL="0" indent="0" algn="ctr">
              <a:buNone/>
            </a:pPr>
            <a:r>
              <a:rPr lang="en-US" sz="1200" b="1" dirty="0">
                <a:solidFill>
                  <a:srgbClr val="FFFFFF"/>
                </a:solidFill>
              </a:rPr>
              <a:t>GitHub</a:t>
            </a:r>
            <a:endParaRPr lang="en-US" sz="1200" dirty="0"/>
          </a:p>
        </p:txBody>
      </p:sp>
      <p:sp>
        <p:nvSpPr>
          <p:cNvPr id="42" name="Text 35"/>
          <p:cNvSpPr/>
          <p:nvPr/>
        </p:nvSpPr>
        <p:spPr>
          <a:xfrm>
            <a:off x="7315200" y="2670048"/>
            <a:ext cx="1572768" cy="475488"/>
          </a:xfrm>
          <a:prstGeom prst="rect">
            <a:avLst/>
          </a:prstGeom>
          <a:noFill/>
          <a:ln/>
        </p:spPr>
        <p:txBody>
          <a:bodyPr wrap="square" lIns="0" tIns="0" rIns="0" bIns="0" rtlCol="0" anchor="ctr"/>
          <a:lstStyle/>
          <a:p>
            <a:pPr marL="0" indent="0" algn="ctr">
              <a:buNone/>
            </a:pPr>
            <a:r>
              <a:rPr lang="en-US" sz="900" dirty="0">
                <a:solidFill>
                  <a:srgbClr val="FFFFFF"/>
                </a:solidFill>
              </a:rPr>
              <a:t>Control de versiones</a:t>
            </a:r>
            <a:endParaRPr lang="en-US" sz="900" dirty="0"/>
          </a:p>
        </p:txBody>
      </p:sp>
      <p:sp>
        <p:nvSpPr>
          <p:cNvPr id="43" name="Shape 36"/>
          <p:cNvSpPr/>
          <p:nvPr/>
        </p:nvSpPr>
        <p:spPr>
          <a:xfrm>
            <a:off x="365760" y="3310128"/>
            <a:ext cx="1572768" cy="658368"/>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44" name="Text 37"/>
          <p:cNvSpPr/>
          <p:nvPr/>
        </p:nvSpPr>
        <p:spPr>
          <a:xfrm>
            <a:off x="932688" y="3346704"/>
            <a:ext cx="384048" cy="62179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45" name="Text 38"/>
          <p:cNvSpPr/>
          <p:nvPr/>
        </p:nvSpPr>
        <p:spPr>
          <a:xfrm>
            <a:off x="384048" y="3364992"/>
            <a:ext cx="1371600" cy="256032"/>
          </a:xfrm>
          <a:prstGeom prst="rect">
            <a:avLst/>
          </a:prstGeom>
          <a:noFill/>
          <a:ln/>
        </p:spPr>
        <p:txBody>
          <a:bodyPr wrap="square" lIns="0" tIns="0" rIns="0" bIns="0" rtlCol="0" anchor="ctr"/>
          <a:lstStyle/>
          <a:p>
            <a:pPr marL="0" indent="0">
              <a:buNone/>
            </a:pPr>
            <a:r>
              <a:rPr lang="en-US" sz="1000" b="1" dirty="0">
                <a:solidFill>
                  <a:srgbClr val="0D1B3E"/>
                </a:solidFill>
              </a:rPr>
              <a:t>Anaconda</a:t>
            </a:r>
            <a:endParaRPr lang="en-US" sz="1000" dirty="0"/>
          </a:p>
        </p:txBody>
      </p:sp>
      <p:sp>
        <p:nvSpPr>
          <p:cNvPr id="46" name="Text 39"/>
          <p:cNvSpPr/>
          <p:nvPr/>
        </p:nvSpPr>
        <p:spPr>
          <a:xfrm>
            <a:off x="384048" y="3621024"/>
            <a:ext cx="1371600" cy="219456"/>
          </a:xfrm>
          <a:prstGeom prst="rect">
            <a:avLst/>
          </a:prstGeom>
          <a:noFill/>
          <a:ln/>
        </p:spPr>
        <p:txBody>
          <a:bodyPr wrap="square" lIns="0" tIns="0" rIns="0" bIns="0" rtlCol="0" anchor="ctr"/>
          <a:lstStyle/>
          <a:p>
            <a:pPr marL="0" indent="0">
              <a:buNone/>
            </a:pPr>
            <a:r>
              <a:rPr lang="en-US" sz="900" dirty="0">
                <a:solidFill>
                  <a:srgbClr val="0D7A8A"/>
                </a:solidFill>
              </a:rPr>
              <a:t>~10 min</a:t>
            </a:r>
            <a:endParaRPr lang="en-US" sz="900" dirty="0"/>
          </a:p>
        </p:txBody>
      </p:sp>
      <p:sp>
        <p:nvSpPr>
          <p:cNvPr id="47" name="Shape 40"/>
          <p:cNvSpPr/>
          <p:nvPr/>
        </p:nvSpPr>
        <p:spPr>
          <a:xfrm>
            <a:off x="2103120" y="3310128"/>
            <a:ext cx="1572768" cy="658368"/>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48" name="Text 41"/>
          <p:cNvSpPr/>
          <p:nvPr/>
        </p:nvSpPr>
        <p:spPr>
          <a:xfrm>
            <a:off x="2615184" y="3346704"/>
            <a:ext cx="384048" cy="62179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49" name="Text 42"/>
          <p:cNvSpPr/>
          <p:nvPr/>
        </p:nvSpPr>
        <p:spPr>
          <a:xfrm>
            <a:off x="2121408" y="3364992"/>
            <a:ext cx="1371600" cy="256032"/>
          </a:xfrm>
          <a:prstGeom prst="rect">
            <a:avLst/>
          </a:prstGeom>
          <a:noFill/>
          <a:ln/>
        </p:spPr>
        <p:txBody>
          <a:bodyPr wrap="square" lIns="0" tIns="0" rIns="0" bIns="0" rtlCol="0" anchor="ctr"/>
          <a:lstStyle/>
          <a:p>
            <a:pPr marL="0" indent="0">
              <a:buNone/>
            </a:pPr>
            <a:r>
              <a:rPr lang="en-US" sz="1000" b="1" dirty="0">
                <a:solidFill>
                  <a:srgbClr val="0D1B3E"/>
                </a:solidFill>
              </a:rPr>
              <a:t>VS Code</a:t>
            </a:r>
            <a:endParaRPr lang="en-US" sz="1000" dirty="0"/>
          </a:p>
        </p:txBody>
      </p:sp>
      <p:sp>
        <p:nvSpPr>
          <p:cNvPr id="50" name="Text 43"/>
          <p:cNvSpPr/>
          <p:nvPr/>
        </p:nvSpPr>
        <p:spPr>
          <a:xfrm>
            <a:off x="2121408" y="3621024"/>
            <a:ext cx="1371600" cy="219456"/>
          </a:xfrm>
          <a:prstGeom prst="rect">
            <a:avLst/>
          </a:prstGeom>
          <a:noFill/>
          <a:ln/>
        </p:spPr>
        <p:txBody>
          <a:bodyPr wrap="square" lIns="0" tIns="0" rIns="0" bIns="0" rtlCol="0" anchor="ctr"/>
          <a:lstStyle/>
          <a:p>
            <a:pPr marL="0" indent="0">
              <a:buNone/>
            </a:pPr>
            <a:r>
              <a:rPr lang="en-US" sz="900" dirty="0">
                <a:solidFill>
                  <a:srgbClr val="0D7A8A"/>
                </a:solidFill>
              </a:rPr>
              <a:t>~5 min</a:t>
            </a:r>
            <a:endParaRPr lang="en-US" sz="900" dirty="0"/>
          </a:p>
        </p:txBody>
      </p:sp>
      <p:sp>
        <p:nvSpPr>
          <p:cNvPr id="51" name="Shape 44"/>
          <p:cNvSpPr/>
          <p:nvPr/>
        </p:nvSpPr>
        <p:spPr>
          <a:xfrm>
            <a:off x="3840480" y="3310128"/>
            <a:ext cx="1572768" cy="658368"/>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52" name="Text 45"/>
          <p:cNvSpPr/>
          <p:nvPr/>
        </p:nvSpPr>
        <p:spPr>
          <a:xfrm>
            <a:off x="4398264" y="3349279"/>
            <a:ext cx="384048" cy="62179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53" name="Text 46"/>
          <p:cNvSpPr/>
          <p:nvPr/>
        </p:nvSpPr>
        <p:spPr>
          <a:xfrm>
            <a:off x="3858768" y="3364992"/>
            <a:ext cx="1371600" cy="256032"/>
          </a:xfrm>
          <a:prstGeom prst="rect">
            <a:avLst/>
          </a:prstGeom>
          <a:noFill/>
          <a:ln/>
        </p:spPr>
        <p:txBody>
          <a:bodyPr wrap="square" lIns="0" tIns="0" rIns="0" bIns="0" rtlCol="0" anchor="ctr"/>
          <a:lstStyle/>
          <a:p>
            <a:pPr marL="0" indent="0">
              <a:buNone/>
            </a:pPr>
            <a:r>
              <a:rPr lang="en-US" sz="1000" b="1" dirty="0">
                <a:solidFill>
                  <a:srgbClr val="0D1B3E"/>
                </a:solidFill>
              </a:rPr>
              <a:t>Jupyter</a:t>
            </a:r>
            <a:endParaRPr lang="en-US" sz="1000" dirty="0"/>
          </a:p>
        </p:txBody>
      </p:sp>
      <p:sp>
        <p:nvSpPr>
          <p:cNvPr id="54" name="Text 47"/>
          <p:cNvSpPr/>
          <p:nvPr/>
        </p:nvSpPr>
        <p:spPr>
          <a:xfrm>
            <a:off x="3858768" y="3621024"/>
            <a:ext cx="1371600" cy="219456"/>
          </a:xfrm>
          <a:prstGeom prst="rect">
            <a:avLst/>
          </a:prstGeom>
          <a:noFill/>
          <a:ln/>
        </p:spPr>
        <p:txBody>
          <a:bodyPr wrap="square" lIns="0" tIns="0" rIns="0" bIns="0" rtlCol="0" anchor="ctr"/>
          <a:lstStyle/>
          <a:p>
            <a:pPr marL="0" indent="0">
              <a:buNone/>
            </a:pPr>
            <a:r>
              <a:rPr lang="en-US" sz="900" dirty="0">
                <a:solidFill>
                  <a:srgbClr val="0D7A8A"/>
                </a:solidFill>
              </a:rPr>
              <a:t>incluido</a:t>
            </a:r>
            <a:endParaRPr lang="en-US" sz="900" dirty="0"/>
          </a:p>
        </p:txBody>
      </p:sp>
      <p:sp>
        <p:nvSpPr>
          <p:cNvPr id="55" name="Shape 48"/>
          <p:cNvSpPr/>
          <p:nvPr/>
        </p:nvSpPr>
        <p:spPr>
          <a:xfrm>
            <a:off x="5559552" y="3330098"/>
            <a:ext cx="1572768" cy="658368"/>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56" name="Text 49"/>
          <p:cNvSpPr/>
          <p:nvPr/>
        </p:nvSpPr>
        <p:spPr>
          <a:xfrm>
            <a:off x="5577840" y="3328416"/>
            <a:ext cx="384048" cy="62179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57" name="Text 50"/>
          <p:cNvSpPr/>
          <p:nvPr/>
        </p:nvSpPr>
        <p:spPr>
          <a:xfrm>
            <a:off x="5596128" y="3364992"/>
            <a:ext cx="1371600" cy="256032"/>
          </a:xfrm>
          <a:prstGeom prst="rect">
            <a:avLst/>
          </a:prstGeom>
          <a:noFill/>
          <a:ln/>
        </p:spPr>
        <p:txBody>
          <a:bodyPr wrap="square" lIns="0" tIns="0" rIns="0" bIns="0" rtlCol="0" anchor="ctr"/>
          <a:lstStyle/>
          <a:p>
            <a:pPr marL="0" indent="0">
              <a:buNone/>
            </a:pPr>
            <a:r>
              <a:rPr lang="en-US" sz="1000" b="1" dirty="0">
                <a:solidFill>
                  <a:srgbClr val="0D1B3E"/>
                </a:solidFill>
              </a:rPr>
              <a:t>Bibliotecas</a:t>
            </a:r>
            <a:endParaRPr lang="en-US" sz="1000" dirty="0"/>
          </a:p>
        </p:txBody>
      </p:sp>
      <p:sp>
        <p:nvSpPr>
          <p:cNvPr id="58" name="Text 51"/>
          <p:cNvSpPr/>
          <p:nvPr/>
        </p:nvSpPr>
        <p:spPr>
          <a:xfrm>
            <a:off x="5596128" y="3725182"/>
            <a:ext cx="1371600" cy="219456"/>
          </a:xfrm>
          <a:prstGeom prst="rect">
            <a:avLst/>
          </a:prstGeom>
          <a:noFill/>
          <a:ln/>
        </p:spPr>
        <p:txBody>
          <a:bodyPr wrap="square" lIns="0" tIns="0" rIns="0" bIns="0" rtlCol="0" anchor="ctr"/>
          <a:lstStyle/>
          <a:p>
            <a:pPr marL="0" indent="0">
              <a:buNone/>
            </a:pPr>
            <a:r>
              <a:rPr lang="en-US" sz="900" dirty="0">
                <a:solidFill>
                  <a:srgbClr val="0D7A8A"/>
                </a:solidFill>
              </a:rPr>
              <a:t>~3 min</a:t>
            </a:r>
            <a:endParaRPr lang="en-US" sz="900" dirty="0"/>
          </a:p>
        </p:txBody>
      </p:sp>
      <p:sp>
        <p:nvSpPr>
          <p:cNvPr id="59" name="Shape 52"/>
          <p:cNvSpPr/>
          <p:nvPr/>
        </p:nvSpPr>
        <p:spPr>
          <a:xfrm>
            <a:off x="7315200" y="3310128"/>
            <a:ext cx="1572768" cy="658368"/>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60" name="Text 53"/>
          <p:cNvSpPr/>
          <p:nvPr/>
        </p:nvSpPr>
        <p:spPr>
          <a:xfrm>
            <a:off x="7315200" y="3328416"/>
            <a:ext cx="384048" cy="62179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61" name="Text 54"/>
          <p:cNvSpPr/>
          <p:nvPr/>
        </p:nvSpPr>
        <p:spPr>
          <a:xfrm>
            <a:off x="7333488" y="3364992"/>
            <a:ext cx="1371600" cy="256032"/>
          </a:xfrm>
          <a:prstGeom prst="rect">
            <a:avLst/>
          </a:prstGeom>
          <a:noFill/>
          <a:ln/>
        </p:spPr>
        <p:txBody>
          <a:bodyPr wrap="square" lIns="0" tIns="0" rIns="0" bIns="0" rtlCol="0" anchor="ctr"/>
          <a:lstStyle/>
          <a:p>
            <a:pPr marL="0" indent="0">
              <a:buNone/>
            </a:pPr>
            <a:r>
              <a:rPr lang="en-US" sz="1000" b="1" dirty="0">
                <a:solidFill>
                  <a:srgbClr val="0D1B3E"/>
                </a:solidFill>
              </a:rPr>
              <a:t>GitHub</a:t>
            </a:r>
            <a:endParaRPr lang="en-US" sz="1000" dirty="0"/>
          </a:p>
        </p:txBody>
      </p:sp>
      <p:sp>
        <p:nvSpPr>
          <p:cNvPr id="62" name="Text 55"/>
          <p:cNvSpPr/>
          <p:nvPr/>
        </p:nvSpPr>
        <p:spPr>
          <a:xfrm>
            <a:off x="7333488" y="3715197"/>
            <a:ext cx="1371600" cy="219456"/>
          </a:xfrm>
          <a:prstGeom prst="rect">
            <a:avLst/>
          </a:prstGeom>
          <a:noFill/>
          <a:ln/>
        </p:spPr>
        <p:txBody>
          <a:bodyPr wrap="square" lIns="0" tIns="0" rIns="0" bIns="0" rtlCol="0" anchor="ctr"/>
          <a:lstStyle/>
          <a:p>
            <a:pPr marL="0" indent="0">
              <a:buNone/>
            </a:pPr>
            <a:r>
              <a:rPr lang="en-US" sz="900" dirty="0">
                <a:solidFill>
                  <a:srgbClr val="0D7A8A"/>
                </a:solidFill>
              </a:rPr>
              <a:t>~10 min</a:t>
            </a:r>
            <a:endParaRPr lang="en-US" sz="900" dirty="0"/>
          </a:p>
        </p:txBody>
      </p:sp>
      <p:sp>
        <p:nvSpPr>
          <p:cNvPr id="63" name="Shape 56"/>
          <p:cNvSpPr/>
          <p:nvPr/>
        </p:nvSpPr>
        <p:spPr>
          <a:xfrm>
            <a:off x="365760" y="4114800"/>
            <a:ext cx="8412480" cy="594360"/>
          </a:xfrm>
          <a:prstGeom prst="rect">
            <a:avLst/>
          </a:prstGeom>
          <a:solidFill>
            <a:srgbClr val="0D7A8A">
              <a:alpha val="12000"/>
            </a:srgbClr>
          </a:solidFill>
          <a:ln w="12700">
            <a:solidFill>
              <a:srgbClr val="0D7A8A"/>
            </a:solidFill>
            <a:prstDash val="solid"/>
          </a:ln>
        </p:spPr>
        <p:txBody>
          <a:bodyPr/>
          <a:lstStyle/>
          <a:p>
            <a:endParaRPr lang="es-MX"/>
          </a:p>
        </p:txBody>
      </p:sp>
      <p:pic>
        <p:nvPicPr>
          <p:cNvPr id="64" name="Image 5" descr="preencoded.png"/>
          <p:cNvPicPr>
            <a:picLocks noChangeAspect="1"/>
          </p:cNvPicPr>
          <p:nvPr/>
        </p:nvPicPr>
        <p:blipFill>
          <a:blip r:embed="rId7"/>
          <a:stretch>
            <a:fillRect/>
          </a:stretch>
        </p:blipFill>
        <p:spPr>
          <a:xfrm>
            <a:off x="512064" y="4224528"/>
            <a:ext cx="256032" cy="256032"/>
          </a:xfrm>
          <a:prstGeom prst="rect">
            <a:avLst/>
          </a:prstGeom>
        </p:spPr>
      </p:pic>
      <p:sp>
        <p:nvSpPr>
          <p:cNvPr id="65" name="Text 57"/>
          <p:cNvSpPr/>
          <p:nvPr/>
        </p:nvSpPr>
        <p:spPr>
          <a:xfrm>
            <a:off x="877824" y="4160520"/>
            <a:ext cx="7790688" cy="530352"/>
          </a:xfrm>
          <a:prstGeom prst="rect">
            <a:avLst/>
          </a:prstGeom>
          <a:noFill/>
          <a:ln/>
        </p:spPr>
        <p:txBody>
          <a:bodyPr wrap="square" lIns="0" tIns="0" rIns="0" bIns="0" rtlCol="0" anchor="ctr"/>
          <a:lstStyle/>
          <a:p>
            <a:pPr marL="0" indent="0">
              <a:buNone/>
            </a:pPr>
            <a:r>
              <a:rPr lang="en-US" sz="1000" dirty="0">
                <a:solidFill>
                  <a:srgbClr val="0D1B3E"/>
                </a:solidFill>
              </a:rPr>
              <a:t>Importante: Si en tu computadora ya tienes Python instalado de otra forma, no hay problema. Durante la sesión te indicaremos cómo verificar tu instalación existente o instalar en paralelo sin conflictos.</a:t>
            </a:r>
            <a:endParaRPr lang="en-US" sz="1000" dirty="0"/>
          </a:p>
        </p:txBody>
      </p:sp>
      <p:sp>
        <p:nvSpPr>
          <p:cNvPr id="66" name="Shape 58"/>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67" name="Text 59"/>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Módulo 1 · Introducción a Python · Sesión 1  —  15 abril 2026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Shape 1"/>
          <p:cNvSpPr/>
          <p:nvPr/>
        </p:nvSpPr>
        <p:spPr>
          <a:xfrm>
            <a:off x="365760" y="566928"/>
            <a:ext cx="2011680" cy="256032"/>
          </a:xfrm>
          <a:prstGeom prst="rect">
            <a:avLst/>
          </a:prstGeom>
          <a:solidFill>
            <a:srgbClr val="0D7A8A"/>
          </a:solidFill>
          <a:ln w="12700">
            <a:solidFill>
              <a:srgbClr val="0D7A8A"/>
            </a:solidFill>
            <a:prstDash val="solid"/>
          </a:ln>
        </p:spPr>
        <p:txBody>
          <a:bodyPr/>
          <a:lstStyle/>
          <a:p>
            <a:endParaRPr lang="es-MX"/>
          </a:p>
        </p:txBody>
      </p:sp>
      <p:sp>
        <p:nvSpPr>
          <p:cNvPr id="4" name="Text 2"/>
          <p:cNvSpPr/>
          <p:nvPr/>
        </p:nvSpPr>
        <p:spPr>
          <a:xfrm>
            <a:off x="365760" y="566928"/>
            <a:ext cx="2011680" cy="256032"/>
          </a:xfrm>
          <a:prstGeom prst="rect">
            <a:avLst/>
          </a:prstGeom>
          <a:noFill/>
          <a:ln/>
        </p:spPr>
        <p:txBody>
          <a:bodyPr wrap="square" lIns="0" tIns="0" rIns="0" bIns="0" rtlCol="0" anchor="ctr"/>
          <a:lstStyle/>
          <a:p>
            <a:pPr marL="0" indent="0" algn="ctr">
              <a:buNone/>
            </a:pPr>
            <a:r>
              <a:rPr lang="en-US" sz="850" b="1" kern="0" spc="200" dirty="0">
                <a:solidFill>
                  <a:srgbClr val="FFFFFF"/>
                </a:solidFill>
              </a:rPr>
              <a:t>PASO 1 DE 5</a:t>
            </a:r>
            <a:endParaRPr lang="en-US" sz="850" dirty="0"/>
          </a:p>
        </p:txBody>
      </p:sp>
      <p:sp>
        <p:nvSpPr>
          <p:cNvPr id="5" name="Text 3"/>
          <p:cNvSpPr/>
          <p:nvPr/>
        </p:nvSpPr>
        <p:spPr>
          <a:xfrm>
            <a:off x="347472" y="77724"/>
            <a:ext cx="8229600" cy="475488"/>
          </a:xfrm>
          <a:prstGeom prst="rect">
            <a:avLst/>
          </a:prstGeom>
          <a:noFill/>
          <a:ln/>
        </p:spPr>
        <p:txBody>
          <a:bodyPr wrap="square" lIns="0" tIns="0" rIns="0" bIns="0" rtlCol="0" anchor="ctr"/>
          <a:lstStyle/>
          <a:p>
            <a:pPr marL="0" indent="0" algn="l">
              <a:buNone/>
            </a:pPr>
            <a:r>
              <a:rPr lang="en-US" sz="2800" b="1" dirty="0">
                <a:solidFill>
                  <a:srgbClr val="FFFFFF"/>
                </a:solidFill>
              </a:rPr>
              <a:t>Descargar Anaconda</a:t>
            </a:r>
            <a:endParaRPr lang="en-US" sz="2800" dirty="0"/>
          </a:p>
        </p:txBody>
      </p:sp>
      <p:sp>
        <p:nvSpPr>
          <p:cNvPr id="6" name="Text 4"/>
          <p:cNvSpPr/>
          <p:nvPr/>
        </p:nvSpPr>
        <p:spPr>
          <a:xfrm>
            <a:off x="365760" y="841248"/>
            <a:ext cx="8229600" cy="256032"/>
          </a:xfrm>
          <a:prstGeom prst="rect">
            <a:avLst/>
          </a:prstGeom>
          <a:noFill/>
          <a:ln/>
        </p:spPr>
        <p:txBody>
          <a:bodyPr wrap="square" lIns="0" tIns="0" rIns="0" bIns="0" rtlCol="0" anchor="ctr"/>
          <a:lstStyle/>
          <a:p>
            <a:pPr marL="0" indent="0" algn="l">
              <a:buNone/>
            </a:pPr>
            <a:r>
              <a:rPr lang="en-US" sz="1200" dirty="0">
                <a:solidFill>
                  <a:srgbClr val="A8D8EA"/>
                </a:solidFill>
              </a:rPr>
              <a:t>anaconda.com/download  ·  Versión Individual (gratuita)</a:t>
            </a:r>
            <a:endParaRPr lang="en-US" sz="1200" dirty="0"/>
          </a:p>
        </p:txBody>
      </p:sp>
      <p:sp>
        <p:nvSpPr>
          <p:cNvPr id="7" name="Shape 5"/>
          <p:cNvSpPr/>
          <p:nvPr/>
        </p:nvSpPr>
        <p:spPr>
          <a:xfrm>
            <a:off x="347472" y="1188720"/>
            <a:ext cx="566928" cy="658368"/>
          </a:xfrm>
          <a:prstGeom prst="rect">
            <a:avLst/>
          </a:prstGeom>
          <a:solidFill>
            <a:srgbClr val="0D7A8A"/>
          </a:solidFill>
          <a:ln w="12700">
            <a:solidFill>
              <a:srgbClr val="0D7A8A"/>
            </a:solidFill>
            <a:prstDash val="solid"/>
          </a:ln>
        </p:spPr>
        <p:txBody>
          <a:bodyPr/>
          <a:lstStyle/>
          <a:p>
            <a:endParaRPr lang="es-MX"/>
          </a:p>
        </p:txBody>
      </p:sp>
      <p:sp>
        <p:nvSpPr>
          <p:cNvPr id="8" name="Text 6"/>
          <p:cNvSpPr/>
          <p:nvPr/>
        </p:nvSpPr>
        <p:spPr>
          <a:xfrm>
            <a:off x="347472" y="1188720"/>
            <a:ext cx="566928" cy="658368"/>
          </a:xfrm>
          <a:prstGeom prst="rect">
            <a:avLst/>
          </a:prstGeom>
          <a:noFill/>
          <a:ln/>
        </p:spPr>
        <p:txBody>
          <a:bodyPr wrap="square" lIns="0" tIns="0" rIns="0" bIns="0" rtlCol="0" anchor="ctr"/>
          <a:lstStyle/>
          <a:p>
            <a:pPr marL="0" indent="0" algn="ctr">
              <a:buNone/>
            </a:pPr>
            <a:r>
              <a:rPr lang="en-US" sz="1600" b="1" dirty="0">
                <a:solidFill>
                  <a:srgbClr val="FFFFFF"/>
                </a:solidFill>
              </a:rPr>
              <a:t>01</a:t>
            </a:r>
            <a:endParaRPr lang="en-US" sz="1600" dirty="0"/>
          </a:p>
        </p:txBody>
      </p:sp>
      <p:sp>
        <p:nvSpPr>
          <p:cNvPr id="9" name="Shape 7"/>
          <p:cNvSpPr/>
          <p:nvPr/>
        </p:nvSpPr>
        <p:spPr>
          <a:xfrm>
            <a:off x="969264" y="1188720"/>
            <a:ext cx="7827264" cy="658368"/>
          </a:xfrm>
          <a:prstGeom prst="rect">
            <a:avLst/>
          </a:prstGeom>
          <a:solidFill>
            <a:srgbClr val="1A5276"/>
          </a:solidFill>
          <a:ln w="12700">
            <a:solidFill>
              <a:srgbClr val="1A5276"/>
            </a:solidFill>
            <a:prstDash val="solid"/>
          </a:ln>
          <a:effectLst>
            <a:outerShdw blurRad="101600" dist="38100" dir="8100000" algn="bl" rotWithShape="0">
              <a:srgbClr val="000000">
                <a:alpha val="10000"/>
              </a:srgbClr>
            </a:outerShdw>
          </a:effectLst>
        </p:spPr>
        <p:txBody>
          <a:bodyPr/>
          <a:lstStyle/>
          <a:p>
            <a:endParaRPr lang="es-MX"/>
          </a:p>
        </p:txBody>
      </p:sp>
      <p:sp>
        <p:nvSpPr>
          <p:cNvPr id="10" name="Text 8"/>
          <p:cNvSpPr/>
          <p:nvPr/>
        </p:nvSpPr>
        <p:spPr>
          <a:xfrm>
            <a:off x="1078992" y="1225296"/>
            <a:ext cx="7589520" cy="274320"/>
          </a:xfrm>
          <a:prstGeom prst="rect">
            <a:avLst/>
          </a:prstGeom>
          <a:noFill/>
          <a:ln/>
        </p:spPr>
        <p:txBody>
          <a:bodyPr wrap="square" lIns="0" tIns="0" rIns="0" bIns="0" rtlCol="0" anchor="ctr"/>
          <a:lstStyle/>
          <a:p>
            <a:pPr marL="0" indent="0">
              <a:buNone/>
            </a:pPr>
            <a:r>
              <a:rPr lang="en-US" sz="1200" b="1" dirty="0">
                <a:solidFill>
                  <a:srgbClr val="A8D8EA"/>
                </a:solidFill>
              </a:rPr>
              <a:t>Abre el navegador y ve a anaconda.com/download</a:t>
            </a:r>
            <a:endParaRPr lang="en-US" sz="1200" dirty="0"/>
          </a:p>
        </p:txBody>
      </p:sp>
      <p:sp>
        <p:nvSpPr>
          <p:cNvPr id="11" name="Text 9"/>
          <p:cNvSpPr/>
          <p:nvPr/>
        </p:nvSpPr>
        <p:spPr>
          <a:xfrm>
            <a:off x="1078992" y="1517904"/>
            <a:ext cx="7589520" cy="274320"/>
          </a:xfrm>
          <a:prstGeom prst="rect">
            <a:avLst/>
          </a:prstGeom>
          <a:noFill/>
          <a:ln/>
        </p:spPr>
        <p:txBody>
          <a:bodyPr wrap="square" lIns="0" tIns="0" rIns="0" bIns="0" rtlCol="0" anchor="ctr"/>
          <a:lstStyle/>
          <a:p>
            <a:pPr marL="0" indent="0">
              <a:buNone/>
            </a:pPr>
            <a:r>
              <a:rPr lang="en-US" sz="1000" dirty="0">
                <a:solidFill>
                  <a:srgbClr val="F0F4F8"/>
                </a:solidFill>
              </a:rPr>
              <a:t>Asegúrate de ir al sitio oficial. Busca 'Anaconda Individual Edition', que es la versión gratuita para uso personal y académico.</a:t>
            </a:r>
            <a:endParaRPr lang="en-US" sz="1000" dirty="0"/>
          </a:p>
        </p:txBody>
      </p:sp>
      <p:sp>
        <p:nvSpPr>
          <p:cNvPr id="12" name="Shape 10"/>
          <p:cNvSpPr/>
          <p:nvPr/>
        </p:nvSpPr>
        <p:spPr>
          <a:xfrm>
            <a:off x="347472" y="2029968"/>
            <a:ext cx="566928" cy="658368"/>
          </a:xfrm>
          <a:prstGeom prst="rect">
            <a:avLst/>
          </a:prstGeom>
          <a:solidFill>
            <a:srgbClr val="0D7A8A"/>
          </a:solidFill>
          <a:ln w="12700">
            <a:solidFill>
              <a:srgbClr val="0D7A8A"/>
            </a:solidFill>
            <a:prstDash val="solid"/>
          </a:ln>
        </p:spPr>
        <p:txBody>
          <a:bodyPr/>
          <a:lstStyle/>
          <a:p>
            <a:endParaRPr lang="es-MX"/>
          </a:p>
        </p:txBody>
      </p:sp>
      <p:sp>
        <p:nvSpPr>
          <p:cNvPr id="13" name="Text 11"/>
          <p:cNvSpPr/>
          <p:nvPr/>
        </p:nvSpPr>
        <p:spPr>
          <a:xfrm>
            <a:off x="347472" y="2029968"/>
            <a:ext cx="566928" cy="658368"/>
          </a:xfrm>
          <a:prstGeom prst="rect">
            <a:avLst/>
          </a:prstGeom>
          <a:noFill/>
          <a:ln/>
        </p:spPr>
        <p:txBody>
          <a:bodyPr wrap="square" lIns="0" tIns="0" rIns="0" bIns="0" rtlCol="0" anchor="ctr"/>
          <a:lstStyle/>
          <a:p>
            <a:pPr marL="0" indent="0" algn="ctr">
              <a:buNone/>
            </a:pPr>
            <a:r>
              <a:rPr lang="en-US" sz="1600" b="1" dirty="0">
                <a:solidFill>
                  <a:srgbClr val="FFFFFF"/>
                </a:solidFill>
              </a:rPr>
              <a:t>02</a:t>
            </a:r>
            <a:endParaRPr lang="en-US" sz="1600" dirty="0"/>
          </a:p>
        </p:txBody>
      </p:sp>
      <p:sp>
        <p:nvSpPr>
          <p:cNvPr id="14" name="Shape 12"/>
          <p:cNvSpPr/>
          <p:nvPr/>
        </p:nvSpPr>
        <p:spPr>
          <a:xfrm>
            <a:off x="969264" y="2029968"/>
            <a:ext cx="7827264" cy="658368"/>
          </a:xfrm>
          <a:prstGeom prst="rect">
            <a:avLst/>
          </a:prstGeom>
          <a:solidFill>
            <a:srgbClr val="1A5276"/>
          </a:solidFill>
          <a:ln w="12700">
            <a:solidFill>
              <a:srgbClr val="1A5276"/>
            </a:solidFill>
            <a:prstDash val="solid"/>
          </a:ln>
          <a:effectLst>
            <a:outerShdw blurRad="101600" dist="38100" dir="8100000" algn="bl" rotWithShape="0">
              <a:srgbClr val="000000">
                <a:alpha val="10000"/>
              </a:srgbClr>
            </a:outerShdw>
          </a:effectLst>
        </p:spPr>
        <p:txBody>
          <a:bodyPr/>
          <a:lstStyle/>
          <a:p>
            <a:endParaRPr lang="es-MX"/>
          </a:p>
        </p:txBody>
      </p:sp>
      <p:sp>
        <p:nvSpPr>
          <p:cNvPr id="15" name="Text 13"/>
          <p:cNvSpPr/>
          <p:nvPr/>
        </p:nvSpPr>
        <p:spPr>
          <a:xfrm>
            <a:off x="1078992" y="2066544"/>
            <a:ext cx="7589520" cy="274320"/>
          </a:xfrm>
          <a:prstGeom prst="rect">
            <a:avLst/>
          </a:prstGeom>
          <a:noFill/>
          <a:ln/>
        </p:spPr>
        <p:txBody>
          <a:bodyPr wrap="square" lIns="0" tIns="0" rIns="0" bIns="0" rtlCol="0" anchor="ctr"/>
          <a:lstStyle/>
          <a:p>
            <a:pPr marL="0" indent="0">
              <a:buNone/>
            </a:pPr>
            <a:r>
              <a:rPr lang="en-US" sz="1200" b="1" dirty="0">
                <a:solidFill>
                  <a:srgbClr val="A8D8EA"/>
                </a:solidFill>
              </a:rPr>
              <a:t>El sitio detecta tu sistema operativo automáticamente</a:t>
            </a:r>
            <a:endParaRPr lang="en-US" sz="1200" dirty="0"/>
          </a:p>
        </p:txBody>
      </p:sp>
      <p:sp>
        <p:nvSpPr>
          <p:cNvPr id="16" name="Text 14"/>
          <p:cNvSpPr/>
          <p:nvPr/>
        </p:nvSpPr>
        <p:spPr>
          <a:xfrm>
            <a:off x="1078992" y="2359152"/>
            <a:ext cx="7589520" cy="274320"/>
          </a:xfrm>
          <a:prstGeom prst="rect">
            <a:avLst/>
          </a:prstGeom>
          <a:noFill/>
          <a:ln/>
        </p:spPr>
        <p:txBody>
          <a:bodyPr wrap="square" lIns="0" tIns="0" rIns="0" bIns="0" rtlCol="0" anchor="ctr"/>
          <a:lstStyle/>
          <a:p>
            <a:pPr marL="0" indent="0">
              <a:buNone/>
            </a:pPr>
            <a:r>
              <a:rPr lang="en-US" sz="1000" dirty="0">
                <a:solidFill>
                  <a:srgbClr val="F0F4F8"/>
                </a:solidFill>
              </a:rPr>
              <a:t>Verás botones para Windows, macOS e Intel o Apple Silicon (M1/M2). Selecciona el que corresponde a tu equipo. Si tienes Mac nuevo (2021+) probablemente es Apple Silicon.</a:t>
            </a:r>
            <a:endParaRPr lang="en-US" sz="1000" dirty="0"/>
          </a:p>
        </p:txBody>
      </p:sp>
      <p:sp>
        <p:nvSpPr>
          <p:cNvPr id="17" name="Shape 15"/>
          <p:cNvSpPr/>
          <p:nvPr/>
        </p:nvSpPr>
        <p:spPr>
          <a:xfrm>
            <a:off x="347472" y="2871216"/>
            <a:ext cx="566928" cy="658368"/>
          </a:xfrm>
          <a:prstGeom prst="rect">
            <a:avLst/>
          </a:prstGeom>
          <a:solidFill>
            <a:srgbClr val="0D7A8A"/>
          </a:solidFill>
          <a:ln w="12700">
            <a:solidFill>
              <a:srgbClr val="0D7A8A"/>
            </a:solidFill>
            <a:prstDash val="solid"/>
          </a:ln>
        </p:spPr>
        <p:txBody>
          <a:bodyPr/>
          <a:lstStyle/>
          <a:p>
            <a:endParaRPr lang="es-MX"/>
          </a:p>
        </p:txBody>
      </p:sp>
      <p:sp>
        <p:nvSpPr>
          <p:cNvPr id="18" name="Text 16"/>
          <p:cNvSpPr/>
          <p:nvPr/>
        </p:nvSpPr>
        <p:spPr>
          <a:xfrm>
            <a:off x="347472" y="2871216"/>
            <a:ext cx="566928" cy="658368"/>
          </a:xfrm>
          <a:prstGeom prst="rect">
            <a:avLst/>
          </a:prstGeom>
          <a:noFill/>
          <a:ln/>
        </p:spPr>
        <p:txBody>
          <a:bodyPr wrap="square" lIns="0" tIns="0" rIns="0" bIns="0" rtlCol="0" anchor="ctr"/>
          <a:lstStyle/>
          <a:p>
            <a:pPr marL="0" indent="0" algn="ctr">
              <a:buNone/>
            </a:pPr>
            <a:r>
              <a:rPr lang="en-US" sz="1600" b="1" dirty="0">
                <a:solidFill>
                  <a:srgbClr val="FFFFFF"/>
                </a:solidFill>
              </a:rPr>
              <a:t>03</a:t>
            </a:r>
            <a:endParaRPr lang="en-US" sz="1600" dirty="0"/>
          </a:p>
        </p:txBody>
      </p:sp>
      <p:sp>
        <p:nvSpPr>
          <p:cNvPr id="19" name="Shape 17"/>
          <p:cNvSpPr/>
          <p:nvPr/>
        </p:nvSpPr>
        <p:spPr>
          <a:xfrm>
            <a:off x="969264" y="2871216"/>
            <a:ext cx="7827264" cy="658368"/>
          </a:xfrm>
          <a:prstGeom prst="rect">
            <a:avLst/>
          </a:prstGeom>
          <a:solidFill>
            <a:srgbClr val="1A5276"/>
          </a:solidFill>
          <a:ln w="12700">
            <a:solidFill>
              <a:srgbClr val="1A5276"/>
            </a:solidFill>
            <a:prstDash val="solid"/>
          </a:ln>
          <a:effectLst>
            <a:outerShdw blurRad="101600" dist="38100" dir="8100000" algn="bl" rotWithShape="0">
              <a:srgbClr val="000000">
                <a:alpha val="10000"/>
              </a:srgbClr>
            </a:outerShdw>
          </a:effectLst>
        </p:spPr>
        <p:txBody>
          <a:bodyPr/>
          <a:lstStyle/>
          <a:p>
            <a:endParaRPr lang="es-MX"/>
          </a:p>
        </p:txBody>
      </p:sp>
      <p:sp>
        <p:nvSpPr>
          <p:cNvPr id="20" name="Text 18"/>
          <p:cNvSpPr/>
          <p:nvPr/>
        </p:nvSpPr>
        <p:spPr>
          <a:xfrm>
            <a:off x="1078992" y="2907792"/>
            <a:ext cx="7589520" cy="274320"/>
          </a:xfrm>
          <a:prstGeom prst="rect">
            <a:avLst/>
          </a:prstGeom>
          <a:noFill/>
          <a:ln/>
        </p:spPr>
        <p:txBody>
          <a:bodyPr wrap="square" lIns="0" tIns="0" rIns="0" bIns="0" rtlCol="0" anchor="ctr"/>
          <a:lstStyle/>
          <a:p>
            <a:pPr marL="0" indent="0">
              <a:buNone/>
            </a:pPr>
            <a:r>
              <a:rPr lang="en-US" sz="1200" b="1" dirty="0">
                <a:solidFill>
                  <a:srgbClr val="A8D8EA"/>
                </a:solidFill>
              </a:rPr>
              <a:t>Descarga el instalador (.exe en Windows, .pkg en macOS)</a:t>
            </a:r>
            <a:endParaRPr lang="en-US" sz="1200" dirty="0"/>
          </a:p>
        </p:txBody>
      </p:sp>
      <p:sp>
        <p:nvSpPr>
          <p:cNvPr id="21" name="Text 19"/>
          <p:cNvSpPr/>
          <p:nvPr/>
        </p:nvSpPr>
        <p:spPr>
          <a:xfrm>
            <a:off x="1078992" y="3200400"/>
            <a:ext cx="7589520" cy="274320"/>
          </a:xfrm>
          <a:prstGeom prst="rect">
            <a:avLst/>
          </a:prstGeom>
          <a:noFill/>
          <a:ln/>
        </p:spPr>
        <p:txBody>
          <a:bodyPr wrap="square" lIns="0" tIns="0" rIns="0" bIns="0" rtlCol="0" anchor="ctr"/>
          <a:lstStyle/>
          <a:p>
            <a:pPr marL="0" indent="0">
              <a:buNone/>
            </a:pPr>
            <a:r>
              <a:rPr lang="en-US" sz="1000" dirty="0">
                <a:solidFill>
                  <a:srgbClr val="F0F4F8"/>
                </a:solidFill>
              </a:rPr>
              <a:t>El archivo pesa aproximadamente 800 MB a 1 GB, así que necesitarás una conexión estable. La descarga puede tardar entre 3 y 10 minutos dependiendo de tu internet.</a:t>
            </a:r>
            <a:endParaRPr lang="en-US" sz="1000" dirty="0"/>
          </a:p>
        </p:txBody>
      </p:sp>
      <p:sp>
        <p:nvSpPr>
          <p:cNvPr id="22" name="Shape 20"/>
          <p:cNvSpPr/>
          <p:nvPr/>
        </p:nvSpPr>
        <p:spPr>
          <a:xfrm>
            <a:off x="347472" y="3712464"/>
            <a:ext cx="566928" cy="658368"/>
          </a:xfrm>
          <a:prstGeom prst="rect">
            <a:avLst/>
          </a:prstGeom>
          <a:solidFill>
            <a:srgbClr val="0D7A8A"/>
          </a:solidFill>
          <a:ln w="12700">
            <a:solidFill>
              <a:srgbClr val="0D7A8A"/>
            </a:solidFill>
            <a:prstDash val="solid"/>
          </a:ln>
        </p:spPr>
        <p:txBody>
          <a:bodyPr/>
          <a:lstStyle/>
          <a:p>
            <a:endParaRPr lang="es-MX"/>
          </a:p>
        </p:txBody>
      </p:sp>
      <p:sp>
        <p:nvSpPr>
          <p:cNvPr id="23" name="Text 21"/>
          <p:cNvSpPr/>
          <p:nvPr/>
        </p:nvSpPr>
        <p:spPr>
          <a:xfrm>
            <a:off x="347472" y="3712464"/>
            <a:ext cx="566928" cy="658368"/>
          </a:xfrm>
          <a:prstGeom prst="rect">
            <a:avLst/>
          </a:prstGeom>
          <a:noFill/>
          <a:ln/>
        </p:spPr>
        <p:txBody>
          <a:bodyPr wrap="square" lIns="0" tIns="0" rIns="0" bIns="0" rtlCol="0" anchor="ctr"/>
          <a:lstStyle/>
          <a:p>
            <a:pPr marL="0" indent="0" algn="ctr">
              <a:buNone/>
            </a:pPr>
            <a:r>
              <a:rPr lang="en-US" sz="1600" b="1" dirty="0">
                <a:solidFill>
                  <a:srgbClr val="FFFFFF"/>
                </a:solidFill>
              </a:rPr>
              <a:t>04</a:t>
            </a:r>
            <a:endParaRPr lang="en-US" sz="1600" dirty="0"/>
          </a:p>
        </p:txBody>
      </p:sp>
      <p:sp>
        <p:nvSpPr>
          <p:cNvPr id="24" name="Shape 22"/>
          <p:cNvSpPr/>
          <p:nvPr/>
        </p:nvSpPr>
        <p:spPr>
          <a:xfrm>
            <a:off x="969264" y="3712464"/>
            <a:ext cx="7827264" cy="658368"/>
          </a:xfrm>
          <a:prstGeom prst="rect">
            <a:avLst/>
          </a:prstGeom>
          <a:solidFill>
            <a:srgbClr val="1A5276"/>
          </a:solidFill>
          <a:ln w="12700">
            <a:solidFill>
              <a:srgbClr val="1A5276"/>
            </a:solidFill>
            <a:prstDash val="solid"/>
          </a:ln>
          <a:effectLst>
            <a:outerShdw blurRad="101600" dist="38100" dir="8100000" algn="bl" rotWithShape="0">
              <a:srgbClr val="000000">
                <a:alpha val="10000"/>
              </a:srgbClr>
            </a:outerShdw>
          </a:effectLst>
        </p:spPr>
        <p:txBody>
          <a:bodyPr/>
          <a:lstStyle/>
          <a:p>
            <a:endParaRPr lang="es-MX"/>
          </a:p>
        </p:txBody>
      </p:sp>
      <p:sp>
        <p:nvSpPr>
          <p:cNvPr id="25" name="Text 23"/>
          <p:cNvSpPr/>
          <p:nvPr/>
        </p:nvSpPr>
        <p:spPr>
          <a:xfrm>
            <a:off x="1078992" y="3749040"/>
            <a:ext cx="7589520" cy="274320"/>
          </a:xfrm>
          <a:prstGeom prst="rect">
            <a:avLst/>
          </a:prstGeom>
          <a:noFill/>
          <a:ln/>
        </p:spPr>
        <p:txBody>
          <a:bodyPr wrap="square" lIns="0" tIns="0" rIns="0" bIns="0" rtlCol="0" anchor="ctr"/>
          <a:lstStyle/>
          <a:p>
            <a:pPr marL="0" indent="0">
              <a:buNone/>
            </a:pPr>
            <a:r>
              <a:rPr lang="en-US" sz="1200" b="1" dirty="0">
                <a:solidFill>
                  <a:srgbClr val="A8D8EA"/>
                </a:solidFill>
              </a:rPr>
              <a:t>Guarda el instalador en una carpeta que encuentres fácilmente</a:t>
            </a:r>
            <a:endParaRPr lang="en-US" sz="1200" dirty="0"/>
          </a:p>
        </p:txBody>
      </p:sp>
      <p:sp>
        <p:nvSpPr>
          <p:cNvPr id="26" name="Text 24"/>
          <p:cNvSpPr/>
          <p:nvPr/>
        </p:nvSpPr>
        <p:spPr>
          <a:xfrm>
            <a:off x="1078992" y="4041648"/>
            <a:ext cx="7589520" cy="274320"/>
          </a:xfrm>
          <a:prstGeom prst="rect">
            <a:avLst/>
          </a:prstGeom>
          <a:noFill/>
          <a:ln/>
        </p:spPr>
        <p:txBody>
          <a:bodyPr wrap="square" lIns="0" tIns="0" rIns="0" bIns="0" rtlCol="0" anchor="ctr"/>
          <a:lstStyle/>
          <a:p>
            <a:pPr marL="0" indent="0">
              <a:buNone/>
            </a:pPr>
            <a:r>
              <a:rPr lang="en-US" sz="1000" dirty="0">
                <a:solidFill>
                  <a:srgbClr val="F0F4F8"/>
                </a:solidFill>
              </a:rPr>
              <a:t>Te recomendamos la carpeta Descargas (Downloads). No lo ejecutes todavía — primero cerramos todas las aplicaciones abiertas para una instalación limpia.</a:t>
            </a:r>
            <a:endParaRPr lang="en-US" sz="1000" dirty="0"/>
          </a:p>
        </p:txBody>
      </p:sp>
      <p:sp>
        <p:nvSpPr>
          <p:cNvPr id="27" name="Shape 25"/>
          <p:cNvSpPr/>
          <p:nvPr/>
        </p:nvSpPr>
        <p:spPr>
          <a:xfrm>
            <a:off x="420624" y="4416552"/>
            <a:ext cx="8449056" cy="475488"/>
          </a:xfrm>
          <a:prstGeom prst="rect">
            <a:avLst/>
          </a:prstGeom>
          <a:solidFill>
            <a:srgbClr val="F4A261">
              <a:alpha val="12000"/>
            </a:srgbClr>
          </a:solidFill>
          <a:ln w="12700">
            <a:solidFill>
              <a:srgbClr val="F4A261"/>
            </a:solidFill>
            <a:prstDash val="solid"/>
          </a:ln>
        </p:spPr>
        <p:txBody>
          <a:bodyPr/>
          <a:lstStyle/>
          <a:p>
            <a:endParaRPr lang="es-MX"/>
          </a:p>
        </p:txBody>
      </p:sp>
      <p:pic>
        <p:nvPicPr>
          <p:cNvPr id="28" name="Image 0" descr="preencoded.png"/>
          <p:cNvPicPr>
            <a:picLocks noChangeAspect="1"/>
          </p:cNvPicPr>
          <p:nvPr/>
        </p:nvPicPr>
        <p:blipFill>
          <a:blip r:embed="rId3"/>
          <a:stretch>
            <a:fillRect/>
          </a:stretch>
        </p:blipFill>
        <p:spPr>
          <a:xfrm>
            <a:off x="507334" y="4544568"/>
            <a:ext cx="237744" cy="237744"/>
          </a:xfrm>
          <a:prstGeom prst="rect">
            <a:avLst/>
          </a:prstGeom>
        </p:spPr>
      </p:pic>
      <p:sp>
        <p:nvSpPr>
          <p:cNvPr id="29" name="Text 26"/>
          <p:cNvSpPr/>
          <p:nvPr/>
        </p:nvSpPr>
        <p:spPr>
          <a:xfrm>
            <a:off x="859536" y="4470943"/>
            <a:ext cx="7863840" cy="420624"/>
          </a:xfrm>
          <a:prstGeom prst="rect">
            <a:avLst/>
          </a:prstGeom>
          <a:noFill/>
          <a:ln/>
        </p:spPr>
        <p:txBody>
          <a:bodyPr wrap="square" lIns="0" tIns="0" rIns="0" bIns="0" rtlCol="0" anchor="ctr"/>
          <a:lstStyle/>
          <a:p>
            <a:pPr marL="0" indent="0">
              <a:buNone/>
            </a:pPr>
            <a:r>
              <a:rPr lang="en-US" sz="1000" dirty="0">
                <a:solidFill>
                  <a:schemeClr val="bg1"/>
                </a:solidFill>
              </a:rPr>
              <a:t>Alternativa: Si tu internet es lento, puedes descargar Miniconda (solo ~80 MB) e instalar las bibliotecas manualmente después con conda install. El resultado final es el mismo</a:t>
            </a:r>
            <a:r>
              <a:rPr lang="en-US" sz="1000" dirty="0">
                <a:solidFill>
                  <a:srgbClr val="374151"/>
                </a:solidFill>
              </a:rPr>
              <a:t>.</a:t>
            </a:r>
            <a:endParaRPr lang="en-US" sz="1000" dirty="0"/>
          </a:p>
        </p:txBody>
      </p:sp>
      <p:sp>
        <p:nvSpPr>
          <p:cNvPr id="30" name="Shape 27"/>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31" name="Text 28"/>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Módulo 1 · Introducción a Python · Sesión 1  —  15 abril 2026</a:t>
            </a:r>
            <a:endParaRPr lang="en-US" sz="850" dirty="0"/>
          </a:p>
        </p:txBody>
      </p:sp>
      <p:sp>
        <p:nvSpPr>
          <p:cNvPr id="32" name="Text 29"/>
          <p:cNvSpPr/>
          <p:nvPr/>
        </p:nvSpPr>
        <p:spPr>
          <a:xfrm>
            <a:off x="274320" y="4892040"/>
            <a:ext cx="5486400" cy="251460"/>
          </a:xfrm>
          <a:prstGeom prst="rect">
            <a:avLst/>
          </a:prstGeom>
          <a:noFill/>
          <a:ln/>
        </p:spPr>
        <p:txBody>
          <a:bodyPr wrap="square" lIns="0" tIns="0" rIns="0" bIns="0" rtlCol="0" anchor="ctr"/>
          <a:lstStyle/>
          <a:p>
            <a:pPr marL="0" indent="0" algn="l">
              <a:buNone/>
            </a:pPr>
            <a:r>
              <a:rPr lang="en-US" sz="850" dirty="0">
                <a:solidFill>
                  <a:srgbClr val="A8D8EA"/>
                </a:solidFill>
              </a:rPr>
              <a:t>PASO 1 · Descargar Anaconda</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Shape 1"/>
          <p:cNvSpPr/>
          <p:nvPr/>
        </p:nvSpPr>
        <p:spPr>
          <a:xfrm>
            <a:off x="365760" y="493776"/>
            <a:ext cx="2011680" cy="256032"/>
          </a:xfrm>
          <a:prstGeom prst="rect">
            <a:avLst/>
          </a:prstGeom>
          <a:solidFill>
            <a:srgbClr val="1A5276"/>
          </a:solidFill>
          <a:ln w="12700">
            <a:solidFill>
              <a:srgbClr val="1A5276"/>
            </a:solidFill>
            <a:prstDash val="solid"/>
          </a:ln>
        </p:spPr>
        <p:txBody>
          <a:bodyPr/>
          <a:lstStyle/>
          <a:p>
            <a:endParaRPr lang="es-MX"/>
          </a:p>
        </p:txBody>
      </p:sp>
      <p:sp>
        <p:nvSpPr>
          <p:cNvPr id="4" name="Text 2"/>
          <p:cNvSpPr/>
          <p:nvPr/>
        </p:nvSpPr>
        <p:spPr>
          <a:xfrm>
            <a:off x="274320" y="502920"/>
            <a:ext cx="2011680" cy="256032"/>
          </a:xfrm>
          <a:prstGeom prst="rect">
            <a:avLst/>
          </a:prstGeom>
          <a:noFill/>
          <a:ln/>
        </p:spPr>
        <p:txBody>
          <a:bodyPr wrap="square" lIns="0" tIns="0" rIns="0" bIns="0" rtlCol="0" anchor="ctr"/>
          <a:lstStyle/>
          <a:p>
            <a:pPr marL="0" indent="0" algn="ctr">
              <a:buNone/>
            </a:pPr>
            <a:r>
              <a:rPr lang="en-US" sz="850" b="1" kern="0" spc="200" dirty="0">
                <a:solidFill>
                  <a:srgbClr val="FFFFFF"/>
                </a:solidFill>
              </a:rPr>
              <a:t>PASO 1 DE 5</a:t>
            </a:r>
            <a:endParaRPr lang="en-US" sz="850" dirty="0"/>
          </a:p>
        </p:txBody>
      </p:sp>
      <p:sp>
        <p:nvSpPr>
          <p:cNvPr id="5" name="Text 3"/>
          <p:cNvSpPr/>
          <p:nvPr/>
        </p:nvSpPr>
        <p:spPr>
          <a:xfrm>
            <a:off x="274320" y="32004"/>
            <a:ext cx="8229600" cy="475488"/>
          </a:xfrm>
          <a:prstGeom prst="rect">
            <a:avLst/>
          </a:prstGeom>
          <a:noFill/>
          <a:ln/>
        </p:spPr>
        <p:txBody>
          <a:bodyPr wrap="square" lIns="0" tIns="0" rIns="0" bIns="0" rtlCol="0" anchor="ctr"/>
          <a:lstStyle/>
          <a:p>
            <a:pPr marL="0" indent="0" algn="l">
              <a:buNone/>
            </a:pPr>
            <a:r>
              <a:rPr lang="en-US" sz="2800" b="1" dirty="0">
                <a:solidFill>
                  <a:srgbClr val="0D1B3E"/>
                </a:solidFill>
              </a:rPr>
              <a:t>Instalar Anaconda</a:t>
            </a:r>
            <a:endParaRPr lang="en-US" sz="2800" dirty="0"/>
          </a:p>
        </p:txBody>
      </p:sp>
      <p:sp>
        <p:nvSpPr>
          <p:cNvPr id="6" name="Text 4"/>
          <p:cNvSpPr/>
          <p:nvPr/>
        </p:nvSpPr>
        <p:spPr>
          <a:xfrm>
            <a:off x="457200" y="685800"/>
            <a:ext cx="8229600" cy="256032"/>
          </a:xfrm>
          <a:prstGeom prst="rect">
            <a:avLst/>
          </a:prstGeom>
          <a:noFill/>
          <a:ln/>
        </p:spPr>
        <p:txBody>
          <a:bodyPr wrap="square" lIns="0" tIns="0" rIns="0" bIns="0" rtlCol="0" anchor="ctr"/>
          <a:lstStyle/>
          <a:p>
            <a:pPr marL="0" indent="0" algn="l">
              <a:buNone/>
            </a:pPr>
            <a:r>
              <a:rPr lang="en-US" sz="1200" dirty="0">
                <a:solidFill>
                  <a:srgbClr val="0D7A8A"/>
                </a:solidFill>
              </a:rPr>
              <a:t>Proceso de instalación paso a paso — Windows y macOS</a:t>
            </a:r>
            <a:endParaRPr lang="en-US" sz="1200" dirty="0"/>
          </a:p>
        </p:txBody>
      </p:sp>
      <p:sp>
        <p:nvSpPr>
          <p:cNvPr id="7" name="Shape 5"/>
          <p:cNvSpPr/>
          <p:nvPr/>
        </p:nvSpPr>
        <p:spPr>
          <a:xfrm>
            <a:off x="347472" y="1024128"/>
            <a:ext cx="4041648" cy="3310128"/>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8" name="Shape 6"/>
          <p:cNvSpPr/>
          <p:nvPr/>
        </p:nvSpPr>
        <p:spPr>
          <a:xfrm>
            <a:off x="347472" y="1024128"/>
            <a:ext cx="4041648" cy="420624"/>
          </a:xfrm>
          <a:prstGeom prst="rect">
            <a:avLst/>
          </a:prstGeom>
          <a:solidFill>
            <a:srgbClr val="1A5276"/>
          </a:solidFill>
          <a:ln w="12700">
            <a:solidFill>
              <a:srgbClr val="1A5276"/>
            </a:solidFill>
            <a:prstDash val="solid"/>
          </a:ln>
        </p:spPr>
        <p:txBody>
          <a:bodyPr/>
          <a:lstStyle/>
          <a:p>
            <a:endParaRPr lang="es-MX"/>
          </a:p>
        </p:txBody>
      </p:sp>
      <p:sp>
        <p:nvSpPr>
          <p:cNvPr id="9" name="Text 7"/>
          <p:cNvSpPr/>
          <p:nvPr/>
        </p:nvSpPr>
        <p:spPr>
          <a:xfrm>
            <a:off x="457200" y="1024128"/>
            <a:ext cx="3931920" cy="420624"/>
          </a:xfrm>
          <a:prstGeom prst="rect">
            <a:avLst/>
          </a:prstGeom>
          <a:noFill/>
          <a:ln/>
        </p:spPr>
        <p:txBody>
          <a:bodyPr wrap="square" lIns="0" tIns="0" rIns="0" bIns="0" rtlCol="0" anchor="ctr"/>
          <a:lstStyle/>
          <a:p>
            <a:pPr marL="0" indent="0">
              <a:buNone/>
            </a:pPr>
            <a:r>
              <a:rPr lang="en-US" sz="1300" b="1" dirty="0">
                <a:solidFill>
                  <a:srgbClr val="FFFFFF"/>
                </a:solidFill>
              </a:rPr>
              <a:t>🪟  Windows</a:t>
            </a:r>
            <a:endParaRPr lang="en-US" sz="1300" dirty="0"/>
          </a:p>
        </p:txBody>
      </p:sp>
      <p:pic>
        <p:nvPicPr>
          <p:cNvPr id="10" name="Image 0" descr="preencoded.png"/>
          <p:cNvPicPr>
            <a:picLocks noChangeAspect="1"/>
          </p:cNvPicPr>
          <p:nvPr/>
        </p:nvPicPr>
        <p:blipFill>
          <a:blip r:embed="rId3"/>
          <a:stretch>
            <a:fillRect/>
          </a:stretch>
        </p:blipFill>
        <p:spPr>
          <a:xfrm>
            <a:off x="457200" y="1554480"/>
            <a:ext cx="201168" cy="201168"/>
          </a:xfrm>
          <a:prstGeom prst="rect">
            <a:avLst/>
          </a:prstGeom>
        </p:spPr>
      </p:pic>
      <p:sp>
        <p:nvSpPr>
          <p:cNvPr id="11" name="Text 8"/>
          <p:cNvSpPr/>
          <p:nvPr/>
        </p:nvSpPr>
        <p:spPr>
          <a:xfrm>
            <a:off x="731520" y="1536192"/>
            <a:ext cx="3520440" cy="292608"/>
          </a:xfrm>
          <a:prstGeom prst="rect">
            <a:avLst/>
          </a:prstGeom>
          <a:noFill/>
          <a:ln/>
        </p:spPr>
        <p:txBody>
          <a:bodyPr wrap="square" lIns="0" tIns="0" rIns="0" bIns="0" rtlCol="0" anchor="ctr"/>
          <a:lstStyle/>
          <a:p>
            <a:pPr marL="0" indent="0">
              <a:buNone/>
            </a:pPr>
            <a:r>
              <a:rPr lang="en-US" sz="950" dirty="0">
                <a:solidFill>
                  <a:srgbClr val="374151"/>
                </a:solidFill>
              </a:rPr>
              <a:t>Doble clic en el archivo .exe descargado</a:t>
            </a:r>
            <a:endParaRPr lang="en-US" sz="950" dirty="0"/>
          </a:p>
        </p:txBody>
      </p:sp>
      <p:pic>
        <p:nvPicPr>
          <p:cNvPr id="12" name="Image 1" descr="preencoded.png"/>
          <p:cNvPicPr>
            <a:picLocks noChangeAspect="1"/>
          </p:cNvPicPr>
          <p:nvPr/>
        </p:nvPicPr>
        <p:blipFill>
          <a:blip r:embed="rId3"/>
          <a:stretch>
            <a:fillRect/>
          </a:stretch>
        </p:blipFill>
        <p:spPr>
          <a:xfrm>
            <a:off x="457200" y="1883664"/>
            <a:ext cx="201168" cy="201168"/>
          </a:xfrm>
          <a:prstGeom prst="rect">
            <a:avLst/>
          </a:prstGeom>
        </p:spPr>
      </p:pic>
      <p:sp>
        <p:nvSpPr>
          <p:cNvPr id="13" name="Text 9"/>
          <p:cNvSpPr/>
          <p:nvPr/>
        </p:nvSpPr>
        <p:spPr>
          <a:xfrm>
            <a:off x="731520" y="1865376"/>
            <a:ext cx="3520440" cy="292608"/>
          </a:xfrm>
          <a:prstGeom prst="rect">
            <a:avLst/>
          </a:prstGeom>
          <a:noFill/>
          <a:ln/>
        </p:spPr>
        <p:txBody>
          <a:bodyPr wrap="square" lIns="0" tIns="0" rIns="0" bIns="0" rtlCol="0" anchor="ctr"/>
          <a:lstStyle/>
          <a:p>
            <a:pPr marL="0" indent="0">
              <a:buNone/>
            </a:pPr>
            <a:r>
              <a:rPr lang="en-US" sz="950" dirty="0">
                <a:solidFill>
                  <a:srgbClr val="374151"/>
                </a:solidFill>
              </a:rPr>
              <a:t>Clic en "Next" en la pantalla de bienvenida</a:t>
            </a:r>
            <a:endParaRPr lang="en-US" sz="950" dirty="0"/>
          </a:p>
        </p:txBody>
      </p:sp>
      <p:pic>
        <p:nvPicPr>
          <p:cNvPr id="14" name="Image 2" descr="preencoded.png"/>
          <p:cNvPicPr>
            <a:picLocks noChangeAspect="1"/>
          </p:cNvPicPr>
          <p:nvPr/>
        </p:nvPicPr>
        <p:blipFill>
          <a:blip r:embed="rId3"/>
          <a:stretch>
            <a:fillRect/>
          </a:stretch>
        </p:blipFill>
        <p:spPr>
          <a:xfrm>
            <a:off x="457200" y="2212848"/>
            <a:ext cx="201168" cy="201168"/>
          </a:xfrm>
          <a:prstGeom prst="rect">
            <a:avLst/>
          </a:prstGeom>
        </p:spPr>
      </p:pic>
      <p:sp>
        <p:nvSpPr>
          <p:cNvPr id="15" name="Text 10"/>
          <p:cNvSpPr/>
          <p:nvPr/>
        </p:nvSpPr>
        <p:spPr>
          <a:xfrm>
            <a:off x="731520" y="2194560"/>
            <a:ext cx="3520440" cy="292608"/>
          </a:xfrm>
          <a:prstGeom prst="rect">
            <a:avLst/>
          </a:prstGeom>
          <a:noFill/>
          <a:ln/>
        </p:spPr>
        <p:txBody>
          <a:bodyPr wrap="square" lIns="0" tIns="0" rIns="0" bIns="0" rtlCol="0" anchor="ctr"/>
          <a:lstStyle/>
          <a:p>
            <a:pPr marL="0" indent="0">
              <a:buNone/>
            </a:pPr>
            <a:r>
              <a:rPr lang="en-US" sz="950" dirty="0">
                <a:solidFill>
                  <a:srgbClr val="374151"/>
                </a:solidFill>
              </a:rPr>
              <a:t>Acepta la licencia → "I Agree"</a:t>
            </a:r>
            <a:endParaRPr lang="en-US" sz="950" dirty="0"/>
          </a:p>
        </p:txBody>
      </p:sp>
      <p:pic>
        <p:nvPicPr>
          <p:cNvPr id="16" name="Image 3" descr="preencoded.png"/>
          <p:cNvPicPr>
            <a:picLocks noChangeAspect="1"/>
          </p:cNvPicPr>
          <p:nvPr/>
        </p:nvPicPr>
        <p:blipFill>
          <a:blip r:embed="rId3"/>
          <a:stretch>
            <a:fillRect/>
          </a:stretch>
        </p:blipFill>
        <p:spPr>
          <a:xfrm>
            <a:off x="457200" y="2542032"/>
            <a:ext cx="201168" cy="201168"/>
          </a:xfrm>
          <a:prstGeom prst="rect">
            <a:avLst/>
          </a:prstGeom>
        </p:spPr>
      </p:pic>
      <p:sp>
        <p:nvSpPr>
          <p:cNvPr id="17" name="Text 11"/>
          <p:cNvSpPr/>
          <p:nvPr/>
        </p:nvSpPr>
        <p:spPr>
          <a:xfrm>
            <a:off x="731520" y="2523744"/>
            <a:ext cx="3520440" cy="292608"/>
          </a:xfrm>
          <a:prstGeom prst="rect">
            <a:avLst/>
          </a:prstGeom>
          <a:noFill/>
          <a:ln/>
        </p:spPr>
        <p:txBody>
          <a:bodyPr wrap="square" lIns="0" tIns="0" rIns="0" bIns="0" rtlCol="0" anchor="ctr"/>
          <a:lstStyle/>
          <a:p>
            <a:pPr marL="0" indent="0">
              <a:buNone/>
            </a:pPr>
            <a:r>
              <a:rPr lang="en-US" sz="950" dirty="0">
                <a:solidFill>
                  <a:srgbClr val="374151"/>
                </a:solidFill>
              </a:rPr>
              <a:t>"Just Me" (recomendado) → Next</a:t>
            </a:r>
            <a:endParaRPr lang="en-US" sz="950" dirty="0"/>
          </a:p>
        </p:txBody>
      </p:sp>
      <p:pic>
        <p:nvPicPr>
          <p:cNvPr id="18" name="Image 4" descr="preencoded.png"/>
          <p:cNvPicPr>
            <a:picLocks noChangeAspect="1"/>
          </p:cNvPicPr>
          <p:nvPr/>
        </p:nvPicPr>
        <p:blipFill>
          <a:blip r:embed="rId3"/>
          <a:stretch>
            <a:fillRect/>
          </a:stretch>
        </p:blipFill>
        <p:spPr>
          <a:xfrm>
            <a:off x="457200" y="2871216"/>
            <a:ext cx="201168" cy="201168"/>
          </a:xfrm>
          <a:prstGeom prst="rect">
            <a:avLst/>
          </a:prstGeom>
        </p:spPr>
      </p:pic>
      <p:sp>
        <p:nvSpPr>
          <p:cNvPr id="19" name="Text 12"/>
          <p:cNvSpPr/>
          <p:nvPr/>
        </p:nvSpPr>
        <p:spPr>
          <a:xfrm>
            <a:off x="731520" y="2852928"/>
            <a:ext cx="3520440" cy="292608"/>
          </a:xfrm>
          <a:prstGeom prst="rect">
            <a:avLst/>
          </a:prstGeom>
          <a:noFill/>
          <a:ln/>
        </p:spPr>
        <p:txBody>
          <a:bodyPr wrap="square" lIns="0" tIns="0" rIns="0" bIns="0" rtlCol="0" anchor="ctr"/>
          <a:lstStyle/>
          <a:p>
            <a:pPr marL="0" indent="0">
              <a:buNone/>
            </a:pPr>
            <a:r>
              <a:rPr lang="en-US" sz="950" dirty="0">
                <a:solidFill>
                  <a:srgbClr val="374151"/>
                </a:solidFill>
              </a:rPr>
              <a:t>Ruta de instalación: deja la que aparece por defecto</a:t>
            </a:r>
            <a:endParaRPr lang="en-US" sz="950" dirty="0"/>
          </a:p>
        </p:txBody>
      </p:sp>
      <p:pic>
        <p:nvPicPr>
          <p:cNvPr id="20" name="Image 5" descr="preencoded.png"/>
          <p:cNvPicPr>
            <a:picLocks noChangeAspect="1"/>
          </p:cNvPicPr>
          <p:nvPr/>
        </p:nvPicPr>
        <p:blipFill>
          <a:blip r:embed="rId3"/>
          <a:stretch>
            <a:fillRect/>
          </a:stretch>
        </p:blipFill>
        <p:spPr>
          <a:xfrm>
            <a:off x="457200" y="3200400"/>
            <a:ext cx="201168" cy="201168"/>
          </a:xfrm>
          <a:prstGeom prst="rect">
            <a:avLst/>
          </a:prstGeom>
        </p:spPr>
      </p:pic>
      <p:sp>
        <p:nvSpPr>
          <p:cNvPr id="21" name="Text 13"/>
          <p:cNvSpPr/>
          <p:nvPr/>
        </p:nvSpPr>
        <p:spPr>
          <a:xfrm>
            <a:off x="731520" y="3182112"/>
            <a:ext cx="3520440" cy="292608"/>
          </a:xfrm>
          <a:prstGeom prst="rect">
            <a:avLst/>
          </a:prstGeom>
          <a:noFill/>
          <a:ln/>
        </p:spPr>
        <p:txBody>
          <a:bodyPr wrap="square" lIns="0" tIns="0" rIns="0" bIns="0" rtlCol="0" anchor="ctr"/>
          <a:lstStyle/>
          <a:p>
            <a:pPr marL="0" indent="0">
              <a:buNone/>
            </a:pPr>
            <a:r>
              <a:rPr lang="en-US" sz="950" b="1" dirty="0">
                <a:solidFill>
                  <a:srgbClr val="374151"/>
                </a:solidFill>
              </a:rPr>
              <a:t>IMPORTANTE: Activa "Add Anaconda3 to my PATH environment variable"</a:t>
            </a:r>
            <a:endParaRPr lang="en-US" sz="950" dirty="0"/>
          </a:p>
        </p:txBody>
      </p:sp>
      <p:pic>
        <p:nvPicPr>
          <p:cNvPr id="22" name="Image 6" descr="preencoded.png"/>
          <p:cNvPicPr>
            <a:picLocks noChangeAspect="1"/>
          </p:cNvPicPr>
          <p:nvPr/>
        </p:nvPicPr>
        <p:blipFill>
          <a:blip r:embed="rId3"/>
          <a:stretch>
            <a:fillRect/>
          </a:stretch>
        </p:blipFill>
        <p:spPr>
          <a:xfrm>
            <a:off x="457200" y="3529584"/>
            <a:ext cx="201168" cy="201168"/>
          </a:xfrm>
          <a:prstGeom prst="rect">
            <a:avLst/>
          </a:prstGeom>
        </p:spPr>
      </p:pic>
      <p:sp>
        <p:nvSpPr>
          <p:cNvPr id="23" name="Text 14"/>
          <p:cNvSpPr/>
          <p:nvPr/>
        </p:nvSpPr>
        <p:spPr>
          <a:xfrm>
            <a:off x="731520" y="3511296"/>
            <a:ext cx="3520440" cy="292608"/>
          </a:xfrm>
          <a:prstGeom prst="rect">
            <a:avLst/>
          </a:prstGeom>
          <a:noFill/>
          <a:ln/>
        </p:spPr>
        <p:txBody>
          <a:bodyPr wrap="square" lIns="0" tIns="0" rIns="0" bIns="0" rtlCol="0" anchor="ctr"/>
          <a:lstStyle/>
          <a:p>
            <a:pPr marL="0" indent="0">
              <a:buNone/>
            </a:pPr>
            <a:r>
              <a:rPr lang="en-US" sz="950" dirty="0">
                <a:solidFill>
                  <a:srgbClr val="374151"/>
                </a:solidFill>
              </a:rPr>
              <a:t>Clic en "Install" y espera ~5 minutos</a:t>
            </a:r>
            <a:endParaRPr lang="en-US" sz="950" dirty="0"/>
          </a:p>
        </p:txBody>
      </p:sp>
      <p:pic>
        <p:nvPicPr>
          <p:cNvPr id="24" name="Image 7" descr="preencoded.png"/>
          <p:cNvPicPr>
            <a:picLocks noChangeAspect="1"/>
          </p:cNvPicPr>
          <p:nvPr/>
        </p:nvPicPr>
        <p:blipFill>
          <a:blip r:embed="rId3"/>
          <a:stretch>
            <a:fillRect/>
          </a:stretch>
        </p:blipFill>
        <p:spPr>
          <a:xfrm>
            <a:off x="457200" y="3858768"/>
            <a:ext cx="201168" cy="201168"/>
          </a:xfrm>
          <a:prstGeom prst="rect">
            <a:avLst/>
          </a:prstGeom>
        </p:spPr>
      </p:pic>
      <p:sp>
        <p:nvSpPr>
          <p:cNvPr id="25" name="Text 15"/>
          <p:cNvSpPr/>
          <p:nvPr/>
        </p:nvSpPr>
        <p:spPr>
          <a:xfrm>
            <a:off x="731520" y="3840480"/>
            <a:ext cx="3520440" cy="292608"/>
          </a:xfrm>
          <a:prstGeom prst="rect">
            <a:avLst/>
          </a:prstGeom>
          <a:noFill/>
          <a:ln/>
        </p:spPr>
        <p:txBody>
          <a:bodyPr wrap="square" lIns="0" tIns="0" rIns="0" bIns="0" rtlCol="0" anchor="ctr"/>
          <a:lstStyle/>
          <a:p>
            <a:pPr marL="0" indent="0">
              <a:buNone/>
            </a:pPr>
            <a:r>
              <a:rPr lang="en-US" sz="950" dirty="0">
                <a:solidFill>
                  <a:srgbClr val="374151"/>
                </a:solidFill>
              </a:rPr>
              <a:t>Al terminar: "Finish" y reinicia la terminal</a:t>
            </a:r>
            <a:endParaRPr lang="en-US" sz="950" dirty="0"/>
          </a:p>
        </p:txBody>
      </p:sp>
      <p:sp>
        <p:nvSpPr>
          <p:cNvPr id="26" name="Shape 16"/>
          <p:cNvSpPr/>
          <p:nvPr/>
        </p:nvSpPr>
        <p:spPr>
          <a:xfrm>
            <a:off x="4645152" y="1024128"/>
            <a:ext cx="4151376" cy="3310128"/>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27" name="Shape 17"/>
          <p:cNvSpPr/>
          <p:nvPr/>
        </p:nvSpPr>
        <p:spPr>
          <a:xfrm>
            <a:off x="4645152" y="1024128"/>
            <a:ext cx="4151376" cy="420624"/>
          </a:xfrm>
          <a:prstGeom prst="rect">
            <a:avLst/>
          </a:prstGeom>
          <a:solidFill>
            <a:srgbClr val="0D7A8A"/>
          </a:solidFill>
          <a:ln w="12700">
            <a:solidFill>
              <a:srgbClr val="0D7A8A"/>
            </a:solidFill>
            <a:prstDash val="solid"/>
          </a:ln>
        </p:spPr>
        <p:txBody>
          <a:bodyPr/>
          <a:lstStyle/>
          <a:p>
            <a:endParaRPr lang="es-MX"/>
          </a:p>
        </p:txBody>
      </p:sp>
      <p:sp>
        <p:nvSpPr>
          <p:cNvPr id="28" name="Text 18"/>
          <p:cNvSpPr/>
          <p:nvPr/>
        </p:nvSpPr>
        <p:spPr>
          <a:xfrm>
            <a:off x="4754880" y="1024128"/>
            <a:ext cx="3931920" cy="420624"/>
          </a:xfrm>
          <a:prstGeom prst="rect">
            <a:avLst/>
          </a:prstGeom>
          <a:noFill/>
          <a:ln/>
        </p:spPr>
        <p:txBody>
          <a:bodyPr wrap="square" lIns="0" tIns="0" rIns="0" bIns="0" rtlCol="0" anchor="ctr"/>
          <a:lstStyle/>
          <a:p>
            <a:pPr marL="0" indent="0">
              <a:buNone/>
            </a:pPr>
            <a:r>
              <a:rPr lang="en-US" sz="1300" b="1" dirty="0">
                <a:solidFill>
                  <a:srgbClr val="FFFFFF"/>
                </a:solidFill>
              </a:rPr>
              <a:t>🍎  macOS</a:t>
            </a:r>
            <a:endParaRPr lang="en-US" sz="1300" dirty="0"/>
          </a:p>
        </p:txBody>
      </p:sp>
      <p:pic>
        <p:nvPicPr>
          <p:cNvPr id="29" name="Image 8" descr="preencoded.png"/>
          <p:cNvPicPr>
            <a:picLocks noChangeAspect="1"/>
          </p:cNvPicPr>
          <p:nvPr/>
        </p:nvPicPr>
        <p:blipFill>
          <a:blip r:embed="rId3"/>
          <a:stretch>
            <a:fillRect/>
          </a:stretch>
        </p:blipFill>
        <p:spPr>
          <a:xfrm>
            <a:off x="4754880" y="1554480"/>
            <a:ext cx="201168" cy="201168"/>
          </a:xfrm>
          <a:prstGeom prst="rect">
            <a:avLst/>
          </a:prstGeom>
        </p:spPr>
      </p:pic>
      <p:sp>
        <p:nvSpPr>
          <p:cNvPr id="30" name="Text 19"/>
          <p:cNvSpPr/>
          <p:nvPr/>
        </p:nvSpPr>
        <p:spPr>
          <a:xfrm>
            <a:off x="5029200" y="1536192"/>
            <a:ext cx="3639312" cy="292608"/>
          </a:xfrm>
          <a:prstGeom prst="rect">
            <a:avLst/>
          </a:prstGeom>
          <a:noFill/>
          <a:ln/>
        </p:spPr>
        <p:txBody>
          <a:bodyPr wrap="square" lIns="0" tIns="0" rIns="0" bIns="0" rtlCol="0" anchor="ctr"/>
          <a:lstStyle/>
          <a:p>
            <a:pPr marL="0" indent="0">
              <a:buNone/>
            </a:pPr>
            <a:r>
              <a:rPr lang="en-US" sz="950" dirty="0">
                <a:solidFill>
                  <a:srgbClr val="374151"/>
                </a:solidFill>
              </a:rPr>
              <a:t>Doble clic en el archivo .pkg descargado</a:t>
            </a:r>
            <a:endParaRPr lang="en-US" sz="950" dirty="0"/>
          </a:p>
        </p:txBody>
      </p:sp>
      <p:pic>
        <p:nvPicPr>
          <p:cNvPr id="31" name="Image 9" descr="preencoded.png"/>
          <p:cNvPicPr>
            <a:picLocks noChangeAspect="1"/>
          </p:cNvPicPr>
          <p:nvPr/>
        </p:nvPicPr>
        <p:blipFill>
          <a:blip r:embed="rId3"/>
          <a:stretch>
            <a:fillRect/>
          </a:stretch>
        </p:blipFill>
        <p:spPr>
          <a:xfrm>
            <a:off x="4754880" y="1883664"/>
            <a:ext cx="201168" cy="201168"/>
          </a:xfrm>
          <a:prstGeom prst="rect">
            <a:avLst/>
          </a:prstGeom>
        </p:spPr>
      </p:pic>
      <p:sp>
        <p:nvSpPr>
          <p:cNvPr id="32" name="Text 20"/>
          <p:cNvSpPr/>
          <p:nvPr/>
        </p:nvSpPr>
        <p:spPr>
          <a:xfrm>
            <a:off x="5029200" y="1865376"/>
            <a:ext cx="3639312" cy="292608"/>
          </a:xfrm>
          <a:prstGeom prst="rect">
            <a:avLst/>
          </a:prstGeom>
          <a:noFill/>
          <a:ln/>
        </p:spPr>
        <p:txBody>
          <a:bodyPr wrap="square" lIns="0" tIns="0" rIns="0" bIns="0" rtlCol="0" anchor="ctr"/>
          <a:lstStyle/>
          <a:p>
            <a:pPr marL="0" indent="0">
              <a:buNone/>
            </a:pPr>
            <a:r>
              <a:rPr lang="en-US" sz="950" dirty="0">
                <a:solidFill>
                  <a:srgbClr val="374151"/>
                </a:solidFill>
              </a:rPr>
              <a:t>Clic en "Continue" en todas las pantallas iniciales</a:t>
            </a:r>
            <a:endParaRPr lang="en-US" sz="950" dirty="0"/>
          </a:p>
        </p:txBody>
      </p:sp>
      <p:pic>
        <p:nvPicPr>
          <p:cNvPr id="33" name="Image 10" descr="preencoded.png"/>
          <p:cNvPicPr>
            <a:picLocks noChangeAspect="1"/>
          </p:cNvPicPr>
          <p:nvPr/>
        </p:nvPicPr>
        <p:blipFill>
          <a:blip r:embed="rId3"/>
          <a:stretch>
            <a:fillRect/>
          </a:stretch>
        </p:blipFill>
        <p:spPr>
          <a:xfrm>
            <a:off x="4754880" y="2212848"/>
            <a:ext cx="201168" cy="201168"/>
          </a:xfrm>
          <a:prstGeom prst="rect">
            <a:avLst/>
          </a:prstGeom>
        </p:spPr>
      </p:pic>
      <p:sp>
        <p:nvSpPr>
          <p:cNvPr id="34" name="Text 21"/>
          <p:cNvSpPr/>
          <p:nvPr/>
        </p:nvSpPr>
        <p:spPr>
          <a:xfrm>
            <a:off x="5029200" y="2194560"/>
            <a:ext cx="3639312" cy="292608"/>
          </a:xfrm>
          <a:prstGeom prst="rect">
            <a:avLst/>
          </a:prstGeom>
          <a:noFill/>
          <a:ln/>
        </p:spPr>
        <p:txBody>
          <a:bodyPr wrap="square" lIns="0" tIns="0" rIns="0" bIns="0" rtlCol="0" anchor="ctr"/>
          <a:lstStyle/>
          <a:p>
            <a:pPr marL="0" indent="0">
              <a:buNone/>
            </a:pPr>
            <a:r>
              <a:rPr lang="en-US" sz="950" dirty="0">
                <a:solidFill>
                  <a:srgbClr val="374151"/>
                </a:solidFill>
              </a:rPr>
              <a:t>Acepta los términos de la licencia</a:t>
            </a:r>
            <a:endParaRPr lang="en-US" sz="950" dirty="0"/>
          </a:p>
        </p:txBody>
      </p:sp>
      <p:pic>
        <p:nvPicPr>
          <p:cNvPr id="35" name="Image 11" descr="preencoded.png"/>
          <p:cNvPicPr>
            <a:picLocks noChangeAspect="1"/>
          </p:cNvPicPr>
          <p:nvPr/>
        </p:nvPicPr>
        <p:blipFill>
          <a:blip r:embed="rId3"/>
          <a:stretch>
            <a:fillRect/>
          </a:stretch>
        </p:blipFill>
        <p:spPr>
          <a:xfrm>
            <a:off x="4754880" y="2542032"/>
            <a:ext cx="201168" cy="201168"/>
          </a:xfrm>
          <a:prstGeom prst="rect">
            <a:avLst/>
          </a:prstGeom>
        </p:spPr>
      </p:pic>
      <p:sp>
        <p:nvSpPr>
          <p:cNvPr id="36" name="Text 22"/>
          <p:cNvSpPr/>
          <p:nvPr/>
        </p:nvSpPr>
        <p:spPr>
          <a:xfrm>
            <a:off x="5029200" y="2523744"/>
            <a:ext cx="3639312" cy="292608"/>
          </a:xfrm>
          <a:prstGeom prst="rect">
            <a:avLst/>
          </a:prstGeom>
          <a:noFill/>
          <a:ln/>
        </p:spPr>
        <p:txBody>
          <a:bodyPr wrap="square" lIns="0" tIns="0" rIns="0" bIns="0" rtlCol="0" anchor="ctr"/>
          <a:lstStyle/>
          <a:p>
            <a:pPr marL="0" indent="0">
              <a:buNone/>
            </a:pPr>
            <a:r>
              <a:rPr lang="en-US" sz="950" dirty="0">
                <a:solidFill>
                  <a:srgbClr val="374151"/>
                </a:solidFill>
              </a:rPr>
              <a:t>Selecciona el disco de instalación → "Continue"</a:t>
            </a:r>
            <a:endParaRPr lang="en-US" sz="950" dirty="0"/>
          </a:p>
        </p:txBody>
      </p:sp>
      <p:pic>
        <p:nvPicPr>
          <p:cNvPr id="37" name="Image 12" descr="preencoded.png"/>
          <p:cNvPicPr>
            <a:picLocks noChangeAspect="1"/>
          </p:cNvPicPr>
          <p:nvPr/>
        </p:nvPicPr>
        <p:blipFill>
          <a:blip r:embed="rId3"/>
          <a:stretch>
            <a:fillRect/>
          </a:stretch>
        </p:blipFill>
        <p:spPr>
          <a:xfrm>
            <a:off x="4754880" y="2871216"/>
            <a:ext cx="201168" cy="201168"/>
          </a:xfrm>
          <a:prstGeom prst="rect">
            <a:avLst/>
          </a:prstGeom>
        </p:spPr>
      </p:pic>
      <p:sp>
        <p:nvSpPr>
          <p:cNvPr id="38" name="Text 23"/>
          <p:cNvSpPr/>
          <p:nvPr/>
        </p:nvSpPr>
        <p:spPr>
          <a:xfrm>
            <a:off x="5029200" y="2852928"/>
            <a:ext cx="3639312" cy="292608"/>
          </a:xfrm>
          <a:prstGeom prst="rect">
            <a:avLst/>
          </a:prstGeom>
          <a:noFill/>
          <a:ln/>
        </p:spPr>
        <p:txBody>
          <a:bodyPr wrap="square" lIns="0" tIns="0" rIns="0" bIns="0" rtlCol="0" anchor="ctr"/>
          <a:lstStyle/>
          <a:p>
            <a:pPr marL="0" indent="0">
              <a:buNone/>
            </a:pPr>
            <a:r>
              <a:rPr lang="en-US" sz="950" dirty="0">
                <a:solidFill>
                  <a:srgbClr val="374151"/>
                </a:solidFill>
              </a:rPr>
              <a:t>Clic en Install (pedirá tu contraseña del Mac)</a:t>
            </a:r>
            <a:endParaRPr lang="en-US" sz="950" dirty="0"/>
          </a:p>
        </p:txBody>
      </p:sp>
      <p:pic>
        <p:nvPicPr>
          <p:cNvPr id="39" name="Image 13" descr="preencoded.png"/>
          <p:cNvPicPr>
            <a:picLocks noChangeAspect="1"/>
          </p:cNvPicPr>
          <p:nvPr/>
        </p:nvPicPr>
        <p:blipFill>
          <a:blip r:embed="rId3"/>
          <a:stretch>
            <a:fillRect/>
          </a:stretch>
        </p:blipFill>
        <p:spPr>
          <a:xfrm>
            <a:off x="4754880" y="3200400"/>
            <a:ext cx="201168" cy="201168"/>
          </a:xfrm>
          <a:prstGeom prst="rect">
            <a:avLst/>
          </a:prstGeom>
        </p:spPr>
      </p:pic>
      <p:sp>
        <p:nvSpPr>
          <p:cNvPr id="40" name="Text 24"/>
          <p:cNvSpPr/>
          <p:nvPr/>
        </p:nvSpPr>
        <p:spPr>
          <a:xfrm>
            <a:off x="5029200" y="3182112"/>
            <a:ext cx="3639312" cy="292608"/>
          </a:xfrm>
          <a:prstGeom prst="rect">
            <a:avLst/>
          </a:prstGeom>
          <a:noFill/>
          <a:ln/>
        </p:spPr>
        <p:txBody>
          <a:bodyPr wrap="square" lIns="0" tIns="0" rIns="0" bIns="0" rtlCol="0" anchor="ctr"/>
          <a:lstStyle/>
          <a:p>
            <a:pPr marL="0" indent="0">
              <a:buNone/>
            </a:pPr>
            <a:r>
              <a:rPr lang="en-US" sz="950" dirty="0">
                <a:solidFill>
                  <a:srgbClr val="374151"/>
                </a:solidFill>
              </a:rPr>
              <a:t>Espera la instalación (~5 minutos)</a:t>
            </a:r>
            <a:endParaRPr lang="en-US" sz="950" dirty="0"/>
          </a:p>
        </p:txBody>
      </p:sp>
      <p:pic>
        <p:nvPicPr>
          <p:cNvPr id="41" name="Image 14" descr="preencoded.png"/>
          <p:cNvPicPr>
            <a:picLocks noChangeAspect="1"/>
          </p:cNvPicPr>
          <p:nvPr/>
        </p:nvPicPr>
        <p:blipFill>
          <a:blip r:embed="rId3"/>
          <a:stretch>
            <a:fillRect/>
          </a:stretch>
        </p:blipFill>
        <p:spPr>
          <a:xfrm>
            <a:off x="4754880" y="3529584"/>
            <a:ext cx="201168" cy="201168"/>
          </a:xfrm>
          <a:prstGeom prst="rect">
            <a:avLst/>
          </a:prstGeom>
        </p:spPr>
      </p:pic>
      <p:sp>
        <p:nvSpPr>
          <p:cNvPr id="42" name="Text 25"/>
          <p:cNvSpPr/>
          <p:nvPr/>
        </p:nvSpPr>
        <p:spPr>
          <a:xfrm>
            <a:off x="5029200" y="3511296"/>
            <a:ext cx="3639312" cy="292608"/>
          </a:xfrm>
          <a:prstGeom prst="rect">
            <a:avLst/>
          </a:prstGeom>
          <a:noFill/>
          <a:ln/>
        </p:spPr>
        <p:txBody>
          <a:bodyPr wrap="square" lIns="0" tIns="0" rIns="0" bIns="0" rtlCol="0" anchor="ctr"/>
          <a:lstStyle/>
          <a:p>
            <a:pPr marL="0" indent="0">
              <a:buNone/>
            </a:pPr>
            <a:r>
              <a:rPr lang="en-US" sz="950" dirty="0">
                <a:solidFill>
                  <a:srgbClr val="374151"/>
                </a:solidFill>
              </a:rPr>
              <a:t>"Close" al terminar. Abre Terminal (Cmd + Espacio → Terminal)</a:t>
            </a:r>
            <a:endParaRPr lang="en-US" sz="950" dirty="0"/>
          </a:p>
        </p:txBody>
      </p:sp>
      <p:pic>
        <p:nvPicPr>
          <p:cNvPr id="43" name="Image 15" descr="preencoded.png"/>
          <p:cNvPicPr>
            <a:picLocks noChangeAspect="1"/>
          </p:cNvPicPr>
          <p:nvPr/>
        </p:nvPicPr>
        <p:blipFill>
          <a:blip r:embed="rId3"/>
          <a:stretch>
            <a:fillRect/>
          </a:stretch>
        </p:blipFill>
        <p:spPr>
          <a:xfrm>
            <a:off x="4754880" y="3858768"/>
            <a:ext cx="201168" cy="201168"/>
          </a:xfrm>
          <a:prstGeom prst="rect">
            <a:avLst/>
          </a:prstGeom>
        </p:spPr>
      </p:pic>
      <p:sp>
        <p:nvSpPr>
          <p:cNvPr id="44" name="Text 26"/>
          <p:cNvSpPr/>
          <p:nvPr/>
        </p:nvSpPr>
        <p:spPr>
          <a:xfrm>
            <a:off x="5029200" y="3840480"/>
            <a:ext cx="3639312" cy="292608"/>
          </a:xfrm>
          <a:prstGeom prst="rect">
            <a:avLst/>
          </a:prstGeom>
          <a:noFill/>
          <a:ln/>
        </p:spPr>
        <p:txBody>
          <a:bodyPr wrap="square" lIns="0" tIns="0" rIns="0" bIns="0" rtlCol="0" anchor="ctr"/>
          <a:lstStyle/>
          <a:p>
            <a:pPr marL="0" indent="0">
              <a:buNone/>
            </a:pPr>
            <a:r>
              <a:rPr lang="en-US" sz="950" dirty="0">
                <a:solidFill>
                  <a:srgbClr val="374151"/>
                </a:solidFill>
              </a:rPr>
              <a:t>Escribe: conda --version para verificar</a:t>
            </a:r>
            <a:endParaRPr lang="en-US" sz="950" dirty="0"/>
          </a:p>
        </p:txBody>
      </p:sp>
      <p:sp>
        <p:nvSpPr>
          <p:cNvPr id="45" name="Shape 27"/>
          <p:cNvSpPr/>
          <p:nvPr/>
        </p:nvSpPr>
        <p:spPr>
          <a:xfrm>
            <a:off x="347472" y="4398264"/>
            <a:ext cx="8449056" cy="649224"/>
          </a:xfrm>
          <a:prstGeom prst="rect">
            <a:avLst/>
          </a:prstGeom>
          <a:solidFill>
            <a:srgbClr val="C0392B">
              <a:alpha val="12000"/>
            </a:srgbClr>
          </a:solidFill>
          <a:ln w="12700">
            <a:solidFill>
              <a:srgbClr val="C0392B"/>
            </a:solidFill>
            <a:prstDash val="solid"/>
          </a:ln>
        </p:spPr>
        <p:txBody>
          <a:bodyPr/>
          <a:lstStyle/>
          <a:p>
            <a:endParaRPr lang="es-MX"/>
          </a:p>
        </p:txBody>
      </p:sp>
      <p:pic>
        <p:nvPicPr>
          <p:cNvPr id="46" name="Image 16" descr="preencoded.png"/>
          <p:cNvPicPr>
            <a:picLocks noChangeAspect="1"/>
          </p:cNvPicPr>
          <p:nvPr/>
        </p:nvPicPr>
        <p:blipFill>
          <a:blip r:embed="rId4"/>
          <a:stretch>
            <a:fillRect/>
          </a:stretch>
        </p:blipFill>
        <p:spPr>
          <a:xfrm>
            <a:off x="475488" y="4572000"/>
            <a:ext cx="256032" cy="256032"/>
          </a:xfrm>
          <a:prstGeom prst="rect">
            <a:avLst/>
          </a:prstGeom>
        </p:spPr>
      </p:pic>
      <p:sp>
        <p:nvSpPr>
          <p:cNvPr id="47" name="Text 28"/>
          <p:cNvSpPr/>
          <p:nvPr/>
        </p:nvSpPr>
        <p:spPr>
          <a:xfrm>
            <a:off x="804672" y="4390907"/>
            <a:ext cx="7863840" cy="502920"/>
          </a:xfrm>
          <a:prstGeom prst="rect">
            <a:avLst/>
          </a:prstGeom>
          <a:noFill/>
          <a:ln/>
        </p:spPr>
        <p:txBody>
          <a:bodyPr wrap="square" lIns="0" tIns="0" rIns="0" bIns="0" rtlCol="0" anchor="ctr"/>
          <a:lstStyle/>
          <a:p>
            <a:pPr marL="0" indent="0">
              <a:buNone/>
            </a:pPr>
            <a:r>
              <a:rPr lang="en-US" sz="1000" dirty="0">
                <a:solidFill>
                  <a:srgbClr val="374151"/>
                </a:solidFill>
              </a:rPr>
              <a:t>Error frecuente en Windows: Si ves 'conda no se reconoce como comando', Anaconda no quedó en el PATH. Solución: busca 'Anaconda Prompt' en el menú Inicio y úsalo en lugar del cmd normal.</a:t>
            </a:r>
            <a:endParaRPr lang="en-US" sz="1000" dirty="0"/>
          </a:p>
        </p:txBody>
      </p:sp>
      <p:sp>
        <p:nvSpPr>
          <p:cNvPr id="48" name="Shape 29"/>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49" name="Text 30"/>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Módulo 1 · Introducción a Python · Sesión 1  —  15 abril 2026</a:t>
            </a:r>
            <a:endParaRPr lang="en-US" sz="850" dirty="0"/>
          </a:p>
        </p:txBody>
      </p:sp>
      <p:sp>
        <p:nvSpPr>
          <p:cNvPr id="50" name="Text 31"/>
          <p:cNvSpPr/>
          <p:nvPr/>
        </p:nvSpPr>
        <p:spPr>
          <a:xfrm>
            <a:off x="274320" y="4892040"/>
            <a:ext cx="5486400" cy="251460"/>
          </a:xfrm>
          <a:prstGeom prst="rect">
            <a:avLst/>
          </a:prstGeom>
          <a:noFill/>
          <a:ln/>
        </p:spPr>
        <p:txBody>
          <a:bodyPr wrap="square" lIns="0" tIns="0" rIns="0" bIns="0" rtlCol="0" anchor="ctr"/>
          <a:lstStyle/>
          <a:p>
            <a:pPr marL="0" indent="0" algn="l">
              <a:buNone/>
            </a:pPr>
            <a:r>
              <a:rPr lang="en-US" sz="850" dirty="0">
                <a:solidFill>
                  <a:srgbClr val="A8D8EA"/>
                </a:solidFill>
              </a:rPr>
              <a:t>PASO 1 · Instalar Anaconda</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Shape 1"/>
          <p:cNvSpPr/>
          <p:nvPr/>
        </p:nvSpPr>
        <p:spPr>
          <a:xfrm>
            <a:off x="365760" y="566928"/>
            <a:ext cx="2011680" cy="256032"/>
          </a:xfrm>
          <a:prstGeom prst="rect">
            <a:avLst/>
          </a:prstGeom>
          <a:solidFill>
            <a:srgbClr val="0D7A8A"/>
          </a:solidFill>
          <a:ln w="12700">
            <a:solidFill>
              <a:srgbClr val="0D7A8A"/>
            </a:solidFill>
            <a:prstDash val="solid"/>
          </a:ln>
        </p:spPr>
        <p:txBody>
          <a:bodyPr/>
          <a:lstStyle/>
          <a:p>
            <a:endParaRPr lang="es-MX"/>
          </a:p>
        </p:txBody>
      </p:sp>
      <p:sp>
        <p:nvSpPr>
          <p:cNvPr id="4" name="Text 2"/>
          <p:cNvSpPr/>
          <p:nvPr/>
        </p:nvSpPr>
        <p:spPr>
          <a:xfrm>
            <a:off x="365760" y="566928"/>
            <a:ext cx="2011680" cy="256032"/>
          </a:xfrm>
          <a:prstGeom prst="rect">
            <a:avLst/>
          </a:prstGeom>
          <a:noFill/>
          <a:ln/>
        </p:spPr>
        <p:txBody>
          <a:bodyPr wrap="square" lIns="0" tIns="0" rIns="0" bIns="0" rtlCol="0" anchor="ctr"/>
          <a:lstStyle/>
          <a:p>
            <a:pPr marL="0" indent="0" algn="ctr">
              <a:buNone/>
            </a:pPr>
            <a:r>
              <a:rPr lang="en-US" sz="850" b="1" kern="0" spc="200" dirty="0">
                <a:solidFill>
                  <a:srgbClr val="FFFFFF"/>
                </a:solidFill>
              </a:rPr>
              <a:t>PASO 1 DE 5</a:t>
            </a:r>
            <a:endParaRPr lang="en-US" sz="850" dirty="0"/>
          </a:p>
        </p:txBody>
      </p:sp>
      <p:sp>
        <p:nvSpPr>
          <p:cNvPr id="5" name="Text 3"/>
          <p:cNvSpPr/>
          <p:nvPr/>
        </p:nvSpPr>
        <p:spPr>
          <a:xfrm>
            <a:off x="365760" y="118872"/>
            <a:ext cx="8229600" cy="475488"/>
          </a:xfrm>
          <a:prstGeom prst="rect">
            <a:avLst/>
          </a:prstGeom>
          <a:noFill/>
          <a:ln/>
        </p:spPr>
        <p:txBody>
          <a:bodyPr wrap="square" lIns="0" tIns="0" rIns="0" bIns="0" rtlCol="0" anchor="ctr"/>
          <a:lstStyle/>
          <a:p>
            <a:pPr marL="0" indent="0" algn="l">
              <a:buNone/>
            </a:pPr>
            <a:r>
              <a:rPr lang="en-US" sz="2800" b="1" dirty="0">
                <a:solidFill>
                  <a:srgbClr val="FFFFFF"/>
                </a:solidFill>
              </a:rPr>
              <a:t>Verificar la Instalación</a:t>
            </a:r>
            <a:endParaRPr lang="en-US" sz="2800" dirty="0"/>
          </a:p>
        </p:txBody>
      </p:sp>
      <p:sp>
        <p:nvSpPr>
          <p:cNvPr id="6" name="Text 4"/>
          <p:cNvSpPr/>
          <p:nvPr/>
        </p:nvSpPr>
        <p:spPr>
          <a:xfrm>
            <a:off x="457200" y="832104"/>
            <a:ext cx="8229600" cy="256032"/>
          </a:xfrm>
          <a:prstGeom prst="rect">
            <a:avLst/>
          </a:prstGeom>
          <a:noFill/>
          <a:ln/>
        </p:spPr>
        <p:txBody>
          <a:bodyPr wrap="square" lIns="0" tIns="0" rIns="0" bIns="0" rtlCol="0" anchor="ctr"/>
          <a:lstStyle/>
          <a:p>
            <a:pPr marL="0" indent="0" algn="l">
              <a:buNone/>
            </a:pPr>
            <a:r>
              <a:rPr lang="en-US" sz="1200" dirty="0">
                <a:solidFill>
                  <a:srgbClr val="A8D8EA"/>
                </a:solidFill>
              </a:rPr>
              <a:t>Abre la terminal y ejecuta estos comandos uno por uno</a:t>
            </a:r>
            <a:endParaRPr lang="en-US" sz="1200" dirty="0"/>
          </a:p>
        </p:txBody>
      </p:sp>
      <p:sp>
        <p:nvSpPr>
          <p:cNvPr id="7" name="Shape 5"/>
          <p:cNvSpPr/>
          <p:nvPr/>
        </p:nvSpPr>
        <p:spPr>
          <a:xfrm>
            <a:off x="347472" y="1170432"/>
            <a:ext cx="8449056" cy="804672"/>
          </a:xfrm>
          <a:prstGeom prst="rect">
            <a:avLst/>
          </a:prstGeom>
          <a:solidFill>
            <a:srgbClr val="071228"/>
          </a:solidFill>
          <a:ln w="12700">
            <a:solidFill>
              <a:srgbClr val="0D7A8A"/>
            </a:solidFill>
            <a:prstDash val="solid"/>
          </a:ln>
        </p:spPr>
        <p:txBody>
          <a:bodyPr/>
          <a:lstStyle/>
          <a:p>
            <a:endParaRPr lang="es-MX"/>
          </a:p>
        </p:txBody>
      </p:sp>
      <p:sp>
        <p:nvSpPr>
          <p:cNvPr id="8" name="Shape 6"/>
          <p:cNvSpPr/>
          <p:nvPr/>
        </p:nvSpPr>
        <p:spPr>
          <a:xfrm>
            <a:off x="347472" y="1170432"/>
            <a:ext cx="347472" cy="292608"/>
          </a:xfrm>
          <a:prstGeom prst="rect">
            <a:avLst/>
          </a:prstGeom>
          <a:solidFill>
            <a:srgbClr val="0D7A8A"/>
          </a:solidFill>
          <a:ln w="12700">
            <a:solidFill>
              <a:srgbClr val="0D7A8A"/>
            </a:solidFill>
            <a:prstDash val="solid"/>
          </a:ln>
        </p:spPr>
        <p:txBody>
          <a:bodyPr/>
          <a:lstStyle/>
          <a:p>
            <a:endParaRPr lang="es-MX"/>
          </a:p>
        </p:txBody>
      </p:sp>
      <p:sp>
        <p:nvSpPr>
          <p:cNvPr id="9" name="Text 7"/>
          <p:cNvSpPr/>
          <p:nvPr/>
        </p:nvSpPr>
        <p:spPr>
          <a:xfrm>
            <a:off x="347472" y="1170432"/>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10" name="Text 8"/>
          <p:cNvSpPr/>
          <p:nvPr/>
        </p:nvSpPr>
        <p:spPr>
          <a:xfrm>
            <a:off x="749808" y="1197864"/>
            <a:ext cx="6858000" cy="256032"/>
          </a:xfrm>
          <a:prstGeom prst="rect">
            <a:avLst/>
          </a:prstGeom>
          <a:noFill/>
          <a:ln/>
        </p:spPr>
        <p:txBody>
          <a:bodyPr wrap="square" lIns="0" tIns="0" rIns="0" bIns="0" rtlCol="0" anchor="ctr"/>
          <a:lstStyle/>
          <a:p>
            <a:pPr marL="0" indent="0">
              <a:buNone/>
            </a:pPr>
            <a:r>
              <a:rPr lang="en-US" sz="1100" b="1" dirty="0">
                <a:solidFill>
                  <a:srgbClr val="A8D8EA"/>
                </a:solidFill>
                <a:latin typeface="Consolas" pitchFamily="34" charset="0"/>
                <a:ea typeface="Consolas" pitchFamily="34" charset="-122"/>
                <a:cs typeface="Consolas" pitchFamily="34" charset="-120"/>
              </a:rPr>
              <a:t>conda --version</a:t>
            </a:r>
            <a:endParaRPr lang="en-US" sz="1100" dirty="0"/>
          </a:p>
        </p:txBody>
      </p:sp>
      <p:sp>
        <p:nvSpPr>
          <p:cNvPr id="11" name="Shape 9"/>
          <p:cNvSpPr/>
          <p:nvPr/>
        </p:nvSpPr>
        <p:spPr>
          <a:xfrm>
            <a:off x="347472" y="1517904"/>
            <a:ext cx="8449056" cy="384048"/>
          </a:xfrm>
          <a:prstGeom prst="rect">
            <a:avLst/>
          </a:prstGeom>
          <a:solidFill>
            <a:srgbClr val="0A1628"/>
          </a:solidFill>
          <a:ln w="12700">
            <a:solidFill>
              <a:srgbClr val="0A1628"/>
            </a:solidFill>
            <a:prstDash val="solid"/>
          </a:ln>
        </p:spPr>
        <p:txBody>
          <a:bodyPr/>
          <a:lstStyle/>
          <a:p>
            <a:endParaRPr lang="es-MX"/>
          </a:p>
        </p:txBody>
      </p:sp>
      <p:pic>
        <p:nvPicPr>
          <p:cNvPr id="12" name="Image 0" descr="preencoded.png"/>
          <p:cNvPicPr>
            <a:picLocks noChangeAspect="1"/>
          </p:cNvPicPr>
          <p:nvPr/>
        </p:nvPicPr>
        <p:blipFill>
          <a:blip r:embed="rId3"/>
          <a:stretch>
            <a:fillRect/>
          </a:stretch>
        </p:blipFill>
        <p:spPr>
          <a:xfrm>
            <a:off x="438912" y="1591056"/>
            <a:ext cx="201168" cy="201168"/>
          </a:xfrm>
          <a:prstGeom prst="rect">
            <a:avLst/>
          </a:prstGeom>
        </p:spPr>
      </p:pic>
      <p:sp>
        <p:nvSpPr>
          <p:cNvPr id="13" name="Text 10"/>
          <p:cNvSpPr/>
          <p:nvPr/>
        </p:nvSpPr>
        <p:spPr>
          <a:xfrm>
            <a:off x="713232" y="1554480"/>
            <a:ext cx="2743200" cy="274320"/>
          </a:xfrm>
          <a:prstGeom prst="rect">
            <a:avLst/>
          </a:prstGeom>
          <a:noFill/>
          <a:ln/>
        </p:spPr>
        <p:txBody>
          <a:bodyPr wrap="square" lIns="0" tIns="0" rIns="0" bIns="0" rtlCol="0" anchor="ctr"/>
          <a:lstStyle/>
          <a:p>
            <a:pPr marL="0" indent="0">
              <a:buNone/>
            </a:pPr>
            <a:r>
              <a:rPr lang="en-US" sz="1050" dirty="0">
                <a:solidFill>
                  <a:srgbClr val="F0F4F8"/>
                </a:solidFill>
                <a:latin typeface="Consolas" pitchFamily="34" charset="0"/>
                <a:ea typeface="Consolas" pitchFamily="34" charset="-122"/>
                <a:cs typeface="Consolas" pitchFamily="34" charset="-120"/>
              </a:rPr>
              <a:t>conda 24.1.2</a:t>
            </a:r>
            <a:endParaRPr lang="en-US" sz="1050" dirty="0"/>
          </a:p>
        </p:txBody>
      </p:sp>
      <p:sp>
        <p:nvSpPr>
          <p:cNvPr id="14" name="Text 11"/>
          <p:cNvSpPr/>
          <p:nvPr/>
        </p:nvSpPr>
        <p:spPr>
          <a:xfrm>
            <a:off x="3566160" y="1554480"/>
            <a:ext cx="5120640" cy="274320"/>
          </a:xfrm>
          <a:prstGeom prst="rect">
            <a:avLst/>
          </a:prstGeom>
          <a:noFill/>
          <a:ln/>
        </p:spPr>
        <p:txBody>
          <a:bodyPr wrap="square" lIns="0" tIns="0" rIns="0" bIns="0" rtlCol="0" anchor="ctr"/>
          <a:lstStyle/>
          <a:p>
            <a:pPr marL="0" indent="0">
              <a:buNone/>
            </a:pPr>
            <a:r>
              <a:rPr lang="en-US" sz="950" dirty="0">
                <a:solidFill>
                  <a:srgbClr val="8FA3B1"/>
                </a:solidFill>
              </a:rPr>
              <a:t>Si ves esto, Anaconda está instalado correctamente.</a:t>
            </a:r>
            <a:endParaRPr lang="en-US" sz="950" dirty="0"/>
          </a:p>
        </p:txBody>
      </p:sp>
      <p:sp>
        <p:nvSpPr>
          <p:cNvPr id="15" name="Shape 12"/>
          <p:cNvSpPr/>
          <p:nvPr/>
        </p:nvSpPr>
        <p:spPr>
          <a:xfrm>
            <a:off x="347472" y="2057400"/>
            <a:ext cx="8449056" cy="804672"/>
          </a:xfrm>
          <a:prstGeom prst="rect">
            <a:avLst/>
          </a:prstGeom>
          <a:solidFill>
            <a:srgbClr val="071228"/>
          </a:solidFill>
          <a:ln w="12700">
            <a:solidFill>
              <a:srgbClr val="0D7A8A"/>
            </a:solidFill>
            <a:prstDash val="solid"/>
          </a:ln>
        </p:spPr>
        <p:txBody>
          <a:bodyPr/>
          <a:lstStyle/>
          <a:p>
            <a:endParaRPr lang="es-MX"/>
          </a:p>
        </p:txBody>
      </p:sp>
      <p:sp>
        <p:nvSpPr>
          <p:cNvPr id="16" name="Shape 13"/>
          <p:cNvSpPr/>
          <p:nvPr/>
        </p:nvSpPr>
        <p:spPr>
          <a:xfrm>
            <a:off x="347472" y="2057400"/>
            <a:ext cx="347472" cy="292608"/>
          </a:xfrm>
          <a:prstGeom prst="rect">
            <a:avLst/>
          </a:prstGeom>
          <a:solidFill>
            <a:srgbClr val="0D7A8A"/>
          </a:solidFill>
          <a:ln w="12700">
            <a:solidFill>
              <a:srgbClr val="0D7A8A"/>
            </a:solidFill>
            <a:prstDash val="solid"/>
          </a:ln>
        </p:spPr>
        <p:txBody>
          <a:bodyPr/>
          <a:lstStyle/>
          <a:p>
            <a:endParaRPr lang="es-MX"/>
          </a:p>
        </p:txBody>
      </p:sp>
      <p:sp>
        <p:nvSpPr>
          <p:cNvPr id="17" name="Text 14"/>
          <p:cNvSpPr/>
          <p:nvPr/>
        </p:nvSpPr>
        <p:spPr>
          <a:xfrm>
            <a:off x="347472" y="2057400"/>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18" name="Text 15"/>
          <p:cNvSpPr/>
          <p:nvPr/>
        </p:nvSpPr>
        <p:spPr>
          <a:xfrm>
            <a:off x="749808" y="2084832"/>
            <a:ext cx="6858000" cy="256032"/>
          </a:xfrm>
          <a:prstGeom prst="rect">
            <a:avLst/>
          </a:prstGeom>
          <a:noFill/>
          <a:ln/>
        </p:spPr>
        <p:txBody>
          <a:bodyPr wrap="square" lIns="0" tIns="0" rIns="0" bIns="0" rtlCol="0" anchor="ctr"/>
          <a:lstStyle/>
          <a:p>
            <a:pPr marL="0" indent="0">
              <a:buNone/>
            </a:pPr>
            <a:r>
              <a:rPr lang="en-US" sz="1100" b="1" dirty="0">
                <a:solidFill>
                  <a:srgbClr val="A8D8EA"/>
                </a:solidFill>
                <a:latin typeface="Consolas" pitchFamily="34" charset="0"/>
                <a:ea typeface="Consolas" pitchFamily="34" charset="-122"/>
                <a:cs typeface="Consolas" pitchFamily="34" charset="-120"/>
              </a:rPr>
              <a:t>python --version</a:t>
            </a:r>
            <a:endParaRPr lang="en-US" sz="1100" dirty="0"/>
          </a:p>
        </p:txBody>
      </p:sp>
      <p:sp>
        <p:nvSpPr>
          <p:cNvPr id="19" name="Shape 16"/>
          <p:cNvSpPr/>
          <p:nvPr/>
        </p:nvSpPr>
        <p:spPr>
          <a:xfrm>
            <a:off x="347472" y="2404872"/>
            <a:ext cx="8449056" cy="384048"/>
          </a:xfrm>
          <a:prstGeom prst="rect">
            <a:avLst/>
          </a:prstGeom>
          <a:solidFill>
            <a:srgbClr val="0A1628"/>
          </a:solidFill>
          <a:ln w="12700">
            <a:solidFill>
              <a:srgbClr val="0A1628"/>
            </a:solidFill>
            <a:prstDash val="solid"/>
          </a:ln>
        </p:spPr>
        <p:txBody>
          <a:bodyPr/>
          <a:lstStyle/>
          <a:p>
            <a:endParaRPr lang="es-MX"/>
          </a:p>
        </p:txBody>
      </p:sp>
      <p:pic>
        <p:nvPicPr>
          <p:cNvPr id="20" name="Image 1" descr="preencoded.png"/>
          <p:cNvPicPr>
            <a:picLocks noChangeAspect="1"/>
          </p:cNvPicPr>
          <p:nvPr/>
        </p:nvPicPr>
        <p:blipFill>
          <a:blip r:embed="rId3"/>
          <a:stretch>
            <a:fillRect/>
          </a:stretch>
        </p:blipFill>
        <p:spPr>
          <a:xfrm>
            <a:off x="438912" y="2478024"/>
            <a:ext cx="201168" cy="201168"/>
          </a:xfrm>
          <a:prstGeom prst="rect">
            <a:avLst/>
          </a:prstGeom>
        </p:spPr>
      </p:pic>
      <p:sp>
        <p:nvSpPr>
          <p:cNvPr id="21" name="Text 17"/>
          <p:cNvSpPr/>
          <p:nvPr/>
        </p:nvSpPr>
        <p:spPr>
          <a:xfrm>
            <a:off x="713232" y="2441448"/>
            <a:ext cx="2743200" cy="274320"/>
          </a:xfrm>
          <a:prstGeom prst="rect">
            <a:avLst/>
          </a:prstGeom>
          <a:noFill/>
          <a:ln/>
        </p:spPr>
        <p:txBody>
          <a:bodyPr wrap="square" lIns="0" tIns="0" rIns="0" bIns="0" rtlCol="0" anchor="ctr"/>
          <a:lstStyle/>
          <a:p>
            <a:pPr marL="0" indent="0">
              <a:buNone/>
            </a:pPr>
            <a:r>
              <a:rPr lang="en-US" sz="1050" dirty="0">
                <a:solidFill>
                  <a:srgbClr val="F0F4F8"/>
                </a:solidFill>
                <a:latin typeface="Consolas" pitchFamily="34" charset="0"/>
                <a:ea typeface="Consolas" pitchFamily="34" charset="-122"/>
                <a:cs typeface="Consolas" pitchFamily="34" charset="-120"/>
              </a:rPr>
              <a:t>Python 3.11.8</a:t>
            </a:r>
            <a:endParaRPr lang="en-US" sz="1050" dirty="0"/>
          </a:p>
        </p:txBody>
      </p:sp>
      <p:sp>
        <p:nvSpPr>
          <p:cNvPr id="22" name="Text 18"/>
          <p:cNvSpPr/>
          <p:nvPr/>
        </p:nvSpPr>
        <p:spPr>
          <a:xfrm>
            <a:off x="3566160" y="2441448"/>
            <a:ext cx="5120640" cy="274320"/>
          </a:xfrm>
          <a:prstGeom prst="rect">
            <a:avLst/>
          </a:prstGeom>
          <a:noFill/>
          <a:ln/>
        </p:spPr>
        <p:txBody>
          <a:bodyPr wrap="square" lIns="0" tIns="0" rIns="0" bIns="0" rtlCol="0" anchor="ctr"/>
          <a:lstStyle/>
          <a:p>
            <a:pPr marL="0" indent="0">
              <a:buNone/>
            </a:pPr>
            <a:r>
              <a:rPr lang="en-US" sz="950" dirty="0">
                <a:solidFill>
                  <a:srgbClr val="8FA3B1"/>
                </a:solidFill>
              </a:rPr>
              <a:t>Verifica que sea Python 3.x (no 2.x, que ya está obsoleto).</a:t>
            </a:r>
            <a:endParaRPr lang="en-US" sz="950" dirty="0"/>
          </a:p>
        </p:txBody>
      </p:sp>
      <p:sp>
        <p:nvSpPr>
          <p:cNvPr id="23" name="Shape 19"/>
          <p:cNvSpPr/>
          <p:nvPr/>
        </p:nvSpPr>
        <p:spPr>
          <a:xfrm>
            <a:off x="347472" y="2944368"/>
            <a:ext cx="8449056" cy="804672"/>
          </a:xfrm>
          <a:prstGeom prst="rect">
            <a:avLst/>
          </a:prstGeom>
          <a:solidFill>
            <a:srgbClr val="071228"/>
          </a:solidFill>
          <a:ln w="12700">
            <a:solidFill>
              <a:srgbClr val="0D7A8A"/>
            </a:solidFill>
            <a:prstDash val="solid"/>
          </a:ln>
        </p:spPr>
        <p:txBody>
          <a:bodyPr/>
          <a:lstStyle/>
          <a:p>
            <a:endParaRPr lang="es-MX"/>
          </a:p>
        </p:txBody>
      </p:sp>
      <p:sp>
        <p:nvSpPr>
          <p:cNvPr id="24" name="Shape 20"/>
          <p:cNvSpPr/>
          <p:nvPr/>
        </p:nvSpPr>
        <p:spPr>
          <a:xfrm>
            <a:off x="347472" y="2944368"/>
            <a:ext cx="347472" cy="292608"/>
          </a:xfrm>
          <a:prstGeom prst="rect">
            <a:avLst/>
          </a:prstGeom>
          <a:solidFill>
            <a:srgbClr val="0D7A8A"/>
          </a:solidFill>
          <a:ln w="12700">
            <a:solidFill>
              <a:srgbClr val="0D7A8A"/>
            </a:solidFill>
            <a:prstDash val="solid"/>
          </a:ln>
        </p:spPr>
        <p:txBody>
          <a:bodyPr/>
          <a:lstStyle/>
          <a:p>
            <a:endParaRPr lang="es-MX"/>
          </a:p>
        </p:txBody>
      </p:sp>
      <p:sp>
        <p:nvSpPr>
          <p:cNvPr id="25" name="Text 21"/>
          <p:cNvSpPr/>
          <p:nvPr/>
        </p:nvSpPr>
        <p:spPr>
          <a:xfrm>
            <a:off x="347472" y="2944368"/>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26" name="Text 22"/>
          <p:cNvSpPr/>
          <p:nvPr/>
        </p:nvSpPr>
        <p:spPr>
          <a:xfrm>
            <a:off x="749808" y="2971800"/>
            <a:ext cx="6858000" cy="256032"/>
          </a:xfrm>
          <a:prstGeom prst="rect">
            <a:avLst/>
          </a:prstGeom>
          <a:noFill/>
          <a:ln/>
        </p:spPr>
        <p:txBody>
          <a:bodyPr wrap="square" lIns="0" tIns="0" rIns="0" bIns="0" rtlCol="0" anchor="ctr"/>
          <a:lstStyle/>
          <a:p>
            <a:pPr marL="0" indent="0">
              <a:buNone/>
            </a:pPr>
            <a:r>
              <a:rPr lang="en-US" sz="1100" b="1" dirty="0">
                <a:solidFill>
                  <a:srgbClr val="A8D8EA"/>
                </a:solidFill>
                <a:latin typeface="Consolas" pitchFamily="34" charset="0"/>
                <a:ea typeface="Consolas" pitchFamily="34" charset="-122"/>
                <a:cs typeface="Consolas" pitchFamily="34" charset="-120"/>
              </a:rPr>
              <a:t>python -c "import pandas; print(pandas.__version__)"</a:t>
            </a:r>
            <a:endParaRPr lang="en-US" sz="1100" dirty="0"/>
          </a:p>
        </p:txBody>
      </p:sp>
      <p:sp>
        <p:nvSpPr>
          <p:cNvPr id="27" name="Shape 23"/>
          <p:cNvSpPr/>
          <p:nvPr/>
        </p:nvSpPr>
        <p:spPr>
          <a:xfrm>
            <a:off x="347472" y="3291840"/>
            <a:ext cx="8449056" cy="384048"/>
          </a:xfrm>
          <a:prstGeom prst="rect">
            <a:avLst/>
          </a:prstGeom>
          <a:solidFill>
            <a:srgbClr val="0A1628"/>
          </a:solidFill>
          <a:ln w="12700">
            <a:solidFill>
              <a:srgbClr val="0A1628"/>
            </a:solidFill>
            <a:prstDash val="solid"/>
          </a:ln>
        </p:spPr>
        <p:txBody>
          <a:bodyPr/>
          <a:lstStyle/>
          <a:p>
            <a:endParaRPr lang="es-MX"/>
          </a:p>
        </p:txBody>
      </p:sp>
      <p:pic>
        <p:nvPicPr>
          <p:cNvPr id="28" name="Image 2" descr="preencoded.png"/>
          <p:cNvPicPr>
            <a:picLocks noChangeAspect="1"/>
          </p:cNvPicPr>
          <p:nvPr/>
        </p:nvPicPr>
        <p:blipFill>
          <a:blip r:embed="rId3"/>
          <a:stretch>
            <a:fillRect/>
          </a:stretch>
        </p:blipFill>
        <p:spPr>
          <a:xfrm>
            <a:off x="438912" y="3364992"/>
            <a:ext cx="201168" cy="201168"/>
          </a:xfrm>
          <a:prstGeom prst="rect">
            <a:avLst/>
          </a:prstGeom>
        </p:spPr>
      </p:pic>
      <p:sp>
        <p:nvSpPr>
          <p:cNvPr id="29" name="Text 24"/>
          <p:cNvSpPr/>
          <p:nvPr/>
        </p:nvSpPr>
        <p:spPr>
          <a:xfrm>
            <a:off x="713232" y="3328416"/>
            <a:ext cx="2743200" cy="274320"/>
          </a:xfrm>
          <a:prstGeom prst="rect">
            <a:avLst/>
          </a:prstGeom>
          <a:noFill/>
          <a:ln/>
        </p:spPr>
        <p:txBody>
          <a:bodyPr wrap="square" lIns="0" tIns="0" rIns="0" bIns="0" rtlCol="0" anchor="ctr"/>
          <a:lstStyle/>
          <a:p>
            <a:pPr marL="0" indent="0">
              <a:buNone/>
            </a:pPr>
            <a:r>
              <a:rPr lang="en-US" sz="1050" dirty="0">
                <a:solidFill>
                  <a:srgbClr val="F0F4F8"/>
                </a:solidFill>
                <a:latin typeface="Consolas" pitchFamily="34" charset="0"/>
                <a:ea typeface="Consolas" pitchFamily="34" charset="-122"/>
                <a:cs typeface="Consolas" pitchFamily="34" charset="-120"/>
              </a:rPr>
              <a:t>2.2.1</a:t>
            </a:r>
            <a:endParaRPr lang="en-US" sz="1050" dirty="0"/>
          </a:p>
        </p:txBody>
      </p:sp>
      <p:sp>
        <p:nvSpPr>
          <p:cNvPr id="30" name="Text 25"/>
          <p:cNvSpPr/>
          <p:nvPr/>
        </p:nvSpPr>
        <p:spPr>
          <a:xfrm>
            <a:off x="3566160" y="3328416"/>
            <a:ext cx="5120640" cy="274320"/>
          </a:xfrm>
          <a:prstGeom prst="rect">
            <a:avLst/>
          </a:prstGeom>
          <a:noFill/>
          <a:ln/>
        </p:spPr>
        <p:txBody>
          <a:bodyPr wrap="square" lIns="0" tIns="0" rIns="0" bIns="0" rtlCol="0" anchor="ctr"/>
          <a:lstStyle/>
          <a:p>
            <a:pPr marL="0" indent="0">
              <a:buNone/>
            </a:pPr>
            <a:r>
              <a:rPr lang="en-US" sz="950" dirty="0">
                <a:solidFill>
                  <a:srgbClr val="8FA3B1"/>
                </a:solidFill>
              </a:rPr>
              <a:t>Pandas incluido en Anaconda — debe aparecer un número de versión.</a:t>
            </a:r>
            <a:endParaRPr lang="en-US" sz="950" dirty="0"/>
          </a:p>
        </p:txBody>
      </p:sp>
      <p:sp>
        <p:nvSpPr>
          <p:cNvPr id="31" name="Shape 26"/>
          <p:cNvSpPr/>
          <p:nvPr/>
        </p:nvSpPr>
        <p:spPr>
          <a:xfrm>
            <a:off x="347472" y="3831336"/>
            <a:ext cx="8449056" cy="804672"/>
          </a:xfrm>
          <a:prstGeom prst="rect">
            <a:avLst/>
          </a:prstGeom>
          <a:solidFill>
            <a:srgbClr val="071228"/>
          </a:solidFill>
          <a:ln w="12700">
            <a:solidFill>
              <a:srgbClr val="0D7A8A"/>
            </a:solidFill>
            <a:prstDash val="solid"/>
          </a:ln>
        </p:spPr>
        <p:txBody>
          <a:bodyPr/>
          <a:lstStyle/>
          <a:p>
            <a:endParaRPr lang="es-MX"/>
          </a:p>
        </p:txBody>
      </p:sp>
      <p:sp>
        <p:nvSpPr>
          <p:cNvPr id="32" name="Shape 27"/>
          <p:cNvSpPr/>
          <p:nvPr/>
        </p:nvSpPr>
        <p:spPr>
          <a:xfrm>
            <a:off x="347472" y="3831336"/>
            <a:ext cx="347472" cy="292608"/>
          </a:xfrm>
          <a:prstGeom prst="rect">
            <a:avLst/>
          </a:prstGeom>
          <a:solidFill>
            <a:srgbClr val="0D7A8A"/>
          </a:solidFill>
          <a:ln w="12700">
            <a:solidFill>
              <a:srgbClr val="0D7A8A"/>
            </a:solidFill>
            <a:prstDash val="solid"/>
          </a:ln>
        </p:spPr>
        <p:txBody>
          <a:bodyPr/>
          <a:lstStyle/>
          <a:p>
            <a:endParaRPr lang="es-MX"/>
          </a:p>
        </p:txBody>
      </p:sp>
      <p:sp>
        <p:nvSpPr>
          <p:cNvPr id="33" name="Text 28"/>
          <p:cNvSpPr/>
          <p:nvPr/>
        </p:nvSpPr>
        <p:spPr>
          <a:xfrm>
            <a:off x="347472" y="3831336"/>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34" name="Text 29"/>
          <p:cNvSpPr/>
          <p:nvPr/>
        </p:nvSpPr>
        <p:spPr>
          <a:xfrm>
            <a:off x="749808" y="3858768"/>
            <a:ext cx="6858000" cy="256032"/>
          </a:xfrm>
          <a:prstGeom prst="rect">
            <a:avLst/>
          </a:prstGeom>
          <a:noFill/>
          <a:ln/>
        </p:spPr>
        <p:txBody>
          <a:bodyPr wrap="square" lIns="0" tIns="0" rIns="0" bIns="0" rtlCol="0" anchor="ctr"/>
          <a:lstStyle/>
          <a:p>
            <a:pPr marL="0" indent="0">
              <a:buNone/>
            </a:pPr>
            <a:r>
              <a:rPr lang="en-US" sz="1100" b="1" dirty="0">
                <a:solidFill>
                  <a:srgbClr val="A8D8EA"/>
                </a:solidFill>
                <a:latin typeface="Consolas" pitchFamily="34" charset="0"/>
                <a:ea typeface="Consolas" pitchFamily="34" charset="-122"/>
                <a:cs typeface="Consolas" pitchFamily="34" charset="-120"/>
              </a:rPr>
              <a:t>jupyter notebook --version</a:t>
            </a:r>
            <a:endParaRPr lang="en-US" sz="1100" dirty="0"/>
          </a:p>
        </p:txBody>
      </p:sp>
      <p:sp>
        <p:nvSpPr>
          <p:cNvPr id="35" name="Shape 30"/>
          <p:cNvSpPr/>
          <p:nvPr/>
        </p:nvSpPr>
        <p:spPr>
          <a:xfrm>
            <a:off x="347472" y="4178808"/>
            <a:ext cx="8449056" cy="384048"/>
          </a:xfrm>
          <a:prstGeom prst="rect">
            <a:avLst/>
          </a:prstGeom>
          <a:solidFill>
            <a:srgbClr val="0A1628"/>
          </a:solidFill>
          <a:ln w="12700">
            <a:solidFill>
              <a:srgbClr val="0A1628"/>
            </a:solidFill>
            <a:prstDash val="solid"/>
          </a:ln>
        </p:spPr>
        <p:txBody>
          <a:bodyPr/>
          <a:lstStyle/>
          <a:p>
            <a:endParaRPr lang="es-MX"/>
          </a:p>
        </p:txBody>
      </p:sp>
      <p:pic>
        <p:nvPicPr>
          <p:cNvPr id="36" name="Image 3" descr="preencoded.png"/>
          <p:cNvPicPr>
            <a:picLocks noChangeAspect="1"/>
          </p:cNvPicPr>
          <p:nvPr/>
        </p:nvPicPr>
        <p:blipFill>
          <a:blip r:embed="rId3"/>
          <a:stretch>
            <a:fillRect/>
          </a:stretch>
        </p:blipFill>
        <p:spPr>
          <a:xfrm>
            <a:off x="438912" y="4251960"/>
            <a:ext cx="201168" cy="201168"/>
          </a:xfrm>
          <a:prstGeom prst="rect">
            <a:avLst/>
          </a:prstGeom>
        </p:spPr>
      </p:pic>
      <p:sp>
        <p:nvSpPr>
          <p:cNvPr id="37" name="Text 31"/>
          <p:cNvSpPr/>
          <p:nvPr/>
        </p:nvSpPr>
        <p:spPr>
          <a:xfrm>
            <a:off x="713232" y="4215384"/>
            <a:ext cx="2743200" cy="274320"/>
          </a:xfrm>
          <a:prstGeom prst="rect">
            <a:avLst/>
          </a:prstGeom>
          <a:noFill/>
          <a:ln/>
        </p:spPr>
        <p:txBody>
          <a:bodyPr wrap="square" lIns="0" tIns="0" rIns="0" bIns="0" rtlCol="0" anchor="ctr"/>
          <a:lstStyle/>
          <a:p>
            <a:pPr marL="0" indent="0">
              <a:buNone/>
            </a:pPr>
            <a:r>
              <a:rPr lang="en-US" sz="1050" dirty="0">
                <a:solidFill>
                  <a:srgbClr val="F0F4F8"/>
                </a:solidFill>
                <a:latin typeface="Consolas" pitchFamily="34" charset="0"/>
                <a:ea typeface="Consolas" pitchFamily="34" charset="-122"/>
                <a:cs typeface="Consolas" pitchFamily="34" charset="-120"/>
              </a:rPr>
              <a:t>7.1.2</a:t>
            </a:r>
            <a:endParaRPr lang="en-US" sz="1050" dirty="0"/>
          </a:p>
        </p:txBody>
      </p:sp>
      <p:sp>
        <p:nvSpPr>
          <p:cNvPr id="38" name="Text 32"/>
          <p:cNvSpPr/>
          <p:nvPr/>
        </p:nvSpPr>
        <p:spPr>
          <a:xfrm>
            <a:off x="3566160" y="4215384"/>
            <a:ext cx="5120640" cy="274320"/>
          </a:xfrm>
          <a:prstGeom prst="rect">
            <a:avLst/>
          </a:prstGeom>
          <a:noFill/>
          <a:ln/>
        </p:spPr>
        <p:txBody>
          <a:bodyPr wrap="square" lIns="0" tIns="0" rIns="0" bIns="0" rtlCol="0" anchor="ctr"/>
          <a:lstStyle/>
          <a:p>
            <a:pPr marL="0" indent="0">
              <a:buNone/>
            </a:pPr>
            <a:r>
              <a:rPr lang="en-US" sz="950" dirty="0">
                <a:solidFill>
                  <a:srgbClr val="8FA3B1"/>
                </a:solidFill>
              </a:rPr>
              <a:t>Jupyter también viene pre-instalado con Anaconda.</a:t>
            </a:r>
            <a:endParaRPr lang="en-US" sz="950" dirty="0"/>
          </a:p>
        </p:txBody>
      </p:sp>
      <p:sp>
        <p:nvSpPr>
          <p:cNvPr id="39" name="Shape 33"/>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40" name="Text 34"/>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Módulo 1 · Introducción a Python · Sesión 1  —  15 abril 2026</a:t>
            </a:r>
            <a:endParaRPr lang="en-US" sz="850" dirty="0"/>
          </a:p>
        </p:txBody>
      </p:sp>
      <p:sp>
        <p:nvSpPr>
          <p:cNvPr id="41" name="Text 35"/>
          <p:cNvSpPr/>
          <p:nvPr/>
        </p:nvSpPr>
        <p:spPr>
          <a:xfrm>
            <a:off x="274320" y="4892040"/>
            <a:ext cx="5486400" cy="251460"/>
          </a:xfrm>
          <a:prstGeom prst="rect">
            <a:avLst/>
          </a:prstGeom>
          <a:noFill/>
          <a:ln/>
        </p:spPr>
        <p:txBody>
          <a:bodyPr wrap="square" lIns="0" tIns="0" rIns="0" bIns="0" rtlCol="0" anchor="ctr"/>
          <a:lstStyle/>
          <a:p>
            <a:pPr marL="0" indent="0" algn="l">
              <a:buNone/>
            </a:pPr>
            <a:r>
              <a:rPr lang="en-US" sz="850" dirty="0">
                <a:solidFill>
                  <a:srgbClr val="A8D8EA"/>
                </a:solidFill>
              </a:rPr>
              <a:t>PASO 1 · Verificar Anaconda</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Shape 1"/>
          <p:cNvSpPr/>
          <p:nvPr/>
        </p:nvSpPr>
        <p:spPr>
          <a:xfrm>
            <a:off x="493776" y="557784"/>
            <a:ext cx="2011680" cy="256032"/>
          </a:xfrm>
          <a:prstGeom prst="rect">
            <a:avLst/>
          </a:prstGeom>
          <a:solidFill>
            <a:srgbClr val="1A5276"/>
          </a:solidFill>
          <a:ln w="12700">
            <a:solidFill>
              <a:srgbClr val="1A5276"/>
            </a:solidFill>
            <a:prstDash val="solid"/>
          </a:ln>
        </p:spPr>
        <p:txBody>
          <a:bodyPr/>
          <a:lstStyle/>
          <a:p>
            <a:endParaRPr lang="es-MX"/>
          </a:p>
        </p:txBody>
      </p:sp>
      <p:sp>
        <p:nvSpPr>
          <p:cNvPr id="4" name="Text 2"/>
          <p:cNvSpPr/>
          <p:nvPr/>
        </p:nvSpPr>
        <p:spPr>
          <a:xfrm>
            <a:off x="365760" y="566928"/>
            <a:ext cx="2011680" cy="256032"/>
          </a:xfrm>
          <a:prstGeom prst="rect">
            <a:avLst/>
          </a:prstGeom>
          <a:noFill/>
          <a:ln/>
        </p:spPr>
        <p:txBody>
          <a:bodyPr wrap="square" lIns="0" tIns="0" rIns="0" bIns="0" rtlCol="0" anchor="ctr"/>
          <a:lstStyle/>
          <a:p>
            <a:pPr marL="0" indent="0" algn="ctr">
              <a:buNone/>
            </a:pPr>
            <a:r>
              <a:rPr lang="en-US" sz="850" b="1" kern="0" spc="200" dirty="0">
                <a:solidFill>
                  <a:srgbClr val="FFFFFF"/>
                </a:solidFill>
              </a:rPr>
              <a:t>PASO 2 DE 5</a:t>
            </a:r>
            <a:endParaRPr lang="en-US" sz="850" dirty="0"/>
          </a:p>
        </p:txBody>
      </p:sp>
      <p:sp>
        <p:nvSpPr>
          <p:cNvPr id="5" name="Text 3"/>
          <p:cNvSpPr/>
          <p:nvPr/>
        </p:nvSpPr>
        <p:spPr>
          <a:xfrm>
            <a:off x="347472" y="54864"/>
            <a:ext cx="8229600" cy="475488"/>
          </a:xfrm>
          <a:prstGeom prst="rect">
            <a:avLst/>
          </a:prstGeom>
          <a:noFill/>
          <a:ln/>
        </p:spPr>
        <p:txBody>
          <a:bodyPr wrap="square" lIns="0" tIns="0" rIns="0" bIns="0" rtlCol="0" anchor="ctr"/>
          <a:lstStyle/>
          <a:p>
            <a:pPr marL="0" indent="0" algn="l">
              <a:buNone/>
            </a:pPr>
            <a:r>
              <a:rPr lang="en-US" sz="2800" b="1" dirty="0">
                <a:solidFill>
                  <a:srgbClr val="0D1B3E"/>
                </a:solidFill>
              </a:rPr>
              <a:t>Visual Studio Code</a:t>
            </a:r>
            <a:endParaRPr lang="en-US" sz="2800" dirty="0"/>
          </a:p>
        </p:txBody>
      </p:sp>
      <p:sp>
        <p:nvSpPr>
          <p:cNvPr id="6" name="Text 4"/>
          <p:cNvSpPr/>
          <p:nvPr/>
        </p:nvSpPr>
        <p:spPr>
          <a:xfrm>
            <a:off x="347472" y="769778"/>
            <a:ext cx="8229600" cy="256032"/>
          </a:xfrm>
          <a:prstGeom prst="rect">
            <a:avLst/>
          </a:prstGeom>
          <a:noFill/>
          <a:ln/>
        </p:spPr>
        <p:txBody>
          <a:bodyPr wrap="square" lIns="0" tIns="0" rIns="0" bIns="0" rtlCol="0" anchor="ctr"/>
          <a:lstStyle/>
          <a:p>
            <a:pPr marL="0" indent="0" algn="l">
              <a:buNone/>
            </a:pPr>
            <a:r>
              <a:rPr lang="en-US" sz="1200" dirty="0">
                <a:solidFill>
                  <a:srgbClr val="0D7A8A"/>
                </a:solidFill>
              </a:rPr>
              <a:t>El editor de código que usaremos durante todo el diplomado</a:t>
            </a:r>
            <a:endParaRPr lang="en-US" sz="1200" dirty="0"/>
          </a:p>
        </p:txBody>
      </p:sp>
      <p:sp>
        <p:nvSpPr>
          <p:cNvPr id="7" name="Shape 5"/>
          <p:cNvSpPr/>
          <p:nvPr/>
        </p:nvSpPr>
        <p:spPr>
          <a:xfrm>
            <a:off x="347472" y="1005840"/>
            <a:ext cx="8449056" cy="804672"/>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8" name="Text 6"/>
          <p:cNvSpPr/>
          <p:nvPr/>
        </p:nvSpPr>
        <p:spPr>
          <a:xfrm>
            <a:off x="493776" y="1078992"/>
            <a:ext cx="8229600" cy="658368"/>
          </a:xfrm>
          <a:prstGeom prst="rect">
            <a:avLst/>
          </a:prstGeom>
          <a:noFill/>
          <a:ln/>
        </p:spPr>
        <p:txBody>
          <a:bodyPr wrap="square" lIns="0" tIns="0" rIns="0" bIns="0" rtlCol="0" anchor="ctr"/>
          <a:lstStyle/>
          <a:p>
            <a:pPr marL="0" indent="0">
              <a:buNone/>
            </a:pPr>
            <a:r>
              <a:rPr lang="en-US" sz="1150" dirty="0">
                <a:solidFill>
                  <a:srgbClr val="374151"/>
                </a:solidFill>
              </a:rPr>
              <a:t>VS Code es un editor de código fuente desarrollado por Microsoft, gratuito y de código abierto. No es un IDE completo (como PyCharm), sino un editor ligero y muy extensible. Su popularidad lo convirtió en el editor más usado del mundo según la encuesta anual de Stack Overflow desde 2018.</a:t>
            </a:r>
            <a:endParaRPr lang="en-US" sz="1150" dirty="0"/>
          </a:p>
        </p:txBody>
      </p:sp>
      <p:sp>
        <p:nvSpPr>
          <p:cNvPr id="9" name="Shape 7"/>
          <p:cNvSpPr/>
          <p:nvPr/>
        </p:nvSpPr>
        <p:spPr>
          <a:xfrm>
            <a:off x="347472" y="1993392"/>
            <a:ext cx="2743200" cy="1170432"/>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10" name="Shape 8"/>
          <p:cNvSpPr/>
          <p:nvPr/>
        </p:nvSpPr>
        <p:spPr>
          <a:xfrm>
            <a:off x="347472" y="1993392"/>
            <a:ext cx="2743200" cy="347472"/>
          </a:xfrm>
          <a:prstGeom prst="rect">
            <a:avLst/>
          </a:prstGeom>
          <a:solidFill>
            <a:srgbClr val="1A5276"/>
          </a:solidFill>
          <a:ln w="12700">
            <a:solidFill>
              <a:srgbClr val="1A5276"/>
            </a:solidFill>
            <a:prstDash val="solid"/>
          </a:ln>
        </p:spPr>
        <p:txBody>
          <a:bodyPr/>
          <a:lstStyle/>
          <a:p>
            <a:endParaRPr lang="es-MX"/>
          </a:p>
        </p:txBody>
      </p:sp>
      <p:pic>
        <p:nvPicPr>
          <p:cNvPr id="11" name="Image 0" descr="preencoded.png"/>
          <p:cNvPicPr>
            <a:picLocks noChangeAspect="1"/>
          </p:cNvPicPr>
          <p:nvPr/>
        </p:nvPicPr>
        <p:blipFill>
          <a:blip r:embed="rId3"/>
          <a:stretch>
            <a:fillRect/>
          </a:stretch>
        </p:blipFill>
        <p:spPr>
          <a:xfrm>
            <a:off x="438912" y="2057400"/>
            <a:ext cx="237744" cy="237744"/>
          </a:xfrm>
          <a:prstGeom prst="rect">
            <a:avLst/>
          </a:prstGeom>
        </p:spPr>
      </p:pic>
      <p:sp>
        <p:nvSpPr>
          <p:cNvPr id="12" name="Text 9"/>
          <p:cNvSpPr/>
          <p:nvPr/>
        </p:nvSpPr>
        <p:spPr>
          <a:xfrm>
            <a:off x="749808" y="2048256"/>
            <a:ext cx="2267712" cy="274320"/>
          </a:xfrm>
          <a:prstGeom prst="rect">
            <a:avLst/>
          </a:prstGeom>
          <a:noFill/>
          <a:ln/>
        </p:spPr>
        <p:txBody>
          <a:bodyPr wrap="square" lIns="0" tIns="0" rIns="0" bIns="0" rtlCol="0" anchor="ctr"/>
          <a:lstStyle/>
          <a:p>
            <a:pPr marL="0" indent="0">
              <a:buNone/>
            </a:pPr>
            <a:r>
              <a:rPr lang="en-US" sz="1100" b="1" dirty="0">
                <a:solidFill>
                  <a:srgbClr val="A8D8EA"/>
                </a:solidFill>
              </a:rPr>
              <a:t>Extensiones para todo</a:t>
            </a:r>
            <a:endParaRPr lang="en-US" sz="1100" dirty="0"/>
          </a:p>
        </p:txBody>
      </p:sp>
      <p:sp>
        <p:nvSpPr>
          <p:cNvPr id="13" name="Text 10"/>
          <p:cNvSpPr/>
          <p:nvPr/>
        </p:nvSpPr>
        <p:spPr>
          <a:xfrm>
            <a:off x="438912" y="2395728"/>
            <a:ext cx="2578608" cy="694944"/>
          </a:xfrm>
          <a:prstGeom prst="rect">
            <a:avLst/>
          </a:prstGeom>
          <a:noFill/>
          <a:ln/>
        </p:spPr>
        <p:txBody>
          <a:bodyPr wrap="square" lIns="0" tIns="0" rIns="0" bIns="0" rtlCol="0" anchor="ctr"/>
          <a:lstStyle/>
          <a:p>
            <a:pPr marL="0" indent="0">
              <a:buNone/>
            </a:pPr>
            <a:r>
              <a:rPr lang="en-US" sz="950" dirty="0">
                <a:solidFill>
                  <a:srgbClr val="374151"/>
                </a:solidFill>
              </a:rPr>
              <a:t>Instala extensiones con un clic: Python, Jupyter, GitHub, formateo automático, corrección de errores, etc.</a:t>
            </a:r>
            <a:endParaRPr lang="en-US" sz="950" dirty="0"/>
          </a:p>
        </p:txBody>
      </p:sp>
      <p:sp>
        <p:nvSpPr>
          <p:cNvPr id="14" name="Shape 11"/>
          <p:cNvSpPr/>
          <p:nvPr/>
        </p:nvSpPr>
        <p:spPr>
          <a:xfrm>
            <a:off x="3200400" y="1993392"/>
            <a:ext cx="2743200" cy="1170432"/>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15" name="Shape 12"/>
          <p:cNvSpPr/>
          <p:nvPr/>
        </p:nvSpPr>
        <p:spPr>
          <a:xfrm>
            <a:off x="3200400" y="1993392"/>
            <a:ext cx="2743200" cy="347472"/>
          </a:xfrm>
          <a:prstGeom prst="rect">
            <a:avLst/>
          </a:prstGeom>
          <a:solidFill>
            <a:srgbClr val="1A5276"/>
          </a:solidFill>
          <a:ln w="12700">
            <a:solidFill>
              <a:srgbClr val="1A5276"/>
            </a:solidFill>
            <a:prstDash val="solid"/>
          </a:ln>
        </p:spPr>
        <p:txBody>
          <a:bodyPr/>
          <a:lstStyle/>
          <a:p>
            <a:endParaRPr lang="es-MX"/>
          </a:p>
        </p:txBody>
      </p:sp>
      <p:pic>
        <p:nvPicPr>
          <p:cNvPr id="16" name="Image 1" descr="preencoded.png"/>
          <p:cNvPicPr>
            <a:picLocks noChangeAspect="1"/>
          </p:cNvPicPr>
          <p:nvPr/>
        </p:nvPicPr>
        <p:blipFill>
          <a:blip r:embed="rId4"/>
          <a:stretch>
            <a:fillRect/>
          </a:stretch>
        </p:blipFill>
        <p:spPr>
          <a:xfrm>
            <a:off x="3291840" y="2057400"/>
            <a:ext cx="237744" cy="237744"/>
          </a:xfrm>
          <a:prstGeom prst="rect">
            <a:avLst/>
          </a:prstGeom>
        </p:spPr>
      </p:pic>
      <p:sp>
        <p:nvSpPr>
          <p:cNvPr id="17" name="Text 13"/>
          <p:cNvSpPr/>
          <p:nvPr/>
        </p:nvSpPr>
        <p:spPr>
          <a:xfrm>
            <a:off x="3602736" y="2048256"/>
            <a:ext cx="2267712" cy="274320"/>
          </a:xfrm>
          <a:prstGeom prst="rect">
            <a:avLst/>
          </a:prstGeom>
          <a:noFill/>
          <a:ln/>
        </p:spPr>
        <p:txBody>
          <a:bodyPr wrap="square" lIns="0" tIns="0" rIns="0" bIns="0" rtlCol="0" anchor="ctr"/>
          <a:lstStyle/>
          <a:p>
            <a:pPr marL="0" indent="0">
              <a:buNone/>
            </a:pPr>
            <a:r>
              <a:rPr lang="en-US" sz="1100" b="1" dirty="0">
                <a:solidFill>
                  <a:srgbClr val="A8D8EA"/>
                </a:solidFill>
              </a:rPr>
              <a:t>Jupyter integrado</a:t>
            </a:r>
            <a:endParaRPr lang="en-US" sz="1100" dirty="0"/>
          </a:p>
        </p:txBody>
      </p:sp>
      <p:sp>
        <p:nvSpPr>
          <p:cNvPr id="18" name="Text 14"/>
          <p:cNvSpPr/>
          <p:nvPr/>
        </p:nvSpPr>
        <p:spPr>
          <a:xfrm>
            <a:off x="3291840" y="2395728"/>
            <a:ext cx="2578608" cy="694944"/>
          </a:xfrm>
          <a:prstGeom prst="rect">
            <a:avLst/>
          </a:prstGeom>
          <a:noFill/>
          <a:ln/>
        </p:spPr>
        <p:txBody>
          <a:bodyPr wrap="square" lIns="0" tIns="0" rIns="0" bIns="0" rtlCol="0" anchor="ctr"/>
          <a:lstStyle/>
          <a:p>
            <a:pPr marL="0" indent="0">
              <a:buNone/>
            </a:pPr>
            <a:r>
              <a:rPr lang="en-US" sz="950" dirty="0">
                <a:solidFill>
                  <a:srgbClr val="374151"/>
                </a:solidFill>
              </a:rPr>
              <a:t>Abre y ejecuta archivos .ipynb directamente en VS Code, sin necesidad de abrir el navegador.</a:t>
            </a:r>
            <a:endParaRPr lang="en-US" sz="950" dirty="0"/>
          </a:p>
        </p:txBody>
      </p:sp>
      <p:sp>
        <p:nvSpPr>
          <p:cNvPr id="19" name="Shape 15"/>
          <p:cNvSpPr/>
          <p:nvPr/>
        </p:nvSpPr>
        <p:spPr>
          <a:xfrm>
            <a:off x="6053328" y="1993392"/>
            <a:ext cx="2743200" cy="1170432"/>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20" name="Shape 16"/>
          <p:cNvSpPr/>
          <p:nvPr/>
        </p:nvSpPr>
        <p:spPr>
          <a:xfrm>
            <a:off x="6053328" y="1993392"/>
            <a:ext cx="2743200" cy="347472"/>
          </a:xfrm>
          <a:prstGeom prst="rect">
            <a:avLst/>
          </a:prstGeom>
          <a:solidFill>
            <a:srgbClr val="1A5276"/>
          </a:solidFill>
          <a:ln w="12700">
            <a:solidFill>
              <a:srgbClr val="1A5276"/>
            </a:solidFill>
            <a:prstDash val="solid"/>
          </a:ln>
        </p:spPr>
        <p:txBody>
          <a:bodyPr/>
          <a:lstStyle/>
          <a:p>
            <a:endParaRPr lang="es-MX"/>
          </a:p>
        </p:txBody>
      </p:sp>
      <p:pic>
        <p:nvPicPr>
          <p:cNvPr id="21" name="Image 2" descr="preencoded.png"/>
          <p:cNvPicPr>
            <a:picLocks noChangeAspect="1"/>
          </p:cNvPicPr>
          <p:nvPr/>
        </p:nvPicPr>
        <p:blipFill>
          <a:blip r:embed="rId5"/>
          <a:stretch>
            <a:fillRect/>
          </a:stretch>
        </p:blipFill>
        <p:spPr>
          <a:xfrm>
            <a:off x="6144768" y="2057400"/>
            <a:ext cx="237744" cy="237744"/>
          </a:xfrm>
          <a:prstGeom prst="rect">
            <a:avLst/>
          </a:prstGeom>
        </p:spPr>
      </p:pic>
      <p:sp>
        <p:nvSpPr>
          <p:cNvPr id="22" name="Text 17"/>
          <p:cNvSpPr/>
          <p:nvPr/>
        </p:nvSpPr>
        <p:spPr>
          <a:xfrm>
            <a:off x="6455664" y="2048256"/>
            <a:ext cx="2267712" cy="274320"/>
          </a:xfrm>
          <a:prstGeom prst="rect">
            <a:avLst/>
          </a:prstGeom>
          <a:noFill/>
          <a:ln/>
        </p:spPr>
        <p:txBody>
          <a:bodyPr wrap="square" lIns="0" tIns="0" rIns="0" bIns="0" rtlCol="0" anchor="ctr"/>
          <a:lstStyle/>
          <a:p>
            <a:pPr marL="0" indent="0">
              <a:buNone/>
            </a:pPr>
            <a:r>
              <a:rPr lang="en-US" sz="1100" b="1" dirty="0">
                <a:solidFill>
                  <a:srgbClr val="A8D8EA"/>
                </a:solidFill>
              </a:rPr>
              <a:t>Depurador visual</a:t>
            </a:r>
            <a:endParaRPr lang="en-US" sz="1100" dirty="0"/>
          </a:p>
        </p:txBody>
      </p:sp>
      <p:sp>
        <p:nvSpPr>
          <p:cNvPr id="23" name="Text 18"/>
          <p:cNvSpPr/>
          <p:nvPr/>
        </p:nvSpPr>
        <p:spPr>
          <a:xfrm>
            <a:off x="6144768" y="2395728"/>
            <a:ext cx="2578608" cy="694944"/>
          </a:xfrm>
          <a:prstGeom prst="rect">
            <a:avLst/>
          </a:prstGeom>
          <a:noFill/>
          <a:ln/>
        </p:spPr>
        <p:txBody>
          <a:bodyPr wrap="square" lIns="0" tIns="0" rIns="0" bIns="0" rtlCol="0" anchor="ctr"/>
          <a:lstStyle/>
          <a:p>
            <a:pPr marL="0" indent="0">
              <a:buNone/>
            </a:pPr>
            <a:r>
              <a:rPr lang="en-US" sz="950" dirty="0">
                <a:solidFill>
                  <a:srgbClr val="374151"/>
                </a:solidFill>
              </a:rPr>
              <a:t>Cuando tu código falla, puedes pausarlo línea por línea y ver el valor de cada variable en tiempo real.</a:t>
            </a:r>
            <a:endParaRPr lang="en-US" sz="950" dirty="0"/>
          </a:p>
        </p:txBody>
      </p:sp>
      <p:sp>
        <p:nvSpPr>
          <p:cNvPr id="24" name="Shape 19"/>
          <p:cNvSpPr/>
          <p:nvPr/>
        </p:nvSpPr>
        <p:spPr>
          <a:xfrm>
            <a:off x="347472" y="3310128"/>
            <a:ext cx="2743200" cy="1170432"/>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25" name="Shape 20"/>
          <p:cNvSpPr/>
          <p:nvPr/>
        </p:nvSpPr>
        <p:spPr>
          <a:xfrm>
            <a:off x="347472" y="3310128"/>
            <a:ext cx="2743200" cy="347472"/>
          </a:xfrm>
          <a:prstGeom prst="rect">
            <a:avLst/>
          </a:prstGeom>
          <a:solidFill>
            <a:srgbClr val="1A5276"/>
          </a:solidFill>
          <a:ln w="12700">
            <a:solidFill>
              <a:srgbClr val="1A5276"/>
            </a:solidFill>
            <a:prstDash val="solid"/>
          </a:ln>
        </p:spPr>
        <p:txBody>
          <a:bodyPr/>
          <a:lstStyle/>
          <a:p>
            <a:endParaRPr lang="es-MX"/>
          </a:p>
        </p:txBody>
      </p:sp>
      <p:pic>
        <p:nvPicPr>
          <p:cNvPr id="26" name="Image 3" descr="preencoded.png"/>
          <p:cNvPicPr>
            <a:picLocks noChangeAspect="1"/>
          </p:cNvPicPr>
          <p:nvPr/>
        </p:nvPicPr>
        <p:blipFill>
          <a:blip r:embed="rId6"/>
          <a:stretch>
            <a:fillRect/>
          </a:stretch>
        </p:blipFill>
        <p:spPr>
          <a:xfrm>
            <a:off x="438912" y="3374136"/>
            <a:ext cx="237744" cy="237744"/>
          </a:xfrm>
          <a:prstGeom prst="rect">
            <a:avLst/>
          </a:prstGeom>
        </p:spPr>
      </p:pic>
      <p:sp>
        <p:nvSpPr>
          <p:cNvPr id="27" name="Text 21"/>
          <p:cNvSpPr/>
          <p:nvPr/>
        </p:nvSpPr>
        <p:spPr>
          <a:xfrm>
            <a:off x="749808" y="3364992"/>
            <a:ext cx="2267712" cy="274320"/>
          </a:xfrm>
          <a:prstGeom prst="rect">
            <a:avLst/>
          </a:prstGeom>
          <a:noFill/>
          <a:ln/>
        </p:spPr>
        <p:txBody>
          <a:bodyPr wrap="square" lIns="0" tIns="0" rIns="0" bIns="0" rtlCol="0" anchor="ctr"/>
          <a:lstStyle/>
          <a:p>
            <a:pPr marL="0" indent="0">
              <a:buNone/>
            </a:pPr>
            <a:r>
              <a:rPr lang="en-US" sz="1100" b="1" dirty="0">
                <a:solidFill>
                  <a:srgbClr val="A8D8EA"/>
                </a:solidFill>
              </a:rPr>
              <a:t>Git / GitHub integrado</a:t>
            </a:r>
            <a:endParaRPr lang="en-US" sz="1100" dirty="0"/>
          </a:p>
        </p:txBody>
      </p:sp>
      <p:sp>
        <p:nvSpPr>
          <p:cNvPr id="28" name="Text 22"/>
          <p:cNvSpPr/>
          <p:nvPr/>
        </p:nvSpPr>
        <p:spPr>
          <a:xfrm>
            <a:off x="438912" y="3712464"/>
            <a:ext cx="2578608" cy="694944"/>
          </a:xfrm>
          <a:prstGeom prst="rect">
            <a:avLst/>
          </a:prstGeom>
          <a:noFill/>
          <a:ln/>
        </p:spPr>
        <p:txBody>
          <a:bodyPr wrap="square" lIns="0" tIns="0" rIns="0" bIns="0" rtlCol="0" anchor="ctr"/>
          <a:lstStyle/>
          <a:p>
            <a:pPr marL="0" indent="0">
              <a:buNone/>
            </a:pPr>
            <a:r>
              <a:rPr lang="en-US" sz="950" dirty="0">
                <a:solidFill>
                  <a:srgbClr val="374151"/>
                </a:solidFill>
              </a:rPr>
              <a:t>Maneja tus repositorios sin salir del editor: hacer commits, push, pull y resolver conflictos de forma visual.</a:t>
            </a:r>
            <a:endParaRPr lang="en-US" sz="950" dirty="0"/>
          </a:p>
        </p:txBody>
      </p:sp>
      <p:sp>
        <p:nvSpPr>
          <p:cNvPr id="29" name="Shape 23"/>
          <p:cNvSpPr/>
          <p:nvPr/>
        </p:nvSpPr>
        <p:spPr>
          <a:xfrm>
            <a:off x="3200400" y="3310128"/>
            <a:ext cx="2743200" cy="1170432"/>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30" name="Shape 24"/>
          <p:cNvSpPr/>
          <p:nvPr/>
        </p:nvSpPr>
        <p:spPr>
          <a:xfrm>
            <a:off x="3200400" y="3310128"/>
            <a:ext cx="2743200" cy="347472"/>
          </a:xfrm>
          <a:prstGeom prst="rect">
            <a:avLst/>
          </a:prstGeom>
          <a:solidFill>
            <a:srgbClr val="1A5276"/>
          </a:solidFill>
          <a:ln w="12700">
            <a:solidFill>
              <a:srgbClr val="1A5276"/>
            </a:solidFill>
            <a:prstDash val="solid"/>
          </a:ln>
        </p:spPr>
        <p:txBody>
          <a:bodyPr/>
          <a:lstStyle/>
          <a:p>
            <a:endParaRPr lang="es-MX"/>
          </a:p>
        </p:txBody>
      </p:sp>
      <p:pic>
        <p:nvPicPr>
          <p:cNvPr id="31" name="Image 4" descr="preencoded.png"/>
          <p:cNvPicPr>
            <a:picLocks noChangeAspect="1"/>
          </p:cNvPicPr>
          <p:nvPr/>
        </p:nvPicPr>
        <p:blipFill>
          <a:blip r:embed="rId7"/>
          <a:stretch>
            <a:fillRect/>
          </a:stretch>
        </p:blipFill>
        <p:spPr>
          <a:xfrm>
            <a:off x="3291840" y="3374136"/>
            <a:ext cx="237744" cy="237744"/>
          </a:xfrm>
          <a:prstGeom prst="rect">
            <a:avLst/>
          </a:prstGeom>
        </p:spPr>
      </p:pic>
      <p:sp>
        <p:nvSpPr>
          <p:cNvPr id="32" name="Text 25"/>
          <p:cNvSpPr/>
          <p:nvPr/>
        </p:nvSpPr>
        <p:spPr>
          <a:xfrm>
            <a:off x="3602736" y="3364992"/>
            <a:ext cx="2267712" cy="274320"/>
          </a:xfrm>
          <a:prstGeom prst="rect">
            <a:avLst/>
          </a:prstGeom>
          <a:noFill/>
          <a:ln/>
        </p:spPr>
        <p:txBody>
          <a:bodyPr wrap="square" lIns="0" tIns="0" rIns="0" bIns="0" rtlCol="0" anchor="ctr"/>
          <a:lstStyle/>
          <a:p>
            <a:pPr marL="0" indent="0">
              <a:buNone/>
            </a:pPr>
            <a:r>
              <a:rPr lang="en-US" sz="1100" b="1" dirty="0">
                <a:solidFill>
                  <a:srgbClr val="A8D8EA"/>
                </a:solidFill>
              </a:rPr>
              <a:t>Terminal incorporada</a:t>
            </a:r>
            <a:endParaRPr lang="en-US" sz="1100" dirty="0"/>
          </a:p>
        </p:txBody>
      </p:sp>
      <p:sp>
        <p:nvSpPr>
          <p:cNvPr id="33" name="Text 26"/>
          <p:cNvSpPr/>
          <p:nvPr/>
        </p:nvSpPr>
        <p:spPr>
          <a:xfrm>
            <a:off x="3291840" y="3712464"/>
            <a:ext cx="2578608" cy="694944"/>
          </a:xfrm>
          <a:prstGeom prst="rect">
            <a:avLst/>
          </a:prstGeom>
          <a:noFill/>
          <a:ln/>
        </p:spPr>
        <p:txBody>
          <a:bodyPr wrap="square" lIns="0" tIns="0" rIns="0" bIns="0" rtlCol="0" anchor="ctr"/>
          <a:lstStyle/>
          <a:p>
            <a:pPr marL="0" indent="0">
              <a:buNone/>
            </a:pPr>
            <a:r>
              <a:rPr lang="en-US" sz="950" dirty="0">
                <a:solidFill>
                  <a:srgbClr val="374151"/>
                </a:solidFill>
              </a:rPr>
              <a:t>Abre una terminal directamente dentro de VS Code con Ctrl+` (backtick). No necesitas ventanas separadas.</a:t>
            </a:r>
            <a:endParaRPr lang="en-US" sz="950" dirty="0"/>
          </a:p>
        </p:txBody>
      </p:sp>
      <p:sp>
        <p:nvSpPr>
          <p:cNvPr id="34" name="Shape 27"/>
          <p:cNvSpPr/>
          <p:nvPr/>
        </p:nvSpPr>
        <p:spPr>
          <a:xfrm>
            <a:off x="347472" y="4553712"/>
            <a:ext cx="8449056" cy="502920"/>
          </a:xfrm>
          <a:prstGeom prst="rect">
            <a:avLst/>
          </a:prstGeom>
          <a:solidFill>
            <a:srgbClr val="0D7A8A">
              <a:alpha val="12000"/>
            </a:srgbClr>
          </a:solidFill>
          <a:ln w="12700">
            <a:solidFill>
              <a:srgbClr val="0D7A8A"/>
            </a:solidFill>
            <a:prstDash val="solid"/>
          </a:ln>
        </p:spPr>
        <p:txBody>
          <a:bodyPr/>
          <a:lstStyle/>
          <a:p>
            <a:endParaRPr lang="es-MX"/>
          </a:p>
        </p:txBody>
      </p:sp>
      <p:pic>
        <p:nvPicPr>
          <p:cNvPr id="35" name="Image 5" descr="preencoded.png"/>
          <p:cNvPicPr>
            <a:picLocks noChangeAspect="1"/>
          </p:cNvPicPr>
          <p:nvPr/>
        </p:nvPicPr>
        <p:blipFill>
          <a:blip r:embed="rId8"/>
          <a:stretch>
            <a:fillRect/>
          </a:stretch>
        </p:blipFill>
        <p:spPr>
          <a:xfrm>
            <a:off x="475488" y="4645152"/>
            <a:ext cx="256032" cy="256032"/>
          </a:xfrm>
          <a:prstGeom prst="rect">
            <a:avLst/>
          </a:prstGeom>
        </p:spPr>
      </p:pic>
      <p:sp>
        <p:nvSpPr>
          <p:cNvPr id="36" name="Text 28"/>
          <p:cNvSpPr/>
          <p:nvPr/>
        </p:nvSpPr>
        <p:spPr>
          <a:xfrm>
            <a:off x="822960" y="4590288"/>
            <a:ext cx="7863840" cy="438912"/>
          </a:xfrm>
          <a:prstGeom prst="rect">
            <a:avLst/>
          </a:prstGeom>
          <a:noFill/>
          <a:ln/>
        </p:spPr>
        <p:txBody>
          <a:bodyPr wrap="square" lIns="0" tIns="0" rIns="0" bIns="0" rtlCol="0" anchor="ctr"/>
          <a:lstStyle/>
          <a:p>
            <a:pPr marL="0" indent="0">
              <a:buNone/>
            </a:pPr>
            <a:r>
              <a:rPr lang="en-US" sz="1050" b="1" dirty="0">
                <a:solidFill>
                  <a:srgbClr val="0D1B3E"/>
                </a:solidFill>
              </a:rPr>
              <a:t>Descarga gratuita en: code.visualstudio.com — Disponible para Windows, macOS y Linux.</a:t>
            </a:r>
            <a:endParaRPr lang="en-US" sz="1050" dirty="0"/>
          </a:p>
        </p:txBody>
      </p:sp>
      <p:sp>
        <p:nvSpPr>
          <p:cNvPr id="37" name="Shape 29"/>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38" name="Text 30"/>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Módulo 1 · Introducción a Python · Sesión 1  —  15 abril 2026</a:t>
            </a:r>
            <a:endParaRPr lang="en-US" sz="850" dirty="0"/>
          </a:p>
        </p:txBody>
      </p:sp>
      <p:sp>
        <p:nvSpPr>
          <p:cNvPr id="39" name="Text 31"/>
          <p:cNvSpPr/>
          <p:nvPr/>
        </p:nvSpPr>
        <p:spPr>
          <a:xfrm>
            <a:off x="274320" y="4892040"/>
            <a:ext cx="5486400" cy="251460"/>
          </a:xfrm>
          <a:prstGeom prst="rect">
            <a:avLst/>
          </a:prstGeom>
          <a:noFill/>
          <a:ln/>
        </p:spPr>
        <p:txBody>
          <a:bodyPr wrap="square" lIns="0" tIns="0" rIns="0" bIns="0" rtlCol="0" anchor="ctr"/>
          <a:lstStyle/>
          <a:p>
            <a:pPr marL="0" indent="0" algn="l">
              <a:buNone/>
            </a:pPr>
            <a:r>
              <a:rPr lang="en-US" sz="850" dirty="0">
                <a:solidFill>
                  <a:srgbClr val="A8D8EA"/>
                </a:solidFill>
              </a:rPr>
              <a:t>PASO 2 · VS Code</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Shape 1"/>
          <p:cNvSpPr/>
          <p:nvPr/>
        </p:nvSpPr>
        <p:spPr>
          <a:xfrm>
            <a:off x="365760" y="566928"/>
            <a:ext cx="2011680" cy="256032"/>
          </a:xfrm>
          <a:prstGeom prst="rect">
            <a:avLst/>
          </a:prstGeom>
          <a:solidFill>
            <a:srgbClr val="0D7A8A"/>
          </a:solidFill>
          <a:ln w="12700">
            <a:solidFill>
              <a:srgbClr val="0D7A8A"/>
            </a:solidFill>
            <a:prstDash val="solid"/>
          </a:ln>
        </p:spPr>
        <p:txBody>
          <a:bodyPr/>
          <a:lstStyle/>
          <a:p>
            <a:endParaRPr lang="es-MX"/>
          </a:p>
        </p:txBody>
      </p:sp>
      <p:sp>
        <p:nvSpPr>
          <p:cNvPr id="4" name="Text 2"/>
          <p:cNvSpPr/>
          <p:nvPr/>
        </p:nvSpPr>
        <p:spPr>
          <a:xfrm>
            <a:off x="365760" y="566928"/>
            <a:ext cx="2011680" cy="256032"/>
          </a:xfrm>
          <a:prstGeom prst="rect">
            <a:avLst/>
          </a:prstGeom>
          <a:noFill/>
          <a:ln/>
        </p:spPr>
        <p:txBody>
          <a:bodyPr wrap="square" lIns="0" tIns="0" rIns="0" bIns="0" rtlCol="0" anchor="ctr"/>
          <a:lstStyle/>
          <a:p>
            <a:pPr marL="0" indent="0" algn="ctr">
              <a:buNone/>
            </a:pPr>
            <a:r>
              <a:rPr lang="en-US" sz="850" b="1" kern="0" spc="200" dirty="0">
                <a:solidFill>
                  <a:srgbClr val="FFFFFF"/>
                </a:solidFill>
              </a:rPr>
              <a:t>PASO 2 DE 5</a:t>
            </a:r>
            <a:endParaRPr lang="en-US" sz="850" dirty="0"/>
          </a:p>
        </p:txBody>
      </p:sp>
      <p:sp>
        <p:nvSpPr>
          <p:cNvPr id="5" name="Text 3"/>
          <p:cNvSpPr/>
          <p:nvPr/>
        </p:nvSpPr>
        <p:spPr>
          <a:xfrm>
            <a:off x="274320" y="132536"/>
            <a:ext cx="8229600" cy="475488"/>
          </a:xfrm>
          <a:prstGeom prst="rect">
            <a:avLst/>
          </a:prstGeom>
          <a:noFill/>
          <a:ln/>
        </p:spPr>
        <p:txBody>
          <a:bodyPr wrap="square" lIns="0" tIns="0" rIns="0" bIns="0" rtlCol="0" anchor="ctr"/>
          <a:lstStyle/>
          <a:p>
            <a:pPr marL="0" indent="0" algn="l">
              <a:buNone/>
            </a:pPr>
            <a:r>
              <a:rPr lang="en-US" sz="2800" b="1" dirty="0">
                <a:solidFill>
                  <a:srgbClr val="FFFFFF"/>
                </a:solidFill>
              </a:rPr>
              <a:t>Instalar VS Code y Extensiones</a:t>
            </a:r>
            <a:endParaRPr lang="en-US" sz="2800" dirty="0"/>
          </a:p>
        </p:txBody>
      </p:sp>
      <p:sp>
        <p:nvSpPr>
          <p:cNvPr id="6" name="Text 4"/>
          <p:cNvSpPr/>
          <p:nvPr/>
        </p:nvSpPr>
        <p:spPr>
          <a:xfrm>
            <a:off x="402336" y="781234"/>
            <a:ext cx="8229600" cy="256032"/>
          </a:xfrm>
          <a:prstGeom prst="rect">
            <a:avLst/>
          </a:prstGeom>
          <a:noFill/>
          <a:ln/>
        </p:spPr>
        <p:txBody>
          <a:bodyPr wrap="square" lIns="0" tIns="0" rIns="0" bIns="0" rtlCol="0" anchor="ctr"/>
          <a:lstStyle/>
          <a:p>
            <a:pPr marL="0" indent="0" algn="l">
              <a:buNone/>
            </a:pPr>
            <a:r>
              <a:rPr lang="en-US" sz="1200" dirty="0">
                <a:solidFill>
                  <a:srgbClr val="A8D8EA"/>
                </a:solidFill>
              </a:rPr>
              <a:t>Instalación rápida + las 3 extensiones que necesitamos</a:t>
            </a:r>
            <a:endParaRPr lang="en-US" sz="1200" dirty="0"/>
          </a:p>
        </p:txBody>
      </p:sp>
      <p:sp>
        <p:nvSpPr>
          <p:cNvPr id="7" name="Shape 5"/>
          <p:cNvSpPr/>
          <p:nvPr/>
        </p:nvSpPr>
        <p:spPr>
          <a:xfrm>
            <a:off x="347472" y="1024128"/>
            <a:ext cx="4041648" cy="2304288"/>
          </a:xfrm>
          <a:prstGeom prst="rect">
            <a:avLst/>
          </a:prstGeom>
          <a:solidFill>
            <a:srgbClr val="1A5276"/>
          </a:solidFill>
          <a:ln w="12700">
            <a:solidFill>
              <a:srgbClr val="1A5276"/>
            </a:solidFill>
            <a:prstDash val="solid"/>
          </a:ln>
          <a:effectLst>
            <a:outerShdw blurRad="101600" dist="38100" dir="8100000" algn="bl" rotWithShape="0">
              <a:srgbClr val="000000">
                <a:alpha val="10000"/>
              </a:srgbClr>
            </a:outerShdw>
          </a:effectLst>
        </p:spPr>
        <p:txBody>
          <a:bodyPr/>
          <a:lstStyle/>
          <a:p>
            <a:endParaRPr lang="es-MX"/>
          </a:p>
        </p:txBody>
      </p:sp>
      <p:sp>
        <p:nvSpPr>
          <p:cNvPr id="8" name="Shape 6"/>
          <p:cNvSpPr/>
          <p:nvPr/>
        </p:nvSpPr>
        <p:spPr>
          <a:xfrm>
            <a:off x="347472" y="1024128"/>
            <a:ext cx="4041648" cy="384048"/>
          </a:xfrm>
          <a:prstGeom prst="rect">
            <a:avLst/>
          </a:prstGeom>
          <a:solidFill>
            <a:srgbClr val="0D7A8A"/>
          </a:solidFill>
          <a:ln w="12700">
            <a:solidFill>
              <a:srgbClr val="0D7A8A"/>
            </a:solidFill>
            <a:prstDash val="solid"/>
          </a:ln>
        </p:spPr>
        <p:txBody>
          <a:bodyPr/>
          <a:lstStyle/>
          <a:p>
            <a:endParaRPr lang="es-MX"/>
          </a:p>
        </p:txBody>
      </p:sp>
      <p:sp>
        <p:nvSpPr>
          <p:cNvPr id="9" name="Text 7"/>
          <p:cNvSpPr/>
          <p:nvPr/>
        </p:nvSpPr>
        <p:spPr>
          <a:xfrm>
            <a:off x="457200" y="1024128"/>
            <a:ext cx="3931920" cy="384048"/>
          </a:xfrm>
          <a:prstGeom prst="rect">
            <a:avLst/>
          </a:prstGeom>
          <a:noFill/>
          <a:ln/>
        </p:spPr>
        <p:txBody>
          <a:bodyPr wrap="square" lIns="0" tIns="0" rIns="0" bIns="0" rtlCol="0" anchor="ctr"/>
          <a:lstStyle/>
          <a:p>
            <a:pPr marL="0" indent="0">
              <a:buNone/>
            </a:pPr>
            <a:r>
              <a:rPr lang="en-US" sz="1300" b="1" dirty="0">
                <a:solidFill>
                  <a:srgbClr val="FFFFFF"/>
                </a:solidFill>
              </a:rPr>
              <a:t>Instalación</a:t>
            </a:r>
            <a:endParaRPr lang="en-US" sz="1300" dirty="0"/>
          </a:p>
        </p:txBody>
      </p:sp>
      <p:pic>
        <p:nvPicPr>
          <p:cNvPr id="10" name="Image 0" descr="preencoded.png"/>
          <p:cNvPicPr>
            <a:picLocks noChangeAspect="1"/>
          </p:cNvPicPr>
          <p:nvPr/>
        </p:nvPicPr>
        <p:blipFill>
          <a:blip r:embed="rId3"/>
          <a:stretch>
            <a:fillRect/>
          </a:stretch>
        </p:blipFill>
        <p:spPr>
          <a:xfrm>
            <a:off x="457200" y="1517904"/>
            <a:ext cx="201168" cy="201168"/>
          </a:xfrm>
          <a:prstGeom prst="rect">
            <a:avLst/>
          </a:prstGeom>
        </p:spPr>
      </p:pic>
      <p:sp>
        <p:nvSpPr>
          <p:cNvPr id="11" name="Text 8"/>
          <p:cNvSpPr/>
          <p:nvPr/>
        </p:nvSpPr>
        <p:spPr>
          <a:xfrm>
            <a:off x="731520" y="1490472"/>
            <a:ext cx="3547872" cy="292608"/>
          </a:xfrm>
          <a:prstGeom prst="rect">
            <a:avLst/>
          </a:prstGeom>
          <a:noFill/>
          <a:ln/>
        </p:spPr>
        <p:txBody>
          <a:bodyPr wrap="square" lIns="0" tIns="0" rIns="0" bIns="0" rtlCol="0" anchor="ctr"/>
          <a:lstStyle/>
          <a:p>
            <a:pPr marL="0" indent="0">
              <a:buNone/>
            </a:pPr>
            <a:r>
              <a:rPr lang="en-US" sz="1000" dirty="0">
                <a:solidFill>
                  <a:srgbClr val="F0F4F8"/>
                </a:solidFill>
              </a:rPr>
              <a:t>Ve a code.visualstudio.com y descarga la versión estable</a:t>
            </a:r>
            <a:endParaRPr lang="en-US" sz="1000" dirty="0"/>
          </a:p>
        </p:txBody>
      </p:sp>
      <p:pic>
        <p:nvPicPr>
          <p:cNvPr id="12" name="Image 1" descr="preencoded.png"/>
          <p:cNvPicPr>
            <a:picLocks noChangeAspect="1"/>
          </p:cNvPicPr>
          <p:nvPr/>
        </p:nvPicPr>
        <p:blipFill>
          <a:blip r:embed="rId3"/>
          <a:stretch>
            <a:fillRect/>
          </a:stretch>
        </p:blipFill>
        <p:spPr>
          <a:xfrm>
            <a:off x="457200" y="1865376"/>
            <a:ext cx="201168" cy="201168"/>
          </a:xfrm>
          <a:prstGeom prst="rect">
            <a:avLst/>
          </a:prstGeom>
        </p:spPr>
      </p:pic>
      <p:sp>
        <p:nvSpPr>
          <p:cNvPr id="13" name="Text 9"/>
          <p:cNvSpPr/>
          <p:nvPr/>
        </p:nvSpPr>
        <p:spPr>
          <a:xfrm>
            <a:off x="731520" y="1837944"/>
            <a:ext cx="3547872" cy="292608"/>
          </a:xfrm>
          <a:prstGeom prst="rect">
            <a:avLst/>
          </a:prstGeom>
          <a:noFill/>
          <a:ln/>
        </p:spPr>
        <p:txBody>
          <a:bodyPr wrap="square" lIns="0" tIns="0" rIns="0" bIns="0" rtlCol="0" anchor="ctr"/>
          <a:lstStyle/>
          <a:p>
            <a:pPr marL="0" indent="0">
              <a:buNone/>
            </a:pPr>
            <a:r>
              <a:rPr lang="en-US" sz="1000" dirty="0">
                <a:solidFill>
                  <a:srgbClr val="F0F4F8"/>
                </a:solidFill>
              </a:rPr>
              <a:t>Ejecuta el instalador (acepta todas las opciones por defecto)</a:t>
            </a:r>
            <a:endParaRPr lang="en-US" sz="1000" dirty="0"/>
          </a:p>
        </p:txBody>
      </p:sp>
      <p:pic>
        <p:nvPicPr>
          <p:cNvPr id="14" name="Image 2" descr="preencoded.png"/>
          <p:cNvPicPr>
            <a:picLocks noChangeAspect="1"/>
          </p:cNvPicPr>
          <p:nvPr/>
        </p:nvPicPr>
        <p:blipFill>
          <a:blip r:embed="rId3"/>
          <a:stretch>
            <a:fillRect/>
          </a:stretch>
        </p:blipFill>
        <p:spPr>
          <a:xfrm>
            <a:off x="457200" y="2212848"/>
            <a:ext cx="201168" cy="201168"/>
          </a:xfrm>
          <a:prstGeom prst="rect">
            <a:avLst/>
          </a:prstGeom>
        </p:spPr>
      </p:pic>
      <p:sp>
        <p:nvSpPr>
          <p:cNvPr id="15" name="Text 10"/>
          <p:cNvSpPr/>
          <p:nvPr/>
        </p:nvSpPr>
        <p:spPr>
          <a:xfrm>
            <a:off x="731520" y="2185416"/>
            <a:ext cx="3547872" cy="292608"/>
          </a:xfrm>
          <a:prstGeom prst="rect">
            <a:avLst/>
          </a:prstGeom>
          <a:noFill/>
          <a:ln/>
        </p:spPr>
        <p:txBody>
          <a:bodyPr wrap="square" lIns="0" tIns="0" rIns="0" bIns="0" rtlCol="0" anchor="ctr"/>
          <a:lstStyle/>
          <a:p>
            <a:pPr marL="0" indent="0">
              <a:buNone/>
            </a:pPr>
            <a:r>
              <a:rPr lang="en-US" sz="1000" dirty="0">
                <a:solidFill>
                  <a:srgbClr val="F0F4F8"/>
                </a:solidFill>
              </a:rPr>
              <a:t>Activa "Agregar a PATH" si se pregunta durante la instalación</a:t>
            </a:r>
            <a:endParaRPr lang="en-US" sz="1000" dirty="0"/>
          </a:p>
        </p:txBody>
      </p:sp>
      <p:pic>
        <p:nvPicPr>
          <p:cNvPr id="16" name="Image 3" descr="preencoded.png"/>
          <p:cNvPicPr>
            <a:picLocks noChangeAspect="1"/>
          </p:cNvPicPr>
          <p:nvPr/>
        </p:nvPicPr>
        <p:blipFill>
          <a:blip r:embed="rId3"/>
          <a:stretch>
            <a:fillRect/>
          </a:stretch>
        </p:blipFill>
        <p:spPr>
          <a:xfrm>
            <a:off x="457200" y="2560320"/>
            <a:ext cx="201168" cy="201168"/>
          </a:xfrm>
          <a:prstGeom prst="rect">
            <a:avLst/>
          </a:prstGeom>
        </p:spPr>
      </p:pic>
      <p:sp>
        <p:nvSpPr>
          <p:cNvPr id="17" name="Text 11"/>
          <p:cNvSpPr/>
          <p:nvPr/>
        </p:nvSpPr>
        <p:spPr>
          <a:xfrm>
            <a:off x="731520" y="2532888"/>
            <a:ext cx="3547872" cy="292608"/>
          </a:xfrm>
          <a:prstGeom prst="rect">
            <a:avLst/>
          </a:prstGeom>
          <a:noFill/>
          <a:ln/>
        </p:spPr>
        <p:txBody>
          <a:bodyPr wrap="square" lIns="0" tIns="0" rIns="0" bIns="0" rtlCol="0" anchor="ctr"/>
          <a:lstStyle/>
          <a:p>
            <a:pPr marL="0" indent="0">
              <a:buNone/>
            </a:pPr>
            <a:r>
              <a:rPr lang="en-US" sz="1000" dirty="0">
                <a:solidFill>
                  <a:srgbClr val="F0F4F8"/>
                </a:solidFill>
              </a:rPr>
              <a:t>Abre VS Code — en la primera apertura puede descargar actualizaciones</a:t>
            </a:r>
            <a:endParaRPr lang="en-US" sz="1000" dirty="0"/>
          </a:p>
        </p:txBody>
      </p:sp>
      <p:pic>
        <p:nvPicPr>
          <p:cNvPr id="18" name="Image 4" descr="preencoded.png"/>
          <p:cNvPicPr>
            <a:picLocks noChangeAspect="1"/>
          </p:cNvPicPr>
          <p:nvPr/>
        </p:nvPicPr>
        <p:blipFill>
          <a:blip r:embed="rId3"/>
          <a:stretch>
            <a:fillRect/>
          </a:stretch>
        </p:blipFill>
        <p:spPr>
          <a:xfrm>
            <a:off x="457200" y="2907792"/>
            <a:ext cx="201168" cy="201168"/>
          </a:xfrm>
          <a:prstGeom prst="rect">
            <a:avLst/>
          </a:prstGeom>
        </p:spPr>
      </p:pic>
      <p:sp>
        <p:nvSpPr>
          <p:cNvPr id="19" name="Text 12"/>
          <p:cNvSpPr/>
          <p:nvPr/>
        </p:nvSpPr>
        <p:spPr>
          <a:xfrm>
            <a:off x="731520" y="2880360"/>
            <a:ext cx="3547872" cy="292608"/>
          </a:xfrm>
          <a:prstGeom prst="rect">
            <a:avLst/>
          </a:prstGeom>
          <a:noFill/>
          <a:ln/>
        </p:spPr>
        <p:txBody>
          <a:bodyPr wrap="square" lIns="0" tIns="0" rIns="0" bIns="0" rtlCol="0" anchor="ctr"/>
          <a:lstStyle/>
          <a:p>
            <a:pPr marL="0" indent="0">
              <a:buNone/>
            </a:pPr>
            <a:r>
              <a:rPr lang="en-US" sz="1000" dirty="0">
                <a:solidFill>
                  <a:srgbClr val="F0F4F8"/>
                </a:solidFill>
              </a:rPr>
              <a:t>Aparece la pantalla de bienvenida (Welcome). Ciérrala por ahora</a:t>
            </a:r>
            <a:endParaRPr lang="en-US" sz="1000" dirty="0"/>
          </a:p>
        </p:txBody>
      </p:sp>
      <p:sp>
        <p:nvSpPr>
          <p:cNvPr id="20" name="Shape 13"/>
          <p:cNvSpPr/>
          <p:nvPr/>
        </p:nvSpPr>
        <p:spPr>
          <a:xfrm>
            <a:off x="4645152" y="1024128"/>
            <a:ext cx="4151376" cy="2304288"/>
          </a:xfrm>
          <a:prstGeom prst="rect">
            <a:avLst/>
          </a:prstGeom>
          <a:solidFill>
            <a:srgbClr val="1A5276"/>
          </a:solidFill>
          <a:ln w="12700">
            <a:solidFill>
              <a:srgbClr val="1A5276"/>
            </a:solidFill>
            <a:prstDash val="solid"/>
          </a:ln>
          <a:effectLst>
            <a:outerShdw blurRad="101600" dist="38100" dir="8100000" algn="bl" rotWithShape="0">
              <a:srgbClr val="000000">
                <a:alpha val="10000"/>
              </a:srgbClr>
            </a:outerShdw>
          </a:effectLst>
        </p:spPr>
        <p:txBody>
          <a:bodyPr/>
          <a:lstStyle/>
          <a:p>
            <a:endParaRPr lang="es-MX"/>
          </a:p>
        </p:txBody>
      </p:sp>
      <p:sp>
        <p:nvSpPr>
          <p:cNvPr id="21" name="Shape 14"/>
          <p:cNvSpPr/>
          <p:nvPr/>
        </p:nvSpPr>
        <p:spPr>
          <a:xfrm>
            <a:off x="4645152" y="1024128"/>
            <a:ext cx="4151376" cy="384048"/>
          </a:xfrm>
          <a:prstGeom prst="rect">
            <a:avLst/>
          </a:prstGeom>
          <a:solidFill>
            <a:srgbClr val="1A5276"/>
          </a:solidFill>
          <a:ln w="12700">
            <a:solidFill>
              <a:srgbClr val="1A5276"/>
            </a:solidFill>
            <a:prstDash val="solid"/>
          </a:ln>
        </p:spPr>
        <p:txBody>
          <a:bodyPr/>
          <a:lstStyle/>
          <a:p>
            <a:endParaRPr lang="es-MX"/>
          </a:p>
        </p:txBody>
      </p:sp>
      <p:sp>
        <p:nvSpPr>
          <p:cNvPr id="22" name="Text 15"/>
          <p:cNvSpPr/>
          <p:nvPr/>
        </p:nvSpPr>
        <p:spPr>
          <a:xfrm>
            <a:off x="4754880" y="1024128"/>
            <a:ext cx="3931920" cy="384048"/>
          </a:xfrm>
          <a:prstGeom prst="rect">
            <a:avLst/>
          </a:prstGeom>
          <a:noFill/>
          <a:ln/>
        </p:spPr>
        <p:txBody>
          <a:bodyPr wrap="square" lIns="0" tIns="0" rIns="0" bIns="0" rtlCol="0" anchor="ctr"/>
          <a:lstStyle/>
          <a:p>
            <a:pPr marL="0" indent="0">
              <a:buNone/>
            </a:pPr>
            <a:r>
              <a:rPr lang="en-US" sz="1300" b="1" dirty="0">
                <a:solidFill>
                  <a:srgbClr val="FFFFFF"/>
                </a:solidFill>
              </a:rPr>
              <a:t>Extensiones a instalar</a:t>
            </a:r>
            <a:endParaRPr lang="en-US" sz="1300" dirty="0"/>
          </a:p>
        </p:txBody>
      </p:sp>
      <p:sp>
        <p:nvSpPr>
          <p:cNvPr id="23" name="Shape 16"/>
          <p:cNvSpPr/>
          <p:nvPr/>
        </p:nvSpPr>
        <p:spPr>
          <a:xfrm>
            <a:off x="4736592" y="1536192"/>
            <a:ext cx="3931920" cy="566928"/>
          </a:xfrm>
          <a:prstGeom prst="rect">
            <a:avLst/>
          </a:prstGeom>
          <a:solidFill>
            <a:srgbClr val="162945"/>
          </a:solidFill>
          <a:ln w="12700">
            <a:solidFill>
              <a:srgbClr val="0F2035"/>
            </a:solidFill>
            <a:prstDash val="solid"/>
          </a:ln>
        </p:spPr>
        <p:txBody>
          <a:bodyPr/>
          <a:lstStyle/>
          <a:p>
            <a:endParaRPr lang="es-MX"/>
          </a:p>
        </p:txBody>
      </p:sp>
      <p:sp>
        <p:nvSpPr>
          <p:cNvPr id="24" name="Text 17"/>
          <p:cNvSpPr/>
          <p:nvPr/>
        </p:nvSpPr>
        <p:spPr>
          <a:xfrm>
            <a:off x="4846320" y="1572768"/>
            <a:ext cx="1828800" cy="256032"/>
          </a:xfrm>
          <a:prstGeom prst="rect">
            <a:avLst/>
          </a:prstGeom>
          <a:noFill/>
          <a:ln/>
        </p:spPr>
        <p:txBody>
          <a:bodyPr wrap="square" lIns="0" tIns="0" rIns="0" bIns="0" rtlCol="0" anchor="ctr"/>
          <a:lstStyle/>
          <a:p>
            <a:pPr marL="0" indent="0">
              <a:buNone/>
            </a:pPr>
            <a:r>
              <a:rPr lang="en-US" sz="1200" b="1" dirty="0">
                <a:solidFill>
                  <a:srgbClr val="A8D8EA"/>
                </a:solidFill>
              </a:rPr>
              <a:t>Python</a:t>
            </a:r>
            <a:endParaRPr lang="en-US" sz="1200" dirty="0"/>
          </a:p>
        </p:txBody>
      </p:sp>
      <p:sp>
        <p:nvSpPr>
          <p:cNvPr id="25" name="Text 18"/>
          <p:cNvSpPr/>
          <p:nvPr/>
        </p:nvSpPr>
        <p:spPr>
          <a:xfrm>
            <a:off x="4846320" y="1828800"/>
            <a:ext cx="1645920" cy="201168"/>
          </a:xfrm>
          <a:prstGeom prst="rect">
            <a:avLst/>
          </a:prstGeom>
          <a:noFill/>
          <a:ln/>
        </p:spPr>
        <p:txBody>
          <a:bodyPr wrap="square" lIns="0" tIns="0" rIns="0" bIns="0" rtlCol="0" anchor="ctr"/>
          <a:lstStyle/>
          <a:p>
            <a:pPr marL="0" indent="0">
              <a:buNone/>
            </a:pPr>
            <a:r>
              <a:rPr lang="en-US" sz="850" dirty="0">
                <a:solidFill>
                  <a:srgbClr val="8FA3B1"/>
                </a:solidFill>
              </a:rPr>
              <a:t>por Microsoft</a:t>
            </a:r>
            <a:endParaRPr lang="en-US" sz="850" dirty="0"/>
          </a:p>
        </p:txBody>
      </p:sp>
      <p:sp>
        <p:nvSpPr>
          <p:cNvPr id="26" name="Text 19"/>
          <p:cNvSpPr/>
          <p:nvPr/>
        </p:nvSpPr>
        <p:spPr>
          <a:xfrm>
            <a:off x="6309360" y="1591056"/>
            <a:ext cx="2286000" cy="475488"/>
          </a:xfrm>
          <a:prstGeom prst="rect">
            <a:avLst/>
          </a:prstGeom>
          <a:noFill/>
          <a:ln/>
        </p:spPr>
        <p:txBody>
          <a:bodyPr wrap="square" lIns="0" tIns="0" rIns="0" bIns="0" rtlCol="0" anchor="ctr"/>
          <a:lstStyle/>
          <a:p>
            <a:pPr marL="0" indent="0">
              <a:buNone/>
            </a:pPr>
            <a:r>
              <a:rPr lang="en-US" sz="900" dirty="0">
                <a:solidFill>
                  <a:srgbClr val="F0F4F8"/>
                </a:solidFill>
              </a:rPr>
              <a:t>Soporte completo de Python: autocompletado, linting, debugging, selección de intérprete.</a:t>
            </a:r>
            <a:endParaRPr lang="en-US" sz="900" dirty="0"/>
          </a:p>
        </p:txBody>
      </p:sp>
      <p:sp>
        <p:nvSpPr>
          <p:cNvPr id="27" name="Shape 20"/>
          <p:cNvSpPr/>
          <p:nvPr/>
        </p:nvSpPr>
        <p:spPr>
          <a:xfrm>
            <a:off x="4736592" y="2194560"/>
            <a:ext cx="3931920" cy="566928"/>
          </a:xfrm>
          <a:prstGeom prst="rect">
            <a:avLst/>
          </a:prstGeom>
          <a:solidFill>
            <a:srgbClr val="0F2035"/>
          </a:solidFill>
          <a:ln w="12700">
            <a:solidFill>
              <a:srgbClr val="0F2035"/>
            </a:solidFill>
            <a:prstDash val="solid"/>
          </a:ln>
        </p:spPr>
        <p:txBody>
          <a:bodyPr/>
          <a:lstStyle/>
          <a:p>
            <a:endParaRPr lang="es-MX"/>
          </a:p>
        </p:txBody>
      </p:sp>
      <p:sp>
        <p:nvSpPr>
          <p:cNvPr id="28" name="Text 21"/>
          <p:cNvSpPr/>
          <p:nvPr/>
        </p:nvSpPr>
        <p:spPr>
          <a:xfrm>
            <a:off x="4846320" y="2231136"/>
            <a:ext cx="1828800" cy="256032"/>
          </a:xfrm>
          <a:prstGeom prst="rect">
            <a:avLst/>
          </a:prstGeom>
          <a:noFill/>
          <a:ln/>
        </p:spPr>
        <p:txBody>
          <a:bodyPr wrap="square" lIns="0" tIns="0" rIns="0" bIns="0" rtlCol="0" anchor="ctr"/>
          <a:lstStyle/>
          <a:p>
            <a:pPr marL="0" indent="0">
              <a:buNone/>
            </a:pPr>
            <a:r>
              <a:rPr lang="en-US" sz="1200" b="1" dirty="0">
                <a:solidFill>
                  <a:srgbClr val="A8D8EA"/>
                </a:solidFill>
              </a:rPr>
              <a:t>Jupyter</a:t>
            </a:r>
            <a:endParaRPr lang="en-US" sz="1200" dirty="0"/>
          </a:p>
        </p:txBody>
      </p:sp>
      <p:sp>
        <p:nvSpPr>
          <p:cNvPr id="29" name="Text 22"/>
          <p:cNvSpPr/>
          <p:nvPr/>
        </p:nvSpPr>
        <p:spPr>
          <a:xfrm>
            <a:off x="4846320" y="2487168"/>
            <a:ext cx="1645920" cy="201168"/>
          </a:xfrm>
          <a:prstGeom prst="rect">
            <a:avLst/>
          </a:prstGeom>
          <a:noFill/>
          <a:ln/>
        </p:spPr>
        <p:txBody>
          <a:bodyPr wrap="square" lIns="0" tIns="0" rIns="0" bIns="0" rtlCol="0" anchor="ctr"/>
          <a:lstStyle/>
          <a:p>
            <a:pPr marL="0" indent="0">
              <a:buNone/>
            </a:pPr>
            <a:r>
              <a:rPr lang="en-US" sz="850" dirty="0">
                <a:solidFill>
                  <a:srgbClr val="8FA3B1"/>
                </a:solidFill>
              </a:rPr>
              <a:t>por Microsoft</a:t>
            </a:r>
            <a:endParaRPr lang="en-US" sz="850" dirty="0"/>
          </a:p>
        </p:txBody>
      </p:sp>
      <p:sp>
        <p:nvSpPr>
          <p:cNvPr id="30" name="Text 23"/>
          <p:cNvSpPr/>
          <p:nvPr/>
        </p:nvSpPr>
        <p:spPr>
          <a:xfrm>
            <a:off x="6309360" y="2249424"/>
            <a:ext cx="2286000" cy="475488"/>
          </a:xfrm>
          <a:prstGeom prst="rect">
            <a:avLst/>
          </a:prstGeom>
          <a:noFill/>
          <a:ln/>
        </p:spPr>
        <p:txBody>
          <a:bodyPr wrap="square" lIns="0" tIns="0" rIns="0" bIns="0" rtlCol="0" anchor="ctr"/>
          <a:lstStyle/>
          <a:p>
            <a:pPr marL="0" indent="0">
              <a:buNone/>
            </a:pPr>
            <a:r>
              <a:rPr lang="en-US" sz="900" dirty="0">
                <a:solidFill>
                  <a:srgbClr val="F0F4F8"/>
                </a:solidFill>
              </a:rPr>
              <a:t>Ejecutar notebooks .ipynb directamente en VS Code con todas las funciones de Jupyter.</a:t>
            </a:r>
            <a:endParaRPr lang="en-US" sz="900" dirty="0"/>
          </a:p>
        </p:txBody>
      </p:sp>
      <p:sp>
        <p:nvSpPr>
          <p:cNvPr id="31" name="Shape 24"/>
          <p:cNvSpPr/>
          <p:nvPr/>
        </p:nvSpPr>
        <p:spPr>
          <a:xfrm>
            <a:off x="4736592" y="2852928"/>
            <a:ext cx="3931920" cy="566928"/>
          </a:xfrm>
          <a:prstGeom prst="rect">
            <a:avLst/>
          </a:prstGeom>
          <a:solidFill>
            <a:srgbClr val="162945"/>
          </a:solidFill>
          <a:ln w="12700">
            <a:solidFill>
              <a:srgbClr val="0F2035"/>
            </a:solidFill>
            <a:prstDash val="solid"/>
          </a:ln>
        </p:spPr>
        <p:txBody>
          <a:bodyPr/>
          <a:lstStyle/>
          <a:p>
            <a:endParaRPr lang="es-MX"/>
          </a:p>
        </p:txBody>
      </p:sp>
      <p:sp>
        <p:nvSpPr>
          <p:cNvPr id="32" name="Text 25"/>
          <p:cNvSpPr/>
          <p:nvPr/>
        </p:nvSpPr>
        <p:spPr>
          <a:xfrm>
            <a:off x="4846320" y="2889504"/>
            <a:ext cx="1828800" cy="256032"/>
          </a:xfrm>
          <a:prstGeom prst="rect">
            <a:avLst/>
          </a:prstGeom>
          <a:noFill/>
          <a:ln/>
        </p:spPr>
        <p:txBody>
          <a:bodyPr wrap="square" lIns="0" tIns="0" rIns="0" bIns="0" rtlCol="0" anchor="ctr"/>
          <a:lstStyle/>
          <a:p>
            <a:pPr marL="0" indent="0">
              <a:buNone/>
            </a:pPr>
            <a:r>
              <a:rPr lang="en-US" sz="1200" b="1" dirty="0">
                <a:solidFill>
                  <a:srgbClr val="A8D8EA"/>
                </a:solidFill>
              </a:rPr>
              <a:t>Pylance</a:t>
            </a:r>
            <a:endParaRPr lang="en-US" sz="1200" dirty="0"/>
          </a:p>
        </p:txBody>
      </p:sp>
      <p:sp>
        <p:nvSpPr>
          <p:cNvPr id="33" name="Text 26"/>
          <p:cNvSpPr/>
          <p:nvPr/>
        </p:nvSpPr>
        <p:spPr>
          <a:xfrm>
            <a:off x="4846320" y="3145536"/>
            <a:ext cx="1645920" cy="201168"/>
          </a:xfrm>
          <a:prstGeom prst="rect">
            <a:avLst/>
          </a:prstGeom>
          <a:noFill/>
          <a:ln/>
        </p:spPr>
        <p:txBody>
          <a:bodyPr wrap="square" lIns="0" tIns="0" rIns="0" bIns="0" rtlCol="0" anchor="ctr"/>
          <a:lstStyle/>
          <a:p>
            <a:pPr marL="0" indent="0">
              <a:buNone/>
            </a:pPr>
            <a:r>
              <a:rPr lang="en-US" sz="850" dirty="0">
                <a:solidFill>
                  <a:srgbClr val="8FA3B1"/>
                </a:solidFill>
              </a:rPr>
              <a:t>por Microsoft</a:t>
            </a:r>
            <a:endParaRPr lang="en-US" sz="850" dirty="0"/>
          </a:p>
        </p:txBody>
      </p:sp>
      <p:sp>
        <p:nvSpPr>
          <p:cNvPr id="34" name="Text 27"/>
          <p:cNvSpPr/>
          <p:nvPr/>
        </p:nvSpPr>
        <p:spPr>
          <a:xfrm>
            <a:off x="6309360" y="2907792"/>
            <a:ext cx="2286000" cy="475488"/>
          </a:xfrm>
          <a:prstGeom prst="rect">
            <a:avLst/>
          </a:prstGeom>
          <a:noFill/>
          <a:ln/>
        </p:spPr>
        <p:txBody>
          <a:bodyPr wrap="square" lIns="0" tIns="0" rIns="0" bIns="0" rtlCol="0" anchor="ctr"/>
          <a:lstStyle/>
          <a:p>
            <a:pPr marL="0" indent="0">
              <a:buNone/>
            </a:pPr>
            <a:r>
              <a:rPr lang="en-US" sz="900" dirty="0">
                <a:solidFill>
                  <a:srgbClr val="F0F4F8"/>
                </a:solidFill>
              </a:rPr>
              <a:t>Análisis de tipos y autocompletado avanzado. Se instala automáticamente con la extensión Python.</a:t>
            </a:r>
            <a:endParaRPr lang="en-US" sz="900" dirty="0"/>
          </a:p>
        </p:txBody>
      </p:sp>
      <p:sp>
        <p:nvSpPr>
          <p:cNvPr id="35" name="Shape 28"/>
          <p:cNvSpPr/>
          <p:nvPr/>
        </p:nvSpPr>
        <p:spPr>
          <a:xfrm>
            <a:off x="347472" y="3456432"/>
            <a:ext cx="8449056" cy="987552"/>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36" name="Text 29"/>
          <p:cNvSpPr/>
          <p:nvPr/>
        </p:nvSpPr>
        <p:spPr>
          <a:xfrm>
            <a:off x="475488" y="3529584"/>
            <a:ext cx="8046720" cy="274320"/>
          </a:xfrm>
          <a:prstGeom prst="rect">
            <a:avLst/>
          </a:prstGeom>
          <a:noFill/>
          <a:ln/>
        </p:spPr>
        <p:txBody>
          <a:bodyPr wrap="square" lIns="0" tIns="0" rIns="0" bIns="0" rtlCol="0" anchor="ctr"/>
          <a:lstStyle/>
          <a:p>
            <a:pPr marL="0" indent="0">
              <a:buNone/>
            </a:pPr>
            <a:r>
              <a:rPr lang="en-US" sz="1200" b="1" dirty="0">
                <a:solidFill>
                  <a:srgbClr val="0D1B3E"/>
                </a:solidFill>
              </a:rPr>
              <a:t>¿Cómo se instalan las extensiones?</a:t>
            </a:r>
            <a:endParaRPr lang="en-US" sz="1200" dirty="0"/>
          </a:p>
        </p:txBody>
      </p:sp>
      <p:sp>
        <p:nvSpPr>
          <p:cNvPr id="37" name="Text 30"/>
          <p:cNvSpPr/>
          <p:nvPr/>
        </p:nvSpPr>
        <p:spPr>
          <a:xfrm>
            <a:off x="475488" y="3822192"/>
            <a:ext cx="8046720" cy="548640"/>
          </a:xfrm>
          <a:prstGeom prst="rect">
            <a:avLst/>
          </a:prstGeom>
          <a:noFill/>
          <a:ln/>
        </p:spPr>
        <p:txBody>
          <a:bodyPr wrap="square" lIns="0" tIns="0" rIns="0" bIns="0" rtlCol="0" anchor="ctr"/>
          <a:lstStyle/>
          <a:p>
            <a:pPr marL="0" indent="0">
              <a:buNone/>
            </a:pPr>
            <a:r>
              <a:rPr lang="en-US" sz="1050" dirty="0">
                <a:solidFill>
                  <a:srgbClr val="374151"/>
                </a:solidFill>
              </a:rPr>
              <a:t>En VS Code presiona Ctrl+Shift+X (Windows) o Cmd+Shift+X (Mac) para abrir el panel de extensiones. En la barra de búsqueda escribe el nombre de la extensión (por ejemplo: Python), selecciona la de Microsoft y haz clic en 'Install'. En segundos queda instalada sin reiniciar.</a:t>
            </a:r>
            <a:endParaRPr lang="en-US" sz="1050" dirty="0"/>
          </a:p>
        </p:txBody>
      </p:sp>
      <p:sp>
        <p:nvSpPr>
          <p:cNvPr id="38" name="Shape 31"/>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39" name="Text 32"/>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Módulo 1 · Introducción a Python · Sesión 1  —  15 abril 2026</a:t>
            </a:r>
            <a:endParaRPr lang="en-US" sz="850" dirty="0"/>
          </a:p>
        </p:txBody>
      </p:sp>
      <p:sp>
        <p:nvSpPr>
          <p:cNvPr id="40" name="Text 33"/>
          <p:cNvSpPr/>
          <p:nvPr/>
        </p:nvSpPr>
        <p:spPr>
          <a:xfrm>
            <a:off x="274320" y="4892040"/>
            <a:ext cx="5486400" cy="251460"/>
          </a:xfrm>
          <a:prstGeom prst="rect">
            <a:avLst/>
          </a:prstGeom>
          <a:noFill/>
          <a:ln/>
        </p:spPr>
        <p:txBody>
          <a:bodyPr wrap="square" lIns="0" tIns="0" rIns="0" bIns="0" rtlCol="0" anchor="ctr"/>
          <a:lstStyle/>
          <a:p>
            <a:pPr marL="0" indent="0" algn="l">
              <a:buNone/>
            </a:pPr>
            <a:r>
              <a:rPr lang="en-US" sz="850" dirty="0">
                <a:solidFill>
                  <a:srgbClr val="A8D8EA"/>
                </a:solidFill>
              </a:rPr>
              <a:t>PASO 2 · VS Code + Extensiones</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Shape 1"/>
          <p:cNvSpPr/>
          <p:nvPr/>
        </p:nvSpPr>
        <p:spPr>
          <a:xfrm>
            <a:off x="365760" y="566928"/>
            <a:ext cx="2011680" cy="256032"/>
          </a:xfrm>
          <a:prstGeom prst="rect">
            <a:avLst/>
          </a:prstGeom>
          <a:solidFill>
            <a:srgbClr val="E37B2A"/>
          </a:solidFill>
          <a:ln w="12700">
            <a:solidFill>
              <a:srgbClr val="E37B2A"/>
            </a:solidFill>
            <a:prstDash val="solid"/>
          </a:ln>
        </p:spPr>
        <p:txBody>
          <a:bodyPr/>
          <a:lstStyle/>
          <a:p>
            <a:endParaRPr lang="es-MX"/>
          </a:p>
        </p:txBody>
      </p:sp>
      <p:sp>
        <p:nvSpPr>
          <p:cNvPr id="4" name="Text 2"/>
          <p:cNvSpPr/>
          <p:nvPr/>
        </p:nvSpPr>
        <p:spPr>
          <a:xfrm>
            <a:off x="365760" y="566928"/>
            <a:ext cx="2011680" cy="256032"/>
          </a:xfrm>
          <a:prstGeom prst="rect">
            <a:avLst/>
          </a:prstGeom>
          <a:noFill/>
          <a:ln/>
        </p:spPr>
        <p:txBody>
          <a:bodyPr wrap="square" lIns="0" tIns="0" rIns="0" bIns="0" rtlCol="0" anchor="ctr"/>
          <a:lstStyle/>
          <a:p>
            <a:pPr marL="0" indent="0" algn="ctr">
              <a:buNone/>
            </a:pPr>
            <a:r>
              <a:rPr lang="en-US" sz="850" b="1" kern="0" spc="200" dirty="0">
                <a:solidFill>
                  <a:srgbClr val="FFFFFF"/>
                </a:solidFill>
              </a:rPr>
              <a:t>PASO 3 · JUPYTER</a:t>
            </a:r>
            <a:endParaRPr lang="en-US" sz="850" dirty="0"/>
          </a:p>
        </p:txBody>
      </p:sp>
      <p:sp>
        <p:nvSpPr>
          <p:cNvPr id="5" name="Text 3"/>
          <p:cNvSpPr/>
          <p:nvPr/>
        </p:nvSpPr>
        <p:spPr>
          <a:xfrm>
            <a:off x="365760" y="140891"/>
            <a:ext cx="8229600" cy="475488"/>
          </a:xfrm>
          <a:prstGeom prst="rect">
            <a:avLst/>
          </a:prstGeom>
          <a:noFill/>
          <a:ln/>
        </p:spPr>
        <p:txBody>
          <a:bodyPr wrap="square" lIns="0" tIns="0" rIns="0" bIns="0" rtlCol="0" anchor="ctr"/>
          <a:lstStyle/>
          <a:p>
            <a:pPr marL="0" indent="0" algn="l">
              <a:buNone/>
            </a:pPr>
            <a:r>
              <a:rPr lang="en-US" sz="2800" b="1" dirty="0">
                <a:solidFill>
                  <a:srgbClr val="0D1B3E"/>
                </a:solidFill>
              </a:rPr>
              <a:t>Jupyter Notebook</a:t>
            </a:r>
            <a:endParaRPr lang="en-US" sz="2800" dirty="0"/>
          </a:p>
        </p:txBody>
      </p:sp>
      <p:sp>
        <p:nvSpPr>
          <p:cNvPr id="6" name="Text 4"/>
          <p:cNvSpPr/>
          <p:nvPr/>
        </p:nvSpPr>
        <p:spPr>
          <a:xfrm>
            <a:off x="380474" y="768096"/>
            <a:ext cx="8229600" cy="256032"/>
          </a:xfrm>
          <a:prstGeom prst="rect">
            <a:avLst/>
          </a:prstGeom>
          <a:noFill/>
          <a:ln/>
        </p:spPr>
        <p:txBody>
          <a:bodyPr wrap="square" lIns="0" tIns="0" rIns="0" bIns="0" rtlCol="0" anchor="ctr"/>
          <a:lstStyle/>
          <a:p>
            <a:pPr marL="0" indent="0" algn="l">
              <a:buNone/>
            </a:pPr>
            <a:r>
              <a:rPr lang="en-US" sz="1200" dirty="0">
                <a:solidFill>
                  <a:srgbClr val="0D7A8A"/>
                </a:solidFill>
              </a:rPr>
              <a:t>El formato estándar de trabajo en ciencia de datos y actuaría</a:t>
            </a:r>
            <a:endParaRPr lang="en-US" sz="1200" dirty="0"/>
          </a:p>
        </p:txBody>
      </p:sp>
      <p:sp>
        <p:nvSpPr>
          <p:cNvPr id="7" name="Shape 5"/>
          <p:cNvSpPr/>
          <p:nvPr/>
        </p:nvSpPr>
        <p:spPr>
          <a:xfrm>
            <a:off x="347472" y="1005840"/>
            <a:ext cx="8449056" cy="786384"/>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8" name="Text 6"/>
          <p:cNvSpPr/>
          <p:nvPr/>
        </p:nvSpPr>
        <p:spPr>
          <a:xfrm>
            <a:off x="493776" y="1069848"/>
            <a:ext cx="8229600" cy="658368"/>
          </a:xfrm>
          <a:prstGeom prst="rect">
            <a:avLst/>
          </a:prstGeom>
          <a:noFill/>
          <a:ln/>
        </p:spPr>
        <p:txBody>
          <a:bodyPr wrap="square" lIns="0" tIns="0" rIns="0" bIns="0" rtlCol="0" anchor="ctr"/>
          <a:lstStyle/>
          <a:p>
            <a:pPr marL="0" indent="0">
              <a:buNone/>
            </a:pPr>
            <a:r>
              <a:rPr lang="en-US" sz="1100" dirty="0">
                <a:solidFill>
                  <a:srgbClr val="374151"/>
                </a:solidFill>
              </a:rPr>
              <a:t>Un Jupyter Notebook es un documento interactivo que mezcla celdas de código ejecutable con texto enriquecido (Markdown), ecuaciones matemáticas (LaTeX) e imágenes. Piénsalo como una hoja de cálculo de Excel pero donde las 'fórmulas' son código Python real y los 'resultados' pueden ser tablas, gráficas o modelos estadísticos.</a:t>
            </a:r>
            <a:endParaRPr lang="en-US" sz="1100" dirty="0"/>
          </a:p>
        </p:txBody>
      </p:sp>
      <p:sp>
        <p:nvSpPr>
          <p:cNvPr id="9" name="Text 7"/>
          <p:cNvSpPr/>
          <p:nvPr/>
        </p:nvSpPr>
        <p:spPr>
          <a:xfrm>
            <a:off x="347472" y="1920240"/>
            <a:ext cx="8229600" cy="292608"/>
          </a:xfrm>
          <a:prstGeom prst="rect">
            <a:avLst/>
          </a:prstGeom>
          <a:noFill/>
          <a:ln/>
        </p:spPr>
        <p:txBody>
          <a:bodyPr wrap="square" lIns="0" tIns="0" rIns="0" bIns="0" rtlCol="0" anchor="ctr"/>
          <a:lstStyle/>
          <a:p>
            <a:pPr marL="0" indent="0">
              <a:buNone/>
            </a:pPr>
            <a:r>
              <a:rPr lang="en-US" sz="1300" b="1" dirty="0">
                <a:solidFill>
                  <a:srgbClr val="0D1B3E"/>
                </a:solidFill>
              </a:rPr>
              <a:t>Tipos de celda</a:t>
            </a:r>
            <a:endParaRPr lang="en-US" sz="1300" dirty="0"/>
          </a:p>
        </p:txBody>
      </p:sp>
      <p:sp>
        <p:nvSpPr>
          <p:cNvPr id="10" name="Shape 8"/>
          <p:cNvSpPr/>
          <p:nvPr/>
        </p:nvSpPr>
        <p:spPr>
          <a:xfrm>
            <a:off x="347472" y="2267712"/>
            <a:ext cx="2743200" cy="347472"/>
          </a:xfrm>
          <a:prstGeom prst="rect">
            <a:avLst/>
          </a:prstGeom>
          <a:solidFill>
            <a:srgbClr val="0D7A8A"/>
          </a:solidFill>
          <a:ln w="12700">
            <a:solidFill>
              <a:srgbClr val="0D7A8A"/>
            </a:solidFill>
            <a:prstDash val="solid"/>
          </a:ln>
        </p:spPr>
        <p:txBody>
          <a:bodyPr/>
          <a:lstStyle/>
          <a:p>
            <a:endParaRPr lang="es-MX"/>
          </a:p>
        </p:txBody>
      </p:sp>
      <p:sp>
        <p:nvSpPr>
          <p:cNvPr id="11" name="Text 9"/>
          <p:cNvSpPr/>
          <p:nvPr/>
        </p:nvSpPr>
        <p:spPr>
          <a:xfrm>
            <a:off x="420624" y="2267712"/>
            <a:ext cx="2615184" cy="347472"/>
          </a:xfrm>
          <a:prstGeom prst="rect">
            <a:avLst/>
          </a:prstGeom>
          <a:noFill/>
          <a:ln/>
        </p:spPr>
        <p:txBody>
          <a:bodyPr wrap="square" lIns="0" tIns="0" rIns="0" bIns="0" rtlCol="0" anchor="ctr"/>
          <a:lstStyle/>
          <a:p>
            <a:pPr marL="0" indent="0">
              <a:buNone/>
            </a:pPr>
            <a:r>
              <a:rPr lang="en-US" sz="1200" b="1" dirty="0">
                <a:solidFill>
                  <a:srgbClr val="FFFFFF"/>
                </a:solidFill>
              </a:rPr>
              <a:t>Celda Code</a:t>
            </a:r>
            <a:endParaRPr lang="en-US" sz="1200" dirty="0"/>
          </a:p>
        </p:txBody>
      </p:sp>
      <p:sp>
        <p:nvSpPr>
          <p:cNvPr id="12" name="Shape 10"/>
          <p:cNvSpPr/>
          <p:nvPr/>
        </p:nvSpPr>
        <p:spPr>
          <a:xfrm>
            <a:off x="347472" y="2615184"/>
            <a:ext cx="2743200" cy="1444752"/>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13" name="Text 11"/>
          <p:cNvSpPr/>
          <p:nvPr/>
        </p:nvSpPr>
        <p:spPr>
          <a:xfrm>
            <a:off x="438912" y="2706624"/>
            <a:ext cx="2578608" cy="804672"/>
          </a:xfrm>
          <a:prstGeom prst="rect">
            <a:avLst/>
          </a:prstGeom>
          <a:noFill/>
          <a:ln/>
        </p:spPr>
        <p:txBody>
          <a:bodyPr wrap="square" lIns="0" tIns="0" rIns="0" bIns="0" rtlCol="0" anchor="ctr"/>
          <a:lstStyle/>
          <a:p>
            <a:pPr marL="0" indent="0">
              <a:buNone/>
            </a:pPr>
            <a:r>
              <a:rPr lang="en-US" sz="950" dirty="0">
                <a:solidFill>
                  <a:srgbClr val="374151"/>
                </a:solidFill>
              </a:rPr>
              <a:t>Contiene código Python. Cuando la ejecutas (Shift+Enter), el resultado aparece justo debajo. Puede mostrar texto, números, tablas o gráficas.</a:t>
            </a:r>
            <a:endParaRPr lang="en-US" sz="950" dirty="0"/>
          </a:p>
        </p:txBody>
      </p:sp>
      <p:sp>
        <p:nvSpPr>
          <p:cNvPr id="14" name="Shape 12"/>
          <p:cNvSpPr/>
          <p:nvPr/>
        </p:nvSpPr>
        <p:spPr>
          <a:xfrm>
            <a:off x="420624" y="3547872"/>
            <a:ext cx="2596896" cy="420624"/>
          </a:xfrm>
          <a:prstGeom prst="rect">
            <a:avLst/>
          </a:prstGeom>
          <a:solidFill>
            <a:srgbClr val="071228"/>
          </a:solidFill>
          <a:ln w="12700">
            <a:solidFill>
              <a:srgbClr val="0D7A8A"/>
            </a:solidFill>
            <a:prstDash val="solid"/>
          </a:ln>
        </p:spPr>
        <p:txBody>
          <a:bodyPr/>
          <a:lstStyle/>
          <a:p>
            <a:endParaRPr lang="es-MX"/>
          </a:p>
        </p:txBody>
      </p:sp>
      <p:sp>
        <p:nvSpPr>
          <p:cNvPr id="15" name="Text 13"/>
          <p:cNvSpPr/>
          <p:nvPr/>
        </p:nvSpPr>
        <p:spPr>
          <a:xfrm>
            <a:off x="493776" y="3566160"/>
            <a:ext cx="2468880" cy="347472"/>
          </a:xfrm>
          <a:prstGeom prst="rect">
            <a:avLst/>
          </a:prstGeom>
          <a:noFill/>
          <a:ln/>
        </p:spPr>
        <p:txBody>
          <a:bodyPr wrap="square" lIns="0" tIns="0" rIns="0" bIns="0" rtlCol="0" anchor="ctr"/>
          <a:lstStyle/>
          <a:p>
            <a:pPr marL="0" indent="0">
              <a:buNone/>
            </a:pPr>
            <a:r>
              <a:rPr lang="en-US" sz="1000" dirty="0">
                <a:solidFill>
                  <a:srgbClr val="A8D8EA"/>
                </a:solidFill>
                <a:latin typeface="Consolas" pitchFamily="34" charset="0"/>
                <a:ea typeface="Consolas" pitchFamily="34" charset="-122"/>
                <a:cs typeface="Consolas" pitchFamily="34" charset="-120"/>
              </a:rPr>
              <a:t>df.head()</a:t>
            </a:r>
            <a:endParaRPr lang="en-US" sz="1000" dirty="0"/>
          </a:p>
        </p:txBody>
      </p:sp>
      <p:sp>
        <p:nvSpPr>
          <p:cNvPr id="16" name="Shape 14"/>
          <p:cNvSpPr/>
          <p:nvPr/>
        </p:nvSpPr>
        <p:spPr>
          <a:xfrm>
            <a:off x="3200400" y="2267712"/>
            <a:ext cx="2743200" cy="347472"/>
          </a:xfrm>
          <a:prstGeom prst="rect">
            <a:avLst/>
          </a:prstGeom>
          <a:solidFill>
            <a:srgbClr val="1A5276"/>
          </a:solidFill>
          <a:ln w="12700">
            <a:solidFill>
              <a:srgbClr val="1A5276"/>
            </a:solidFill>
            <a:prstDash val="solid"/>
          </a:ln>
        </p:spPr>
        <p:txBody>
          <a:bodyPr/>
          <a:lstStyle/>
          <a:p>
            <a:endParaRPr lang="es-MX"/>
          </a:p>
        </p:txBody>
      </p:sp>
      <p:sp>
        <p:nvSpPr>
          <p:cNvPr id="17" name="Text 15"/>
          <p:cNvSpPr/>
          <p:nvPr/>
        </p:nvSpPr>
        <p:spPr>
          <a:xfrm>
            <a:off x="3273552" y="2267712"/>
            <a:ext cx="2615184" cy="347472"/>
          </a:xfrm>
          <a:prstGeom prst="rect">
            <a:avLst/>
          </a:prstGeom>
          <a:noFill/>
          <a:ln/>
        </p:spPr>
        <p:txBody>
          <a:bodyPr wrap="square" lIns="0" tIns="0" rIns="0" bIns="0" rtlCol="0" anchor="ctr"/>
          <a:lstStyle/>
          <a:p>
            <a:pPr marL="0" indent="0">
              <a:buNone/>
            </a:pPr>
            <a:r>
              <a:rPr lang="en-US" sz="1200" b="1" dirty="0">
                <a:solidFill>
                  <a:srgbClr val="FFFFFF"/>
                </a:solidFill>
              </a:rPr>
              <a:t>Celda Markdown</a:t>
            </a:r>
            <a:endParaRPr lang="en-US" sz="1200" dirty="0"/>
          </a:p>
        </p:txBody>
      </p:sp>
      <p:sp>
        <p:nvSpPr>
          <p:cNvPr id="18" name="Shape 16"/>
          <p:cNvSpPr/>
          <p:nvPr/>
        </p:nvSpPr>
        <p:spPr>
          <a:xfrm>
            <a:off x="3200400" y="2615184"/>
            <a:ext cx="2743200" cy="1444752"/>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19" name="Text 17"/>
          <p:cNvSpPr/>
          <p:nvPr/>
        </p:nvSpPr>
        <p:spPr>
          <a:xfrm>
            <a:off x="3291840" y="2706624"/>
            <a:ext cx="2578608" cy="804672"/>
          </a:xfrm>
          <a:prstGeom prst="rect">
            <a:avLst/>
          </a:prstGeom>
          <a:noFill/>
          <a:ln/>
        </p:spPr>
        <p:txBody>
          <a:bodyPr wrap="square" lIns="0" tIns="0" rIns="0" bIns="0" rtlCol="0" anchor="ctr"/>
          <a:lstStyle/>
          <a:p>
            <a:pPr marL="0" indent="0">
              <a:buNone/>
            </a:pPr>
            <a:r>
              <a:rPr lang="en-US" sz="950" dirty="0">
                <a:solidFill>
                  <a:srgbClr val="374151"/>
                </a:solidFill>
              </a:rPr>
              <a:t>Contiene texto formateado. Útil para explicar el código, escribir conclusiones o documentar el análisis. Usa # para títulos, ** para negritas, etc.</a:t>
            </a:r>
            <a:endParaRPr lang="en-US" sz="950" dirty="0"/>
          </a:p>
        </p:txBody>
      </p:sp>
      <p:sp>
        <p:nvSpPr>
          <p:cNvPr id="20" name="Shape 18"/>
          <p:cNvSpPr/>
          <p:nvPr/>
        </p:nvSpPr>
        <p:spPr>
          <a:xfrm>
            <a:off x="3273552" y="3547872"/>
            <a:ext cx="2596896" cy="420624"/>
          </a:xfrm>
          <a:prstGeom prst="rect">
            <a:avLst/>
          </a:prstGeom>
          <a:solidFill>
            <a:srgbClr val="071228"/>
          </a:solidFill>
          <a:ln w="12700">
            <a:solidFill>
              <a:srgbClr val="0D7A8A"/>
            </a:solidFill>
            <a:prstDash val="solid"/>
          </a:ln>
        </p:spPr>
        <p:txBody>
          <a:bodyPr/>
          <a:lstStyle/>
          <a:p>
            <a:endParaRPr lang="es-MX"/>
          </a:p>
        </p:txBody>
      </p:sp>
      <p:sp>
        <p:nvSpPr>
          <p:cNvPr id="21" name="Text 19"/>
          <p:cNvSpPr/>
          <p:nvPr/>
        </p:nvSpPr>
        <p:spPr>
          <a:xfrm>
            <a:off x="3346704" y="3566160"/>
            <a:ext cx="2468880" cy="347472"/>
          </a:xfrm>
          <a:prstGeom prst="rect">
            <a:avLst/>
          </a:prstGeom>
          <a:noFill/>
          <a:ln/>
        </p:spPr>
        <p:txBody>
          <a:bodyPr wrap="square" lIns="0" tIns="0" rIns="0" bIns="0" rtlCol="0" anchor="ctr"/>
          <a:lstStyle/>
          <a:p>
            <a:pPr marL="0" indent="0">
              <a:buNone/>
            </a:pPr>
            <a:r>
              <a:rPr lang="en-US" sz="1000" dirty="0">
                <a:solidFill>
                  <a:srgbClr val="A8D8EA"/>
                </a:solidFill>
                <a:latin typeface="Consolas" pitchFamily="34" charset="0"/>
                <a:ea typeface="Consolas" pitchFamily="34" charset="-122"/>
                <a:cs typeface="Consolas" pitchFamily="34" charset="-120"/>
              </a:rPr>
              <a:t># Mi Análisis</a:t>
            </a:r>
            <a:endParaRPr lang="en-US" sz="1000" dirty="0"/>
          </a:p>
        </p:txBody>
      </p:sp>
      <p:sp>
        <p:nvSpPr>
          <p:cNvPr id="22" name="Shape 20"/>
          <p:cNvSpPr/>
          <p:nvPr/>
        </p:nvSpPr>
        <p:spPr>
          <a:xfrm>
            <a:off x="6053328" y="2267712"/>
            <a:ext cx="2743200" cy="347472"/>
          </a:xfrm>
          <a:prstGeom prst="rect">
            <a:avLst/>
          </a:prstGeom>
          <a:solidFill>
            <a:srgbClr val="7B5EA7"/>
          </a:solidFill>
          <a:ln w="12700">
            <a:solidFill>
              <a:srgbClr val="7B5EA7"/>
            </a:solidFill>
            <a:prstDash val="solid"/>
          </a:ln>
        </p:spPr>
        <p:txBody>
          <a:bodyPr/>
          <a:lstStyle/>
          <a:p>
            <a:endParaRPr lang="es-MX"/>
          </a:p>
        </p:txBody>
      </p:sp>
      <p:sp>
        <p:nvSpPr>
          <p:cNvPr id="23" name="Text 21"/>
          <p:cNvSpPr/>
          <p:nvPr/>
        </p:nvSpPr>
        <p:spPr>
          <a:xfrm>
            <a:off x="6126480" y="2267712"/>
            <a:ext cx="2615184" cy="347472"/>
          </a:xfrm>
          <a:prstGeom prst="rect">
            <a:avLst/>
          </a:prstGeom>
          <a:noFill/>
          <a:ln/>
        </p:spPr>
        <p:txBody>
          <a:bodyPr wrap="square" lIns="0" tIns="0" rIns="0" bIns="0" rtlCol="0" anchor="ctr"/>
          <a:lstStyle/>
          <a:p>
            <a:pPr marL="0" indent="0">
              <a:buNone/>
            </a:pPr>
            <a:r>
              <a:rPr lang="en-US" sz="1200" b="1" dirty="0">
                <a:solidFill>
                  <a:srgbClr val="FFFFFF"/>
                </a:solidFill>
              </a:rPr>
              <a:t>Celda Raw</a:t>
            </a:r>
            <a:endParaRPr lang="en-US" sz="1200" dirty="0"/>
          </a:p>
        </p:txBody>
      </p:sp>
      <p:sp>
        <p:nvSpPr>
          <p:cNvPr id="24" name="Shape 22"/>
          <p:cNvSpPr/>
          <p:nvPr/>
        </p:nvSpPr>
        <p:spPr>
          <a:xfrm>
            <a:off x="6053328" y="2615184"/>
            <a:ext cx="2743200" cy="1444752"/>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25" name="Text 23"/>
          <p:cNvSpPr/>
          <p:nvPr/>
        </p:nvSpPr>
        <p:spPr>
          <a:xfrm>
            <a:off x="6144768" y="2706624"/>
            <a:ext cx="2578608" cy="804672"/>
          </a:xfrm>
          <a:prstGeom prst="rect">
            <a:avLst/>
          </a:prstGeom>
          <a:noFill/>
          <a:ln/>
        </p:spPr>
        <p:txBody>
          <a:bodyPr wrap="square" lIns="0" tIns="0" rIns="0" bIns="0" rtlCol="0" anchor="ctr"/>
          <a:lstStyle/>
          <a:p>
            <a:pPr marL="0" indent="0">
              <a:buNone/>
            </a:pPr>
            <a:r>
              <a:rPr lang="en-US" sz="950" dirty="0">
                <a:solidFill>
                  <a:srgbClr val="374151"/>
                </a:solidFill>
              </a:rPr>
              <a:t>Texto plano sin formato ni ejecución. Se usa para incluir código de ejemplo que no se quiere ejecutar o notas para el lector.</a:t>
            </a:r>
            <a:endParaRPr lang="en-US" sz="950" dirty="0"/>
          </a:p>
        </p:txBody>
      </p:sp>
      <p:sp>
        <p:nvSpPr>
          <p:cNvPr id="26" name="Shape 24"/>
          <p:cNvSpPr/>
          <p:nvPr/>
        </p:nvSpPr>
        <p:spPr>
          <a:xfrm>
            <a:off x="6126480" y="3547872"/>
            <a:ext cx="2596896" cy="420624"/>
          </a:xfrm>
          <a:prstGeom prst="rect">
            <a:avLst/>
          </a:prstGeom>
          <a:solidFill>
            <a:srgbClr val="071228"/>
          </a:solidFill>
          <a:ln w="12700">
            <a:solidFill>
              <a:srgbClr val="0D7A8A"/>
            </a:solidFill>
            <a:prstDash val="solid"/>
          </a:ln>
        </p:spPr>
        <p:txBody>
          <a:bodyPr/>
          <a:lstStyle/>
          <a:p>
            <a:endParaRPr lang="es-MX"/>
          </a:p>
        </p:txBody>
      </p:sp>
      <p:sp>
        <p:nvSpPr>
          <p:cNvPr id="27" name="Text 25"/>
          <p:cNvSpPr/>
          <p:nvPr/>
        </p:nvSpPr>
        <p:spPr>
          <a:xfrm>
            <a:off x="6199632" y="3566160"/>
            <a:ext cx="2468880" cy="347472"/>
          </a:xfrm>
          <a:prstGeom prst="rect">
            <a:avLst/>
          </a:prstGeom>
          <a:noFill/>
          <a:ln/>
        </p:spPr>
        <p:txBody>
          <a:bodyPr wrap="square" lIns="0" tIns="0" rIns="0" bIns="0" rtlCol="0" anchor="ctr"/>
          <a:lstStyle/>
          <a:p>
            <a:pPr marL="0" indent="0">
              <a:buNone/>
            </a:pPr>
            <a:r>
              <a:rPr lang="en-US" sz="1000" dirty="0">
                <a:solidFill>
                  <a:srgbClr val="A8D8EA"/>
                </a:solidFill>
                <a:latin typeface="Consolas" pitchFamily="34" charset="0"/>
                <a:ea typeface="Consolas" pitchFamily="34" charset="-122"/>
                <a:cs typeface="Consolas" pitchFamily="34" charset="-120"/>
              </a:rPr>
              <a:t># no ejecuta</a:t>
            </a:r>
            <a:endParaRPr lang="en-US" sz="1000" dirty="0"/>
          </a:p>
        </p:txBody>
      </p:sp>
      <p:sp>
        <p:nvSpPr>
          <p:cNvPr id="28" name="Shape 26"/>
          <p:cNvSpPr/>
          <p:nvPr/>
        </p:nvSpPr>
        <p:spPr>
          <a:xfrm>
            <a:off x="347472" y="4160520"/>
            <a:ext cx="8449056" cy="658368"/>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29" name="Text 27"/>
          <p:cNvSpPr/>
          <p:nvPr/>
        </p:nvSpPr>
        <p:spPr>
          <a:xfrm>
            <a:off x="475488" y="4224528"/>
            <a:ext cx="1828800" cy="274320"/>
          </a:xfrm>
          <a:prstGeom prst="rect">
            <a:avLst/>
          </a:prstGeom>
          <a:noFill/>
          <a:ln/>
        </p:spPr>
        <p:txBody>
          <a:bodyPr wrap="square" lIns="0" tIns="0" rIns="0" bIns="0" rtlCol="0" anchor="ctr"/>
          <a:lstStyle/>
          <a:p>
            <a:pPr marL="0" indent="0">
              <a:buNone/>
            </a:pPr>
            <a:r>
              <a:rPr lang="en-US" sz="1100" b="1" dirty="0">
                <a:solidFill>
                  <a:srgbClr val="0D1B3E"/>
                </a:solidFill>
              </a:rPr>
              <a:t>Atajos esenciales:</a:t>
            </a:r>
            <a:endParaRPr lang="en-US" sz="1100" dirty="0"/>
          </a:p>
        </p:txBody>
      </p:sp>
      <p:sp>
        <p:nvSpPr>
          <p:cNvPr id="30" name="Shape 28"/>
          <p:cNvSpPr/>
          <p:nvPr/>
        </p:nvSpPr>
        <p:spPr>
          <a:xfrm>
            <a:off x="475488" y="4535424"/>
            <a:ext cx="749808" cy="219456"/>
          </a:xfrm>
          <a:prstGeom prst="rect">
            <a:avLst/>
          </a:prstGeom>
          <a:solidFill>
            <a:srgbClr val="0D7A8A"/>
          </a:solidFill>
          <a:ln w="12700">
            <a:solidFill>
              <a:srgbClr val="0D7A8A"/>
            </a:solidFill>
            <a:prstDash val="solid"/>
          </a:ln>
        </p:spPr>
        <p:txBody>
          <a:bodyPr/>
          <a:lstStyle/>
          <a:p>
            <a:endParaRPr lang="es-MX"/>
          </a:p>
        </p:txBody>
      </p:sp>
      <p:sp>
        <p:nvSpPr>
          <p:cNvPr id="31" name="Text 29"/>
          <p:cNvSpPr/>
          <p:nvPr/>
        </p:nvSpPr>
        <p:spPr>
          <a:xfrm>
            <a:off x="475488" y="4535424"/>
            <a:ext cx="749808" cy="219456"/>
          </a:xfrm>
          <a:prstGeom prst="rect">
            <a:avLst/>
          </a:prstGeom>
          <a:noFill/>
          <a:ln/>
        </p:spPr>
        <p:txBody>
          <a:bodyPr wrap="square" lIns="0" tIns="0" rIns="0" bIns="0" rtlCol="0" anchor="ctr"/>
          <a:lstStyle/>
          <a:p>
            <a:pPr marL="0" indent="0" algn="ctr">
              <a:buNone/>
            </a:pPr>
            <a:r>
              <a:rPr lang="en-US" sz="850" b="1" dirty="0">
                <a:solidFill>
                  <a:srgbClr val="FFFFFF"/>
                </a:solidFill>
              </a:rPr>
              <a:t>Shift+Enter</a:t>
            </a:r>
            <a:endParaRPr lang="en-US" sz="850" dirty="0"/>
          </a:p>
        </p:txBody>
      </p:sp>
      <p:sp>
        <p:nvSpPr>
          <p:cNvPr id="32" name="Text 30"/>
          <p:cNvSpPr/>
          <p:nvPr/>
        </p:nvSpPr>
        <p:spPr>
          <a:xfrm>
            <a:off x="1261872" y="4535424"/>
            <a:ext cx="914400" cy="219456"/>
          </a:xfrm>
          <a:prstGeom prst="rect">
            <a:avLst/>
          </a:prstGeom>
          <a:noFill/>
          <a:ln/>
        </p:spPr>
        <p:txBody>
          <a:bodyPr wrap="square" lIns="0" tIns="0" rIns="0" bIns="0" rtlCol="0" anchor="ctr"/>
          <a:lstStyle/>
          <a:p>
            <a:pPr marL="0" indent="0">
              <a:buNone/>
            </a:pPr>
            <a:r>
              <a:rPr lang="en-US" sz="850" dirty="0">
                <a:solidFill>
                  <a:srgbClr val="374151"/>
                </a:solidFill>
              </a:rPr>
              <a:t>Ejecutar celda y avanzar</a:t>
            </a:r>
            <a:endParaRPr lang="en-US" sz="850" dirty="0"/>
          </a:p>
        </p:txBody>
      </p:sp>
      <p:sp>
        <p:nvSpPr>
          <p:cNvPr id="33" name="Shape 31"/>
          <p:cNvSpPr/>
          <p:nvPr/>
        </p:nvSpPr>
        <p:spPr>
          <a:xfrm>
            <a:off x="2157984" y="4535424"/>
            <a:ext cx="749808" cy="219456"/>
          </a:xfrm>
          <a:prstGeom prst="rect">
            <a:avLst/>
          </a:prstGeom>
          <a:solidFill>
            <a:srgbClr val="0D7A8A"/>
          </a:solidFill>
          <a:ln w="12700">
            <a:solidFill>
              <a:srgbClr val="0D7A8A"/>
            </a:solidFill>
            <a:prstDash val="solid"/>
          </a:ln>
        </p:spPr>
        <p:txBody>
          <a:bodyPr/>
          <a:lstStyle/>
          <a:p>
            <a:endParaRPr lang="es-MX"/>
          </a:p>
        </p:txBody>
      </p:sp>
      <p:sp>
        <p:nvSpPr>
          <p:cNvPr id="34" name="Text 32"/>
          <p:cNvSpPr/>
          <p:nvPr/>
        </p:nvSpPr>
        <p:spPr>
          <a:xfrm>
            <a:off x="2157984" y="4535424"/>
            <a:ext cx="749808" cy="219456"/>
          </a:xfrm>
          <a:prstGeom prst="rect">
            <a:avLst/>
          </a:prstGeom>
          <a:noFill/>
          <a:ln/>
        </p:spPr>
        <p:txBody>
          <a:bodyPr wrap="square" lIns="0" tIns="0" rIns="0" bIns="0" rtlCol="0" anchor="ctr"/>
          <a:lstStyle/>
          <a:p>
            <a:pPr marL="0" indent="0" algn="ctr">
              <a:buNone/>
            </a:pPr>
            <a:r>
              <a:rPr lang="en-US" sz="850" b="1" dirty="0">
                <a:solidFill>
                  <a:srgbClr val="FFFFFF"/>
                </a:solidFill>
              </a:rPr>
              <a:t>Ctrl+Enter</a:t>
            </a:r>
            <a:endParaRPr lang="en-US" sz="850" dirty="0"/>
          </a:p>
        </p:txBody>
      </p:sp>
      <p:sp>
        <p:nvSpPr>
          <p:cNvPr id="35" name="Text 33"/>
          <p:cNvSpPr/>
          <p:nvPr/>
        </p:nvSpPr>
        <p:spPr>
          <a:xfrm>
            <a:off x="2944368" y="4535424"/>
            <a:ext cx="914400" cy="219456"/>
          </a:xfrm>
          <a:prstGeom prst="rect">
            <a:avLst/>
          </a:prstGeom>
          <a:noFill/>
          <a:ln/>
        </p:spPr>
        <p:txBody>
          <a:bodyPr wrap="square" lIns="0" tIns="0" rIns="0" bIns="0" rtlCol="0" anchor="ctr"/>
          <a:lstStyle/>
          <a:p>
            <a:pPr marL="0" indent="0">
              <a:buNone/>
            </a:pPr>
            <a:r>
              <a:rPr lang="en-US" sz="850" dirty="0">
                <a:solidFill>
                  <a:srgbClr val="374151"/>
                </a:solidFill>
              </a:rPr>
              <a:t>Ejecutar sin avanzar</a:t>
            </a:r>
            <a:endParaRPr lang="en-US" sz="850" dirty="0"/>
          </a:p>
        </p:txBody>
      </p:sp>
      <p:sp>
        <p:nvSpPr>
          <p:cNvPr id="36" name="Shape 34"/>
          <p:cNvSpPr/>
          <p:nvPr/>
        </p:nvSpPr>
        <p:spPr>
          <a:xfrm>
            <a:off x="3840480" y="4535424"/>
            <a:ext cx="749808" cy="219456"/>
          </a:xfrm>
          <a:prstGeom prst="rect">
            <a:avLst/>
          </a:prstGeom>
          <a:solidFill>
            <a:srgbClr val="0D7A8A"/>
          </a:solidFill>
          <a:ln w="12700">
            <a:solidFill>
              <a:srgbClr val="0D7A8A"/>
            </a:solidFill>
            <a:prstDash val="solid"/>
          </a:ln>
        </p:spPr>
        <p:txBody>
          <a:bodyPr/>
          <a:lstStyle/>
          <a:p>
            <a:endParaRPr lang="es-MX"/>
          </a:p>
        </p:txBody>
      </p:sp>
      <p:sp>
        <p:nvSpPr>
          <p:cNvPr id="37" name="Text 35"/>
          <p:cNvSpPr/>
          <p:nvPr/>
        </p:nvSpPr>
        <p:spPr>
          <a:xfrm>
            <a:off x="3840480" y="4535424"/>
            <a:ext cx="749808" cy="219456"/>
          </a:xfrm>
          <a:prstGeom prst="rect">
            <a:avLst/>
          </a:prstGeom>
          <a:noFill/>
          <a:ln/>
        </p:spPr>
        <p:txBody>
          <a:bodyPr wrap="square" lIns="0" tIns="0" rIns="0" bIns="0" rtlCol="0" anchor="ctr"/>
          <a:lstStyle/>
          <a:p>
            <a:pPr marL="0" indent="0" algn="ctr">
              <a:buNone/>
            </a:pPr>
            <a:r>
              <a:rPr lang="en-US" sz="850" b="1" dirty="0">
                <a:solidFill>
                  <a:srgbClr val="FFFFFF"/>
                </a:solidFill>
              </a:rPr>
              <a:t>A / B</a:t>
            </a:r>
            <a:endParaRPr lang="en-US" sz="850" dirty="0"/>
          </a:p>
        </p:txBody>
      </p:sp>
      <p:sp>
        <p:nvSpPr>
          <p:cNvPr id="38" name="Text 36"/>
          <p:cNvSpPr/>
          <p:nvPr/>
        </p:nvSpPr>
        <p:spPr>
          <a:xfrm>
            <a:off x="4626864" y="4535424"/>
            <a:ext cx="914400" cy="219456"/>
          </a:xfrm>
          <a:prstGeom prst="rect">
            <a:avLst/>
          </a:prstGeom>
          <a:noFill/>
          <a:ln/>
        </p:spPr>
        <p:txBody>
          <a:bodyPr wrap="square" lIns="0" tIns="0" rIns="0" bIns="0" rtlCol="0" anchor="ctr"/>
          <a:lstStyle/>
          <a:p>
            <a:pPr marL="0" indent="0">
              <a:buNone/>
            </a:pPr>
            <a:r>
              <a:rPr lang="en-US" sz="850" dirty="0">
                <a:solidFill>
                  <a:srgbClr val="374151"/>
                </a:solidFill>
              </a:rPr>
              <a:t>Insertar celda Arriba / Abajo</a:t>
            </a:r>
            <a:endParaRPr lang="en-US" sz="850" dirty="0"/>
          </a:p>
        </p:txBody>
      </p:sp>
      <p:sp>
        <p:nvSpPr>
          <p:cNvPr id="39" name="Shape 37"/>
          <p:cNvSpPr/>
          <p:nvPr/>
        </p:nvSpPr>
        <p:spPr>
          <a:xfrm>
            <a:off x="5522976" y="4535424"/>
            <a:ext cx="749808" cy="219456"/>
          </a:xfrm>
          <a:prstGeom prst="rect">
            <a:avLst/>
          </a:prstGeom>
          <a:solidFill>
            <a:srgbClr val="0D7A8A"/>
          </a:solidFill>
          <a:ln w="12700">
            <a:solidFill>
              <a:srgbClr val="0D7A8A"/>
            </a:solidFill>
            <a:prstDash val="solid"/>
          </a:ln>
        </p:spPr>
        <p:txBody>
          <a:bodyPr/>
          <a:lstStyle/>
          <a:p>
            <a:endParaRPr lang="es-MX"/>
          </a:p>
        </p:txBody>
      </p:sp>
      <p:sp>
        <p:nvSpPr>
          <p:cNvPr id="40" name="Text 38"/>
          <p:cNvSpPr/>
          <p:nvPr/>
        </p:nvSpPr>
        <p:spPr>
          <a:xfrm>
            <a:off x="5522976" y="4535424"/>
            <a:ext cx="749808" cy="219456"/>
          </a:xfrm>
          <a:prstGeom prst="rect">
            <a:avLst/>
          </a:prstGeom>
          <a:noFill/>
          <a:ln/>
        </p:spPr>
        <p:txBody>
          <a:bodyPr wrap="square" lIns="0" tIns="0" rIns="0" bIns="0" rtlCol="0" anchor="ctr"/>
          <a:lstStyle/>
          <a:p>
            <a:pPr marL="0" indent="0" algn="ctr">
              <a:buNone/>
            </a:pPr>
            <a:r>
              <a:rPr lang="en-US" sz="850" b="1" dirty="0">
                <a:solidFill>
                  <a:srgbClr val="FFFFFF"/>
                </a:solidFill>
              </a:rPr>
              <a:t>D,D</a:t>
            </a:r>
            <a:endParaRPr lang="en-US" sz="850" dirty="0"/>
          </a:p>
        </p:txBody>
      </p:sp>
      <p:sp>
        <p:nvSpPr>
          <p:cNvPr id="41" name="Text 39"/>
          <p:cNvSpPr/>
          <p:nvPr/>
        </p:nvSpPr>
        <p:spPr>
          <a:xfrm>
            <a:off x="6309360" y="4535424"/>
            <a:ext cx="914400" cy="219456"/>
          </a:xfrm>
          <a:prstGeom prst="rect">
            <a:avLst/>
          </a:prstGeom>
          <a:noFill/>
          <a:ln/>
        </p:spPr>
        <p:txBody>
          <a:bodyPr wrap="square" lIns="0" tIns="0" rIns="0" bIns="0" rtlCol="0" anchor="ctr"/>
          <a:lstStyle/>
          <a:p>
            <a:pPr marL="0" indent="0">
              <a:buNone/>
            </a:pPr>
            <a:r>
              <a:rPr lang="en-US" sz="850" dirty="0">
                <a:solidFill>
                  <a:srgbClr val="374151"/>
                </a:solidFill>
              </a:rPr>
              <a:t>Eliminar celda</a:t>
            </a:r>
            <a:endParaRPr lang="en-US" sz="850" dirty="0"/>
          </a:p>
        </p:txBody>
      </p:sp>
      <p:sp>
        <p:nvSpPr>
          <p:cNvPr id="42" name="Shape 40"/>
          <p:cNvSpPr/>
          <p:nvPr/>
        </p:nvSpPr>
        <p:spPr>
          <a:xfrm>
            <a:off x="7205472" y="4535424"/>
            <a:ext cx="749808" cy="219456"/>
          </a:xfrm>
          <a:prstGeom prst="rect">
            <a:avLst/>
          </a:prstGeom>
          <a:solidFill>
            <a:srgbClr val="0D7A8A"/>
          </a:solidFill>
          <a:ln w="12700">
            <a:solidFill>
              <a:srgbClr val="0D7A8A"/>
            </a:solidFill>
            <a:prstDash val="solid"/>
          </a:ln>
        </p:spPr>
        <p:txBody>
          <a:bodyPr/>
          <a:lstStyle/>
          <a:p>
            <a:endParaRPr lang="es-MX"/>
          </a:p>
        </p:txBody>
      </p:sp>
      <p:sp>
        <p:nvSpPr>
          <p:cNvPr id="43" name="Text 41"/>
          <p:cNvSpPr/>
          <p:nvPr/>
        </p:nvSpPr>
        <p:spPr>
          <a:xfrm>
            <a:off x="7205472" y="4535424"/>
            <a:ext cx="749808" cy="219456"/>
          </a:xfrm>
          <a:prstGeom prst="rect">
            <a:avLst/>
          </a:prstGeom>
          <a:noFill/>
          <a:ln/>
        </p:spPr>
        <p:txBody>
          <a:bodyPr wrap="square" lIns="0" tIns="0" rIns="0" bIns="0" rtlCol="0" anchor="ctr"/>
          <a:lstStyle/>
          <a:p>
            <a:pPr marL="0" indent="0" algn="ctr">
              <a:buNone/>
            </a:pPr>
            <a:r>
              <a:rPr lang="en-US" sz="850" b="1" dirty="0">
                <a:solidFill>
                  <a:srgbClr val="FFFFFF"/>
                </a:solidFill>
              </a:rPr>
              <a:t>M / Y</a:t>
            </a:r>
            <a:endParaRPr lang="en-US" sz="850" dirty="0"/>
          </a:p>
        </p:txBody>
      </p:sp>
      <p:sp>
        <p:nvSpPr>
          <p:cNvPr id="44" name="Text 42"/>
          <p:cNvSpPr/>
          <p:nvPr/>
        </p:nvSpPr>
        <p:spPr>
          <a:xfrm>
            <a:off x="7991856" y="4535424"/>
            <a:ext cx="914400" cy="219456"/>
          </a:xfrm>
          <a:prstGeom prst="rect">
            <a:avLst/>
          </a:prstGeom>
          <a:noFill/>
          <a:ln/>
        </p:spPr>
        <p:txBody>
          <a:bodyPr wrap="square" lIns="0" tIns="0" rIns="0" bIns="0" rtlCol="0" anchor="ctr"/>
          <a:lstStyle/>
          <a:p>
            <a:pPr marL="0" indent="0">
              <a:buNone/>
            </a:pPr>
            <a:r>
              <a:rPr lang="en-US" sz="850" dirty="0">
                <a:solidFill>
                  <a:srgbClr val="374151"/>
                </a:solidFill>
              </a:rPr>
              <a:t>Cambiar a Markdown / Code</a:t>
            </a:r>
            <a:endParaRPr lang="en-US" sz="850" dirty="0"/>
          </a:p>
        </p:txBody>
      </p:sp>
      <p:sp>
        <p:nvSpPr>
          <p:cNvPr id="45" name="Shape 43"/>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46" name="Text 44"/>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Módulo 1 · Introducción a Python · Sesión 1  —  15 abril 2026</a:t>
            </a:r>
            <a:endParaRPr lang="en-US" sz="850" dirty="0"/>
          </a:p>
        </p:txBody>
      </p:sp>
      <p:sp>
        <p:nvSpPr>
          <p:cNvPr id="47" name="Text 45"/>
          <p:cNvSpPr/>
          <p:nvPr/>
        </p:nvSpPr>
        <p:spPr>
          <a:xfrm>
            <a:off x="274320" y="4892040"/>
            <a:ext cx="5486400" cy="251460"/>
          </a:xfrm>
          <a:prstGeom prst="rect">
            <a:avLst/>
          </a:prstGeom>
          <a:noFill/>
          <a:ln/>
        </p:spPr>
        <p:txBody>
          <a:bodyPr wrap="square" lIns="0" tIns="0" rIns="0" bIns="0" rtlCol="0" anchor="ctr"/>
          <a:lstStyle/>
          <a:p>
            <a:pPr marL="0" indent="0" algn="l">
              <a:buNone/>
            </a:pPr>
            <a:r>
              <a:rPr lang="en-US" sz="850" dirty="0">
                <a:solidFill>
                  <a:srgbClr val="A8D8EA"/>
                </a:solidFill>
              </a:rPr>
              <a:t>Jupyter Notebook · Conceptos</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Shape 1"/>
          <p:cNvSpPr/>
          <p:nvPr/>
        </p:nvSpPr>
        <p:spPr>
          <a:xfrm>
            <a:off x="365760" y="566928"/>
            <a:ext cx="2011680" cy="256032"/>
          </a:xfrm>
          <a:prstGeom prst="rect">
            <a:avLst/>
          </a:prstGeom>
          <a:solidFill>
            <a:srgbClr val="0D7A8A"/>
          </a:solidFill>
          <a:ln w="12700">
            <a:solidFill>
              <a:srgbClr val="0D7A8A"/>
            </a:solidFill>
            <a:prstDash val="solid"/>
          </a:ln>
        </p:spPr>
        <p:txBody>
          <a:bodyPr/>
          <a:lstStyle/>
          <a:p>
            <a:endParaRPr lang="es-MX"/>
          </a:p>
        </p:txBody>
      </p:sp>
      <p:sp>
        <p:nvSpPr>
          <p:cNvPr id="4" name="Text 2"/>
          <p:cNvSpPr/>
          <p:nvPr/>
        </p:nvSpPr>
        <p:spPr>
          <a:xfrm>
            <a:off x="365760" y="566928"/>
            <a:ext cx="2011680" cy="256032"/>
          </a:xfrm>
          <a:prstGeom prst="rect">
            <a:avLst/>
          </a:prstGeom>
          <a:noFill/>
          <a:ln/>
        </p:spPr>
        <p:txBody>
          <a:bodyPr wrap="square" lIns="0" tIns="0" rIns="0" bIns="0" rtlCol="0" anchor="ctr"/>
          <a:lstStyle/>
          <a:p>
            <a:pPr marL="0" indent="0" algn="ctr">
              <a:buNone/>
            </a:pPr>
            <a:r>
              <a:rPr lang="en-US" sz="850" b="1" kern="0" spc="200" dirty="0">
                <a:solidFill>
                  <a:srgbClr val="FFFFFF"/>
                </a:solidFill>
              </a:rPr>
              <a:t>PASO 4 DE 5</a:t>
            </a:r>
            <a:endParaRPr lang="en-US" sz="850" dirty="0"/>
          </a:p>
        </p:txBody>
      </p:sp>
      <p:sp>
        <p:nvSpPr>
          <p:cNvPr id="5" name="Text 3"/>
          <p:cNvSpPr/>
          <p:nvPr/>
        </p:nvSpPr>
        <p:spPr>
          <a:xfrm>
            <a:off x="384048" y="106470"/>
            <a:ext cx="8229600" cy="475488"/>
          </a:xfrm>
          <a:prstGeom prst="rect">
            <a:avLst/>
          </a:prstGeom>
          <a:noFill/>
          <a:ln/>
        </p:spPr>
        <p:txBody>
          <a:bodyPr wrap="square" lIns="0" tIns="0" rIns="0" bIns="0" rtlCol="0" anchor="ctr"/>
          <a:lstStyle/>
          <a:p>
            <a:pPr marL="0" indent="0" algn="l">
              <a:buNone/>
            </a:pPr>
            <a:r>
              <a:rPr lang="en-US" sz="2800" b="1" dirty="0">
                <a:solidFill>
                  <a:srgbClr val="FFFFFF"/>
                </a:solidFill>
              </a:rPr>
              <a:t>Instalar Bibliotecas Esenciales</a:t>
            </a:r>
            <a:endParaRPr lang="en-US" sz="2800" dirty="0"/>
          </a:p>
        </p:txBody>
      </p:sp>
      <p:sp>
        <p:nvSpPr>
          <p:cNvPr id="6" name="Text 4"/>
          <p:cNvSpPr/>
          <p:nvPr/>
        </p:nvSpPr>
        <p:spPr>
          <a:xfrm>
            <a:off x="384048" y="799522"/>
            <a:ext cx="8229600" cy="256032"/>
          </a:xfrm>
          <a:prstGeom prst="rect">
            <a:avLst/>
          </a:prstGeom>
          <a:noFill/>
          <a:ln/>
        </p:spPr>
        <p:txBody>
          <a:bodyPr wrap="square" lIns="0" tIns="0" rIns="0" bIns="0" rtlCol="0" anchor="ctr"/>
          <a:lstStyle/>
          <a:p>
            <a:pPr marL="0" indent="0" algn="l">
              <a:buNone/>
            </a:pPr>
            <a:r>
              <a:rPr lang="en-US" sz="1200" dirty="0">
                <a:solidFill>
                  <a:srgbClr val="A8D8EA"/>
                </a:solidFill>
              </a:rPr>
              <a:t>pip vs conda — ¿cuál usar y cuándo?</a:t>
            </a:r>
            <a:endParaRPr lang="en-US" sz="1200" dirty="0"/>
          </a:p>
        </p:txBody>
      </p:sp>
      <p:sp>
        <p:nvSpPr>
          <p:cNvPr id="7" name="Shape 5"/>
          <p:cNvSpPr/>
          <p:nvPr/>
        </p:nvSpPr>
        <p:spPr>
          <a:xfrm>
            <a:off x="347472" y="1024128"/>
            <a:ext cx="4041648" cy="1389888"/>
          </a:xfrm>
          <a:prstGeom prst="rect">
            <a:avLst/>
          </a:prstGeom>
          <a:solidFill>
            <a:srgbClr val="1A5276"/>
          </a:solidFill>
          <a:ln w="12700">
            <a:solidFill>
              <a:srgbClr val="1A5276"/>
            </a:solidFill>
            <a:prstDash val="solid"/>
          </a:ln>
          <a:effectLst>
            <a:outerShdw blurRad="101600" dist="38100" dir="8100000" algn="bl" rotWithShape="0">
              <a:srgbClr val="000000">
                <a:alpha val="10000"/>
              </a:srgbClr>
            </a:outerShdw>
          </a:effectLst>
        </p:spPr>
        <p:txBody>
          <a:bodyPr/>
          <a:lstStyle/>
          <a:p>
            <a:endParaRPr lang="es-MX"/>
          </a:p>
        </p:txBody>
      </p:sp>
      <p:sp>
        <p:nvSpPr>
          <p:cNvPr id="8" name="Shape 6"/>
          <p:cNvSpPr/>
          <p:nvPr/>
        </p:nvSpPr>
        <p:spPr>
          <a:xfrm>
            <a:off x="347472" y="1024128"/>
            <a:ext cx="4041648" cy="365760"/>
          </a:xfrm>
          <a:prstGeom prst="rect">
            <a:avLst/>
          </a:prstGeom>
          <a:solidFill>
            <a:srgbClr val="0D7A8A"/>
          </a:solidFill>
          <a:ln w="12700">
            <a:solidFill>
              <a:srgbClr val="0D7A8A"/>
            </a:solidFill>
            <a:prstDash val="solid"/>
          </a:ln>
        </p:spPr>
        <p:txBody>
          <a:bodyPr/>
          <a:lstStyle/>
          <a:p>
            <a:endParaRPr lang="es-MX"/>
          </a:p>
        </p:txBody>
      </p:sp>
      <p:sp>
        <p:nvSpPr>
          <p:cNvPr id="9" name="Text 7"/>
          <p:cNvSpPr/>
          <p:nvPr/>
        </p:nvSpPr>
        <p:spPr>
          <a:xfrm>
            <a:off x="457200" y="1024128"/>
            <a:ext cx="3931920" cy="365760"/>
          </a:xfrm>
          <a:prstGeom prst="rect">
            <a:avLst/>
          </a:prstGeom>
          <a:noFill/>
          <a:ln/>
        </p:spPr>
        <p:txBody>
          <a:bodyPr wrap="square" lIns="0" tIns="0" rIns="0" bIns="0" rtlCol="0" anchor="ctr"/>
          <a:lstStyle/>
          <a:p>
            <a:pPr marL="0" indent="0">
              <a:buNone/>
            </a:pPr>
            <a:r>
              <a:rPr lang="en-US" sz="1200" b="1" dirty="0">
                <a:solidFill>
                  <a:srgbClr val="FFFFFF"/>
                </a:solidFill>
              </a:rPr>
              <a:t>pip  —  Python Package Index</a:t>
            </a:r>
            <a:endParaRPr lang="en-US" sz="1200" dirty="0"/>
          </a:p>
        </p:txBody>
      </p:sp>
      <p:sp>
        <p:nvSpPr>
          <p:cNvPr id="10" name="Text 8"/>
          <p:cNvSpPr/>
          <p:nvPr/>
        </p:nvSpPr>
        <p:spPr>
          <a:xfrm>
            <a:off x="457200" y="1444752"/>
            <a:ext cx="3840480" cy="914400"/>
          </a:xfrm>
          <a:prstGeom prst="rect">
            <a:avLst/>
          </a:prstGeom>
          <a:noFill/>
          <a:ln/>
        </p:spPr>
        <p:txBody>
          <a:bodyPr wrap="square" lIns="0" tIns="0" rIns="0" bIns="0" rtlCol="0" anchor="ctr"/>
          <a:lstStyle/>
          <a:p>
            <a:pPr marL="0" indent="0">
              <a:buNone/>
            </a:pPr>
            <a:r>
              <a:rPr lang="en-US" sz="1000" dirty="0">
                <a:solidFill>
                  <a:srgbClr val="F0F4F8"/>
                </a:solidFill>
              </a:rPr>
              <a:t>pip es el gestor de paquetes nativo de Python. Descarga bibliotecas desde PyPI (pypi.org), que tiene más de 400,000 paquetes. Viene incluido con cualquier instalación de Python.</a:t>
            </a:r>
            <a:endParaRPr lang="en-US" sz="1000" dirty="0"/>
          </a:p>
        </p:txBody>
      </p:sp>
      <p:sp>
        <p:nvSpPr>
          <p:cNvPr id="11" name="Shape 9"/>
          <p:cNvSpPr/>
          <p:nvPr/>
        </p:nvSpPr>
        <p:spPr>
          <a:xfrm>
            <a:off x="4736592" y="1024128"/>
            <a:ext cx="4059936" cy="1389888"/>
          </a:xfrm>
          <a:prstGeom prst="rect">
            <a:avLst/>
          </a:prstGeom>
          <a:solidFill>
            <a:srgbClr val="1A5276"/>
          </a:solidFill>
          <a:ln w="12700">
            <a:solidFill>
              <a:srgbClr val="1A5276"/>
            </a:solidFill>
            <a:prstDash val="solid"/>
          </a:ln>
          <a:effectLst>
            <a:outerShdw blurRad="101600" dist="38100" dir="8100000" algn="bl" rotWithShape="0">
              <a:srgbClr val="000000">
                <a:alpha val="10000"/>
              </a:srgbClr>
            </a:outerShdw>
          </a:effectLst>
        </p:spPr>
        <p:txBody>
          <a:bodyPr/>
          <a:lstStyle/>
          <a:p>
            <a:endParaRPr lang="es-MX"/>
          </a:p>
        </p:txBody>
      </p:sp>
      <p:sp>
        <p:nvSpPr>
          <p:cNvPr id="12" name="Shape 10"/>
          <p:cNvSpPr/>
          <p:nvPr/>
        </p:nvSpPr>
        <p:spPr>
          <a:xfrm>
            <a:off x="4736592" y="1024128"/>
            <a:ext cx="4059936" cy="365760"/>
          </a:xfrm>
          <a:prstGeom prst="rect">
            <a:avLst/>
          </a:prstGeom>
          <a:solidFill>
            <a:srgbClr val="1E8449"/>
          </a:solidFill>
          <a:ln w="12700">
            <a:solidFill>
              <a:srgbClr val="1E8449"/>
            </a:solidFill>
            <a:prstDash val="solid"/>
          </a:ln>
        </p:spPr>
        <p:txBody>
          <a:bodyPr/>
          <a:lstStyle/>
          <a:p>
            <a:endParaRPr lang="es-MX"/>
          </a:p>
        </p:txBody>
      </p:sp>
      <p:sp>
        <p:nvSpPr>
          <p:cNvPr id="13" name="Text 11"/>
          <p:cNvSpPr/>
          <p:nvPr/>
        </p:nvSpPr>
        <p:spPr>
          <a:xfrm>
            <a:off x="4846320" y="1024128"/>
            <a:ext cx="3840480" cy="365760"/>
          </a:xfrm>
          <a:prstGeom prst="rect">
            <a:avLst/>
          </a:prstGeom>
          <a:noFill/>
          <a:ln/>
        </p:spPr>
        <p:txBody>
          <a:bodyPr wrap="square" lIns="0" tIns="0" rIns="0" bIns="0" rtlCol="0" anchor="ctr"/>
          <a:lstStyle/>
          <a:p>
            <a:pPr marL="0" indent="0">
              <a:buNone/>
            </a:pPr>
            <a:r>
              <a:rPr lang="en-US" sz="1200" b="1" dirty="0">
                <a:solidFill>
                  <a:srgbClr val="FFFFFF"/>
                </a:solidFill>
              </a:rPr>
              <a:t>conda  —  Anaconda Package Manager</a:t>
            </a:r>
            <a:endParaRPr lang="en-US" sz="1200" dirty="0"/>
          </a:p>
        </p:txBody>
      </p:sp>
      <p:sp>
        <p:nvSpPr>
          <p:cNvPr id="14" name="Text 12"/>
          <p:cNvSpPr/>
          <p:nvPr/>
        </p:nvSpPr>
        <p:spPr>
          <a:xfrm>
            <a:off x="4846320" y="1444752"/>
            <a:ext cx="3840480" cy="914400"/>
          </a:xfrm>
          <a:prstGeom prst="rect">
            <a:avLst/>
          </a:prstGeom>
          <a:noFill/>
          <a:ln/>
        </p:spPr>
        <p:txBody>
          <a:bodyPr wrap="square" lIns="0" tIns="0" rIns="0" bIns="0" rtlCol="0" anchor="ctr"/>
          <a:lstStyle/>
          <a:p>
            <a:pPr marL="0" indent="0">
              <a:buNone/>
            </a:pPr>
            <a:r>
              <a:rPr lang="en-US" sz="1000" dirty="0">
                <a:solidFill>
                  <a:srgbClr val="F0F4F8"/>
                </a:solidFill>
              </a:rPr>
              <a:t>conda maneja paquetes Y entornos virtuales. Resuelve dependencias automáticamente y puede instalar software que no es Python (como librerías de sistema). Viene con Anaconda.</a:t>
            </a:r>
            <a:endParaRPr lang="en-US" sz="1000" dirty="0"/>
          </a:p>
        </p:txBody>
      </p:sp>
      <p:sp>
        <p:nvSpPr>
          <p:cNvPr id="15" name="Text 13"/>
          <p:cNvSpPr/>
          <p:nvPr/>
        </p:nvSpPr>
        <p:spPr>
          <a:xfrm>
            <a:off x="347472" y="2578608"/>
            <a:ext cx="8412480" cy="292608"/>
          </a:xfrm>
          <a:prstGeom prst="rect">
            <a:avLst/>
          </a:prstGeom>
          <a:noFill/>
          <a:ln/>
        </p:spPr>
        <p:txBody>
          <a:bodyPr wrap="square" lIns="0" tIns="0" rIns="0" bIns="0" rtlCol="0" anchor="ctr"/>
          <a:lstStyle/>
          <a:p>
            <a:pPr marL="0" indent="0">
              <a:buNone/>
            </a:pPr>
            <a:r>
              <a:rPr lang="en-US" sz="1200" b="1" dirty="0">
                <a:solidFill>
                  <a:srgbClr val="A8D8EA"/>
                </a:solidFill>
              </a:rPr>
              <a:t>Instalación con un comando — usa el terminal:</a:t>
            </a:r>
            <a:endParaRPr lang="en-US" sz="1200" dirty="0"/>
          </a:p>
        </p:txBody>
      </p:sp>
      <p:sp>
        <p:nvSpPr>
          <p:cNvPr id="16" name="Shape 14"/>
          <p:cNvSpPr/>
          <p:nvPr/>
        </p:nvSpPr>
        <p:spPr>
          <a:xfrm>
            <a:off x="347472" y="2907792"/>
            <a:ext cx="8449056" cy="566928"/>
          </a:xfrm>
          <a:prstGeom prst="rect">
            <a:avLst/>
          </a:prstGeom>
          <a:solidFill>
            <a:srgbClr val="071228"/>
          </a:solidFill>
          <a:ln w="12700">
            <a:solidFill>
              <a:srgbClr val="0D7A8A"/>
            </a:solidFill>
            <a:prstDash val="solid"/>
          </a:ln>
        </p:spPr>
        <p:txBody>
          <a:bodyPr/>
          <a:lstStyle/>
          <a:p>
            <a:endParaRPr lang="es-MX"/>
          </a:p>
        </p:txBody>
      </p:sp>
      <p:sp>
        <p:nvSpPr>
          <p:cNvPr id="17" name="Text 15"/>
          <p:cNvSpPr/>
          <p:nvPr/>
        </p:nvSpPr>
        <p:spPr>
          <a:xfrm>
            <a:off x="502920" y="2980944"/>
            <a:ext cx="8138160" cy="384048"/>
          </a:xfrm>
          <a:prstGeom prst="rect">
            <a:avLst/>
          </a:prstGeom>
          <a:noFill/>
          <a:ln/>
        </p:spPr>
        <p:txBody>
          <a:bodyPr wrap="square" lIns="0" tIns="0" rIns="0" bIns="0" rtlCol="0" anchor="ctr"/>
          <a:lstStyle/>
          <a:p>
            <a:pPr marL="0" indent="0" algn="l">
              <a:buNone/>
            </a:pPr>
            <a:r>
              <a:rPr lang="en-US" sz="1400" b="1" dirty="0">
                <a:solidFill>
                  <a:srgbClr val="A8D8EA"/>
                </a:solidFill>
                <a:latin typeface="Consolas" pitchFamily="34" charset="0"/>
                <a:ea typeface="Consolas" pitchFamily="34" charset="-122"/>
                <a:cs typeface="Consolas" pitchFamily="34" charset="-120"/>
              </a:rPr>
              <a:t>pip install -r requirements.txt</a:t>
            </a:r>
            <a:endParaRPr lang="en-US" sz="1400" dirty="0"/>
          </a:p>
        </p:txBody>
      </p:sp>
      <p:sp>
        <p:nvSpPr>
          <p:cNvPr id="18" name="Shape 16"/>
          <p:cNvSpPr/>
          <p:nvPr/>
        </p:nvSpPr>
        <p:spPr>
          <a:xfrm>
            <a:off x="347472" y="3657600"/>
            <a:ext cx="2743200" cy="475488"/>
          </a:xfrm>
          <a:prstGeom prst="rect">
            <a:avLst/>
          </a:prstGeom>
          <a:solidFill>
            <a:srgbClr val="162945"/>
          </a:solidFill>
          <a:ln w="12700">
            <a:solidFill>
              <a:srgbClr val="0A1525"/>
            </a:solidFill>
            <a:prstDash val="solid"/>
          </a:ln>
        </p:spPr>
        <p:txBody>
          <a:bodyPr/>
          <a:lstStyle/>
          <a:p>
            <a:endParaRPr lang="es-MX"/>
          </a:p>
        </p:txBody>
      </p:sp>
      <p:sp>
        <p:nvSpPr>
          <p:cNvPr id="19" name="Shape 17"/>
          <p:cNvSpPr/>
          <p:nvPr/>
        </p:nvSpPr>
        <p:spPr>
          <a:xfrm>
            <a:off x="347472" y="3657600"/>
            <a:ext cx="109728" cy="475488"/>
          </a:xfrm>
          <a:prstGeom prst="rect">
            <a:avLst/>
          </a:prstGeom>
          <a:solidFill>
            <a:srgbClr val="0D7A8A"/>
          </a:solidFill>
          <a:ln w="12700">
            <a:solidFill>
              <a:srgbClr val="0D7A8A"/>
            </a:solidFill>
            <a:prstDash val="solid"/>
          </a:ln>
        </p:spPr>
        <p:txBody>
          <a:bodyPr/>
          <a:lstStyle/>
          <a:p>
            <a:endParaRPr lang="es-MX"/>
          </a:p>
        </p:txBody>
      </p:sp>
      <p:sp>
        <p:nvSpPr>
          <p:cNvPr id="20" name="Text 18"/>
          <p:cNvSpPr/>
          <p:nvPr/>
        </p:nvSpPr>
        <p:spPr>
          <a:xfrm>
            <a:off x="530352" y="3675888"/>
            <a:ext cx="1005840" cy="237744"/>
          </a:xfrm>
          <a:prstGeom prst="rect">
            <a:avLst/>
          </a:prstGeom>
          <a:noFill/>
          <a:ln/>
        </p:spPr>
        <p:txBody>
          <a:bodyPr wrap="square" lIns="0" tIns="0" rIns="0" bIns="0" rtlCol="0" anchor="ctr"/>
          <a:lstStyle/>
          <a:p>
            <a:pPr marL="0" indent="0">
              <a:buNone/>
            </a:pPr>
            <a:r>
              <a:rPr lang="en-US" sz="1100" b="1" dirty="0">
                <a:solidFill>
                  <a:srgbClr val="A8D8EA"/>
                </a:solidFill>
              </a:rPr>
              <a:t>NumPy</a:t>
            </a:r>
            <a:endParaRPr lang="en-US" sz="1100" dirty="0"/>
          </a:p>
        </p:txBody>
      </p:sp>
      <p:sp>
        <p:nvSpPr>
          <p:cNvPr id="21" name="Text 19"/>
          <p:cNvSpPr/>
          <p:nvPr/>
        </p:nvSpPr>
        <p:spPr>
          <a:xfrm>
            <a:off x="530352" y="3913632"/>
            <a:ext cx="2487168" cy="201168"/>
          </a:xfrm>
          <a:prstGeom prst="rect">
            <a:avLst/>
          </a:prstGeom>
          <a:noFill/>
          <a:ln/>
        </p:spPr>
        <p:txBody>
          <a:bodyPr wrap="square" lIns="0" tIns="0" rIns="0" bIns="0" rtlCol="0" anchor="ctr"/>
          <a:lstStyle/>
          <a:p>
            <a:pPr marL="0" indent="0">
              <a:buNone/>
            </a:pPr>
            <a:r>
              <a:rPr lang="en-US" sz="900" dirty="0">
                <a:solidFill>
                  <a:srgbClr val="8FA3B1"/>
                </a:solidFill>
              </a:rPr>
              <a:t>Arrays, álgebra lineal, operaciones vectorizadas</a:t>
            </a:r>
            <a:endParaRPr lang="en-US" sz="900" dirty="0"/>
          </a:p>
        </p:txBody>
      </p:sp>
      <p:sp>
        <p:nvSpPr>
          <p:cNvPr id="22" name="Shape 20"/>
          <p:cNvSpPr/>
          <p:nvPr/>
        </p:nvSpPr>
        <p:spPr>
          <a:xfrm>
            <a:off x="3182112" y="3657600"/>
            <a:ext cx="2743200" cy="475488"/>
          </a:xfrm>
          <a:prstGeom prst="rect">
            <a:avLst/>
          </a:prstGeom>
          <a:solidFill>
            <a:srgbClr val="0F2035"/>
          </a:solidFill>
          <a:ln w="12700">
            <a:solidFill>
              <a:srgbClr val="0A1525"/>
            </a:solidFill>
            <a:prstDash val="solid"/>
          </a:ln>
        </p:spPr>
        <p:txBody>
          <a:bodyPr/>
          <a:lstStyle/>
          <a:p>
            <a:endParaRPr lang="es-MX"/>
          </a:p>
        </p:txBody>
      </p:sp>
      <p:sp>
        <p:nvSpPr>
          <p:cNvPr id="23" name="Shape 21"/>
          <p:cNvSpPr/>
          <p:nvPr/>
        </p:nvSpPr>
        <p:spPr>
          <a:xfrm>
            <a:off x="3182112" y="3657600"/>
            <a:ext cx="109728" cy="475488"/>
          </a:xfrm>
          <a:prstGeom prst="rect">
            <a:avLst/>
          </a:prstGeom>
          <a:solidFill>
            <a:srgbClr val="1A5276"/>
          </a:solidFill>
          <a:ln w="12700">
            <a:solidFill>
              <a:srgbClr val="1A5276"/>
            </a:solidFill>
            <a:prstDash val="solid"/>
          </a:ln>
        </p:spPr>
        <p:txBody>
          <a:bodyPr/>
          <a:lstStyle/>
          <a:p>
            <a:endParaRPr lang="es-MX"/>
          </a:p>
        </p:txBody>
      </p:sp>
      <p:sp>
        <p:nvSpPr>
          <p:cNvPr id="24" name="Text 22"/>
          <p:cNvSpPr/>
          <p:nvPr/>
        </p:nvSpPr>
        <p:spPr>
          <a:xfrm>
            <a:off x="3364992" y="3675888"/>
            <a:ext cx="1005840" cy="237744"/>
          </a:xfrm>
          <a:prstGeom prst="rect">
            <a:avLst/>
          </a:prstGeom>
          <a:noFill/>
          <a:ln/>
        </p:spPr>
        <p:txBody>
          <a:bodyPr wrap="square" lIns="0" tIns="0" rIns="0" bIns="0" rtlCol="0" anchor="ctr"/>
          <a:lstStyle/>
          <a:p>
            <a:pPr marL="0" indent="0">
              <a:buNone/>
            </a:pPr>
            <a:r>
              <a:rPr lang="en-US" sz="1100" b="1" dirty="0">
                <a:solidFill>
                  <a:srgbClr val="A8D8EA"/>
                </a:solidFill>
              </a:rPr>
              <a:t>Pandas</a:t>
            </a:r>
            <a:endParaRPr lang="en-US" sz="1100" dirty="0"/>
          </a:p>
        </p:txBody>
      </p:sp>
      <p:sp>
        <p:nvSpPr>
          <p:cNvPr id="25" name="Text 23"/>
          <p:cNvSpPr/>
          <p:nvPr/>
        </p:nvSpPr>
        <p:spPr>
          <a:xfrm>
            <a:off x="3364992" y="3913632"/>
            <a:ext cx="2487168" cy="201168"/>
          </a:xfrm>
          <a:prstGeom prst="rect">
            <a:avLst/>
          </a:prstGeom>
          <a:noFill/>
          <a:ln/>
        </p:spPr>
        <p:txBody>
          <a:bodyPr wrap="square" lIns="0" tIns="0" rIns="0" bIns="0" rtlCol="0" anchor="ctr"/>
          <a:lstStyle/>
          <a:p>
            <a:pPr marL="0" indent="0">
              <a:buNone/>
            </a:pPr>
            <a:r>
              <a:rPr lang="en-US" sz="900" dirty="0">
                <a:solidFill>
                  <a:srgbClr val="8FA3B1"/>
                </a:solidFill>
              </a:rPr>
              <a:t>DataFrames, lectura de CSV/Excel, análisis tabular</a:t>
            </a:r>
            <a:endParaRPr lang="en-US" sz="900" dirty="0"/>
          </a:p>
        </p:txBody>
      </p:sp>
      <p:sp>
        <p:nvSpPr>
          <p:cNvPr id="26" name="Shape 24"/>
          <p:cNvSpPr/>
          <p:nvPr/>
        </p:nvSpPr>
        <p:spPr>
          <a:xfrm>
            <a:off x="6016752" y="3657600"/>
            <a:ext cx="2743200" cy="475488"/>
          </a:xfrm>
          <a:prstGeom prst="rect">
            <a:avLst/>
          </a:prstGeom>
          <a:solidFill>
            <a:srgbClr val="162945"/>
          </a:solidFill>
          <a:ln w="12700">
            <a:solidFill>
              <a:srgbClr val="0A1525"/>
            </a:solidFill>
            <a:prstDash val="solid"/>
          </a:ln>
        </p:spPr>
        <p:txBody>
          <a:bodyPr/>
          <a:lstStyle/>
          <a:p>
            <a:endParaRPr lang="es-MX"/>
          </a:p>
        </p:txBody>
      </p:sp>
      <p:sp>
        <p:nvSpPr>
          <p:cNvPr id="27" name="Shape 25"/>
          <p:cNvSpPr/>
          <p:nvPr/>
        </p:nvSpPr>
        <p:spPr>
          <a:xfrm>
            <a:off x="6016752" y="3657600"/>
            <a:ext cx="109728" cy="475488"/>
          </a:xfrm>
          <a:prstGeom prst="rect">
            <a:avLst/>
          </a:prstGeom>
          <a:solidFill>
            <a:srgbClr val="7B5EA7"/>
          </a:solidFill>
          <a:ln w="12700">
            <a:solidFill>
              <a:srgbClr val="7B5EA7"/>
            </a:solidFill>
            <a:prstDash val="solid"/>
          </a:ln>
        </p:spPr>
        <p:txBody>
          <a:bodyPr/>
          <a:lstStyle/>
          <a:p>
            <a:endParaRPr lang="es-MX"/>
          </a:p>
        </p:txBody>
      </p:sp>
      <p:sp>
        <p:nvSpPr>
          <p:cNvPr id="28" name="Text 26"/>
          <p:cNvSpPr/>
          <p:nvPr/>
        </p:nvSpPr>
        <p:spPr>
          <a:xfrm>
            <a:off x="6199632" y="3675888"/>
            <a:ext cx="1005840" cy="237744"/>
          </a:xfrm>
          <a:prstGeom prst="rect">
            <a:avLst/>
          </a:prstGeom>
          <a:noFill/>
          <a:ln/>
        </p:spPr>
        <p:txBody>
          <a:bodyPr wrap="square" lIns="0" tIns="0" rIns="0" bIns="0" rtlCol="0" anchor="ctr"/>
          <a:lstStyle/>
          <a:p>
            <a:pPr marL="0" indent="0">
              <a:buNone/>
            </a:pPr>
            <a:r>
              <a:rPr lang="en-US" sz="1100" b="1" dirty="0">
                <a:solidFill>
                  <a:srgbClr val="A8D8EA"/>
                </a:solidFill>
              </a:rPr>
              <a:t>Matplotlib</a:t>
            </a:r>
            <a:endParaRPr lang="en-US" sz="1100" dirty="0"/>
          </a:p>
        </p:txBody>
      </p:sp>
      <p:sp>
        <p:nvSpPr>
          <p:cNvPr id="29" name="Text 27"/>
          <p:cNvSpPr/>
          <p:nvPr/>
        </p:nvSpPr>
        <p:spPr>
          <a:xfrm>
            <a:off x="6199632" y="3913632"/>
            <a:ext cx="2487168" cy="201168"/>
          </a:xfrm>
          <a:prstGeom prst="rect">
            <a:avLst/>
          </a:prstGeom>
          <a:noFill/>
          <a:ln/>
        </p:spPr>
        <p:txBody>
          <a:bodyPr wrap="square" lIns="0" tIns="0" rIns="0" bIns="0" rtlCol="0" anchor="ctr"/>
          <a:lstStyle/>
          <a:p>
            <a:pPr marL="0" indent="0">
              <a:buNone/>
            </a:pPr>
            <a:r>
              <a:rPr lang="en-US" sz="900" dirty="0">
                <a:solidFill>
                  <a:srgbClr val="8FA3B1"/>
                </a:solidFill>
              </a:rPr>
              <a:t>Gráficas estáticas, histogramas, scatter plots</a:t>
            </a:r>
            <a:endParaRPr lang="en-US" sz="900" dirty="0"/>
          </a:p>
        </p:txBody>
      </p:sp>
      <p:sp>
        <p:nvSpPr>
          <p:cNvPr id="30" name="Shape 28"/>
          <p:cNvSpPr/>
          <p:nvPr/>
        </p:nvSpPr>
        <p:spPr>
          <a:xfrm>
            <a:off x="347472" y="4206240"/>
            <a:ext cx="2743200" cy="475488"/>
          </a:xfrm>
          <a:prstGeom prst="rect">
            <a:avLst/>
          </a:prstGeom>
          <a:solidFill>
            <a:srgbClr val="0F2035"/>
          </a:solidFill>
          <a:ln w="12700">
            <a:solidFill>
              <a:srgbClr val="0A1525"/>
            </a:solidFill>
            <a:prstDash val="solid"/>
          </a:ln>
        </p:spPr>
        <p:txBody>
          <a:bodyPr/>
          <a:lstStyle/>
          <a:p>
            <a:endParaRPr lang="es-MX"/>
          </a:p>
        </p:txBody>
      </p:sp>
      <p:sp>
        <p:nvSpPr>
          <p:cNvPr id="31" name="Shape 29"/>
          <p:cNvSpPr/>
          <p:nvPr/>
        </p:nvSpPr>
        <p:spPr>
          <a:xfrm>
            <a:off x="347472" y="4206240"/>
            <a:ext cx="109728" cy="475488"/>
          </a:xfrm>
          <a:prstGeom prst="rect">
            <a:avLst/>
          </a:prstGeom>
          <a:solidFill>
            <a:srgbClr val="2E86AB"/>
          </a:solidFill>
          <a:ln w="12700">
            <a:solidFill>
              <a:srgbClr val="2E86AB"/>
            </a:solidFill>
            <a:prstDash val="solid"/>
          </a:ln>
        </p:spPr>
        <p:txBody>
          <a:bodyPr/>
          <a:lstStyle/>
          <a:p>
            <a:endParaRPr lang="es-MX"/>
          </a:p>
        </p:txBody>
      </p:sp>
      <p:sp>
        <p:nvSpPr>
          <p:cNvPr id="32" name="Text 30"/>
          <p:cNvSpPr/>
          <p:nvPr/>
        </p:nvSpPr>
        <p:spPr>
          <a:xfrm>
            <a:off x="530352" y="4224528"/>
            <a:ext cx="1005840" cy="237744"/>
          </a:xfrm>
          <a:prstGeom prst="rect">
            <a:avLst/>
          </a:prstGeom>
          <a:noFill/>
          <a:ln/>
        </p:spPr>
        <p:txBody>
          <a:bodyPr wrap="square" lIns="0" tIns="0" rIns="0" bIns="0" rtlCol="0" anchor="ctr"/>
          <a:lstStyle/>
          <a:p>
            <a:pPr marL="0" indent="0">
              <a:buNone/>
            </a:pPr>
            <a:r>
              <a:rPr lang="en-US" sz="1100" b="1" dirty="0">
                <a:solidFill>
                  <a:srgbClr val="A8D8EA"/>
                </a:solidFill>
              </a:rPr>
              <a:t>Seaborn</a:t>
            </a:r>
            <a:endParaRPr lang="en-US" sz="1100" dirty="0"/>
          </a:p>
        </p:txBody>
      </p:sp>
      <p:sp>
        <p:nvSpPr>
          <p:cNvPr id="33" name="Text 31"/>
          <p:cNvSpPr/>
          <p:nvPr/>
        </p:nvSpPr>
        <p:spPr>
          <a:xfrm>
            <a:off x="530352" y="4462272"/>
            <a:ext cx="2487168" cy="201168"/>
          </a:xfrm>
          <a:prstGeom prst="rect">
            <a:avLst/>
          </a:prstGeom>
          <a:noFill/>
          <a:ln/>
        </p:spPr>
        <p:txBody>
          <a:bodyPr wrap="square" lIns="0" tIns="0" rIns="0" bIns="0" rtlCol="0" anchor="ctr"/>
          <a:lstStyle/>
          <a:p>
            <a:pPr marL="0" indent="0">
              <a:buNone/>
            </a:pPr>
            <a:r>
              <a:rPr lang="en-US" sz="900" dirty="0">
                <a:solidFill>
                  <a:srgbClr val="8FA3B1"/>
                </a:solidFill>
              </a:rPr>
              <a:t>Visualización estadística avanzada sobre Matplotlib</a:t>
            </a:r>
            <a:endParaRPr lang="en-US" sz="900" dirty="0"/>
          </a:p>
        </p:txBody>
      </p:sp>
      <p:sp>
        <p:nvSpPr>
          <p:cNvPr id="34" name="Shape 32"/>
          <p:cNvSpPr/>
          <p:nvPr/>
        </p:nvSpPr>
        <p:spPr>
          <a:xfrm>
            <a:off x="3182112" y="4206240"/>
            <a:ext cx="2743200" cy="475488"/>
          </a:xfrm>
          <a:prstGeom prst="rect">
            <a:avLst/>
          </a:prstGeom>
          <a:solidFill>
            <a:srgbClr val="162945"/>
          </a:solidFill>
          <a:ln w="12700">
            <a:solidFill>
              <a:srgbClr val="0A1525"/>
            </a:solidFill>
            <a:prstDash val="solid"/>
          </a:ln>
        </p:spPr>
        <p:txBody>
          <a:bodyPr/>
          <a:lstStyle/>
          <a:p>
            <a:endParaRPr lang="es-MX"/>
          </a:p>
        </p:txBody>
      </p:sp>
      <p:sp>
        <p:nvSpPr>
          <p:cNvPr id="35" name="Shape 33"/>
          <p:cNvSpPr/>
          <p:nvPr/>
        </p:nvSpPr>
        <p:spPr>
          <a:xfrm>
            <a:off x="3182112" y="4206240"/>
            <a:ext cx="109728" cy="475488"/>
          </a:xfrm>
          <a:prstGeom prst="rect">
            <a:avLst/>
          </a:prstGeom>
          <a:solidFill>
            <a:srgbClr val="E07A5F"/>
          </a:solidFill>
          <a:ln w="12700">
            <a:solidFill>
              <a:srgbClr val="E07A5F"/>
            </a:solidFill>
            <a:prstDash val="solid"/>
          </a:ln>
        </p:spPr>
        <p:txBody>
          <a:bodyPr/>
          <a:lstStyle/>
          <a:p>
            <a:endParaRPr lang="es-MX"/>
          </a:p>
        </p:txBody>
      </p:sp>
      <p:sp>
        <p:nvSpPr>
          <p:cNvPr id="36" name="Text 34"/>
          <p:cNvSpPr/>
          <p:nvPr/>
        </p:nvSpPr>
        <p:spPr>
          <a:xfrm>
            <a:off x="3364992" y="4224528"/>
            <a:ext cx="1005840" cy="237744"/>
          </a:xfrm>
          <a:prstGeom prst="rect">
            <a:avLst/>
          </a:prstGeom>
          <a:noFill/>
          <a:ln/>
        </p:spPr>
        <p:txBody>
          <a:bodyPr wrap="square" lIns="0" tIns="0" rIns="0" bIns="0" rtlCol="0" anchor="ctr"/>
          <a:lstStyle/>
          <a:p>
            <a:pPr marL="0" indent="0">
              <a:buNone/>
            </a:pPr>
            <a:r>
              <a:rPr lang="en-US" sz="1100" b="1" dirty="0">
                <a:solidFill>
                  <a:srgbClr val="A8D8EA"/>
                </a:solidFill>
              </a:rPr>
              <a:t>Scikit-learn</a:t>
            </a:r>
            <a:endParaRPr lang="en-US" sz="1100" dirty="0"/>
          </a:p>
        </p:txBody>
      </p:sp>
      <p:sp>
        <p:nvSpPr>
          <p:cNvPr id="37" name="Text 35"/>
          <p:cNvSpPr/>
          <p:nvPr/>
        </p:nvSpPr>
        <p:spPr>
          <a:xfrm>
            <a:off x="3364992" y="4462272"/>
            <a:ext cx="2487168" cy="201168"/>
          </a:xfrm>
          <a:prstGeom prst="rect">
            <a:avLst/>
          </a:prstGeom>
          <a:noFill/>
          <a:ln/>
        </p:spPr>
        <p:txBody>
          <a:bodyPr wrap="square" lIns="0" tIns="0" rIns="0" bIns="0" rtlCol="0" anchor="ctr"/>
          <a:lstStyle/>
          <a:p>
            <a:pPr marL="0" indent="0">
              <a:buNone/>
            </a:pPr>
            <a:r>
              <a:rPr lang="en-US" sz="900" dirty="0">
                <a:solidFill>
                  <a:srgbClr val="8FA3B1"/>
                </a:solidFill>
              </a:rPr>
              <a:t>Machine Learning: clasificación, regresión, clustering</a:t>
            </a:r>
            <a:endParaRPr lang="en-US" sz="900" dirty="0"/>
          </a:p>
        </p:txBody>
      </p:sp>
      <p:sp>
        <p:nvSpPr>
          <p:cNvPr id="38" name="Shape 36"/>
          <p:cNvSpPr/>
          <p:nvPr/>
        </p:nvSpPr>
        <p:spPr>
          <a:xfrm>
            <a:off x="6016752" y="4206240"/>
            <a:ext cx="2743200" cy="475488"/>
          </a:xfrm>
          <a:prstGeom prst="rect">
            <a:avLst/>
          </a:prstGeom>
          <a:solidFill>
            <a:srgbClr val="0F2035"/>
          </a:solidFill>
          <a:ln w="12700">
            <a:solidFill>
              <a:srgbClr val="0A1525"/>
            </a:solidFill>
            <a:prstDash val="solid"/>
          </a:ln>
        </p:spPr>
        <p:txBody>
          <a:bodyPr/>
          <a:lstStyle/>
          <a:p>
            <a:endParaRPr lang="es-MX"/>
          </a:p>
        </p:txBody>
      </p:sp>
      <p:sp>
        <p:nvSpPr>
          <p:cNvPr id="39" name="Shape 37"/>
          <p:cNvSpPr/>
          <p:nvPr/>
        </p:nvSpPr>
        <p:spPr>
          <a:xfrm>
            <a:off x="6016752" y="4206240"/>
            <a:ext cx="109728" cy="475488"/>
          </a:xfrm>
          <a:prstGeom prst="rect">
            <a:avLst/>
          </a:prstGeom>
          <a:solidFill>
            <a:srgbClr val="1E8449"/>
          </a:solidFill>
          <a:ln w="12700">
            <a:solidFill>
              <a:srgbClr val="1E8449"/>
            </a:solidFill>
            <a:prstDash val="solid"/>
          </a:ln>
        </p:spPr>
        <p:txBody>
          <a:bodyPr/>
          <a:lstStyle/>
          <a:p>
            <a:endParaRPr lang="es-MX"/>
          </a:p>
        </p:txBody>
      </p:sp>
      <p:sp>
        <p:nvSpPr>
          <p:cNvPr id="40" name="Text 38"/>
          <p:cNvSpPr/>
          <p:nvPr/>
        </p:nvSpPr>
        <p:spPr>
          <a:xfrm>
            <a:off x="6199632" y="4224528"/>
            <a:ext cx="1005840" cy="237744"/>
          </a:xfrm>
          <a:prstGeom prst="rect">
            <a:avLst/>
          </a:prstGeom>
          <a:noFill/>
          <a:ln/>
        </p:spPr>
        <p:txBody>
          <a:bodyPr wrap="square" lIns="0" tIns="0" rIns="0" bIns="0" rtlCol="0" anchor="ctr"/>
          <a:lstStyle/>
          <a:p>
            <a:pPr marL="0" indent="0">
              <a:buNone/>
            </a:pPr>
            <a:r>
              <a:rPr lang="en-US" sz="1100" b="1" dirty="0">
                <a:solidFill>
                  <a:srgbClr val="A8D8EA"/>
                </a:solidFill>
              </a:rPr>
              <a:t>Openpyxl</a:t>
            </a:r>
            <a:endParaRPr lang="en-US" sz="1100" dirty="0"/>
          </a:p>
        </p:txBody>
      </p:sp>
      <p:sp>
        <p:nvSpPr>
          <p:cNvPr id="41" name="Text 39"/>
          <p:cNvSpPr/>
          <p:nvPr/>
        </p:nvSpPr>
        <p:spPr>
          <a:xfrm>
            <a:off x="6199632" y="4462272"/>
            <a:ext cx="2487168" cy="201168"/>
          </a:xfrm>
          <a:prstGeom prst="rect">
            <a:avLst/>
          </a:prstGeom>
          <a:noFill/>
          <a:ln/>
        </p:spPr>
        <p:txBody>
          <a:bodyPr wrap="square" lIns="0" tIns="0" rIns="0" bIns="0" rtlCol="0" anchor="ctr"/>
          <a:lstStyle/>
          <a:p>
            <a:pPr marL="0" indent="0">
              <a:buNone/>
            </a:pPr>
            <a:r>
              <a:rPr lang="en-US" sz="900" dirty="0">
                <a:solidFill>
                  <a:srgbClr val="8FA3B1"/>
                </a:solidFill>
              </a:rPr>
              <a:t>Lectura y escritura de archivos Excel (.xlsx)</a:t>
            </a:r>
            <a:endParaRPr lang="en-US" sz="900" dirty="0"/>
          </a:p>
        </p:txBody>
      </p:sp>
      <p:sp>
        <p:nvSpPr>
          <p:cNvPr id="42" name="Shape 40"/>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43" name="Text 41"/>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Módulo 1 · Introducción a Python · Sesión 1  —  15 abril 2026</a:t>
            </a:r>
            <a:endParaRPr lang="en-US" sz="850" dirty="0"/>
          </a:p>
        </p:txBody>
      </p:sp>
      <p:sp>
        <p:nvSpPr>
          <p:cNvPr id="44" name="Text 42"/>
          <p:cNvSpPr/>
          <p:nvPr/>
        </p:nvSpPr>
        <p:spPr>
          <a:xfrm>
            <a:off x="274320" y="4892040"/>
            <a:ext cx="5486400" cy="251460"/>
          </a:xfrm>
          <a:prstGeom prst="rect">
            <a:avLst/>
          </a:prstGeom>
          <a:noFill/>
          <a:ln/>
        </p:spPr>
        <p:txBody>
          <a:bodyPr wrap="square" lIns="0" tIns="0" rIns="0" bIns="0" rtlCol="0" anchor="ctr"/>
          <a:lstStyle/>
          <a:p>
            <a:pPr marL="0" indent="0" algn="l">
              <a:buNone/>
            </a:pPr>
            <a:r>
              <a:rPr lang="en-US" sz="850" dirty="0">
                <a:solidFill>
                  <a:srgbClr val="A8D8EA"/>
                </a:solidFill>
              </a:rPr>
              <a:t>PASO 4 · Bibliotecas</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Shape 1"/>
          <p:cNvSpPr/>
          <p:nvPr/>
        </p:nvSpPr>
        <p:spPr>
          <a:xfrm>
            <a:off x="365760" y="566928"/>
            <a:ext cx="2011680" cy="256032"/>
          </a:xfrm>
          <a:prstGeom prst="rect">
            <a:avLst/>
          </a:prstGeom>
          <a:solidFill>
            <a:srgbClr val="1E8449"/>
          </a:solidFill>
          <a:ln w="12700">
            <a:solidFill>
              <a:srgbClr val="1E8449"/>
            </a:solidFill>
            <a:prstDash val="solid"/>
          </a:ln>
        </p:spPr>
        <p:txBody>
          <a:bodyPr/>
          <a:lstStyle/>
          <a:p>
            <a:endParaRPr lang="es-MX"/>
          </a:p>
        </p:txBody>
      </p:sp>
      <p:sp>
        <p:nvSpPr>
          <p:cNvPr id="4" name="Text 2"/>
          <p:cNvSpPr/>
          <p:nvPr/>
        </p:nvSpPr>
        <p:spPr>
          <a:xfrm>
            <a:off x="365760" y="566928"/>
            <a:ext cx="2011680" cy="256032"/>
          </a:xfrm>
          <a:prstGeom prst="rect">
            <a:avLst/>
          </a:prstGeom>
          <a:noFill/>
          <a:ln/>
        </p:spPr>
        <p:txBody>
          <a:bodyPr wrap="square" lIns="0" tIns="0" rIns="0" bIns="0" rtlCol="0" anchor="ctr"/>
          <a:lstStyle/>
          <a:p>
            <a:pPr marL="0" indent="0" algn="ctr">
              <a:buNone/>
            </a:pPr>
            <a:r>
              <a:rPr lang="en-US" sz="850" b="1" kern="0" spc="200" dirty="0">
                <a:solidFill>
                  <a:srgbClr val="FFFFFF"/>
                </a:solidFill>
              </a:rPr>
              <a:t>PASO 4 · VERIFICAR</a:t>
            </a:r>
            <a:endParaRPr lang="en-US" sz="850" dirty="0"/>
          </a:p>
        </p:txBody>
      </p:sp>
      <p:sp>
        <p:nvSpPr>
          <p:cNvPr id="5" name="Text 3"/>
          <p:cNvSpPr/>
          <p:nvPr/>
        </p:nvSpPr>
        <p:spPr>
          <a:xfrm>
            <a:off x="274320" y="45720"/>
            <a:ext cx="8229600" cy="475488"/>
          </a:xfrm>
          <a:prstGeom prst="rect">
            <a:avLst/>
          </a:prstGeom>
          <a:noFill/>
          <a:ln/>
        </p:spPr>
        <p:txBody>
          <a:bodyPr wrap="square" lIns="0" tIns="0" rIns="0" bIns="0" rtlCol="0" anchor="ctr"/>
          <a:lstStyle/>
          <a:p>
            <a:pPr marL="0" indent="0" algn="l">
              <a:buNone/>
            </a:pPr>
            <a:r>
              <a:rPr lang="en-US" sz="2800" b="1" dirty="0">
                <a:solidFill>
                  <a:srgbClr val="0D1B3E"/>
                </a:solidFill>
              </a:rPr>
              <a:t>Verificar las Bibliotecas</a:t>
            </a:r>
            <a:endParaRPr lang="en-US" sz="2800" dirty="0"/>
          </a:p>
        </p:txBody>
      </p:sp>
      <p:sp>
        <p:nvSpPr>
          <p:cNvPr id="6" name="Text 4"/>
          <p:cNvSpPr/>
          <p:nvPr/>
        </p:nvSpPr>
        <p:spPr>
          <a:xfrm>
            <a:off x="365760" y="777240"/>
            <a:ext cx="8229600" cy="256032"/>
          </a:xfrm>
          <a:prstGeom prst="rect">
            <a:avLst/>
          </a:prstGeom>
          <a:noFill/>
          <a:ln/>
        </p:spPr>
        <p:txBody>
          <a:bodyPr wrap="square" lIns="0" tIns="0" rIns="0" bIns="0" rtlCol="0" anchor="ctr"/>
          <a:lstStyle/>
          <a:p>
            <a:pPr marL="0" indent="0" algn="l">
              <a:buNone/>
            </a:pPr>
            <a:r>
              <a:rPr lang="en-US" sz="1200" dirty="0">
                <a:solidFill>
                  <a:srgbClr val="0D7A8A"/>
                </a:solidFill>
              </a:rPr>
              <a:t>Abre Jupyter o VS Code y ejecuta esta celda de verificación</a:t>
            </a:r>
            <a:endParaRPr lang="en-US" sz="1200" dirty="0"/>
          </a:p>
        </p:txBody>
      </p:sp>
      <p:sp>
        <p:nvSpPr>
          <p:cNvPr id="7" name="Shape 5"/>
          <p:cNvSpPr/>
          <p:nvPr/>
        </p:nvSpPr>
        <p:spPr>
          <a:xfrm>
            <a:off x="347472" y="1005840"/>
            <a:ext cx="8449056" cy="2633472"/>
          </a:xfrm>
          <a:prstGeom prst="rect">
            <a:avLst/>
          </a:prstGeom>
          <a:solidFill>
            <a:srgbClr val="071228"/>
          </a:solidFill>
          <a:ln w="12700">
            <a:solidFill>
              <a:srgbClr val="0D7A8A"/>
            </a:solidFill>
            <a:prstDash val="solid"/>
          </a:ln>
        </p:spPr>
        <p:txBody>
          <a:bodyPr/>
          <a:lstStyle/>
          <a:p>
            <a:endParaRPr lang="es-MX"/>
          </a:p>
        </p:txBody>
      </p:sp>
      <p:sp>
        <p:nvSpPr>
          <p:cNvPr id="8" name="Shape 6"/>
          <p:cNvSpPr/>
          <p:nvPr/>
        </p:nvSpPr>
        <p:spPr>
          <a:xfrm>
            <a:off x="347472" y="1005840"/>
            <a:ext cx="8449056" cy="329184"/>
          </a:xfrm>
          <a:prstGeom prst="rect">
            <a:avLst/>
          </a:prstGeom>
          <a:solidFill>
            <a:srgbClr val="0D7A8A"/>
          </a:solidFill>
          <a:ln w="12700">
            <a:solidFill>
              <a:srgbClr val="0D7A8A"/>
            </a:solidFill>
            <a:prstDash val="solid"/>
          </a:ln>
        </p:spPr>
        <p:txBody>
          <a:bodyPr/>
          <a:lstStyle/>
          <a:p>
            <a:endParaRPr lang="es-MX"/>
          </a:p>
        </p:txBody>
      </p:sp>
      <p:sp>
        <p:nvSpPr>
          <p:cNvPr id="9" name="Text 7"/>
          <p:cNvSpPr/>
          <p:nvPr/>
        </p:nvSpPr>
        <p:spPr>
          <a:xfrm>
            <a:off x="457200" y="1005840"/>
            <a:ext cx="8229600" cy="329184"/>
          </a:xfrm>
          <a:prstGeom prst="rect">
            <a:avLst/>
          </a:prstGeom>
          <a:noFill/>
          <a:ln/>
        </p:spPr>
        <p:txBody>
          <a:bodyPr wrap="square" lIns="0" tIns="0" rIns="0" bIns="0" rtlCol="0" anchor="ctr"/>
          <a:lstStyle/>
          <a:p>
            <a:pPr marL="0" indent="0">
              <a:buNone/>
            </a:pPr>
            <a:r>
              <a:rPr lang="en-US" sz="950" dirty="0">
                <a:solidFill>
                  <a:srgbClr val="FFFFFF"/>
                </a:solidFill>
              </a:rPr>
              <a:t>In [1]:  Verificación del entorno — ejecuta esta celda completa</a:t>
            </a:r>
            <a:endParaRPr lang="en-US" sz="950" dirty="0"/>
          </a:p>
        </p:txBody>
      </p:sp>
      <p:sp>
        <p:nvSpPr>
          <p:cNvPr id="10" name="Text 8"/>
          <p:cNvSpPr/>
          <p:nvPr/>
        </p:nvSpPr>
        <p:spPr>
          <a:xfrm>
            <a:off x="475488" y="1389888"/>
            <a:ext cx="8193024" cy="182880"/>
          </a:xfrm>
          <a:prstGeom prst="rect">
            <a:avLst/>
          </a:prstGeom>
          <a:noFill/>
          <a:ln/>
        </p:spPr>
        <p:txBody>
          <a:bodyPr wrap="square" lIns="0" tIns="0" rIns="0" bIns="0" rtlCol="0" anchor="ctr"/>
          <a:lstStyle/>
          <a:p>
            <a:pPr marL="0" indent="0">
              <a:buNone/>
            </a:pPr>
            <a:r>
              <a:rPr lang="en-US" sz="950" dirty="0">
                <a:solidFill>
                  <a:srgbClr val="A8D8EA"/>
                </a:solidFill>
                <a:latin typeface="Consolas" pitchFamily="34" charset="0"/>
                <a:ea typeface="Consolas" pitchFamily="34" charset="-122"/>
                <a:cs typeface="Consolas" pitchFamily="34" charset="-120"/>
              </a:rPr>
              <a:t>import numpy      as np</a:t>
            </a:r>
            <a:endParaRPr lang="en-US" sz="950" dirty="0"/>
          </a:p>
        </p:txBody>
      </p:sp>
      <p:sp>
        <p:nvSpPr>
          <p:cNvPr id="11" name="Text 9"/>
          <p:cNvSpPr/>
          <p:nvPr/>
        </p:nvSpPr>
        <p:spPr>
          <a:xfrm>
            <a:off x="475488" y="1563624"/>
            <a:ext cx="8193024" cy="182880"/>
          </a:xfrm>
          <a:prstGeom prst="rect">
            <a:avLst/>
          </a:prstGeom>
          <a:noFill/>
          <a:ln/>
        </p:spPr>
        <p:txBody>
          <a:bodyPr wrap="square" lIns="0" tIns="0" rIns="0" bIns="0" rtlCol="0" anchor="ctr"/>
          <a:lstStyle/>
          <a:p>
            <a:pPr marL="0" indent="0">
              <a:buNone/>
            </a:pPr>
            <a:r>
              <a:rPr lang="en-US" sz="950" dirty="0">
                <a:solidFill>
                  <a:srgbClr val="A8D8EA"/>
                </a:solidFill>
                <a:latin typeface="Consolas" pitchFamily="34" charset="0"/>
                <a:ea typeface="Consolas" pitchFamily="34" charset="-122"/>
                <a:cs typeface="Consolas" pitchFamily="34" charset="-120"/>
              </a:rPr>
              <a:t>import pandas     as pd</a:t>
            </a:r>
            <a:endParaRPr lang="en-US" sz="950" dirty="0"/>
          </a:p>
        </p:txBody>
      </p:sp>
      <p:sp>
        <p:nvSpPr>
          <p:cNvPr id="12" name="Text 10"/>
          <p:cNvSpPr/>
          <p:nvPr/>
        </p:nvSpPr>
        <p:spPr>
          <a:xfrm>
            <a:off x="475488" y="1737360"/>
            <a:ext cx="8193024" cy="182880"/>
          </a:xfrm>
          <a:prstGeom prst="rect">
            <a:avLst/>
          </a:prstGeom>
          <a:noFill/>
          <a:ln/>
        </p:spPr>
        <p:txBody>
          <a:bodyPr wrap="square" lIns="0" tIns="0" rIns="0" bIns="0" rtlCol="0" anchor="ctr"/>
          <a:lstStyle/>
          <a:p>
            <a:pPr marL="0" indent="0">
              <a:buNone/>
            </a:pPr>
            <a:r>
              <a:rPr lang="en-US" sz="950" dirty="0">
                <a:solidFill>
                  <a:srgbClr val="A8D8EA"/>
                </a:solidFill>
                <a:latin typeface="Consolas" pitchFamily="34" charset="0"/>
                <a:ea typeface="Consolas" pitchFamily="34" charset="-122"/>
                <a:cs typeface="Consolas" pitchFamily="34" charset="-120"/>
              </a:rPr>
              <a:t>import matplotlib.pyplot as plt</a:t>
            </a:r>
            <a:endParaRPr lang="en-US" sz="950" dirty="0"/>
          </a:p>
        </p:txBody>
      </p:sp>
      <p:sp>
        <p:nvSpPr>
          <p:cNvPr id="13" name="Text 11"/>
          <p:cNvSpPr/>
          <p:nvPr/>
        </p:nvSpPr>
        <p:spPr>
          <a:xfrm>
            <a:off x="475488" y="1911096"/>
            <a:ext cx="8193024" cy="182880"/>
          </a:xfrm>
          <a:prstGeom prst="rect">
            <a:avLst/>
          </a:prstGeom>
          <a:noFill/>
          <a:ln/>
        </p:spPr>
        <p:txBody>
          <a:bodyPr wrap="square" lIns="0" tIns="0" rIns="0" bIns="0" rtlCol="0" anchor="ctr"/>
          <a:lstStyle/>
          <a:p>
            <a:pPr marL="0" indent="0">
              <a:buNone/>
            </a:pPr>
            <a:r>
              <a:rPr lang="en-US" sz="950" dirty="0">
                <a:solidFill>
                  <a:srgbClr val="A8D8EA"/>
                </a:solidFill>
                <a:latin typeface="Consolas" pitchFamily="34" charset="0"/>
                <a:ea typeface="Consolas" pitchFamily="34" charset="-122"/>
                <a:cs typeface="Consolas" pitchFamily="34" charset="-120"/>
              </a:rPr>
              <a:t>import seaborn    as sns</a:t>
            </a:r>
            <a:endParaRPr lang="en-US" sz="950" dirty="0"/>
          </a:p>
        </p:txBody>
      </p:sp>
      <p:sp>
        <p:nvSpPr>
          <p:cNvPr id="14" name="Text 12"/>
          <p:cNvSpPr/>
          <p:nvPr/>
        </p:nvSpPr>
        <p:spPr>
          <a:xfrm>
            <a:off x="475488" y="2084832"/>
            <a:ext cx="8193024" cy="182880"/>
          </a:xfrm>
          <a:prstGeom prst="rect">
            <a:avLst/>
          </a:prstGeom>
          <a:noFill/>
          <a:ln/>
        </p:spPr>
        <p:txBody>
          <a:bodyPr wrap="square" lIns="0" tIns="0" rIns="0" bIns="0" rtlCol="0" anchor="ctr"/>
          <a:lstStyle/>
          <a:p>
            <a:pPr marL="0" indent="0">
              <a:buNone/>
            </a:pPr>
            <a:r>
              <a:rPr lang="en-US" sz="950" dirty="0">
                <a:solidFill>
                  <a:srgbClr val="A8D8EA"/>
                </a:solidFill>
                <a:latin typeface="Consolas" pitchFamily="34" charset="0"/>
                <a:ea typeface="Consolas" pitchFamily="34" charset="-122"/>
                <a:cs typeface="Consolas" pitchFamily="34" charset="-120"/>
              </a:rPr>
              <a:t>import sklearn</a:t>
            </a:r>
            <a:endParaRPr lang="en-US" sz="950" dirty="0"/>
          </a:p>
        </p:txBody>
      </p:sp>
      <p:sp>
        <p:nvSpPr>
          <p:cNvPr id="15" name="Text 13"/>
          <p:cNvSpPr/>
          <p:nvPr/>
        </p:nvSpPr>
        <p:spPr>
          <a:xfrm>
            <a:off x="475488" y="2258568"/>
            <a:ext cx="8193024" cy="182880"/>
          </a:xfrm>
          <a:prstGeom prst="rect">
            <a:avLst/>
          </a:prstGeom>
          <a:noFill/>
          <a:ln/>
        </p:spPr>
        <p:txBody>
          <a:bodyPr wrap="square" lIns="0" tIns="0" rIns="0" bIns="0" rtlCol="0" anchor="ctr"/>
          <a:lstStyle/>
          <a:p>
            <a:pPr marL="0" indent="0">
              <a:buNone/>
            </a:pPr>
            <a:endParaRPr lang="en-US" sz="950" dirty="0"/>
          </a:p>
        </p:txBody>
      </p:sp>
      <p:sp>
        <p:nvSpPr>
          <p:cNvPr id="16" name="Text 14"/>
          <p:cNvSpPr/>
          <p:nvPr/>
        </p:nvSpPr>
        <p:spPr>
          <a:xfrm>
            <a:off x="475488" y="2432304"/>
            <a:ext cx="8193024" cy="182880"/>
          </a:xfrm>
          <a:prstGeom prst="rect">
            <a:avLst/>
          </a:prstGeom>
          <a:noFill/>
          <a:ln/>
        </p:spPr>
        <p:txBody>
          <a:bodyPr wrap="square" lIns="0" tIns="0" rIns="0" bIns="0" rtlCol="0" anchor="ctr"/>
          <a:lstStyle/>
          <a:p>
            <a:pPr marL="0" indent="0">
              <a:buNone/>
            </a:pPr>
            <a:r>
              <a:rPr lang="en-US" sz="950" dirty="0">
                <a:solidFill>
                  <a:srgbClr val="A8D8EA"/>
                </a:solidFill>
                <a:latin typeface="Consolas" pitchFamily="34" charset="0"/>
                <a:ea typeface="Consolas" pitchFamily="34" charset="-122"/>
                <a:cs typeface="Consolas" pitchFamily="34" charset="-120"/>
              </a:rPr>
              <a:t>libs = {"NumPy": np.__version__, "Pandas": pd.__version__,</a:t>
            </a:r>
            <a:endParaRPr lang="en-US" sz="950" dirty="0"/>
          </a:p>
        </p:txBody>
      </p:sp>
      <p:sp>
        <p:nvSpPr>
          <p:cNvPr id="17" name="Text 15"/>
          <p:cNvSpPr/>
          <p:nvPr/>
        </p:nvSpPr>
        <p:spPr>
          <a:xfrm>
            <a:off x="475488" y="2606040"/>
            <a:ext cx="8193024" cy="182880"/>
          </a:xfrm>
          <a:prstGeom prst="rect">
            <a:avLst/>
          </a:prstGeom>
          <a:noFill/>
          <a:ln/>
        </p:spPr>
        <p:txBody>
          <a:bodyPr wrap="square" lIns="0" tIns="0" rIns="0" bIns="0" rtlCol="0" anchor="ctr"/>
          <a:lstStyle/>
          <a:p>
            <a:pPr marL="0" indent="0">
              <a:buNone/>
            </a:pPr>
            <a:r>
              <a:rPr lang="en-US" sz="950" dirty="0">
                <a:solidFill>
                  <a:srgbClr val="A8D8EA"/>
                </a:solidFill>
                <a:latin typeface="Consolas" pitchFamily="34" charset="0"/>
                <a:ea typeface="Consolas" pitchFamily="34" charset="-122"/>
                <a:cs typeface="Consolas" pitchFamily="34" charset="-120"/>
              </a:rPr>
              <a:t>        "Matplotlib": plt.matplotlib.__version__,</a:t>
            </a:r>
            <a:endParaRPr lang="en-US" sz="950" dirty="0"/>
          </a:p>
        </p:txBody>
      </p:sp>
      <p:sp>
        <p:nvSpPr>
          <p:cNvPr id="18" name="Text 16"/>
          <p:cNvSpPr/>
          <p:nvPr/>
        </p:nvSpPr>
        <p:spPr>
          <a:xfrm>
            <a:off x="475488" y="2779776"/>
            <a:ext cx="8193024" cy="182880"/>
          </a:xfrm>
          <a:prstGeom prst="rect">
            <a:avLst/>
          </a:prstGeom>
          <a:noFill/>
          <a:ln/>
        </p:spPr>
        <p:txBody>
          <a:bodyPr wrap="square" lIns="0" tIns="0" rIns="0" bIns="0" rtlCol="0" anchor="ctr"/>
          <a:lstStyle/>
          <a:p>
            <a:pPr marL="0" indent="0">
              <a:buNone/>
            </a:pPr>
            <a:r>
              <a:rPr lang="en-US" sz="950" dirty="0">
                <a:solidFill>
                  <a:srgbClr val="A8D8EA"/>
                </a:solidFill>
                <a:latin typeface="Consolas" pitchFamily="34" charset="0"/>
                <a:ea typeface="Consolas" pitchFamily="34" charset="-122"/>
                <a:cs typeface="Consolas" pitchFamily="34" charset="-120"/>
              </a:rPr>
              <a:t>        "Seaborn": sns.__version__, "Scikit-learn": sklearn.__version__}</a:t>
            </a:r>
            <a:endParaRPr lang="en-US" sz="950" dirty="0"/>
          </a:p>
        </p:txBody>
      </p:sp>
      <p:sp>
        <p:nvSpPr>
          <p:cNvPr id="19" name="Text 17"/>
          <p:cNvSpPr/>
          <p:nvPr/>
        </p:nvSpPr>
        <p:spPr>
          <a:xfrm>
            <a:off x="475488" y="2953512"/>
            <a:ext cx="8193024" cy="182880"/>
          </a:xfrm>
          <a:prstGeom prst="rect">
            <a:avLst/>
          </a:prstGeom>
          <a:noFill/>
          <a:ln/>
        </p:spPr>
        <p:txBody>
          <a:bodyPr wrap="square" lIns="0" tIns="0" rIns="0" bIns="0" rtlCol="0" anchor="ctr"/>
          <a:lstStyle/>
          <a:p>
            <a:pPr marL="0" indent="0">
              <a:buNone/>
            </a:pPr>
            <a:endParaRPr lang="en-US" sz="950" dirty="0"/>
          </a:p>
        </p:txBody>
      </p:sp>
      <p:sp>
        <p:nvSpPr>
          <p:cNvPr id="20" name="Text 18"/>
          <p:cNvSpPr/>
          <p:nvPr/>
        </p:nvSpPr>
        <p:spPr>
          <a:xfrm>
            <a:off x="475488" y="3127248"/>
            <a:ext cx="8193024" cy="182880"/>
          </a:xfrm>
          <a:prstGeom prst="rect">
            <a:avLst/>
          </a:prstGeom>
          <a:noFill/>
          <a:ln/>
        </p:spPr>
        <p:txBody>
          <a:bodyPr wrap="square" lIns="0" tIns="0" rIns="0" bIns="0" rtlCol="0" anchor="ctr"/>
          <a:lstStyle/>
          <a:p>
            <a:pPr marL="0" indent="0">
              <a:buNone/>
            </a:pPr>
            <a:r>
              <a:rPr lang="en-US" sz="950" dirty="0">
                <a:solidFill>
                  <a:srgbClr val="A8D8EA"/>
                </a:solidFill>
                <a:latin typeface="Consolas" pitchFamily="34" charset="0"/>
                <a:ea typeface="Consolas" pitchFamily="34" charset="-122"/>
                <a:cs typeface="Consolas" pitchFamily="34" charset="-120"/>
              </a:rPr>
              <a:t>for nombre, version in libs.items():</a:t>
            </a:r>
            <a:endParaRPr lang="en-US" sz="950" dirty="0"/>
          </a:p>
        </p:txBody>
      </p:sp>
      <p:sp>
        <p:nvSpPr>
          <p:cNvPr id="21" name="Text 19"/>
          <p:cNvSpPr/>
          <p:nvPr/>
        </p:nvSpPr>
        <p:spPr>
          <a:xfrm>
            <a:off x="475488" y="3300984"/>
            <a:ext cx="8193024" cy="182880"/>
          </a:xfrm>
          <a:prstGeom prst="rect">
            <a:avLst/>
          </a:prstGeom>
          <a:noFill/>
          <a:ln/>
        </p:spPr>
        <p:txBody>
          <a:bodyPr wrap="square" lIns="0" tIns="0" rIns="0" bIns="0" rtlCol="0" anchor="ctr"/>
          <a:lstStyle/>
          <a:p>
            <a:pPr marL="0" indent="0">
              <a:buNone/>
            </a:pPr>
            <a:r>
              <a:rPr lang="en-US" sz="950" dirty="0">
                <a:solidFill>
                  <a:srgbClr val="A8D8EA"/>
                </a:solidFill>
                <a:latin typeface="Consolas" pitchFamily="34" charset="0"/>
                <a:ea typeface="Consolas" pitchFamily="34" charset="-122"/>
                <a:cs typeface="Consolas" pitchFamily="34" charset="-120"/>
              </a:rPr>
              <a:t>    print(f"  ✓  {nombre:15}  v{version}")</a:t>
            </a:r>
            <a:endParaRPr lang="en-US" sz="950" dirty="0"/>
          </a:p>
        </p:txBody>
      </p:sp>
      <p:sp>
        <p:nvSpPr>
          <p:cNvPr id="22" name="Shape 20"/>
          <p:cNvSpPr/>
          <p:nvPr/>
        </p:nvSpPr>
        <p:spPr>
          <a:xfrm>
            <a:off x="347472" y="3694176"/>
            <a:ext cx="8449056" cy="292608"/>
          </a:xfrm>
          <a:prstGeom prst="rect">
            <a:avLst/>
          </a:prstGeom>
          <a:solidFill>
            <a:srgbClr val="0A1628"/>
          </a:solidFill>
          <a:ln w="12700">
            <a:solidFill>
              <a:srgbClr val="0A1628"/>
            </a:solidFill>
            <a:prstDash val="solid"/>
          </a:ln>
        </p:spPr>
        <p:txBody>
          <a:bodyPr/>
          <a:lstStyle/>
          <a:p>
            <a:endParaRPr lang="es-MX"/>
          </a:p>
        </p:txBody>
      </p:sp>
      <p:sp>
        <p:nvSpPr>
          <p:cNvPr id="23" name="Text 21"/>
          <p:cNvSpPr/>
          <p:nvPr/>
        </p:nvSpPr>
        <p:spPr>
          <a:xfrm>
            <a:off x="457200" y="3694176"/>
            <a:ext cx="914400" cy="292608"/>
          </a:xfrm>
          <a:prstGeom prst="rect">
            <a:avLst/>
          </a:prstGeom>
          <a:noFill/>
          <a:ln/>
        </p:spPr>
        <p:txBody>
          <a:bodyPr wrap="square" lIns="0" tIns="0" rIns="0" bIns="0" rtlCol="0" anchor="ctr"/>
          <a:lstStyle/>
          <a:p>
            <a:pPr marL="0" indent="0">
              <a:buNone/>
            </a:pPr>
            <a:r>
              <a:rPr lang="en-US" sz="900" dirty="0">
                <a:solidFill>
                  <a:srgbClr val="8FA3B1"/>
                </a:solidFill>
              </a:rPr>
              <a:t>Out [1]:</a:t>
            </a:r>
            <a:endParaRPr lang="en-US" sz="900" dirty="0"/>
          </a:p>
        </p:txBody>
      </p:sp>
      <p:sp>
        <p:nvSpPr>
          <p:cNvPr id="24" name="Shape 22"/>
          <p:cNvSpPr/>
          <p:nvPr/>
        </p:nvSpPr>
        <p:spPr>
          <a:xfrm>
            <a:off x="347472" y="3986784"/>
            <a:ext cx="8449056" cy="749808"/>
          </a:xfrm>
          <a:prstGeom prst="rect">
            <a:avLst/>
          </a:prstGeom>
          <a:solidFill>
            <a:srgbClr val="071020"/>
          </a:solidFill>
          <a:ln w="12700">
            <a:solidFill>
              <a:srgbClr val="0D7A8A"/>
            </a:solidFill>
            <a:prstDash val="solid"/>
          </a:ln>
        </p:spPr>
        <p:txBody>
          <a:bodyPr/>
          <a:lstStyle/>
          <a:p>
            <a:endParaRPr lang="es-MX"/>
          </a:p>
        </p:txBody>
      </p:sp>
      <p:sp>
        <p:nvSpPr>
          <p:cNvPr id="25" name="Text 23"/>
          <p:cNvSpPr/>
          <p:nvPr/>
        </p:nvSpPr>
        <p:spPr>
          <a:xfrm>
            <a:off x="493776" y="4023360"/>
            <a:ext cx="8193024" cy="146304"/>
          </a:xfrm>
          <a:prstGeom prst="rect">
            <a:avLst/>
          </a:prstGeom>
          <a:noFill/>
          <a:ln/>
        </p:spPr>
        <p:txBody>
          <a:bodyPr wrap="square" lIns="0" tIns="0" rIns="0" bIns="0" rtlCol="0" anchor="ctr"/>
          <a:lstStyle/>
          <a:p>
            <a:pPr marL="0" indent="0">
              <a:buNone/>
            </a:pPr>
            <a:r>
              <a:rPr lang="en-US" sz="900" dirty="0">
                <a:solidFill>
                  <a:srgbClr val="F0F4F8"/>
                </a:solidFill>
                <a:latin typeface="Consolas" pitchFamily="34" charset="0"/>
                <a:ea typeface="Consolas" pitchFamily="34" charset="-122"/>
                <a:cs typeface="Consolas" pitchFamily="34" charset="-120"/>
              </a:rPr>
              <a:t>  ✓  NumPy            v1.26.4</a:t>
            </a:r>
            <a:endParaRPr lang="en-US" sz="900" dirty="0"/>
          </a:p>
        </p:txBody>
      </p:sp>
      <p:sp>
        <p:nvSpPr>
          <p:cNvPr id="26" name="Text 24"/>
          <p:cNvSpPr/>
          <p:nvPr/>
        </p:nvSpPr>
        <p:spPr>
          <a:xfrm>
            <a:off x="493776" y="4160520"/>
            <a:ext cx="8193024" cy="146304"/>
          </a:xfrm>
          <a:prstGeom prst="rect">
            <a:avLst/>
          </a:prstGeom>
          <a:noFill/>
          <a:ln/>
        </p:spPr>
        <p:txBody>
          <a:bodyPr wrap="square" lIns="0" tIns="0" rIns="0" bIns="0" rtlCol="0" anchor="ctr"/>
          <a:lstStyle/>
          <a:p>
            <a:pPr marL="0" indent="0">
              <a:buNone/>
            </a:pPr>
            <a:r>
              <a:rPr lang="en-US" sz="900" dirty="0">
                <a:solidFill>
                  <a:srgbClr val="F0F4F8"/>
                </a:solidFill>
                <a:latin typeface="Consolas" pitchFamily="34" charset="0"/>
                <a:ea typeface="Consolas" pitchFamily="34" charset="-122"/>
                <a:cs typeface="Consolas" pitchFamily="34" charset="-120"/>
              </a:rPr>
              <a:t>  ✓  Pandas           v2.2.1</a:t>
            </a:r>
            <a:endParaRPr lang="en-US" sz="900" dirty="0"/>
          </a:p>
        </p:txBody>
      </p:sp>
      <p:sp>
        <p:nvSpPr>
          <p:cNvPr id="27" name="Text 25"/>
          <p:cNvSpPr/>
          <p:nvPr/>
        </p:nvSpPr>
        <p:spPr>
          <a:xfrm>
            <a:off x="493776" y="4297680"/>
            <a:ext cx="8193024" cy="146304"/>
          </a:xfrm>
          <a:prstGeom prst="rect">
            <a:avLst/>
          </a:prstGeom>
          <a:noFill/>
          <a:ln/>
        </p:spPr>
        <p:txBody>
          <a:bodyPr wrap="square" lIns="0" tIns="0" rIns="0" bIns="0" rtlCol="0" anchor="ctr"/>
          <a:lstStyle/>
          <a:p>
            <a:pPr marL="0" indent="0">
              <a:buNone/>
            </a:pPr>
            <a:r>
              <a:rPr lang="en-US" sz="900" dirty="0">
                <a:solidFill>
                  <a:srgbClr val="F0F4F8"/>
                </a:solidFill>
                <a:latin typeface="Consolas" pitchFamily="34" charset="0"/>
                <a:ea typeface="Consolas" pitchFamily="34" charset="-122"/>
                <a:cs typeface="Consolas" pitchFamily="34" charset="-120"/>
              </a:rPr>
              <a:t>  ✓  Matplotlib       v3.8.3</a:t>
            </a:r>
            <a:endParaRPr lang="en-US" sz="900" dirty="0"/>
          </a:p>
        </p:txBody>
      </p:sp>
      <p:sp>
        <p:nvSpPr>
          <p:cNvPr id="28" name="Text 26"/>
          <p:cNvSpPr/>
          <p:nvPr/>
        </p:nvSpPr>
        <p:spPr>
          <a:xfrm>
            <a:off x="493776" y="4434840"/>
            <a:ext cx="8193024" cy="146304"/>
          </a:xfrm>
          <a:prstGeom prst="rect">
            <a:avLst/>
          </a:prstGeom>
          <a:noFill/>
          <a:ln/>
        </p:spPr>
        <p:txBody>
          <a:bodyPr wrap="square" lIns="0" tIns="0" rIns="0" bIns="0" rtlCol="0" anchor="ctr"/>
          <a:lstStyle/>
          <a:p>
            <a:pPr marL="0" indent="0">
              <a:buNone/>
            </a:pPr>
            <a:r>
              <a:rPr lang="en-US" sz="900" dirty="0">
                <a:solidFill>
                  <a:srgbClr val="F0F4F8"/>
                </a:solidFill>
                <a:latin typeface="Consolas" pitchFamily="34" charset="0"/>
                <a:ea typeface="Consolas" pitchFamily="34" charset="-122"/>
                <a:cs typeface="Consolas" pitchFamily="34" charset="-120"/>
              </a:rPr>
              <a:t>  ✓  Seaborn          v0.13.2</a:t>
            </a:r>
            <a:endParaRPr lang="en-US" sz="900" dirty="0"/>
          </a:p>
        </p:txBody>
      </p:sp>
      <p:sp>
        <p:nvSpPr>
          <p:cNvPr id="29" name="Text 27"/>
          <p:cNvSpPr/>
          <p:nvPr/>
        </p:nvSpPr>
        <p:spPr>
          <a:xfrm>
            <a:off x="493776" y="4572000"/>
            <a:ext cx="8193024" cy="146304"/>
          </a:xfrm>
          <a:prstGeom prst="rect">
            <a:avLst/>
          </a:prstGeom>
          <a:noFill/>
          <a:ln/>
        </p:spPr>
        <p:txBody>
          <a:bodyPr wrap="square" lIns="0" tIns="0" rIns="0" bIns="0" rtlCol="0" anchor="ctr"/>
          <a:lstStyle/>
          <a:p>
            <a:pPr marL="0" indent="0">
              <a:buNone/>
            </a:pPr>
            <a:r>
              <a:rPr lang="en-US" sz="900" dirty="0">
                <a:solidFill>
                  <a:srgbClr val="F0F4F8"/>
                </a:solidFill>
                <a:latin typeface="Consolas" pitchFamily="34" charset="0"/>
                <a:ea typeface="Consolas" pitchFamily="34" charset="-122"/>
                <a:cs typeface="Consolas" pitchFamily="34" charset="-120"/>
              </a:rPr>
              <a:t>  ✓  Scikit-learn     v1.4.1</a:t>
            </a:r>
            <a:endParaRPr lang="en-US" sz="900" dirty="0"/>
          </a:p>
        </p:txBody>
      </p:sp>
      <p:sp>
        <p:nvSpPr>
          <p:cNvPr id="30" name="Shape 28"/>
          <p:cNvSpPr/>
          <p:nvPr/>
        </p:nvSpPr>
        <p:spPr>
          <a:xfrm>
            <a:off x="347472" y="4800600"/>
            <a:ext cx="8449056" cy="475488"/>
          </a:xfrm>
          <a:prstGeom prst="rect">
            <a:avLst/>
          </a:prstGeom>
          <a:solidFill>
            <a:srgbClr val="C0392B">
              <a:alpha val="12000"/>
            </a:srgbClr>
          </a:solidFill>
          <a:ln w="12700">
            <a:solidFill>
              <a:srgbClr val="C0392B"/>
            </a:solidFill>
            <a:prstDash val="solid"/>
          </a:ln>
        </p:spPr>
        <p:txBody>
          <a:bodyPr/>
          <a:lstStyle/>
          <a:p>
            <a:endParaRPr lang="es-MX"/>
          </a:p>
        </p:txBody>
      </p:sp>
      <p:pic>
        <p:nvPicPr>
          <p:cNvPr id="31" name="Image 0" descr="preencoded.png"/>
          <p:cNvPicPr>
            <a:picLocks noChangeAspect="1"/>
          </p:cNvPicPr>
          <p:nvPr/>
        </p:nvPicPr>
        <p:blipFill>
          <a:blip r:embed="rId3"/>
          <a:stretch>
            <a:fillRect/>
          </a:stretch>
        </p:blipFill>
        <p:spPr>
          <a:xfrm>
            <a:off x="457200" y="4892040"/>
            <a:ext cx="219456" cy="219456"/>
          </a:xfrm>
          <a:prstGeom prst="rect">
            <a:avLst/>
          </a:prstGeom>
        </p:spPr>
      </p:pic>
      <p:sp>
        <p:nvSpPr>
          <p:cNvPr id="32" name="Text 29"/>
          <p:cNvSpPr/>
          <p:nvPr/>
        </p:nvSpPr>
        <p:spPr>
          <a:xfrm>
            <a:off x="749808" y="4828032"/>
            <a:ext cx="7955280" cy="420624"/>
          </a:xfrm>
          <a:prstGeom prst="rect">
            <a:avLst/>
          </a:prstGeom>
          <a:noFill/>
          <a:ln/>
        </p:spPr>
        <p:txBody>
          <a:bodyPr wrap="square" lIns="0" tIns="0" rIns="0" bIns="0" rtlCol="0" anchor="ctr"/>
          <a:lstStyle/>
          <a:p>
            <a:pPr marL="0" indent="0">
              <a:buNone/>
            </a:pPr>
            <a:r>
              <a:rPr lang="en-US" sz="1000" dirty="0">
                <a:solidFill>
                  <a:srgbClr val="374151"/>
                </a:solidFill>
              </a:rPr>
              <a:t>Si algún import falla con 'ModuleNotFoundError', ejecuta en terminal: pip install nombre_biblioteca  (ej: pip install seaborn)</a:t>
            </a:r>
            <a:endParaRPr lang="en-US" sz="1000" dirty="0"/>
          </a:p>
        </p:txBody>
      </p:sp>
      <p:sp>
        <p:nvSpPr>
          <p:cNvPr id="33" name="Shape 30"/>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34" name="Text 31"/>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Módulo 1 · Introducción a Python · Sesión 1  —  15 abril 2026</a:t>
            </a:r>
            <a:endParaRPr lang="en-US" sz="850" dirty="0"/>
          </a:p>
        </p:txBody>
      </p:sp>
      <p:sp>
        <p:nvSpPr>
          <p:cNvPr id="35" name="Text 32"/>
          <p:cNvSpPr/>
          <p:nvPr/>
        </p:nvSpPr>
        <p:spPr>
          <a:xfrm>
            <a:off x="274320" y="4892040"/>
            <a:ext cx="5486400" cy="251460"/>
          </a:xfrm>
          <a:prstGeom prst="rect">
            <a:avLst/>
          </a:prstGeom>
          <a:noFill/>
          <a:ln/>
        </p:spPr>
        <p:txBody>
          <a:bodyPr wrap="square" lIns="0" tIns="0" rIns="0" bIns="0" rtlCol="0" anchor="ctr"/>
          <a:lstStyle/>
          <a:p>
            <a:pPr marL="0" indent="0" algn="l">
              <a:buNone/>
            </a:pPr>
            <a:r>
              <a:rPr lang="en-US" sz="850" dirty="0">
                <a:solidFill>
                  <a:srgbClr val="A8D8EA"/>
                </a:solidFill>
              </a:rPr>
              <a:t>PASO 4 · Verificar Bibliotecas</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Text 1"/>
          <p:cNvSpPr/>
          <p:nvPr/>
        </p:nvSpPr>
        <p:spPr>
          <a:xfrm>
            <a:off x="457200" y="182880"/>
            <a:ext cx="8229600" cy="475488"/>
          </a:xfrm>
          <a:prstGeom prst="rect">
            <a:avLst/>
          </a:prstGeom>
          <a:noFill/>
          <a:ln/>
        </p:spPr>
        <p:txBody>
          <a:bodyPr wrap="square" lIns="0" tIns="0" rIns="0" bIns="0" rtlCol="0" anchor="ctr"/>
          <a:lstStyle/>
          <a:p>
            <a:pPr marL="0" indent="0" algn="l">
              <a:buNone/>
            </a:pPr>
            <a:r>
              <a:rPr lang="en-US" sz="2800" b="1" dirty="0">
                <a:solidFill>
                  <a:srgbClr val="FFFFFF"/>
                </a:solidFill>
              </a:rPr>
              <a:t>Entornos Virtuales</a:t>
            </a:r>
            <a:endParaRPr lang="en-US" sz="2800" dirty="0"/>
          </a:p>
        </p:txBody>
      </p:sp>
      <p:sp>
        <p:nvSpPr>
          <p:cNvPr id="4" name="Text 2"/>
          <p:cNvSpPr/>
          <p:nvPr/>
        </p:nvSpPr>
        <p:spPr>
          <a:xfrm>
            <a:off x="457200" y="685800"/>
            <a:ext cx="8229600" cy="256032"/>
          </a:xfrm>
          <a:prstGeom prst="rect">
            <a:avLst/>
          </a:prstGeom>
          <a:noFill/>
          <a:ln/>
        </p:spPr>
        <p:txBody>
          <a:bodyPr wrap="square" lIns="0" tIns="0" rIns="0" bIns="0" rtlCol="0" anchor="ctr"/>
          <a:lstStyle/>
          <a:p>
            <a:pPr marL="0" indent="0" algn="l">
              <a:buNone/>
            </a:pPr>
            <a:r>
              <a:rPr lang="en-US" sz="1200" dirty="0">
                <a:solidFill>
                  <a:srgbClr val="A8D8EA"/>
                </a:solidFill>
              </a:rPr>
              <a:t>¿Por qué existen y cuándo los usaremos?</a:t>
            </a:r>
            <a:endParaRPr lang="en-US" sz="1200" dirty="0"/>
          </a:p>
        </p:txBody>
      </p:sp>
      <p:sp>
        <p:nvSpPr>
          <p:cNvPr id="5" name="Shape 3"/>
          <p:cNvSpPr/>
          <p:nvPr/>
        </p:nvSpPr>
        <p:spPr>
          <a:xfrm>
            <a:off x="347472" y="987552"/>
            <a:ext cx="8449056" cy="1024128"/>
          </a:xfrm>
          <a:prstGeom prst="rect">
            <a:avLst/>
          </a:prstGeom>
          <a:solidFill>
            <a:srgbClr val="1A5276"/>
          </a:solidFill>
          <a:ln w="12700">
            <a:solidFill>
              <a:srgbClr val="1A5276"/>
            </a:solidFill>
            <a:prstDash val="solid"/>
          </a:ln>
          <a:effectLst>
            <a:outerShdw blurRad="101600" dist="38100" dir="8100000" algn="bl" rotWithShape="0">
              <a:srgbClr val="000000">
                <a:alpha val="10000"/>
              </a:srgbClr>
            </a:outerShdw>
          </a:effectLst>
        </p:spPr>
        <p:txBody>
          <a:bodyPr/>
          <a:lstStyle/>
          <a:p>
            <a:endParaRPr lang="es-MX"/>
          </a:p>
        </p:txBody>
      </p:sp>
      <p:sp>
        <p:nvSpPr>
          <p:cNvPr id="6" name="Text 4"/>
          <p:cNvSpPr/>
          <p:nvPr/>
        </p:nvSpPr>
        <p:spPr>
          <a:xfrm>
            <a:off x="493776" y="1051560"/>
            <a:ext cx="8229600" cy="868680"/>
          </a:xfrm>
          <a:prstGeom prst="rect">
            <a:avLst/>
          </a:prstGeom>
          <a:noFill/>
          <a:ln/>
        </p:spPr>
        <p:txBody>
          <a:bodyPr wrap="square" lIns="0" tIns="0" rIns="0" bIns="0" rtlCol="0" anchor="ctr"/>
          <a:lstStyle/>
          <a:p>
            <a:pPr marL="0" indent="0">
              <a:buNone/>
            </a:pPr>
            <a:r>
              <a:rPr lang="en-US" sz="1100" dirty="0">
                <a:solidFill>
                  <a:srgbClr val="F0F4F8"/>
                </a:solidFill>
              </a:rPr>
              <a:t>Un entorno virtual es un directorio aislado que contiene su propia versión de Python y sus propias bibliotecas. Es como tener varias 'instalaciones de Python' independientes en tu computadora. Cada proyecto puede tener sus propias versiones de bibliotecas sin que interfieran entre sí.</a:t>
            </a:r>
            <a:endParaRPr lang="en-US" sz="1100" dirty="0"/>
          </a:p>
        </p:txBody>
      </p:sp>
      <p:sp>
        <p:nvSpPr>
          <p:cNvPr id="7" name="Text 5"/>
          <p:cNvSpPr/>
          <p:nvPr/>
        </p:nvSpPr>
        <p:spPr>
          <a:xfrm>
            <a:off x="347472" y="2103120"/>
            <a:ext cx="8229600" cy="256032"/>
          </a:xfrm>
          <a:prstGeom prst="rect">
            <a:avLst/>
          </a:prstGeom>
          <a:noFill/>
          <a:ln/>
        </p:spPr>
        <p:txBody>
          <a:bodyPr wrap="square" lIns="0" tIns="0" rIns="0" bIns="0" rtlCol="0" anchor="ctr"/>
          <a:lstStyle/>
          <a:p>
            <a:pPr marL="0" indent="0">
              <a:buNone/>
            </a:pPr>
            <a:r>
              <a:rPr lang="en-US" sz="1100" b="1" dirty="0">
                <a:solidFill>
                  <a:srgbClr val="A8D8EA"/>
                </a:solidFill>
              </a:rPr>
              <a:t>Analogía:</a:t>
            </a:r>
            <a:endParaRPr lang="en-US" sz="1100" dirty="0"/>
          </a:p>
        </p:txBody>
      </p:sp>
      <p:sp>
        <p:nvSpPr>
          <p:cNvPr id="8" name="Text 6"/>
          <p:cNvSpPr/>
          <p:nvPr/>
        </p:nvSpPr>
        <p:spPr>
          <a:xfrm>
            <a:off x="347472" y="2377440"/>
            <a:ext cx="8449056" cy="512064"/>
          </a:xfrm>
          <a:prstGeom prst="rect">
            <a:avLst/>
          </a:prstGeom>
          <a:noFill/>
          <a:ln/>
        </p:spPr>
        <p:txBody>
          <a:bodyPr wrap="square" lIns="0" tIns="0" rIns="0" bIns="0" rtlCol="0" anchor="ctr"/>
          <a:lstStyle/>
          <a:p>
            <a:pPr marL="0" indent="0">
              <a:buNone/>
            </a:pPr>
            <a:r>
              <a:rPr lang="en-US" sz="1050" dirty="0">
                <a:solidFill>
                  <a:srgbClr val="8FA3B1"/>
                </a:solidFill>
              </a:rPr>
              <a:t>Imagina que eres actuario en dos compañías distintas. Una usa pandas 1.5, la otra pandas 2.2. Sin entornos virtuales, instalar la versión nueva rompería la antigua. Los entornos virtuales son como tener dos computadoras separadas para cada compañía.</a:t>
            </a:r>
            <a:endParaRPr lang="en-US" sz="1050" dirty="0"/>
          </a:p>
        </p:txBody>
      </p:sp>
      <p:sp>
        <p:nvSpPr>
          <p:cNvPr id="9" name="Shape 7"/>
          <p:cNvSpPr/>
          <p:nvPr/>
        </p:nvSpPr>
        <p:spPr>
          <a:xfrm>
            <a:off x="347472" y="2999232"/>
            <a:ext cx="4206240" cy="347472"/>
          </a:xfrm>
          <a:prstGeom prst="rect">
            <a:avLst/>
          </a:prstGeom>
          <a:solidFill>
            <a:srgbClr val="0D7A8A"/>
          </a:solidFill>
          <a:ln w="12700">
            <a:solidFill>
              <a:srgbClr val="0D7A8A"/>
            </a:solidFill>
            <a:prstDash val="solid"/>
          </a:ln>
        </p:spPr>
        <p:txBody>
          <a:bodyPr/>
          <a:lstStyle/>
          <a:p>
            <a:endParaRPr lang="es-MX"/>
          </a:p>
        </p:txBody>
      </p:sp>
      <p:sp>
        <p:nvSpPr>
          <p:cNvPr id="10" name="Text 8"/>
          <p:cNvSpPr/>
          <p:nvPr/>
        </p:nvSpPr>
        <p:spPr>
          <a:xfrm>
            <a:off x="438912" y="2999232"/>
            <a:ext cx="4023360" cy="347472"/>
          </a:xfrm>
          <a:prstGeom prst="rect">
            <a:avLst/>
          </a:prstGeom>
          <a:noFill/>
          <a:ln/>
        </p:spPr>
        <p:txBody>
          <a:bodyPr wrap="square" lIns="0" tIns="0" rIns="0" bIns="0" rtlCol="0" anchor="ctr"/>
          <a:lstStyle/>
          <a:p>
            <a:pPr marL="0" indent="0">
              <a:buNone/>
            </a:pPr>
            <a:r>
              <a:rPr lang="en-US" sz="1200" b="1" dirty="0">
                <a:solidFill>
                  <a:srgbClr val="FFFFFF"/>
                </a:solidFill>
              </a:rPr>
              <a:t>conda env  (recomendado)</a:t>
            </a:r>
            <a:endParaRPr lang="en-US" sz="1200" dirty="0"/>
          </a:p>
        </p:txBody>
      </p:sp>
      <p:sp>
        <p:nvSpPr>
          <p:cNvPr id="11" name="Shape 9"/>
          <p:cNvSpPr/>
          <p:nvPr/>
        </p:nvSpPr>
        <p:spPr>
          <a:xfrm>
            <a:off x="347472" y="3346704"/>
            <a:ext cx="4206240" cy="1444752"/>
          </a:xfrm>
          <a:prstGeom prst="rect">
            <a:avLst/>
          </a:prstGeom>
          <a:solidFill>
            <a:srgbClr val="071228"/>
          </a:solidFill>
          <a:ln w="12700">
            <a:solidFill>
              <a:srgbClr val="0D7A8A"/>
            </a:solidFill>
            <a:prstDash val="solid"/>
          </a:ln>
        </p:spPr>
        <p:txBody>
          <a:bodyPr/>
          <a:lstStyle/>
          <a:p>
            <a:endParaRPr lang="es-MX"/>
          </a:p>
        </p:txBody>
      </p:sp>
      <p:sp>
        <p:nvSpPr>
          <p:cNvPr id="12" name="Text 10"/>
          <p:cNvSpPr/>
          <p:nvPr/>
        </p:nvSpPr>
        <p:spPr>
          <a:xfrm>
            <a:off x="438912" y="3401568"/>
            <a:ext cx="4023360" cy="128016"/>
          </a:xfrm>
          <a:prstGeom prst="rect">
            <a:avLst/>
          </a:prstGeom>
          <a:noFill/>
          <a:ln/>
        </p:spPr>
        <p:txBody>
          <a:bodyPr wrap="square" lIns="0" tIns="0" rIns="0" bIns="0" rtlCol="0" anchor="ctr"/>
          <a:lstStyle/>
          <a:p>
            <a:pPr marL="0" indent="0">
              <a:buNone/>
            </a:pPr>
            <a:r>
              <a:rPr lang="en-US" sz="900" dirty="0">
                <a:solidFill>
                  <a:srgbClr val="8FA3B1"/>
                </a:solidFill>
                <a:latin typeface="Consolas" pitchFamily="34" charset="0"/>
                <a:ea typeface="Consolas" pitchFamily="34" charset="-122"/>
                <a:cs typeface="Consolas" pitchFamily="34" charset="-120"/>
              </a:rPr>
              <a:t># Crear entorno</a:t>
            </a:r>
            <a:endParaRPr lang="en-US" sz="900" dirty="0"/>
          </a:p>
        </p:txBody>
      </p:sp>
      <p:sp>
        <p:nvSpPr>
          <p:cNvPr id="13" name="Text 11"/>
          <p:cNvSpPr/>
          <p:nvPr/>
        </p:nvSpPr>
        <p:spPr>
          <a:xfrm>
            <a:off x="438912" y="3529584"/>
            <a:ext cx="4023360" cy="128016"/>
          </a:xfrm>
          <a:prstGeom prst="rect">
            <a:avLst/>
          </a:prstGeom>
          <a:noFill/>
          <a:ln/>
        </p:spPr>
        <p:txBody>
          <a:bodyPr wrap="square" lIns="0" tIns="0" rIns="0" bIns="0" rtlCol="0" anchor="ctr"/>
          <a:lstStyle/>
          <a:p>
            <a:pPr marL="0" indent="0">
              <a:buNone/>
            </a:pPr>
            <a:r>
              <a:rPr lang="en-US" sz="900" dirty="0">
                <a:solidFill>
                  <a:srgbClr val="A8D8EA"/>
                </a:solidFill>
                <a:latin typeface="Consolas" pitchFamily="34" charset="0"/>
                <a:ea typeface="Consolas" pitchFamily="34" charset="-122"/>
                <a:cs typeface="Consolas" pitchFamily="34" charset="-120"/>
              </a:rPr>
              <a:t>conda create -n diplomado python=3.11</a:t>
            </a:r>
            <a:endParaRPr lang="en-US" sz="900" dirty="0"/>
          </a:p>
        </p:txBody>
      </p:sp>
      <p:sp>
        <p:nvSpPr>
          <p:cNvPr id="14" name="Text 12"/>
          <p:cNvSpPr/>
          <p:nvPr/>
        </p:nvSpPr>
        <p:spPr>
          <a:xfrm>
            <a:off x="438912" y="3657600"/>
            <a:ext cx="4023360" cy="128016"/>
          </a:xfrm>
          <a:prstGeom prst="rect">
            <a:avLst/>
          </a:prstGeom>
          <a:noFill/>
          <a:ln/>
        </p:spPr>
        <p:txBody>
          <a:bodyPr wrap="square" lIns="0" tIns="0" rIns="0" bIns="0" rtlCol="0" anchor="ctr"/>
          <a:lstStyle/>
          <a:p>
            <a:pPr marL="0" indent="0">
              <a:buNone/>
            </a:pPr>
            <a:endParaRPr lang="en-US" sz="900" dirty="0"/>
          </a:p>
        </p:txBody>
      </p:sp>
      <p:sp>
        <p:nvSpPr>
          <p:cNvPr id="15" name="Text 13"/>
          <p:cNvSpPr/>
          <p:nvPr/>
        </p:nvSpPr>
        <p:spPr>
          <a:xfrm>
            <a:off x="438912" y="3785616"/>
            <a:ext cx="4023360" cy="128016"/>
          </a:xfrm>
          <a:prstGeom prst="rect">
            <a:avLst/>
          </a:prstGeom>
          <a:noFill/>
          <a:ln/>
        </p:spPr>
        <p:txBody>
          <a:bodyPr wrap="square" lIns="0" tIns="0" rIns="0" bIns="0" rtlCol="0" anchor="ctr"/>
          <a:lstStyle/>
          <a:p>
            <a:pPr marL="0" indent="0">
              <a:buNone/>
            </a:pPr>
            <a:r>
              <a:rPr lang="en-US" sz="900" dirty="0">
                <a:solidFill>
                  <a:srgbClr val="8FA3B1"/>
                </a:solidFill>
                <a:latin typeface="Consolas" pitchFamily="34" charset="0"/>
                <a:ea typeface="Consolas" pitchFamily="34" charset="-122"/>
                <a:cs typeface="Consolas" pitchFamily="34" charset="-120"/>
              </a:rPr>
              <a:t># Activar</a:t>
            </a:r>
            <a:endParaRPr lang="en-US" sz="900" dirty="0"/>
          </a:p>
        </p:txBody>
      </p:sp>
      <p:sp>
        <p:nvSpPr>
          <p:cNvPr id="16" name="Text 14"/>
          <p:cNvSpPr/>
          <p:nvPr/>
        </p:nvSpPr>
        <p:spPr>
          <a:xfrm>
            <a:off x="438912" y="3913632"/>
            <a:ext cx="4023360" cy="128016"/>
          </a:xfrm>
          <a:prstGeom prst="rect">
            <a:avLst/>
          </a:prstGeom>
          <a:noFill/>
          <a:ln/>
        </p:spPr>
        <p:txBody>
          <a:bodyPr wrap="square" lIns="0" tIns="0" rIns="0" bIns="0" rtlCol="0" anchor="ctr"/>
          <a:lstStyle/>
          <a:p>
            <a:pPr marL="0" indent="0">
              <a:buNone/>
            </a:pPr>
            <a:r>
              <a:rPr lang="en-US" sz="900" dirty="0">
                <a:solidFill>
                  <a:srgbClr val="A8D8EA"/>
                </a:solidFill>
                <a:latin typeface="Consolas" pitchFamily="34" charset="0"/>
                <a:ea typeface="Consolas" pitchFamily="34" charset="-122"/>
                <a:cs typeface="Consolas" pitchFamily="34" charset="-120"/>
              </a:rPr>
              <a:t>conda activate diplomado</a:t>
            </a:r>
            <a:endParaRPr lang="en-US" sz="900" dirty="0"/>
          </a:p>
        </p:txBody>
      </p:sp>
      <p:sp>
        <p:nvSpPr>
          <p:cNvPr id="17" name="Text 15"/>
          <p:cNvSpPr/>
          <p:nvPr/>
        </p:nvSpPr>
        <p:spPr>
          <a:xfrm>
            <a:off x="438912" y="4041648"/>
            <a:ext cx="4023360" cy="128016"/>
          </a:xfrm>
          <a:prstGeom prst="rect">
            <a:avLst/>
          </a:prstGeom>
          <a:noFill/>
          <a:ln/>
        </p:spPr>
        <p:txBody>
          <a:bodyPr wrap="square" lIns="0" tIns="0" rIns="0" bIns="0" rtlCol="0" anchor="ctr"/>
          <a:lstStyle/>
          <a:p>
            <a:pPr marL="0" indent="0">
              <a:buNone/>
            </a:pPr>
            <a:endParaRPr lang="en-US" sz="900" dirty="0"/>
          </a:p>
        </p:txBody>
      </p:sp>
      <p:sp>
        <p:nvSpPr>
          <p:cNvPr id="18" name="Text 16"/>
          <p:cNvSpPr/>
          <p:nvPr/>
        </p:nvSpPr>
        <p:spPr>
          <a:xfrm>
            <a:off x="438912" y="4169664"/>
            <a:ext cx="4023360" cy="128016"/>
          </a:xfrm>
          <a:prstGeom prst="rect">
            <a:avLst/>
          </a:prstGeom>
          <a:noFill/>
          <a:ln/>
        </p:spPr>
        <p:txBody>
          <a:bodyPr wrap="square" lIns="0" tIns="0" rIns="0" bIns="0" rtlCol="0" anchor="ctr"/>
          <a:lstStyle/>
          <a:p>
            <a:pPr marL="0" indent="0">
              <a:buNone/>
            </a:pPr>
            <a:r>
              <a:rPr lang="en-US" sz="900" dirty="0">
                <a:solidFill>
                  <a:srgbClr val="8FA3B1"/>
                </a:solidFill>
                <a:latin typeface="Consolas" pitchFamily="34" charset="0"/>
                <a:ea typeface="Consolas" pitchFamily="34" charset="-122"/>
                <a:cs typeface="Consolas" pitchFamily="34" charset="-120"/>
              </a:rPr>
              <a:t># Instalar paquetes</a:t>
            </a:r>
            <a:endParaRPr lang="en-US" sz="900" dirty="0"/>
          </a:p>
        </p:txBody>
      </p:sp>
      <p:sp>
        <p:nvSpPr>
          <p:cNvPr id="19" name="Text 17"/>
          <p:cNvSpPr/>
          <p:nvPr/>
        </p:nvSpPr>
        <p:spPr>
          <a:xfrm>
            <a:off x="438912" y="4297680"/>
            <a:ext cx="4023360" cy="128016"/>
          </a:xfrm>
          <a:prstGeom prst="rect">
            <a:avLst/>
          </a:prstGeom>
          <a:noFill/>
          <a:ln/>
        </p:spPr>
        <p:txBody>
          <a:bodyPr wrap="square" lIns="0" tIns="0" rIns="0" bIns="0" rtlCol="0" anchor="ctr"/>
          <a:lstStyle/>
          <a:p>
            <a:pPr marL="0" indent="0">
              <a:buNone/>
            </a:pPr>
            <a:r>
              <a:rPr lang="en-US" sz="900" dirty="0">
                <a:solidFill>
                  <a:srgbClr val="A8D8EA"/>
                </a:solidFill>
                <a:latin typeface="Consolas" pitchFamily="34" charset="0"/>
                <a:ea typeface="Consolas" pitchFamily="34" charset="-122"/>
                <a:cs typeface="Consolas" pitchFamily="34" charset="-120"/>
              </a:rPr>
              <a:t>conda install pandas numpy</a:t>
            </a:r>
            <a:endParaRPr lang="en-US" sz="900" dirty="0"/>
          </a:p>
        </p:txBody>
      </p:sp>
      <p:sp>
        <p:nvSpPr>
          <p:cNvPr id="20" name="Text 18"/>
          <p:cNvSpPr/>
          <p:nvPr/>
        </p:nvSpPr>
        <p:spPr>
          <a:xfrm>
            <a:off x="438912" y="4425696"/>
            <a:ext cx="4023360" cy="128016"/>
          </a:xfrm>
          <a:prstGeom prst="rect">
            <a:avLst/>
          </a:prstGeom>
          <a:noFill/>
          <a:ln/>
        </p:spPr>
        <p:txBody>
          <a:bodyPr wrap="square" lIns="0" tIns="0" rIns="0" bIns="0" rtlCol="0" anchor="ctr"/>
          <a:lstStyle/>
          <a:p>
            <a:pPr marL="0" indent="0">
              <a:buNone/>
            </a:pPr>
            <a:endParaRPr lang="en-US" sz="900" dirty="0"/>
          </a:p>
        </p:txBody>
      </p:sp>
      <p:sp>
        <p:nvSpPr>
          <p:cNvPr id="21" name="Text 19"/>
          <p:cNvSpPr/>
          <p:nvPr/>
        </p:nvSpPr>
        <p:spPr>
          <a:xfrm>
            <a:off x="438912" y="4553712"/>
            <a:ext cx="4023360" cy="128016"/>
          </a:xfrm>
          <a:prstGeom prst="rect">
            <a:avLst/>
          </a:prstGeom>
          <a:noFill/>
          <a:ln/>
        </p:spPr>
        <p:txBody>
          <a:bodyPr wrap="square" lIns="0" tIns="0" rIns="0" bIns="0" rtlCol="0" anchor="ctr"/>
          <a:lstStyle/>
          <a:p>
            <a:pPr marL="0" indent="0">
              <a:buNone/>
            </a:pPr>
            <a:r>
              <a:rPr lang="en-US" sz="900" dirty="0">
                <a:solidFill>
                  <a:srgbClr val="8FA3B1"/>
                </a:solidFill>
                <a:latin typeface="Consolas" pitchFamily="34" charset="0"/>
                <a:ea typeface="Consolas" pitchFamily="34" charset="-122"/>
                <a:cs typeface="Consolas" pitchFamily="34" charset="-120"/>
              </a:rPr>
              <a:t># Desactivar</a:t>
            </a:r>
            <a:endParaRPr lang="en-US" sz="900" dirty="0"/>
          </a:p>
        </p:txBody>
      </p:sp>
      <p:sp>
        <p:nvSpPr>
          <p:cNvPr id="22" name="Text 20"/>
          <p:cNvSpPr/>
          <p:nvPr/>
        </p:nvSpPr>
        <p:spPr>
          <a:xfrm>
            <a:off x="438912" y="4681728"/>
            <a:ext cx="4023360" cy="128016"/>
          </a:xfrm>
          <a:prstGeom prst="rect">
            <a:avLst/>
          </a:prstGeom>
          <a:noFill/>
          <a:ln/>
        </p:spPr>
        <p:txBody>
          <a:bodyPr wrap="square" lIns="0" tIns="0" rIns="0" bIns="0" rtlCol="0" anchor="ctr"/>
          <a:lstStyle/>
          <a:p>
            <a:pPr marL="0" indent="0">
              <a:buNone/>
            </a:pPr>
            <a:r>
              <a:rPr lang="en-US" sz="900" dirty="0">
                <a:solidFill>
                  <a:srgbClr val="A8D8EA"/>
                </a:solidFill>
                <a:latin typeface="Consolas" pitchFamily="34" charset="0"/>
                <a:ea typeface="Consolas" pitchFamily="34" charset="-122"/>
                <a:cs typeface="Consolas" pitchFamily="34" charset="-120"/>
              </a:rPr>
              <a:t>conda deactivate</a:t>
            </a:r>
            <a:endParaRPr lang="en-US" sz="900" dirty="0"/>
          </a:p>
        </p:txBody>
      </p:sp>
      <p:sp>
        <p:nvSpPr>
          <p:cNvPr id="23" name="Shape 21"/>
          <p:cNvSpPr/>
          <p:nvPr/>
        </p:nvSpPr>
        <p:spPr>
          <a:xfrm>
            <a:off x="4809744" y="2999232"/>
            <a:ext cx="4206240" cy="347472"/>
          </a:xfrm>
          <a:prstGeom prst="rect">
            <a:avLst/>
          </a:prstGeom>
          <a:solidFill>
            <a:srgbClr val="1A5276"/>
          </a:solidFill>
          <a:ln w="12700">
            <a:solidFill>
              <a:srgbClr val="1A5276"/>
            </a:solidFill>
            <a:prstDash val="solid"/>
          </a:ln>
        </p:spPr>
        <p:txBody>
          <a:bodyPr/>
          <a:lstStyle/>
          <a:p>
            <a:endParaRPr lang="es-MX"/>
          </a:p>
        </p:txBody>
      </p:sp>
      <p:sp>
        <p:nvSpPr>
          <p:cNvPr id="24" name="Text 22"/>
          <p:cNvSpPr/>
          <p:nvPr/>
        </p:nvSpPr>
        <p:spPr>
          <a:xfrm>
            <a:off x="4901184" y="2999232"/>
            <a:ext cx="4023360" cy="347472"/>
          </a:xfrm>
          <a:prstGeom prst="rect">
            <a:avLst/>
          </a:prstGeom>
          <a:noFill/>
          <a:ln/>
        </p:spPr>
        <p:txBody>
          <a:bodyPr wrap="square" lIns="0" tIns="0" rIns="0" bIns="0" rtlCol="0" anchor="ctr"/>
          <a:lstStyle/>
          <a:p>
            <a:pPr marL="0" indent="0">
              <a:buNone/>
            </a:pPr>
            <a:r>
              <a:rPr lang="en-US" sz="1200" b="1" dirty="0">
                <a:solidFill>
                  <a:srgbClr val="FFFFFF"/>
                </a:solidFill>
              </a:rPr>
              <a:t>venv  (Python puro)</a:t>
            </a:r>
            <a:endParaRPr lang="en-US" sz="1200" dirty="0"/>
          </a:p>
        </p:txBody>
      </p:sp>
      <p:sp>
        <p:nvSpPr>
          <p:cNvPr id="25" name="Shape 23"/>
          <p:cNvSpPr/>
          <p:nvPr/>
        </p:nvSpPr>
        <p:spPr>
          <a:xfrm>
            <a:off x="4809744" y="3346704"/>
            <a:ext cx="4206240" cy="1444752"/>
          </a:xfrm>
          <a:prstGeom prst="rect">
            <a:avLst/>
          </a:prstGeom>
          <a:solidFill>
            <a:srgbClr val="071228"/>
          </a:solidFill>
          <a:ln w="12700">
            <a:solidFill>
              <a:srgbClr val="0D7A8A"/>
            </a:solidFill>
            <a:prstDash val="solid"/>
          </a:ln>
        </p:spPr>
        <p:txBody>
          <a:bodyPr/>
          <a:lstStyle/>
          <a:p>
            <a:endParaRPr lang="es-MX"/>
          </a:p>
        </p:txBody>
      </p:sp>
      <p:sp>
        <p:nvSpPr>
          <p:cNvPr id="26" name="Text 24"/>
          <p:cNvSpPr/>
          <p:nvPr/>
        </p:nvSpPr>
        <p:spPr>
          <a:xfrm>
            <a:off x="4901184" y="3401568"/>
            <a:ext cx="4023360" cy="128016"/>
          </a:xfrm>
          <a:prstGeom prst="rect">
            <a:avLst/>
          </a:prstGeom>
          <a:noFill/>
          <a:ln/>
        </p:spPr>
        <p:txBody>
          <a:bodyPr wrap="square" lIns="0" tIns="0" rIns="0" bIns="0" rtlCol="0" anchor="ctr"/>
          <a:lstStyle/>
          <a:p>
            <a:pPr marL="0" indent="0">
              <a:buNone/>
            </a:pPr>
            <a:r>
              <a:rPr lang="en-US" sz="900" dirty="0">
                <a:solidFill>
                  <a:srgbClr val="8FA3B1"/>
                </a:solidFill>
                <a:latin typeface="Consolas" pitchFamily="34" charset="0"/>
                <a:ea typeface="Consolas" pitchFamily="34" charset="-122"/>
                <a:cs typeface="Consolas" pitchFamily="34" charset="-120"/>
              </a:rPr>
              <a:t># Crear entorno</a:t>
            </a:r>
            <a:endParaRPr lang="en-US" sz="900" dirty="0"/>
          </a:p>
        </p:txBody>
      </p:sp>
      <p:sp>
        <p:nvSpPr>
          <p:cNvPr id="27" name="Text 25"/>
          <p:cNvSpPr/>
          <p:nvPr/>
        </p:nvSpPr>
        <p:spPr>
          <a:xfrm>
            <a:off x="4901184" y="3529584"/>
            <a:ext cx="4023360" cy="128016"/>
          </a:xfrm>
          <a:prstGeom prst="rect">
            <a:avLst/>
          </a:prstGeom>
          <a:noFill/>
          <a:ln/>
        </p:spPr>
        <p:txBody>
          <a:bodyPr wrap="square" lIns="0" tIns="0" rIns="0" bIns="0" rtlCol="0" anchor="ctr"/>
          <a:lstStyle/>
          <a:p>
            <a:pPr marL="0" indent="0">
              <a:buNone/>
            </a:pPr>
            <a:r>
              <a:rPr lang="en-US" sz="900" dirty="0">
                <a:solidFill>
                  <a:srgbClr val="A8D8EA"/>
                </a:solidFill>
                <a:latin typeface="Consolas" pitchFamily="34" charset="0"/>
                <a:ea typeface="Consolas" pitchFamily="34" charset="-122"/>
                <a:cs typeface="Consolas" pitchFamily="34" charset="-120"/>
              </a:rPr>
              <a:t>python -m venv mi_entorno</a:t>
            </a:r>
            <a:endParaRPr lang="en-US" sz="900" dirty="0"/>
          </a:p>
        </p:txBody>
      </p:sp>
      <p:sp>
        <p:nvSpPr>
          <p:cNvPr id="28" name="Text 26"/>
          <p:cNvSpPr/>
          <p:nvPr/>
        </p:nvSpPr>
        <p:spPr>
          <a:xfrm>
            <a:off x="4901184" y="3657600"/>
            <a:ext cx="4023360" cy="128016"/>
          </a:xfrm>
          <a:prstGeom prst="rect">
            <a:avLst/>
          </a:prstGeom>
          <a:noFill/>
          <a:ln/>
        </p:spPr>
        <p:txBody>
          <a:bodyPr wrap="square" lIns="0" tIns="0" rIns="0" bIns="0" rtlCol="0" anchor="ctr"/>
          <a:lstStyle/>
          <a:p>
            <a:pPr marL="0" indent="0">
              <a:buNone/>
            </a:pPr>
            <a:endParaRPr lang="en-US" sz="900" dirty="0"/>
          </a:p>
        </p:txBody>
      </p:sp>
      <p:sp>
        <p:nvSpPr>
          <p:cNvPr id="29" name="Text 27"/>
          <p:cNvSpPr/>
          <p:nvPr/>
        </p:nvSpPr>
        <p:spPr>
          <a:xfrm>
            <a:off x="4901184" y="3785616"/>
            <a:ext cx="4023360" cy="128016"/>
          </a:xfrm>
          <a:prstGeom prst="rect">
            <a:avLst/>
          </a:prstGeom>
          <a:noFill/>
          <a:ln/>
        </p:spPr>
        <p:txBody>
          <a:bodyPr wrap="square" lIns="0" tIns="0" rIns="0" bIns="0" rtlCol="0" anchor="ctr"/>
          <a:lstStyle/>
          <a:p>
            <a:pPr marL="0" indent="0">
              <a:buNone/>
            </a:pPr>
            <a:r>
              <a:rPr lang="en-US" sz="900" dirty="0">
                <a:solidFill>
                  <a:srgbClr val="8FA3B1"/>
                </a:solidFill>
                <a:latin typeface="Consolas" pitchFamily="34" charset="0"/>
                <a:ea typeface="Consolas" pitchFamily="34" charset="-122"/>
                <a:cs typeface="Consolas" pitchFamily="34" charset="-120"/>
              </a:rPr>
              <a:t># Activar (Windows)</a:t>
            </a:r>
            <a:endParaRPr lang="en-US" sz="900" dirty="0"/>
          </a:p>
        </p:txBody>
      </p:sp>
      <p:sp>
        <p:nvSpPr>
          <p:cNvPr id="30" name="Text 28"/>
          <p:cNvSpPr/>
          <p:nvPr/>
        </p:nvSpPr>
        <p:spPr>
          <a:xfrm>
            <a:off x="4901184" y="3913632"/>
            <a:ext cx="4023360" cy="128016"/>
          </a:xfrm>
          <a:prstGeom prst="rect">
            <a:avLst/>
          </a:prstGeom>
          <a:noFill/>
          <a:ln/>
        </p:spPr>
        <p:txBody>
          <a:bodyPr wrap="square" lIns="0" tIns="0" rIns="0" bIns="0" rtlCol="0" anchor="ctr"/>
          <a:lstStyle/>
          <a:p>
            <a:pPr marL="0" indent="0">
              <a:buNone/>
            </a:pPr>
            <a:r>
              <a:rPr lang="en-US" sz="900" dirty="0">
                <a:solidFill>
                  <a:srgbClr val="A8D8EA"/>
                </a:solidFill>
                <a:latin typeface="Consolas" pitchFamily="34" charset="0"/>
                <a:ea typeface="Consolas" pitchFamily="34" charset="-122"/>
                <a:cs typeface="Consolas" pitchFamily="34" charset="-120"/>
              </a:rPr>
              <a:t>mi_entorno\Scripts\activate</a:t>
            </a:r>
            <a:endParaRPr lang="en-US" sz="900" dirty="0"/>
          </a:p>
        </p:txBody>
      </p:sp>
      <p:sp>
        <p:nvSpPr>
          <p:cNvPr id="31" name="Text 29"/>
          <p:cNvSpPr/>
          <p:nvPr/>
        </p:nvSpPr>
        <p:spPr>
          <a:xfrm>
            <a:off x="4901184" y="4041648"/>
            <a:ext cx="4023360" cy="128016"/>
          </a:xfrm>
          <a:prstGeom prst="rect">
            <a:avLst/>
          </a:prstGeom>
          <a:noFill/>
          <a:ln/>
        </p:spPr>
        <p:txBody>
          <a:bodyPr wrap="square" lIns="0" tIns="0" rIns="0" bIns="0" rtlCol="0" anchor="ctr"/>
          <a:lstStyle/>
          <a:p>
            <a:pPr marL="0" indent="0">
              <a:buNone/>
            </a:pPr>
            <a:endParaRPr lang="en-US" sz="900" dirty="0"/>
          </a:p>
        </p:txBody>
      </p:sp>
      <p:sp>
        <p:nvSpPr>
          <p:cNvPr id="32" name="Text 30"/>
          <p:cNvSpPr/>
          <p:nvPr/>
        </p:nvSpPr>
        <p:spPr>
          <a:xfrm>
            <a:off x="4901184" y="4169664"/>
            <a:ext cx="4023360" cy="128016"/>
          </a:xfrm>
          <a:prstGeom prst="rect">
            <a:avLst/>
          </a:prstGeom>
          <a:noFill/>
          <a:ln/>
        </p:spPr>
        <p:txBody>
          <a:bodyPr wrap="square" lIns="0" tIns="0" rIns="0" bIns="0" rtlCol="0" anchor="ctr"/>
          <a:lstStyle/>
          <a:p>
            <a:pPr marL="0" indent="0">
              <a:buNone/>
            </a:pPr>
            <a:r>
              <a:rPr lang="en-US" sz="900" dirty="0">
                <a:solidFill>
                  <a:srgbClr val="8FA3B1"/>
                </a:solidFill>
                <a:latin typeface="Consolas" pitchFamily="34" charset="0"/>
                <a:ea typeface="Consolas" pitchFamily="34" charset="-122"/>
                <a:cs typeface="Consolas" pitchFamily="34" charset="-120"/>
              </a:rPr>
              <a:t># Activar (Mac/Linux)</a:t>
            </a:r>
            <a:endParaRPr lang="en-US" sz="900" dirty="0"/>
          </a:p>
        </p:txBody>
      </p:sp>
      <p:sp>
        <p:nvSpPr>
          <p:cNvPr id="33" name="Text 31"/>
          <p:cNvSpPr/>
          <p:nvPr/>
        </p:nvSpPr>
        <p:spPr>
          <a:xfrm>
            <a:off x="4901184" y="4297680"/>
            <a:ext cx="4023360" cy="128016"/>
          </a:xfrm>
          <a:prstGeom prst="rect">
            <a:avLst/>
          </a:prstGeom>
          <a:noFill/>
          <a:ln/>
        </p:spPr>
        <p:txBody>
          <a:bodyPr wrap="square" lIns="0" tIns="0" rIns="0" bIns="0" rtlCol="0" anchor="ctr"/>
          <a:lstStyle/>
          <a:p>
            <a:pPr marL="0" indent="0">
              <a:buNone/>
            </a:pPr>
            <a:r>
              <a:rPr lang="en-US" sz="900" dirty="0">
                <a:solidFill>
                  <a:srgbClr val="A8D8EA"/>
                </a:solidFill>
                <a:latin typeface="Consolas" pitchFamily="34" charset="0"/>
                <a:ea typeface="Consolas" pitchFamily="34" charset="-122"/>
                <a:cs typeface="Consolas" pitchFamily="34" charset="-120"/>
              </a:rPr>
              <a:t>source mi_entorno/bin/activate</a:t>
            </a:r>
            <a:endParaRPr lang="en-US" sz="900" dirty="0"/>
          </a:p>
        </p:txBody>
      </p:sp>
      <p:sp>
        <p:nvSpPr>
          <p:cNvPr id="34" name="Text 32"/>
          <p:cNvSpPr/>
          <p:nvPr/>
        </p:nvSpPr>
        <p:spPr>
          <a:xfrm>
            <a:off x="4901184" y="4425696"/>
            <a:ext cx="4023360" cy="128016"/>
          </a:xfrm>
          <a:prstGeom prst="rect">
            <a:avLst/>
          </a:prstGeom>
          <a:noFill/>
          <a:ln/>
        </p:spPr>
        <p:txBody>
          <a:bodyPr wrap="square" lIns="0" tIns="0" rIns="0" bIns="0" rtlCol="0" anchor="ctr"/>
          <a:lstStyle/>
          <a:p>
            <a:pPr marL="0" indent="0">
              <a:buNone/>
            </a:pPr>
            <a:endParaRPr lang="en-US" sz="900" dirty="0"/>
          </a:p>
        </p:txBody>
      </p:sp>
      <p:sp>
        <p:nvSpPr>
          <p:cNvPr id="35" name="Text 33"/>
          <p:cNvSpPr/>
          <p:nvPr/>
        </p:nvSpPr>
        <p:spPr>
          <a:xfrm>
            <a:off x="4901184" y="4553712"/>
            <a:ext cx="4023360" cy="128016"/>
          </a:xfrm>
          <a:prstGeom prst="rect">
            <a:avLst/>
          </a:prstGeom>
          <a:noFill/>
          <a:ln/>
        </p:spPr>
        <p:txBody>
          <a:bodyPr wrap="square" lIns="0" tIns="0" rIns="0" bIns="0" rtlCol="0" anchor="ctr"/>
          <a:lstStyle/>
          <a:p>
            <a:pPr marL="0" indent="0">
              <a:buNone/>
            </a:pPr>
            <a:r>
              <a:rPr lang="en-US" sz="900" dirty="0">
                <a:solidFill>
                  <a:srgbClr val="8FA3B1"/>
                </a:solidFill>
                <a:latin typeface="Consolas" pitchFamily="34" charset="0"/>
                <a:ea typeface="Consolas" pitchFamily="34" charset="-122"/>
                <a:cs typeface="Consolas" pitchFamily="34" charset="-120"/>
              </a:rPr>
              <a:t># Instalar paquetes</a:t>
            </a:r>
            <a:endParaRPr lang="en-US" sz="900" dirty="0"/>
          </a:p>
        </p:txBody>
      </p:sp>
      <p:sp>
        <p:nvSpPr>
          <p:cNvPr id="36" name="Text 34"/>
          <p:cNvSpPr/>
          <p:nvPr/>
        </p:nvSpPr>
        <p:spPr>
          <a:xfrm>
            <a:off x="4901184" y="4681728"/>
            <a:ext cx="4023360" cy="128016"/>
          </a:xfrm>
          <a:prstGeom prst="rect">
            <a:avLst/>
          </a:prstGeom>
          <a:noFill/>
          <a:ln/>
        </p:spPr>
        <p:txBody>
          <a:bodyPr wrap="square" lIns="0" tIns="0" rIns="0" bIns="0" rtlCol="0" anchor="ctr"/>
          <a:lstStyle/>
          <a:p>
            <a:pPr marL="0" indent="0">
              <a:buNone/>
            </a:pPr>
            <a:r>
              <a:rPr lang="en-US" sz="900" dirty="0">
                <a:solidFill>
                  <a:srgbClr val="A8D8EA"/>
                </a:solidFill>
                <a:latin typeface="Consolas" pitchFamily="34" charset="0"/>
                <a:ea typeface="Consolas" pitchFamily="34" charset="-122"/>
                <a:cs typeface="Consolas" pitchFamily="34" charset="-120"/>
              </a:rPr>
              <a:t>pip install pandas numpy</a:t>
            </a:r>
            <a:endParaRPr lang="en-US" sz="900" dirty="0"/>
          </a:p>
        </p:txBody>
      </p:sp>
      <p:sp>
        <p:nvSpPr>
          <p:cNvPr id="37" name="Shape 35"/>
          <p:cNvSpPr/>
          <p:nvPr/>
        </p:nvSpPr>
        <p:spPr>
          <a:xfrm>
            <a:off x="347472" y="4846320"/>
            <a:ext cx="8449056" cy="384048"/>
          </a:xfrm>
          <a:prstGeom prst="rect">
            <a:avLst/>
          </a:prstGeom>
          <a:solidFill>
            <a:srgbClr val="F4A261">
              <a:alpha val="12000"/>
            </a:srgbClr>
          </a:solidFill>
          <a:ln w="12700">
            <a:solidFill>
              <a:srgbClr val="F4A261"/>
            </a:solidFill>
            <a:prstDash val="solid"/>
          </a:ln>
        </p:spPr>
        <p:txBody>
          <a:bodyPr/>
          <a:lstStyle/>
          <a:p>
            <a:endParaRPr lang="es-MX"/>
          </a:p>
        </p:txBody>
      </p:sp>
      <p:sp>
        <p:nvSpPr>
          <p:cNvPr id="38" name="Text 36"/>
          <p:cNvSpPr/>
          <p:nvPr/>
        </p:nvSpPr>
        <p:spPr>
          <a:xfrm>
            <a:off x="548640" y="4873752"/>
            <a:ext cx="8138160" cy="329184"/>
          </a:xfrm>
          <a:prstGeom prst="rect">
            <a:avLst/>
          </a:prstGeom>
          <a:noFill/>
          <a:ln/>
        </p:spPr>
        <p:txBody>
          <a:bodyPr wrap="square" lIns="0" tIns="0" rIns="0" bIns="0" rtlCol="0" anchor="ctr"/>
          <a:lstStyle/>
          <a:p>
            <a:pPr marL="0" indent="0">
              <a:buNone/>
            </a:pPr>
            <a:r>
              <a:rPr lang="en-US" sz="1000" dirty="0">
                <a:solidFill>
                  <a:srgbClr val="374151"/>
                </a:solidFill>
              </a:rPr>
              <a:t>Para este diplomado usaremos conda. Ya viene instalado con Anaconda y es más sencillo para manejar dependencias científicas.</a:t>
            </a:r>
            <a:endParaRPr lang="en-US" sz="1000" dirty="0"/>
          </a:p>
        </p:txBody>
      </p:sp>
      <p:sp>
        <p:nvSpPr>
          <p:cNvPr id="39" name="Shape 37"/>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40" name="Text 38"/>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Módulo 1 · Introducción a Python · Sesión 1  —  15 abril 2026</a:t>
            </a:r>
            <a:endParaRPr lang="en-US" sz="850" dirty="0"/>
          </a:p>
        </p:txBody>
      </p:sp>
      <p:sp>
        <p:nvSpPr>
          <p:cNvPr id="41" name="Text 39"/>
          <p:cNvSpPr/>
          <p:nvPr/>
        </p:nvSpPr>
        <p:spPr>
          <a:xfrm>
            <a:off x="274320" y="4892040"/>
            <a:ext cx="5486400" cy="251460"/>
          </a:xfrm>
          <a:prstGeom prst="rect">
            <a:avLst/>
          </a:prstGeom>
          <a:noFill/>
          <a:ln/>
        </p:spPr>
        <p:txBody>
          <a:bodyPr wrap="square" lIns="0" tIns="0" rIns="0" bIns="0" rtlCol="0" anchor="ctr"/>
          <a:lstStyle/>
          <a:p>
            <a:pPr marL="0" indent="0" algn="l">
              <a:buNone/>
            </a:pPr>
            <a:r>
              <a:rPr lang="en-US" sz="850" dirty="0">
                <a:solidFill>
                  <a:srgbClr val="A8D8EA"/>
                </a:solidFill>
              </a:rPr>
              <a:t>Entornos Virtuales</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Shape 1"/>
          <p:cNvSpPr/>
          <p:nvPr/>
        </p:nvSpPr>
        <p:spPr>
          <a:xfrm>
            <a:off x="594360" y="512064"/>
            <a:ext cx="2011680" cy="256032"/>
          </a:xfrm>
          <a:prstGeom prst="rect">
            <a:avLst/>
          </a:prstGeom>
          <a:solidFill>
            <a:srgbClr val="6C3483"/>
          </a:solidFill>
          <a:ln w="12700">
            <a:solidFill>
              <a:srgbClr val="6C3483"/>
            </a:solidFill>
            <a:prstDash val="solid"/>
          </a:ln>
        </p:spPr>
        <p:txBody>
          <a:bodyPr/>
          <a:lstStyle/>
          <a:p>
            <a:endParaRPr lang="es-MX"/>
          </a:p>
        </p:txBody>
      </p:sp>
      <p:sp>
        <p:nvSpPr>
          <p:cNvPr id="4" name="Text 2"/>
          <p:cNvSpPr/>
          <p:nvPr/>
        </p:nvSpPr>
        <p:spPr>
          <a:xfrm>
            <a:off x="365760" y="566928"/>
            <a:ext cx="2011680" cy="256032"/>
          </a:xfrm>
          <a:prstGeom prst="rect">
            <a:avLst/>
          </a:prstGeom>
          <a:noFill/>
          <a:ln/>
        </p:spPr>
        <p:txBody>
          <a:bodyPr wrap="square" lIns="0" tIns="0" rIns="0" bIns="0" rtlCol="0" anchor="ctr"/>
          <a:lstStyle/>
          <a:p>
            <a:pPr marL="0" indent="0" algn="ctr">
              <a:buNone/>
            </a:pPr>
            <a:r>
              <a:rPr lang="en-US" sz="850" b="1" kern="0" spc="200" dirty="0">
                <a:solidFill>
                  <a:srgbClr val="FFFFFF"/>
                </a:solidFill>
              </a:rPr>
              <a:t>PASO 5 DE 5</a:t>
            </a:r>
            <a:endParaRPr lang="en-US" sz="850" dirty="0"/>
          </a:p>
        </p:txBody>
      </p:sp>
      <p:sp>
        <p:nvSpPr>
          <p:cNvPr id="5" name="Text 3"/>
          <p:cNvSpPr/>
          <p:nvPr/>
        </p:nvSpPr>
        <p:spPr>
          <a:xfrm>
            <a:off x="274320" y="89233"/>
            <a:ext cx="8229600" cy="475488"/>
          </a:xfrm>
          <a:prstGeom prst="rect">
            <a:avLst/>
          </a:prstGeom>
          <a:noFill/>
          <a:ln/>
        </p:spPr>
        <p:txBody>
          <a:bodyPr wrap="square" lIns="0" tIns="0" rIns="0" bIns="0" rtlCol="0" anchor="ctr"/>
          <a:lstStyle/>
          <a:p>
            <a:pPr marL="0" indent="0" algn="l">
              <a:buNone/>
            </a:pPr>
            <a:r>
              <a:rPr lang="en-US" sz="2800" b="1" dirty="0">
                <a:solidFill>
                  <a:srgbClr val="0D1B3E"/>
                </a:solidFill>
              </a:rPr>
              <a:t>GitHub y Control de Versiones</a:t>
            </a:r>
            <a:endParaRPr lang="en-US" sz="2800" dirty="0"/>
          </a:p>
        </p:txBody>
      </p:sp>
      <p:sp>
        <p:nvSpPr>
          <p:cNvPr id="6" name="Text 4"/>
          <p:cNvSpPr/>
          <p:nvPr/>
        </p:nvSpPr>
        <p:spPr>
          <a:xfrm>
            <a:off x="420624" y="800100"/>
            <a:ext cx="8229600" cy="256032"/>
          </a:xfrm>
          <a:prstGeom prst="rect">
            <a:avLst/>
          </a:prstGeom>
          <a:noFill/>
          <a:ln/>
        </p:spPr>
        <p:txBody>
          <a:bodyPr wrap="square" lIns="0" tIns="0" rIns="0" bIns="0" rtlCol="0" anchor="ctr"/>
          <a:lstStyle/>
          <a:p>
            <a:pPr marL="0" indent="0" algn="l">
              <a:buNone/>
            </a:pPr>
            <a:r>
              <a:rPr lang="en-US" sz="1200" dirty="0">
                <a:solidFill>
                  <a:srgbClr val="0D7A8A"/>
                </a:solidFill>
              </a:rPr>
              <a:t>¿Por qué los programadores nunca trabajan sin esto?</a:t>
            </a:r>
            <a:endParaRPr lang="en-US" sz="1200" dirty="0"/>
          </a:p>
        </p:txBody>
      </p:sp>
      <p:sp>
        <p:nvSpPr>
          <p:cNvPr id="7" name="Shape 5"/>
          <p:cNvSpPr/>
          <p:nvPr/>
        </p:nvSpPr>
        <p:spPr>
          <a:xfrm>
            <a:off x="347472" y="1005840"/>
            <a:ext cx="8449056" cy="877824"/>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8" name="Text 6"/>
          <p:cNvSpPr/>
          <p:nvPr/>
        </p:nvSpPr>
        <p:spPr>
          <a:xfrm>
            <a:off x="493776" y="1078992"/>
            <a:ext cx="8229600" cy="731520"/>
          </a:xfrm>
          <a:prstGeom prst="rect">
            <a:avLst/>
          </a:prstGeom>
          <a:noFill/>
          <a:ln/>
        </p:spPr>
        <p:txBody>
          <a:bodyPr wrap="square" lIns="0" tIns="0" rIns="0" bIns="0" rtlCol="0" anchor="ctr"/>
          <a:lstStyle/>
          <a:p>
            <a:pPr marL="0" indent="0">
              <a:buNone/>
            </a:pPr>
            <a:r>
              <a:rPr lang="en-US" sz="1100" dirty="0">
                <a:solidFill>
                  <a:srgbClr val="374151"/>
                </a:solidFill>
              </a:rPr>
              <a:t>Git es un sistema de control de versiones: registra cada cambio que haces en tu código, con una descripción de qué cambiaste y por qué. GitHub es un servicio en la nube que almacena tus repositorios Git y facilita la colaboración. Es el 'Google Drive del código', pero mucho más poderoso.</a:t>
            </a:r>
            <a:endParaRPr lang="en-US" sz="1100" dirty="0"/>
          </a:p>
        </p:txBody>
      </p:sp>
      <p:sp>
        <p:nvSpPr>
          <p:cNvPr id="9" name="Shape 7"/>
          <p:cNvSpPr/>
          <p:nvPr/>
        </p:nvSpPr>
        <p:spPr>
          <a:xfrm>
            <a:off x="347472" y="2029968"/>
            <a:ext cx="2011680" cy="2450592"/>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10" name="Shape 8"/>
          <p:cNvSpPr/>
          <p:nvPr/>
        </p:nvSpPr>
        <p:spPr>
          <a:xfrm>
            <a:off x="347472" y="2029968"/>
            <a:ext cx="2011680" cy="438912"/>
          </a:xfrm>
          <a:prstGeom prst="rect">
            <a:avLst/>
          </a:prstGeom>
          <a:solidFill>
            <a:srgbClr val="6C3483"/>
          </a:solidFill>
          <a:ln w="12700">
            <a:solidFill>
              <a:srgbClr val="6C3483"/>
            </a:solidFill>
            <a:prstDash val="solid"/>
          </a:ln>
        </p:spPr>
        <p:txBody>
          <a:bodyPr/>
          <a:lstStyle/>
          <a:p>
            <a:endParaRPr lang="es-MX"/>
          </a:p>
        </p:txBody>
      </p:sp>
      <p:pic>
        <p:nvPicPr>
          <p:cNvPr id="11" name="Image 0" descr="preencoded.png"/>
          <p:cNvPicPr>
            <a:picLocks noChangeAspect="1"/>
          </p:cNvPicPr>
          <p:nvPr/>
        </p:nvPicPr>
        <p:blipFill>
          <a:blip r:embed="rId3"/>
          <a:stretch>
            <a:fillRect/>
          </a:stretch>
        </p:blipFill>
        <p:spPr>
          <a:xfrm>
            <a:off x="1133856" y="2084832"/>
            <a:ext cx="329184" cy="329184"/>
          </a:xfrm>
          <a:prstGeom prst="rect">
            <a:avLst/>
          </a:prstGeom>
        </p:spPr>
      </p:pic>
      <p:sp>
        <p:nvSpPr>
          <p:cNvPr id="12" name="Text 9"/>
          <p:cNvSpPr/>
          <p:nvPr/>
        </p:nvSpPr>
        <p:spPr>
          <a:xfrm>
            <a:off x="420624" y="2523744"/>
            <a:ext cx="1883664" cy="329184"/>
          </a:xfrm>
          <a:prstGeom prst="rect">
            <a:avLst/>
          </a:prstGeom>
          <a:noFill/>
          <a:ln/>
        </p:spPr>
        <p:txBody>
          <a:bodyPr wrap="square" lIns="0" tIns="0" rIns="0" bIns="0" rtlCol="0" anchor="ctr"/>
          <a:lstStyle/>
          <a:p>
            <a:pPr marL="0" indent="0" algn="ctr">
              <a:buNone/>
            </a:pPr>
            <a:r>
              <a:rPr lang="en-US" sz="1100" b="1" dirty="0">
                <a:solidFill>
                  <a:srgbClr val="0D1B3E"/>
                </a:solidFill>
              </a:rPr>
              <a:t>Historial completo</a:t>
            </a:r>
            <a:endParaRPr lang="en-US" sz="1100" dirty="0"/>
          </a:p>
        </p:txBody>
      </p:sp>
      <p:sp>
        <p:nvSpPr>
          <p:cNvPr id="13" name="Text 10"/>
          <p:cNvSpPr/>
          <p:nvPr/>
        </p:nvSpPr>
        <p:spPr>
          <a:xfrm>
            <a:off x="438912" y="2871216"/>
            <a:ext cx="1847088" cy="1554480"/>
          </a:xfrm>
          <a:prstGeom prst="rect">
            <a:avLst/>
          </a:prstGeom>
          <a:noFill/>
          <a:ln/>
        </p:spPr>
        <p:txBody>
          <a:bodyPr wrap="square" lIns="0" tIns="0" rIns="0" bIns="0" rtlCol="0" anchor="ctr"/>
          <a:lstStyle/>
          <a:p>
            <a:pPr marL="0" indent="0">
              <a:buNone/>
            </a:pPr>
            <a:r>
              <a:rPr lang="en-US" sz="950" dirty="0">
                <a:solidFill>
                  <a:srgbClr val="374151"/>
                </a:solidFill>
              </a:rPr>
              <a:t>Puedes ver exactamente qué línea de código cambió, quién la cambió y cuándo. Si algo deja de funcionar, puedes volver al estado anterior con un solo comando.</a:t>
            </a:r>
            <a:endParaRPr lang="en-US" sz="950" dirty="0"/>
          </a:p>
        </p:txBody>
      </p:sp>
      <p:sp>
        <p:nvSpPr>
          <p:cNvPr id="14" name="Shape 11"/>
          <p:cNvSpPr/>
          <p:nvPr/>
        </p:nvSpPr>
        <p:spPr>
          <a:xfrm>
            <a:off x="2523744" y="2029968"/>
            <a:ext cx="2011680" cy="2450592"/>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15" name="Shape 12"/>
          <p:cNvSpPr/>
          <p:nvPr/>
        </p:nvSpPr>
        <p:spPr>
          <a:xfrm>
            <a:off x="2523744" y="2029968"/>
            <a:ext cx="2011680" cy="438912"/>
          </a:xfrm>
          <a:prstGeom prst="rect">
            <a:avLst/>
          </a:prstGeom>
          <a:solidFill>
            <a:srgbClr val="6C3483"/>
          </a:solidFill>
          <a:ln w="12700">
            <a:solidFill>
              <a:srgbClr val="6C3483"/>
            </a:solidFill>
            <a:prstDash val="solid"/>
          </a:ln>
        </p:spPr>
        <p:txBody>
          <a:bodyPr/>
          <a:lstStyle/>
          <a:p>
            <a:endParaRPr lang="es-MX"/>
          </a:p>
        </p:txBody>
      </p:sp>
      <p:pic>
        <p:nvPicPr>
          <p:cNvPr id="16" name="Image 1" descr="preencoded.png"/>
          <p:cNvPicPr>
            <a:picLocks noChangeAspect="1"/>
          </p:cNvPicPr>
          <p:nvPr/>
        </p:nvPicPr>
        <p:blipFill>
          <a:blip r:embed="rId4"/>
          <a:stretch>
            <a:fillRect/>
          </a:stretch>
        </p:blipFill>
        <p:spPr>
          <a:xfrm>
            <a:off x="3310128" y="2084832"/>
            <a:ext cx="329184" cy="329184"/>
          </a:xfrm>
          <a:prstGeom prst="rect">
            <a:avLst/>
          </a:prstGeom>
        </p:spPr>
      </p:pic>
      <p:sp>
        <p:nvSpPr>
          <p:cNvPr id="17" name="Text 13"/>
          <p:cNvSpPr/>
          <p:nvPr/>
        </p:nvSpPr>
        <p:spPr>
          <a:xfrm>
            <a:off x="2596896" y="2523744"/>
            <a:ext cx="1883664" cy="329184"/>
          </a:xfrm>
          <a:prstGeom prst="rect">
            <a:avLst/>
          </a:prstGeom>
          <a:noFill/>
          <a:ln/>
        </p:spPr>
        <p:txBody>
          <a:bodyPr wrap="square" lIns="0" tIns="0" rIns="0" bIns="0" rtlCol="0" anchor="ctr"/>
          <a:lstStyle/>
          <a:p>
            <a:pPr marL="0" indent="0" algn="ctr">
              <a:buNone/>
            </a:pPr>
            <a:r>
              <a:rPr lang="en-US" sz="1100" b="1" dirty="0">
                <a:solidFill>
                  <a:srgbClr val="0D1B3E"/>
                </a:solidFill>
              </a:rPr>
              <a:t>Respaldo en la nube</a:t>
            </a:r>
            <a:endParaRPr lang="en-US" sz="1100" dirty="0"/>
          </a:p>
        </p:txBody>
      </p:sp>
      <p:sp>
        <p:nvSpPr>
          <p:cNvPr id="18" name="Text 14"/>
          <p:cNvSpPr/>
          <p:nvPr/>
        </p:nvSpPr>
        <p:spPr>
          <a:xfrm>
            <a:off x="2615184" y="2871216"/>
            <a:ext cx="1847088" cy="1554480"/>
          </a:xfrm>
          <a:prstGeom prst="rect">
            <a:avLst/>
          </a:prstGeom>
          <a:noFill/>
          <a:ln/>
        </p:spPr>
        <p:txBody>
          <a:bodyPr wrap="square" lIns="0" tIns="0" rIns="0" bIns="0" rtlCol="0" anchor="ctr"/>
          <a:lstStyle/>
          <a:p>
            <a:pPr marL="0" indent="0">
              <a:buNone/>
            </a:pPr>
            <a:r>
              <a:rPr lang="en-US" sz="950" dirty="0">
                <a:solidFill>
                  <a:srgbClr val="374151"/>
                </a:solidFill>
              </a:rPr>
              <a:t>Tu código está en GitHub, no solo en tu computadora. Si se daña tu disco o cambias de equipo, recuperas todo el trabajo en segundos con 'git clone'.</a:t>
            </a:r>
            <a:endParaRPr lang="en-US" sz="950" dirty="0"/>
          </a:p>
        </p:txBody>
      </p:sp>
      <p:sp>
        <p:nvSpPr>
          <p:cNvPr id="19" name="Shape 15"/>
          <p:cNvSpPr/>
          <p:nvPr/>
        </p:nvSpPr>
        <p:spPr>
          <a:xfrm>
            <a:off x="4700016" y="2029968"/>
            <a:ext cx="2011680" cy="2450592"/>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20" name="Shape 16"/>
          <p:cNvSpPr/>
          <p:nvPr/>
        </p:nvSpPr>
        <p:spPr>
          <a:xfrm>
            <a:off x="4700016" y="2029968"/>
            <a:ext cx="2011680" cy="438912"/>
          </a:xfrm>
          <a:prstGeom prst="rect">
            <a:avLst/>
          </a:prstGeom>
          <a:solidFill>
            <a:srgbClr val="6C3483"/>
          </a:solidFill>
          <a:ln w="12700">
            <a:solidFill>
              <a:srgbClr val="6C3483"/>
            </a:solidFill>
            <a:prstDash val="solid"/>
          </a:ln>
        </p:spPr>
        <p:txBody>
          <a:bodyPr/>
          <a:lstStyle/>
          <a:p>
            <a:endParaRPr lang="es-MX"/>
          </a:p>
        </p:txBody>
      </p:sp>
      <p:pic>
        <p:nvPicPr>
          <p:cNvPr id="21" name="Image 2" descr="preencoded.png"/>
          <p:cNvPicPr>
            <a:picLocks noChangeAspect="1"/>
          </p:cNvPicPr>
          <p:nvPr/>
        </p:nvPicPr>
        <p:blipFill>
          <a:blip r:embed="rId5"/>
          <a:stretch>
            <a:fillRect/>
          </a:stretch>
        </p:blipFill>
        <p:spPr>
          <a:xfrm>
            <a:off x="5486400" y="2084832"/>
            <a:ext cx="329184" cy="329184"/>
          </a:xfrm>
          <a:prstGeom prst="rect">
            <a:avLst/>
          </a:prstGeom>
        </p:spPr>
      </p:pic>
      <p:sp>
        <p:nvSpPr>
          <p:cNvPr id="22" name="Text 17"/>
          <p:cNvSpPr/>
          <p:nvPr/>
        </p:nvSpPr>
        <p:spPr>
          <a:xfrm>
            <a:off x="4773168" y="2523744"/>
            <a:ext cx="1883664" cy="329184"/>
          </a:xfrm>
          <a:prstGeom prst="rect">
            <a:avLst/>
          </a:prstGeom>
          <a:noFill/>
          <a:ln/>
        </p:spPr>
        <p:txBody>
          <a:bodyPr wrap="square" lIns="0" tIns="0" rIns="0" bIns="0" rtlCol="0" anchor="ctr"/>
          <a:lstStyle/>
          <a:p>
            <a:pPr marL="0" indent="0" algn="ctr">
              <a:buNone/>
            </a:pPr>
            <a:r>
              <a:rPr lang="en-US" sz="1100" b="1" dirty="0">
                <a:solidFill>
                  <a:srgbClr val="0D1B3E"/>
                </a:solidFill>
              </a:rPr>
              <a:t>Colaboración</a:t>
            </a:r>
            <a:endParaRPr lang="en-US" sz="1100" dirty="0"/>
          </a:p>
        </p:txBody>
      </p:sp>
      <p:sp>
        <p:nvSpPr>
          <p:cNvPr id="23" name="Text 18"/>
          <p:cNvSpPr/>
          <p:nvPr/>
        </p:nvSpPr>
        <p:spPr>
          <a:xfrm>
            <a:off x="4791456" y="2871216"/>
            <a:ext cx="1847088" cy="1554480"/>
          </a:xfrm>
          <a:prstGeom prst="rect">
            <a:avLst/>
          </a:prstGeom>
          <a:noFill/>
          <a:ln/>
        </p:spPr>
        <p:txBody>
          <a:bodyPr wrap="square" lIns="0" tIns="0" rIns="0" bIns="0" rtlCol="0" anchor="ctr"/>
          <a:lstStyle/>
          <a:p>
            <a:pPr marL="0" indent="0">
              <a:buNone/>
            </a:pPr>
            <a:r>
              <a:rPr lang="en-US" sz="950" dirty="0">
                <a:solidFill>
                  <a:srgbClr val="374151"/>
                </a:solidFill>
              </a:rPr>
              <a:t>Eduardo, Karla y tú pueden trabajar en el mismo proyecto sin pisarse. Git maneja automáticamente cómo mezclar los cambios de distintas personas.</a:t>
            </a:r>
            <a:endParaRPr lang="en-US" sz="950" dirty="0"/>
          </a:p>
        </p:txBody>
      </p:sp>
      <p:sp>
        <p:nvSpPr>
          <p:cNvPr id="24" name="Shape 19"/>
          <p:cNvSpPr/>
          <p:nvPr/>
        </p:nvSpPr>
        <p:spPr>
          <a:xfrm>
            <a:off x="6894576" y="2450251"/>
            <a:ext cx="2011680" cy="2450592"/>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25" name="Shape 20"/>
          <p:cNvSpPr/>
          <p:nvPr/>
        </p:nvSpPr>
        <p:spPr>
          <a:xfrm>
            <a:off x="6876288" y="2029968"/>
            <a:ext cx="2011680" cy="438912"/>
          </a:xfrm>
          <a:prstGeom prst="rect">
            <a:avLst/>
          </a:prstGeom>
          <a:solidFill>
            <a:srgbClr val="6C3483"/>
          </a:solidFill>
          <a:ln w="12700">
            <a:solidFill>
              <a:srgbClr val="6C3483"/>
            </a:solidFill>
            <a:prstDash val="solid"/>
          </a:ln>
        </p:spPr>
        <p:txBody>
          <a:bodyPr/>
          <a:lstStyle/>
          <a:p>
            <a:endParaRPr lang="es-MX"/>
          </a:p>
        </p:txBody>
      </p:sp>
      <p:pic>
        <p:nvPicPr>
          <p:cNvPr id="26" name="Image 3" descr="preencoded.png"/>
          <p:cNvPicPr>
            <a:picLocks noChangeAspect="1"/>
          </p:cNvPicPr>
          <p:nvPr/>
        </p:nvPicPr>
        <p:blipFill>
          <a:blip r:embed="rId6"/>
          <a:stretch>
            <a:fillRect/>
          </a:stretch>
        </p:blipFill>
        <p:spPr>
          <a:xfrm>
            <a:off x="7662672" y="2084832"/>
            <a:ext cx="329184" cy="329184"/>
          </a:xfrm>
          <a:prstGeom prst="rect">
            <a:avLst/>
          </a:prstGeom>
        </p:spPr>
      </p:pic>
      <p:sp>
        <p:nvSpPr>
          <p:cNvPr id="27" name="Text 21"/>
          <p:cNvSpPr/>
          <p:nvPr/>
        </p:nvSpPr>
        <p:spPr>
          <a:xfrm>
            <a:off x="6949440" y="2523744"/>
            <a:ext cx="1883664" cy="329184"/>
          </a:xfrm>
          <a:prstGeom prst="rect">
            <a:avLst/>
          </a:prstGeom>
          <a:noFill/>
          <a:ln/>
        </p:spPr>
        <p:txBody>
          <a:bodyPr wrap="square" lIns="0" tIns="0" rIns="0" bIns="0" rtlCol="0" anchor="ctr"/>
          <a:lstStyle/>
          <a:p>
            <a:pPr marL="0" indent="0" algn="ctr">
              <a:buNone/>
            </a:pPr>
            <a:r>
              <a:rPr lang="en-US" sz="1100" b="1" dirty="0">
                <a:solidFill>
                  <a:srgbClr val="0D1B3E"/>
                </a:solidFill>
              </a:rPr>
              <a:t>Entrega de tareas</a:t>
            </a:r>
            <a:endParaRPr lang="en-US" sz="1100" dirty="0"/>
          </a:p>
        </p:txBody>
      </p:sp>
      <p:sp>
        <p:nvSpPr>
          <p:cNvPr id="28" name="Text 22"/>
          <p:cNvSpPr/>
          <p:nvPr/>
        </p:nvSpPr>
        <p:spPr>
          <a:xfrm>
            <a:off x="6967728" y="2871216"/>
            <a:ext cx="1847088" cy="1554480"/>
          </a:xfrm>
          <a:prstGeom prst="rect">
            <a:avLst/>
          </a:prstGeom>
          <a:noFill/>
          <a:ln/>
        </p:spPr>
        <p:txBody>
          <a:bodyPr wrap="square" lIns="0" tIns="0" rIns="0" bIns="0" rtlCol="0" anchor="ctr"/>
          <a:lstStyle/>
          <a:p>
            <a:pPr marL="0" indent="0">
              <a:buNone/>
            </a:pPr>
            <a:r>
              <a:rPr lang="en-US" sz="950" dirty="0">
                <a:solidFill>
                  <a:srgbClr val="374151"/>
                </a:solidFill>
              </a:rPr>
              <a:t>En este diplomado entregarás tus prácticas como repositorios de GitHub. Es la forma estándar en la industria de compartir código y proyectos.</a:t>
            </a:r>
            <a:endParaRPr lang="en-US" sz="950" dirty="0"/>
          </a:p>
        </p:txBody>
      </p:sp>
      <p:sp>
        <p:nvSpPr>
          <p:cNvPr id="29" name="Shape 23"/>
          <p:cNvSpPr/>
          <p:nvPr/>
        </p:nvSpPr>
        <p:spPr>
          <a:xfrm>
            <a:off x="310896" y="4293108"/>
            <a:ext cx="8449056" cy="566928"/>
          </a:xfrm>
          <a:prstGeom prst="rect">
            <a:avLst/>
          </a:prstGeom>
          <a:solidFill>
            <a:srgbClr val="0D7A8A">
              <a:alpha val="12000"/>
            </a:srgbClr>
          </a:solidFill>
          <a:ln w="12700">
            <a:solidFill>
              <a:srgbClr val="0D7A8A"/>
            </a:solidFill>
            <a:prstDash val="solid"/>
          </a:ln>
        </p:spPr>
        <p:txBody>
          <a:bodyPr/>
          <a:lstStyle/>
          <a:p>
            <a:endParaRPr lang="es-MX"/>
          </a:p>
        </p:txBody>
      </p:sp>
      <p:pic>
        <p:nvPicPr>
          <p:cNvPr id="30" name="Image 4" descr="preencoded.png"/>
          <p:cNvPicPr>
            <a:picLocks noChangeAspect="1"/>
          </p:cNvPicPr>
          <p:nvPr/>
        </p:nvPicPr>
        <p:blipFill>
          <a:blip r:embed="rId7"/>
          <a:stretch>
            <a:fillRect/>
          </a:stretch>
        </p:blipFill>
        <p:spPr>
          <a:xfrm>
            <a:off x="457200" y="4681728"/>
            <a:ext cx="274320" cy="274320"/>
          </a:xfrm>
          <a:prstGeom prst="rect">
            <a:avLst/>
          </a:prstGeom>
        </p:spPr>
      </p:pic>
      <p:sp>
        <p:nvSpPr>
          <p:cNvPr id="31" name="Text 24"/>
          <p:cNvSpPr/>
          <p:nvPr/>
        </p:nvSpPr>
        <p:spPr>
          <a:xfrm>
            <a:off x="661942" y="4417498"/>
            <a:ext cx="7863840" cy="493776"/>
          </a:xfrm>
          <a:prstGeom prst="rect">
            <a:avLst/>
          </a:prstGeom>
          <a:noFill/>
          <a:ln/>
        </p:spPr>
        <p:txBody>
          <a:bodyPr wrap="square" lIns="0" tIns="0" rIns="0" bIns="0" rtlCol="0" anchor="ctr"/>
          <a:lstStyle/>
          <a:p>
            <a:pPr marL="0" indent="0">
              <a:buNone/>
            </a:pPr>
            <a:r>
              <a:rPr lang="en-US" sz="1050" b="1" dirty="0">
                <a:solidFill>
                  <a:srgbClr val="0D1B3E"/>
                </a:solidFill>
              </a:rPr>
              <a:t>Acción para hoy: Ve a github.com → 'Sign up' → crea tu cuenta gratuita con tu correo. Guarda tu usuario y contraseña — los necesitarás en los ejercicios del diplomado.</a:t>
            </a:r>
            <a:endParaRPr lang="en-US" sz="1050" dirty="0"/>
          </a:p>
        </p:txBody>
      </p:sp>
      <p:sp>
        <p:nvSpPr>
          <p:cNvPr id="32" name="Shape 25"/>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33" name="Text 26"/>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Módulo 1 · Introducción a Python · Sesión 1  —  15 abril 2026</a:t>
            </a:r>
            <a:endParaRPr lang="en-US" sz="850" dirty="0"/>
          </a:p>
        </p:txBody>
      </p:sp>
      <p:sp>
        <p:nvSpPr>
          <p:cNvPr id="34" name="Text 27"/>
          <p:cNvSpPr/>
          <p:nvPr/>
        </p:nvSpPr>
        <p:spPr>
          <a:xfrm>
            <a:off x="274320" y="4892040"/>
            <a:ext cx="5486400" cy="251460"/>
          </a:xfrm>
          <a:prstGeom prst="rect">
            <a:avLst/>
          </a:prstGeom>
          <a:noFill/>
          <a:ln/>
        </p:spPr>
        <p:txBody>
          <a:bodyPr wrap="square" lIns="0" tIns="0" rIns="0" bIns="0" rtlCol="0" anchor="ctr"/>
          <a:lstStyle/>
          <a:p>
            <a:pPr marL="0" indent="0" algn="l">
              <a:buNone/>
            </a:pPr>
            <a:r>
              <a:rPr lang="en-US" sz="850" dirty="0">
                <a:solidFill>
                  <a:srgbClr val="A8D8EA"/>
                </a:solidFill>
              </a:rPr>
              <a:t>PASO 5 · GitHub</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Shape 1"/>
          <p:cNvSpPr/>
          <p:nvPr/>
        </p:nvSpPr>
        <p:spPr>
          <a:xfrm>
            <a:off x="365760" y="566928"/>
            <a:ext cx="2011680" cy="256032"/>
          </a:xfrm>
          <a:prstGeom prst="rect">
            <a:avLst/>
          </a:prstGeom>
          <a:solidFill>
            <a:srgbClr val="0D7A8A"/>
          </a:solidFill>
          <a:ln w="12700">
            <a:solidFill>
              <a:srgbClr val="0D7A8A"/>
            </a:solidFill>
            <a:prstDash val="solid"/>
          </a:ln>
        </p:spPr>
        <p:txBody>
          <a:bodyPr/>
          <a:lstStyle/>
          <a:p>
            <a:endParaRPr lang="es-MX"/>
          </a:p>
        </p:txBody>
      </p:sp>
      <p:sp>
        <p:nvSpPr>
          <p:cNvPr id="4" name="Text 2"/>
          <p:cNvSpPr/>
          <p:nvPr/>
        </p:nvSpPr>
        <p:spPr>
          <a:xfrm>
            <a:off x="365760" y="566928"/>
            <a:ext cx="2011680" cy="256032"/>
          </a:xfrm>
          <a:prstGeom prst="rect">
            <a:avLst/>
          </a:prstGeom>
          <a:noFill/>
          <a:ln/>
        </p:spPr>
        <p:txBody>
          <a:bodyPr wrap="square" lIns="0" tIns="0" rIns="0" bIns="0" rtlCol="0" anchor="ctr"/>
          <a:lstStyle/>
          <a:p>
            <a:pPr marL="0" indent="0" algn="ctr">
              <a:buNone/>
            </a:pPr>
            <a:r>
              <a:rPr lang="en-US" sz="850" b="1" kern="0" spc="200" dirty="0">
                <a:solidFill>
                  <a:srgbClr val="FFFFFF"/>
                </a:solidFill>
              </a:rPr>
              <a:t>PASO 5 DE 5</a:t>
            </a:r>
            <a:endParaRPr lang="en-US" sz="850" dirty="0"/>
          </a:p>
        </p:txBody>
      </p:sp>
      <p:sp>
        <p:nvSpPr>
          <p:cNvPr id="5" name="Text 3"/>
          <p:cNvSpPr/>
          <p:nvPr/>
        </p:nvSpPr>
        <p:spPr>
          <a:xfrm>
            <a:off x="457200" y="182880"/>
            <a:ext cx="8229600" cy="475488"/>
          </a:xfrm>
          <a:prstGeom prst="rect">
            <a:avLst/>
          </a:prstGeom>
          <a:noFill/>
          <a:ln/>
        </p:spPr>
        <p:txBody>
          <a:bodyPr wrap="square" lIns="0" tIns="0" rIns="0" bIns="0" rtlCol="0" anchor="ctr"/>
          <a:lstStyle/>
          <a:p>
            <a:pPr marL="0" indent="0" algn="l">
              <a:buNone/>
            </a:pPr>
            <a:r>
              <a:rPr lang="en-US" sz="2800" b="1" dirty="0">
                <a:solidFill>
                  <a:srgbClr val="FFFFFF"/>
                </a:solidFill>
              </a:rPr>
              <a:t>Comandos Git Esenciales</a:t>
            </a:r>
            <a:endParaRPr lang="en-US" sz="2800" dirty="0"/>
          </a:p>
        </p:txBody>
      </p:sp>
      <p:sp>
        <p:nvSpPr>
          <p:cNvPr id="6" name="Text 4"/>
          <p:cNvSpPr/>
          <p:nvPr/>
        </p:nvSpPr>
        <p:spPr>
          <a:xfrm>
            <a:off x="438912" y="832104"/>
            <a:ext cx="8229600" cy="256032"/>
          </a:xfrm>
          <a:prstGeom prst="rect">
            <a:avLst/>
          </a:prstGeom>
          <a:noFill/>
          <a:ln/>
        </p:spPr>
        <p:txBody>
          <a:bodyPr wrap="square" lIns="0" tIns="0" rIns="0" bIns="0" rtlCol="0" anchor="ctr"/>
          <a:lstStyle/>
          <a:p>
            <a:pPr marL="0" indent="0" algn="l">
              <a:buNone/>
            </a:pPr>
            <a:r>
              <a:rPr lang="en-US" sz="1200" dirty="0">
                <a:solidFill>
                  <a:srgbClr val="A8D8EA"/>
                </a:solidFill>
              </a:rPr>
              <a:t>Los 6 comandos que usarás el 90% del tiempo</a:t>
            </a:r>
            <a:endParaRPr lang="en-US" sz="1200" dirty="0"/>
          </a:p>
        </p:txBody>
      </p:sp>
      <p:sp>
        <p:nvSpPr>
          <p:cNvPr id="7" name="Shape 5"/>
          <p:cNvSpPr/>
          <p:nvPr/>
        </p:nvSpPr>
        <p:spPr>
          <a:xfrm>
            <a:off x="347472" y="1143000"/>
            <a:ext cx="2651760" cy="502920"/>
          </a:xfrm>
          <a:prstGeom prst="rect">
            <a:avLst/>
          </a:prstGeom>
          <a:solidFill>
            <a:srgbClr val="0D7A8A"/>
          </a:solidFill>
          <a:ln w="12700">
            <a:solidFill>
              <a:srgbClr val="0D7A8A"/>
            </a:solidFill>
            <a:prstDash val="solid"/>
          </a:ln>
        </p:spPr>
        <p:txBody>
          <a:bodyPr/>
          <a:lstStyle/>
          <a:p>
            <a:endParaRPr lang="es-MX"/>
          </a:p>
        </p:txBody>
      </p:sp>
      <p:sp>
        <p:nvSpPr>
          <p:cNvPr id="8" name="Text 6"/>
          <p:cNvSpPr/>
          <p:nvPr/>
        </p:nvSpPr>
        <p:spPr>
          <a:xfrm>
            <a:off x="438912" y="1143000"/>
            <a:ext cx="2542032" cy="502920"/>
          </a:xfrm>
          <a:prstGeom prst="rect">
            <a:avLst/>
          </a:prstGeom>
          <a:noFill/>
          <a:ln/>
        </p:spPr>
        <p:txBody>
          <a:bodyPr wrap="square" lIns="0" tIns="0" rIns="0" bIns="0" rtlCol="0" anchor="ctr"/>
          <a:lstStyle/>
          <a:p>
            <a:pPr marL="0" indent="0">
              <a:buNone/>
            </a:pPr>
            <a:r>
              <a:rPr lang="en-US" sz="1100" b="1" dirty="0">
                <a:solidFill>
                  <a:srgbClr val="FFFFFF"/>
                </a:solidFill>
                <a:latin typeface="Consolas" pitchFamily="34" charset="0"/>
                <a:ea typeface="Consolas" pitchFamily="34" charset="-122"/>
                <a:cs typeface="Consolas" pitchFamily="34" charset="-120"/>
              </a:rPr>
              <a:t>git init</a:t>
            </a:r>
            <a:endParaRPr lang="en-US" sz="1100" dirty="0"/>
          </a:p>
        </p:txBody>
      </p:sp>
      <p:sp>
        <p:nvSpPr>
          <p:cNvPr id="9" name="Shape 7"/>
          <p:cNvSpPr/>
          <p:nvPr/>
        </p:nvSpPr>
        <p:spPr>
          <a:xfrm>
            <a:off x="3017520" y="1143000"/>
            <a:ext cx="5779008" cy="502920"/>
          </a:xfrm>
          <a:prstGeom prst="rect">
            <a:avLst/>
          </a:prstGeom>
          <a:solidFill>
            <a:srgbClr val="1A5276"/>
          </a:solidFill>
          <a:ln w="12700">
            <a:solidFill>
              <a:srgbClr val="1A5276"/>
            </a:solidFill>
            <a:prstDash val="solid"/>
          </a:ln>
          <a:effectLst>
            <a:outerShdw blurRad="101600" dist="38100" dir="8100000" algn="bl" rotWithShape="0">
              <a:srgbClr val="000000">
                <a:alpha val="10000"/>
              </a:srgbClr>
            </a:outerShdw>
          </a:effectLst>
        </p:spPr>
        <p:txBody>
          <a:bodyPr/>
          <a:lstStyle/>
          <a:p>
            <a:endParaRPr lang="es-MX"/>
          </a:p>
        </p:txBody>
      </p:sp>
      <p:sp>
        <p:nvSpPr>
          <p:cNvPr id="10" name="Text 8"/>
          <p:cNvSpPr/>
          <p:nvPr/>
        </p:nvSpPr>
        <p:spPr>
          <a:xfrm>
            <a:off x="3127248" y="1216152"/>
            <a:ext cx="5577840" cy="384048"/>
          </a:xfrm>
          <a:prstGeom prst="rect">
            <a:avLst/>
          </a:prstGeom>
          <a:noFill/>
          <a:ln/>
        </p:spPr>
        <p:txBody>
          <a:bodyPr wrap="square" lIns="0" tIns="0" rIns="0" bIns="0" rtlCol="0" anchor="ctr"/>
          <a:lstStyle/>
          <a:p>
            <a:pPr marL="0" indent="0">
              <a:buNone/>
            </a:pPr>
            <a:r>
              <a:rPr lang="en-US" sz="1050" dirty="0">
                <a:solidFill>
                  <a:srgbClr val="F0F4F8"/>
                </a:solidFill>
              </a:rPr>
              <a:t>Inicializa un repositorio nuevo en la carpeta actual. Solo se hace una vez por proyecto.</a:t>
            </a:r>
            <a:endParaRPr lang="en-US" sz="1050" dirty="0"/>
          </a:p>
        </p:txBody>
      </p:sp>
      <p:sp>
        <p:nvSpPr>
          <p:cNvPr id="11" name="Shape 9"/>
          <p:cNvSpPr/>
          <p:nvPr/>
        </p:nvSpPr>
        <p:spPr>
          <a:xfrm>
            <a:off x="347472" y="1764792"/>
            <a:ext cx="2651760" cy="502920"/>
          </a:xfrm>
          <a:prstGeom prst="rect">
            <a:avLst/>
          </a:prstGeom>
          <a:solidFill>
            <a:srgbClr val="1A5276"/>
          </a:solidFill>
          <a:ln w="12700">
            <a:solidFill>
              <a:srgbClr val="1A5276"/>
            </a:solidFill>
            <a:prstDash val="solid"/>
          </a:ln>
        </p:spPr>
        <p:txBody>
          <a:bodyPr/>
          <a:lstStyle/>
          <a:p>
            <a:endParaRPr lang="es-MX"/>
          </a:p>
        </p:txBody>
      </p:sp>
      <p:sp>
        <p:nvSpPr>
          <p:cNvPr id="12" name="Text 10"/>
          <p:cNvSpPr/>
          <p:nvPr/>
        </p:nvSpPr>
        <p:spPr>
          <a:xfrm>
            <a:off x="438912" y="1764792"/>
            <a:ext cx="2542032" cy="502920"/>
          </a:xfrm>
          <a:prstGeom prst="rect">
            <a:avLst/>
          </a:prstGeom>
          <a:noFill/>
          <a:ln/>
        </p:spPr>
        <p:txBody>
          <a:bodyPr wrap="square" lIns="0" tIns="0" rIns="0" bIns="0" rtlCol="0" anchor="ctr"/>
          <a:lstStyle/>
          <a:p>
            <a:pPr marL="0" indent="0">
              <a:buNone/>
            </a:pPr>
            <a:r>
              <a:rPr lang="en-US" sz="1100" b="1" dirty="0">
                <a:solidFill>
                  <a:srgbClr val="FFFFFF"/>
                </a:solidFill>
                <a:latin typeface="Consolas" pitchFamily="34" charset="0"/>
                <a:ea typeface="Consolas" pitchFamily="34" charset="-122"/>
                <a:cs typeface="Consolas" pitchFamily="34" charset="-120"/>
              </a:rPr>
              <a:t>git clone &lt;url&gt;</a:t>
            </a:r>
            <a:endParaRPr lang="en-US" sz="1100" dirty="0"/>
          </a:p>
        </p:txBody>
      </p:sp>
      <p:sp>
        <p:nvSpPr>
          <p:cNvPr id="13" name="Shape 11"/>
          <p:cNvSpPr/>
          <p:nvPr/>
        </p:nvSpPr>
        <p:spPr>
          <a:xfrm>
            <a:off x="3017520" y="1764792"/>
            <a:ext cx="5779008" cy="502920"/>
          </a:xfrm>
          <a:prstGeom prst="rect">
            <a:avLst/>
          </a:prstGeom>
          <a:solidFill>
            <a:srgbClr val="1A5276"/>
          </a:solidFill>
          <a:ln w="12700">
            <a:solidFill>
              <a:srgbClr val="1A5276"/>
            </a:solidFill>
            <a:prstDash val="solid"/>
          </a:ln>
          <a:effectLst>
            <a:outerShdw blurRad="101600" dist="38100" dir="8100000" algn="bl" rotWithShape="0">
              <a:srgbClr val="000000">
                <a:alpha val="10000"/>
              </a:srgbClr>
            </a:outerShdw>
          </a:effectLst>
        </p:spPr>
        <p:txBody>
          <a:bodyPr/>
          <a:lstStyle/>
          <a:p>
            <a:endParaRPr lang="es-MX"/>
          </a:p>
        </p:txBody>
      </p:sp>
      <p:sp>
        <p:nvSpPr>
          <p:cNvPr id="14" name="Text 12"/>
          <p:cNvSpPr/>
          <p:nvPr/>
        </p:nvSpPr>
        <p:spPr>
          <a:xfrm>
            <a:off x="3127248" y="1837944"/>
            <a:ext cx="5577840" cy="384048"/>
          </a:xfrm>
          <a:prstGeom prst="rect">
            <a:avLst/>
          </a:prstGeom>
          <a:noFill/>
          <a:ln/>
        </p:spPr>
        <p:txBody>
          <a:bodyPr wrap="square" lIns="0" tIns="0" rIns="0" bIns="0" rtlCol="0" anchor="ctr"/>
          <a:lstStyle/>
          <a:p>
            <a:pPr marL="0" indent="0">
              <a:buNone/>
            </a:pPr>
            <a:r>
              <a:rPr lang="en-US" sz="1050" dirty="0">
                <a:solidFill>
                  <a:srgbClr val="F0F4F8"/>
                </a:solidFill>
              </a:rPr>
              <a:t>Descarga una copia completa de un repositorio existente desde GitHub a tu computadora.</a:t>
            </a:r>
            <a:endParaRPr lang="en-US" sz="1050" dirty="0"/>
          </a:p>
        </p:txBody>
      </p:sp>
      <p:sp>
        <p:nvSpPr>
          <p:cNvPr id="15" name="Shape 13"/>
          <p:cNvSpPr/>
          <p:nvPr/>
        </p:nvSpPr>
        <p:spPr>
          <a:xfrm>
            <a:off x="347472" y="2386584"/>
            <a:ext cx="2651760" cy="502920"/>
          </a:xfrm>
          <a:prstGeom prst="rect">
            <a:avLst/>
          </a:prstGeom>
          <a:solidFill>
            <a:srgbClr val="0D7A8A"/>
          </a:solidFill>
          <a:ln w="12700">
            <a:solidFill>
              <a:srgbClr val="0D7A8A"/>
            </a:solidFill>
            <a:prstDash val="solid"/>
          </a:ln>
        </p:spPr>
        <p:txBody>
          <a:bodyPr/>
          <a:lstStyle/>
          <a:p>
            <a:endParaRPr lang="es-MX"/>
          </a:p>
        </p:txBody>
      </p:sp>
      <p:sp>
        <p:nvSpPr>
          <p:cNvPr id="16" name="Text 14"/>
          <p:cNvSpPr/>
          <p:nvPr/>
        </p:nvSpPr>
        <p:spPr>
          <a:xfrm>
            <a:off x="438912" y="2386584"/>
            <a:ext cx="2542032" cy="502920"/>
          </a:xfrm>
          <a:prstGeom prst="rect">
            <a:avLst/>
          </a:prstGeom>
          <a:noFill/>
          <a:ln/>
        </p:spPr>
        <p:txBody>
          <a:bodyPr wrap="square" lIns="0" tIns="0" rIns="0" bIns="0" rtlCol="0" anchor="ctr"/>
          <a:lstStyle/>
          <a:p>
            <a:pPr marL="0" indent="0">
              <a:buNone/>
            </a:pPr>
            <a:r>
              <a:rPr lang="en-US" sz="1100" b="1" dirty="0">
                <a:solidFill>
                  <a:srgbClr val="FFFFFF"/>
                </a:solidFill>
                <a:latin typeface="Consolas" pitchFamily="34" charset="0"/>
                <a:ea typeface="Consolas" pitchFamily="34" charset="-122"/>
                <a:cs typeface="Consolas" pitchFamily="34" charset="-120"/>
              </a:rPr>
              <a:t>git add .</a:t>
            </a:r>
            <a:endParaRPr lang="en-US" sz="1100" dirty="0"/>
          </a:p>
        </p:txBody>
      </p:sp>
      <p:sp>
        <p:nvSpPr>
          <p:cNvPr id="17" name="Shape 15"/>
          <p:cNvSpPr/>
          <p:nvPr/>
        </p:nvSpPr>
        <p:spPr>
          <a:xfrm>
            <a:off x="3017520" y="2386584"/>
            <a:ext cx="5779008" cy="502920"/>
          </a:xfrm>
          <a:prstGeom prst="rect">
            <a:avLst/>
          </a:prstGeom>
          <a:solidFill>
            <a:srgbClr val="1A5276"/>
          </a:solidFill>
          <a:ln w="12700">
            <a:solidFill>
              <a:srgbClr val="1A5276"/>
            </a:solidFill>
            <a:prstDash val="solid"/>
          </a:ln>
          <a:effectLst>
            <a:outerShdw blurRad="101600" dist="38100" dir="8100000" algn="bl" rotWithShape="0">
              <a:srgbClr val="000000">
                <a:alpha val="10000"/>
              </a:srgbClr>
            </a:outerShdw>
          </a:effectLst>
        </p:spPr>
        <p:txBody>
          <a:bodyPr/>
          <a:lstStyle/>
          <a:p>
            <a:endParaRPr lang="es-MX"/>
          </a:p>
        </p:txBody>
      </p:sp>
      <p:sp>
        <p:nvSpPr>
          <p:cNvPr id="18" name="Text 16"/>
          <p:cNvSpPr/>
          <p:nvPr/>
        </p:nvSpPr>
        <p:spPr>
          <a:xfrm>
            <a:off x="3127248" y="2459736"/>
            <a:ext cx="5577840" cy="384048"/>
          </a:xfrm>
          <a:prstGeom prst="rect">
            <a:avLst/>
          </a:prstGeom>
          <a:noFill/>
          <a:ln/>
        </p:spPr>
        <p:txBody>
          <a:bodyPr wrap="square" lIns="0" tIns="0" rIns="0" bIns="0" rtlCol="0" anchor="ctr"/>
          <a:lstStyle/>
          <a:p>
            <a:pPr marL="0" indent="0">
              <a:buNone/>
            </a:pPr>
            <a:r>
              <a:rPr lang="en-US" sz="1050" dirty="0">
                <a:solidFill>
                  <a:srgbClr val="F0F4F8"/>
                </a:solidFill>
              </a:rPr>
              <a:t>Marca todos los archivos modificados para incluirlos en el próximo commit (el punto '.' significa 'todo').</a:t>
            </a:r>
            <a:endParaRPr lang="en-US" sz="1050" dirty="0"/>
          </a:p>
        </p:txBody>
      </p:sp>
      <p:sp>
        <p:nvSpPr>
          <p:cNvPr id="19" name="Shape 17"/>
          <p:cNvSpPr/>
          <p:nvPr/>
        </p:nvSpPr>
        <p:spPr>
          <a:xfrm>
            <a:off x="347472" y="3008376"/>
            <a:ext cx="2651760" cy="502920"/>
          </a:xfrm>
          <a:prstGeom prst="rect">
            <a:avLst/>
          </a:prstGeom>
          <a:solidFill>
            <a:srgbClr val="1A5276"/>
          </a:solidFill>
          <a:ln w="12700">
            <a:solidFill>
              <a:srgbClr val="1A5276"/>
            </a:solidFill>
            <a:prstDash val="solid"/>
          </a:ln>
        </p:spPr>
        <p:txBody>
          <a:bodyPr/>
          <a:lstStyle/>
          <a:p>
            <a:endParaRPr lang="es-MX"/>
          </a:p>
        </p:txBody>
      </p:sp>
      <p:sp>
        <p:nvSpPr>
          <p:cNvPr id="20" name="Text 18"/>
          <p:cNvSpPr/>
          <p:nvPr/>
        </p:nvSpPr>
        <p:spPr>
          <a:xfrm>
            <a:off x="438912" y="3008376"/>
            <a:ext cx="2542032" cy="502920"/>
          </a:xfrm>
          <a:prstGeom prst="rect">
            <a:avLst/>
          </a:prstGeom>
          <a:noFill/>
          <a:ln/>
        </p:spPr>
        <p:txBody>
          <a:bodyPr wrap="square" lIns="0" tIns="0" rIns="0" bIns="0" rtlCol="0" anchor="ctr"/>
          <a:lstStyle/>
          <a:p>
            <a:pPr marL="0" indent="0">
              <a:buNone/>
            </a:pPr>
            <a:r>
              <a:rPr lang="en-US" sz="1100" b="1" dirty="0">
                <a:solidFill>
                  <a:srgbClr val="FFFFFF"/>
                </a:solidFill>
                <a:latin typeface="Consolas" pitchFamily="34" charset="0"/>
                <a:ea typeface="Consolas" pitchFamily="34" charset="-122"/>
                <a:cs typeface="Consolas" pitchFamily="34" charset="-120"/>
              </a:rPr>
              <a:t>git commit -m "..."</a:t>
            </a:r>
            <a:endParaRPr lang="en-US" sz="1100" dirty="0"/>
          </a:p>
        </p:txBody>
      </p:sp>
      <p:sp>
        <p:nvSpPr>
          <p:cNvPr id="21" name="Shape 19"/>
          <p:cNvSpPr/>
          <p:nvPr/>
        </p:nvSpPr>
        <p:spPr>
          <a:xfrm>
            <a:off x="3017520" y="3008376"/>
            <a:ext cx="5779008" cy="502920"/>
          </a:xfrm>
          <a:prstGeom prst="rect">
            <a:avLst/>
          </a:prstGeom>
          <a:solidFill>
            <a:srgbClr val="1A5276"/>
          </a:solidFill>
          <a:ln w="12700">
            <a:solidFill>
              <a:srgbClr val="1A5276"/>
            </a:solidFill>
            <a:prstDash val="solid"/>
          </a:ln>
          <a:effectLst>
            <a:outerShdw blurRad="101600" dist="38100" dir="8100000" algn="bl" rotWithShape="0">
              <a:srgbClr val="000000">
                <a:alpha val="10000"/>
              </a:srgbClr>
            </a:outerShdw>
          </a:effectLst>
        </p:spPr>
        <p:txBody>
          <a:bodyPr/>
          <a:lstStyle/>
          <a:p>
            <a:endParaRPr lang="es-MX"/>
          </a:p>
        </p:txBody>
      </p:sp>
      <p:sp>
        <p:nvSpPr>
          <p:cNvPr id="22" name="Text 20"/>
          <p:cNvSpPr/>
          <p:nvPr/>
        </p:nvSpPr>
        <p:spPr>
          <a:xfrm>
            <a:off x="3127248" y="3081528"/>
            <a:ext cx="5577840" cy="384048"/>
          </a:xfrm>
          <a:prstGeom prst="rect">
            <a:avLst/>
          </a:prstGeom>
          <a:noFill/>
          <a:ln/>
        </p:spPr>
        <p:txBody>
          <a:bodyPr wrap="square" lIns="0" tIns="0" rIns="0" bIns="0" rtlCol="0" anchor="ctr"/>
          <a:lstStyle/>
          <a:p>
            <a:pPr marL="0" indent="0">
              <a:buNone/>
            </a:pPr>
            <a:r>
              <a:rPr lang="en-US" sz="1050" dirty="0">
                <a:solidFill>
                  <a:srgbClr val="F0F4F8"/>
                </a:solidFill>
              </a:rPr>
              <a:t>Guarda un punto de control con una descripción. Escribe mensajes claros: 'Agrega análisis de outliers'.</a:t>
            </a:r>
            <a:endParaRPr lang="en-US" sz="1050" dirty="0"/>
          </a:p>
        </p:txBody>
      </p:sp>
      <p:sp>
        <p:nvSpPr>
          <p:cNvPr id="23" name="Shape 21"/>
          <p:cNvSpPr/>
          <p:nvPr/>
        </p:nvSpPr>
        <p:spPr>
          <a:xfrm>
            <a:off x="347472" y="3630168"/>
            <a:ext cx="2651760" cy="502920"/>
          </a:xfrm>
          <a:prstGeom prst="rect">
            <a:avLst/>
          </a:prstGeom>
          <a:solidFill>
            <a:srgbClr val="0D7A8A"/>
          </a:solidFill>
          <a:ln w="12700">
            <a:solidFill>
              <a:srgbClr val="0D7A8A"/>
            </a:solidFill>
            <a:prstDash val="solid"/>
          </a:ln>
        </p:spPr>
        <p:txBody>
          <a:bodyPr/>
          <a:lstStyle/>
          <a:p>
            <a:endParaRPr lang="es-MX"/>
          </a:p>
        </p:txBody>
      </p:sp>
      <p:sp>
        <p:nvSpPr>
          <p:cNvPr id="24" name="Text 22"/>
          <p:cNvSpPr/>
          <p:nvPr/>
        </p:nvSpPr>
        <p:spPr>
          <a:xfrm>
            <a:off x="438912" y="3630168"/>
            <a:ext cx="2542032" cy="502920"/>
          </a:xfrm>
          <a:prstGeom prst="rect">
            <a:avLst/>
          </a:prstGeom>
          <a:noFill/>
          <a:ln/>
        </p:spPr>
        <p:txBody>
          <a:bodyPr wrap="square" lIns="0" tIns="0" rIns="0" bIns="0" rtlCol="0" anchor="ctr"/>
          <a:lstStyle/>
          <a:p>
            <a:pPr marL="0" indent="0">
              <a:buNone/>
            </a:pPr>
            <a:r>
              <a:rPr lang="en-US" sz="1100" b="1" dirty="0">
                <a:solidFill>
                  <a:srgbClr val="FFFFFF"/>
                </a:solidFill>
                <a:latin typeface="Consolas" pitchFamily="34" charset="0"/>
                <a:ea typeface="Consolas" pitchFamily="34" charset="-122"/>
                <a:cs typeface="Consolas" pitchFamily="34" charset="-120"/>
              </a:rPr>
              <a:t>git push</a:t>
            </a:r>
            <a:endParaRPr lang="en-US" sz="1100" dirty="0"/>
          </a:p>
        </p:txBody>
      </p:sp>
      <p:sp>
        <p:nvSpPr>
          <p:cNvPr id="25" name="Shape 23"/>
          <p:cNvSpPr/>
          <p:nvPr/>
        </p:nvSpPr>
        <p:spPr>
          <a:xfrm>
            <a:off x="3017520" y="3630168"/>
            <a:ext cx="5779008" cy="502920"/>
          </a:xfrm>
          <a:prstGeom prst="rect">
            <a:avLst/>
          </a:prstGeom>
          <a:solidFill>
            <a:srgbClr val="1A5276"/>
          </a:solidFill>
          <a:ln w="12700">
            <a:solidFill>
              <a:srgbClr val="1A5276"/>
            </a:solidFill>
            <a:prstDash val="solid"/>
          </a:ln>
          <a:effectLst>
            <a:outerShdw blurRad="101600" dist="38100" dir="8100000" algn="bl" rotWithShape="0">
              <a:srgbClr val="000000">
                <a:alpha val="10000"/>
              </a:srgbClr>
            </a:outerShdw>
          </a:effectLst>
        </p:spPr>
        <p:txBody>
          <a:bodyPr/>
          <a:lstStyle/>
          <a:p>
            <a:endParaRPr lang="es-MX"/>
          </a:p>
        </p:txBody>
      </p:sp>
      <p:sp>
        <p:nvSpPr>
          <p:cNvPr id="26" name="Text 24"/>
          <p:cNvSpPr/>
          <p:nvPr/>
        </p:nvSpPr>
        <p:spPr>
          <a:xfrm>
            <a:off x="3127248" y="3703320"/>
            <a:ext cx="5577840" cy="384048"/>
          </a:xfrm>
          <a:prstGeom prst="rect">
            <a:avLst/>
          </a:prstGeom>
          <a:noFill/>
          <a:ln/>
        </p:spPr>
        <p:txBody>
          <a:bodyPr wrap="square" lIns="0" tIns="0" rIns="0" bIns="0" rtlCol="0" anchor="ctr"/>
          <a:lstStyle/>
          <a:p>
            <a:pPr marL="0" indent="0">
              <a:buNone/>
            </a:pPr>
            <a:r>
              <a:rPr lang="en-US" sz="1050" dirty="0">
                <a:solidFill>
                  <a:srgbClr val="F0F4F8"/>
                </a:solidFill>
              </a:rPr>
              <a:t>Sube tus commits locales a GitHub. Así tus colegas y el instructor pueden ver tu trabajo actualizado.</a:t>
            </a:r>
            <a:endParaRPr lang="en-US" sz="1050" dirty="0"/>
          </a:p>
        </p:txBody>
      </p:sp>
      <p:sp>
        <p:nvSpPr>
          <p:cNvPr id="27" name="Shape 25"/>
          <p:cNvSpPr/>
          <p:nvPr/>
        </p:nvSpPr>
        <p:spPr>
          <a:xfrm>
            <a:off x="347472" y="4251960"/>
            <a:ext cx="2651760" cy="502920"/>
          </a:xfrm>
          <a:prstGeom prst="rect">
            <a:avLst/>
          </a:prstGeom>
          <a:solidFill>
            <a:srgbClr val="1A5276"/>
          </a:solidFill>
          <a:ln w="12700">
            <a:solidFill>
              <a:srgbClr val="1A5276"/>
            </a:solidFill>
            <a:prstDash val="solid"/>
          </a:ln>
        </p:spPr>
        <p:txBody>
          <a:bodyPr/>
          <a:lstStyle/>
          <a:p>
            <a:endParaRPr lang="es-MX"/>
          </a:p>
        </p:txBody>
      </p:sp>
      <p:sp>
        <p:nvSpPr>
          <p:cNvPr id="28" name="Text 26"/>
          <p:cNvSpPr/>
          <p:nvPr/>
        </p:nvSpPr>
        <p:spPr>
          <a:xfrm>
            <a:off x="438912" y="4251960"/>
            <a:ext cx="2542032" cy="502920"/>
          </a:xfrm>
          <a:prstGeom prst="rect">
            <a:avLst/>
          </a:prstGeom>
          <a:noFill/>
          <a:ln/>
        </p:spPr>
        <p:txBody>
          <a:bodyPr wrap="square" lIns="0" tIns="0" rIns="0" bIns="0" rtlCol="0" anchor="ctr"/>
          <a:lstStyle/>
          <a:p>
            <a:pPr marL="0" indent="0">
              <a:buNone/>
            </a:pPr>
            <a:r>
              <a:rPr lang="en-US" sz="1100" b="1" dirty="0">
                <a:solidFill>
                  <a:srgbClr val="FFFFFF"/>
                </a:solidFill>
                <a:latin typeface="Consolas" pitchFamily="34" charset="0"/>
                <a:ea typeface="Consolas" pitchFamily="34" charset="-122"/>
                <a:cs typeface="Consolas" pitchFamily="34" charset="-120"/>
              </a:rPr>
              <a:t>git pull</a:t>
            </a:r>
            <a:endParaRPr lang="en-US" sz="1100" dirty="0"/>
          </a:p>
        </p:txBody>
      </p:sp>
      <p:sp>
        <p:nvSpPr>
          <p:cNvPr id="29" name="Shape 27"/>
          <p:cNvSpPr/>
          <p:nvPr/>
        </p:nvSpPr>
        <p:spPr>
          <a:xfrm>
            <a:off x="3017520" y="4251960"/>
            <a:ext cx="5779008" cy="502920"/>
          </a:xfrm>
          <a:prstGeom prst="rect">
            <a:avLst/>
          </a:prstGeom>
          <a:solidFill>
            <a:srgbClr val="1A5276"/>
          </a:solidFill>
          <a:ln w="12700">
            <a:solidFill>
              <a:srgbClr val="1A5276"/>
            </a:solidFill>
            <a:prstDash val="solid"/>
          </a:ln>
          <a:effectLst>
            <a:outerShdw blurRad="101600" dist="38100" dir="8100000" algn="bl" rotWithShape="0">
              <a:srgbClr val="000000">
                <a:alpha val="10000"/>
              </a:srgbClr>
            </a:outerShdw>
          </a:effectLst>
        </p:spPr>
        <p:txBody>
          <a:bodyPr/>
          <a:lstStyle/>
          <a:p>
            <a:endParaRPr lang="es-MX"/>
          </a:p>
        </p:txBody>
      </p:sp>
      <p:sp>
        <p:nvSpPr>
          <p:cNvPr id="30" name="Text 28"/>
          <p:cNvSpPr/>
          <p:nvPr/>
        </p:nvSpPr>
        <p:spPr>
          <a:xfrm>
            <a:off x="3127248" y="4325112"/>
            <a:ext cx="5577840" cy="384048"/>
          </a:xfrm>
          <a:prstGeom prst="rect">
            <a:avLst/>
          </a:prstGeom>
          <a:noFill/>
          <a:ln/>
        </p:spPr>
        <p:txBody>
          <a:bodyPr wrap="square" lIns="0" tIns="0" rIns="0" bIns="0" rtlCol="0" anchor="ctr"/>
          <a:lstStyle/>
          <a:p>
            <a:pPr marL="0" indent="0">
              <a:buNone/>
            </a:pPr>
            <a:r>
              <a:rPr lang="en-US" sz="1050" dirty="0">
                <a:solidFill>
                  <a:srgbClr val="F0F4F8"/>
                </a:solidFill>
              </a:rPr>
              <a:t>Descarga los últimos cambios desde GitHub. Úsalo antes de empezar a trabajar para tener la versión más reciente.</a:t>
            </a:r>
            <a:endParaRPr lang="en-US" sz="1050" dirty="0"/>
          </a:p>
        </p:txBody>
      </p:sp>
      <p:sp>
        <p:nvSpPr>
          <p:cNvPr id="31" name="Shape 29"/>
          <p:cNvSpPr/>
          <p:nvPr/>
        </p:nvSpPr>
        <p:spPr>
          <a:xfrm>
            <a:off x="347472" y="5010912"/>
            <a:ext cx="8449056" cy="621792"/>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32" name="Text 30"/>
          <p:cNvSpPr/>
          <p:nvPr/>
        </p:nvSpPr>
        <p:spPr>
          <a:xfrm>
            <a:off x="475488" y="5065776"/>
            <a:ext cx="2011680" cy="256032"/>
          </a:xfrm>
          <a:prstGeom prst="rect">
            <a:avLst/>
          </a:prstGeom>
          <a:noFill/>
          <a:ln/>
        </p:spPr>
        <p:txBody>
          <a:bodyPr wrap="square" lIns="0" tIns="0" rIns="0" bIns="0" rtlCol="0" anchor="ctr"/>
          <a:lstStyle/>
          <a:p>
            <a:pPr marL="0" indent="0">
              <a:buNone/>
            </a:pPr>
            <a:r>
              <a:rPr lang="en-US" sz="1100" b="1" dirty="0">
                <a:solidFill>
                  <a:srgbClr val="0D1B3E"/>
                </a:solidFill>
              </a:rPr>
              <a:t>Flujo de trabajo típico:</a:t>
            </a:r>
            <a:endParaRPr lang="en-US" sz="1100" dirty="0"/>
          </a:p>
        </p:txBody>
      </p:sp>
      <p:sp>
        <p:nvSpPr>
          <p:cNvPr id="33" name="Text 31"/>
          <p:cNvSpPr/>
          <p:nvPr/>
        </p:nvSpPr>
        <p:spPr>
          <a:xfrm>
            <a:off x="2560320" y="5065776"/>
            <a:ext cx="1234440" cy="256032"/>
          </a:xfrm>
          <a:prstGeom prst="rect">
            <a:avLst/>
          </a:prstGeom>
          <a:noFill/>
          <a:ln/>
        </p:spPr>
        <p:txBody>
          <a:bodyPr wrap="square" lIns="0" tIns="0" rIns="0" bIns="0" rtlCol="0" anchor="ctr"/>
          <a:lstStyle/>
          <a:p>
            <a:pPr marL="0" indent="0">
              <a:buNone/>
            </a:pPr>
            <a:r>
              <a:rPr lang="en-US" sz="1000" b="1" dirty="0">
                <a:solidFill>
                  <a:srgbClr val="0D1B3E"/>
                </a:solidFill>
                <a:latin typeface="Consolas" pitchFamily="34" charset="0"/>
                <a:ea typeface="Consolas" pitchFamily="34" charset="-122"/>
                <a:cs typeface="Consolas" pitchFamily="34" charset="-120"/>
              </a:rPr>
              <a:t>git pull</a:t>
            </a:r>
            <a:endParaRPr lang="en-US" sz="1000" dirty="0"/>
          </a:p>
        </p:txBody>
      </p:sp>
      <p:sp>
        <p:nvSpPr>
          <p:cNvPr id="34" name="Text 32"/>
          <p:cNvSpPr/>
          <p:nvPr/>
        </p:nvSpPr>
        <p:spPr>
          <a:xfrm>
            <a:off x="3822192" y="5065776"/>
            <a:ext cx="1234440" cy="256032"/>
          </a:xfrm>
          <a:prstGeom prst="rect">
            <a:avLst/>
          </a:prstGeom>
          <a:noFill/>
          <a:ln/>
        </p:spPr>
        <p:txBody>
          <a:bodyPr wrap="square" lIns="0" tIns="0" rIns="0" bIns="0" rtlCol="0" anchor="ctr"/>
          <a:lstStyle/>
          <a:p>
            <a:pPr marL="0" indent="0">
              <a:buNone/>
            </a:pPr>
            <a:r>
              <a:rPr lang="en-US" sz="1000" dirty="0">
                <a:solidFill>
                  <a:srgbClr val="0D7A8A"/>
                </a:solidFill>
              </a:rPr>
              <a:t>→ editas tu notebook</a:t>
            </a:r>
            <a:endParaRPr lang="en-US" sz="1000" dirty="0"/>
          </a:p>
        </p:txBody>
      </p:sp>
      <p:sp>
        <p:nvSpPr>
          <p:cNvPr id="35" name="Text 33"/>
          <p:cNvSpPr/>
          <p:nvPr/>
        </p:nvSpPr>
        <p:spPr>
          <a:xfrm>
            <a:off x="5084064" y="5065776"/>
            <a:ext cx="1234440" cy="256032"/>
          </a:xfrm>
          <a:prstGeom prst="rect">
            <a:avLst/>
          </a:prstGeom>
          <a:noFill/>
          <a:ln/>
        </p:spPr>
        <p:txBody>
          <a:bodyPr wrap="square" lIns="0" tIns="0" rIns="0" bIns="0" rtlCol="0" anchor="ctr"/>
          <a:lstStyle/>
          <a:p>
            <a:pPr marL="0" indent="0">
              <a:buNone/>
            </a:pPr>
            <a:r>
              <a:rPr lang="en-US" sz="1000" dirty="0">
                <a:solidFill>
                  <a:srgbClr val="0D7A8A"/>
                </a:solidFill>
              </a:rPr>
              <a:t>→ git add .</a:t>
            </a:r>
            <a:endParaRPr lang="en-US" sz="1000" dirty="0"/>
          </a:p>
        </p:txBody>
      </p:sp>
      <p:sp>
        <p:nvSpPr>
          <p:cNvPr id="36" name="Text 34"/>
          <p:cNvSpPr/>
          <p:nvPr/>
        </p:nvSpPr>
        <p:spPr>
          <a:xfrm>
            <a:off x="6345936" y="5065776"/>
            <a:ext cx="1234440" cy="256032"/>
          </a:xfrm>
          <a:prstGeom prst="rect">
            <a:avLst/>
          </a:prstGeom>
          <a:noFill/>
          <a:ln/>
        </p:spPr>
        <p:txBody>
          <a:bodyPr wrap="square" lIns="0" tIns="0" rIns="0" bIns="0" rtlCol="0" anchor="ctr"/>
          <a:lstStyle/>
          <a:p>
            <a:pPr marL="0" indent="0">
              <a:buNone/>
            </a:pPr>
            <a:r>
              <a:rPr lang="en-US" sz="1000" dirty="0">
                <a:solidFill>
                  <a:srgbClr val="0D7A8A"/>
                </a:solidFill>
              </a:rPr>
              <a:t>→ git commit -m '...'</a:t>
            </a:r>
            <a:endParaRPr lang="en-US" sz="1000" dirty="0"/>
          </a:p>
        </p:txBody>
      </p:sp>
      <p:sp>
        <p:nvSpPr>
          <p:cNvPr id="37" name="Text 35"/>
          <p:cNvSpPr/>
          <p:nvPr/>
        </p:nvSpPr>
        <p:spPr>
          <a:xfrm>
            <a:off x="7607808" y="5065776"/>
            <a:ext cx="1234440" cy="256032"/>
          </a:xfrm>
          <a:prstGeom prst="rect">
            <a:avLst/>
          </a:prstGeom>
          <a:noFill/>
          <a:ln/>
        </p:spPr>
        <p:txBody>
          <a:bodyPr wrap="square" lIns="0" tIns="0" rIns="0" bIns="0" rtlCol="0" anchor="ctr"/>
          <a:lstStyle/>
          <a:p>
            <a:pPr marL="0" indent="0">
              <a:buNone/>
            </a:pPr>
            <a:r>
              <a:rPr lang="en-US" sz="1000" dirty="0">
                <a:solidFill>
                  <a:srgbClr val="0D7A8A"/>
                </a:solidFill>
              </a:rPr>
              <a:t>→ git push</a:t>
            </a:r>
            <a:endParaRPr lang="en-US" sz="1000" dirty="0"/>
          </a:p>
        </p:txBody>
      </p:sp>
      <p:sp>
        <p:nvSpPr>
          <p:cNvPr id="38" name="Shape 36"/>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39" name="Text 37"/>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Módulo 1 · Introducción a Python · Sesión 1  —  15 abril 2026</a:t>
            </a:r>
            <a:endParaRPr lang="en-US" sz="850" dirty="0"/>
          </a:p>
        </p:txBody>
      </p:sp>
      <p:sp>
        <p:nvSpPr>
          <p:cNvPr id="40" name="Text 38"/>
          <p:cNvSpPr/>
          <p:nvPr/>
        </p:nvSpPr>
        <p:spPr>
          <a:xfrm>
            <a:off x="274320" y="4892040"/>
            <a:ext cx="5486400" cy="251460"/>
          </a:xfrm>
          <a:prstGeom prst="rect">
            <a:avLst/>
          </a:prstGeom>
          <a:noFill/>
          <a:ln/>
        </p:spPr>
        <p:txBody>
          <a:bodyPr wrap="square" lIns="0" tIns="0" rIns="0" bIns="0" rtlCol="0" anchor="ctr"/>
          <a:lstStyle/>
          <a:p>
            <a:pPr marL="0" indent="0" algn="l">
              <a:buNone/>
            </a:pPr>
            <a:r>
              <a:rPr lang="en-US" sz="850" dirty="0">
                <a:solidFill>
                  <a:srgbClr val="A8D8EA"/>
                </a:solidFill>
              </a:rPr>
              <a:t>PASO 5 · Comandos Git</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712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Text 1"/>
          <p:cNvSpPr/>
          <p:nvPr/>
        </p:nvSpPr>
        <p:spPr>
          <a:xfrm>
            <a:off x="457200" y="182880"/>
            <a:ext cx="8229600" cy="475488"/>
          </a:xfrm>
          <a:prstGeom prst="rect">
            <a:avLst/>
          </a:prstGeom>
          <a:noFill/>
          <a:ln/>
        </p:spPr>
        <p:txBody>
          <a:bodyPr wrap="square" lIns="0" tIns="0" rIns="0" bIns="0" rtlCol="0" anchor="ctr"/>
          <a:lstStyle/>
          <a:p>
            <a:pPr marL="0" indent="0" algn="l">
              <a:buNone/>
            </a:pPr>
            <a:r>
              <a:rPr lang="en-US" sz="2800" b="1" dirty="0">
                <a:solidFill>
                  <a:srgbClr val="FFFFFF"/>
                </a:solidFill>
              </a:rPr>
              <a:t>¡Primer Notebook!</a:t>
            </a:r>
            <a:endParaRPr lang="en-US" sz="2800" dirty="0"/>
          </a:p>
        </p:txBody>
      </p:sp>
      <p:sp>
        <p:nvSpPr>
          <p:cNvPr id="4" name="Text 2"/>
          <p:cNvSpPr/>
          <p:nvPr/>
        </p:nvSpPr>
        <p:spPr>
          <a:xfrm>
            <a:off x="457200" y="685800"/>
            <a:ext cx="8229600" cy="256032"/>
          </a:xfrm>
          <a:prstGeom prst="rect">
            <a:avLst/>
          </a:prstGeom>
          <a:noFill/>
          <a:ln/>
        </p:spPr>
        <p:txBody>
          <a:bodyPr wrap="square" lIns="0" tIns="0" rIns="0" bIns="0" rtlCol="0" anchor="ctr"/>
          <a:lstStyle/>
          <a:p>
            <a:pPr marL="0" indent="0" algn="l">
              <a:buNone/>
            </a:pPr>
            <a:r>
              <a:rPr lang="en-US" sz="1200" dirty="0">
                <a:solidFill>
                  <a:srgbClr val="A8D8EA"/>
                </a:solidFill>
              </a:rPr>
              <a:t>Nuestro primer código Python con datos actuariales</a:t>
            </a:r>
            <a:endParaRPr lang="en-US" sz="1200" dirty="0"/>
          </a:p>
        </p:txBody>
      </p:sp>
      <p:sp>
        <p:nvSpPr>
          <p:cNvPr id="5" name="Shape 3"/>
          <p:cNvSpPr/>
          <p:nvPr/>
        </p:nvSpPr>
        <p:spPr>
          <a:xfrm>
            <a:off x="347472" y="1005840"/>
            <a:ext cx="8449056" cy="3803904"/>
          </a:xfrm>
          <a:prstGeom prst="rect">
            <a:avLst/>
          </a:prstGeom>
          <a:solidFill>
            <a:srgbClr val="071228"/>
          </a:solidFill>
          <a:ln w="12700">
            <a:solidFill>
              <a:srgbClr val="0D7A8A"/>
            </a:solidFill>
            <a:prstDash val="solid"/>
          </a:ln>
        </p:spPr>
        <p:txBody>
          <a:bodyPr/>
          <a:lstStyle/>
          <a:p>
            <a:endParaRPr lang="es-MX"/>
          </a:p>
        </p:txBody>
      </p:sp>
      <p:sp>
        <p:nvSpPr>
          <p:cNvPr id="6" name="Text 4"/>
          <p:cNvSpPr/>
          <p:nvPr/>
        </p:nvSpPr>
        <p:spPr>
          <a:xfrm>
            <a:off x="475488" y="1115568"/>
            <a:ext cx="8229600" cy="182880"/>
          </a:xfrm>
          <a:prstGeom prst="rect">
            <a:avLst/>
          </a:prstGeom>
          <a:noFill/>
          <a:ln/>
        </p:spPr>
        <p:txBody>
          <a:bodyPr wrap="square" lIns="0" tIns="0" rIns="0" bIns="0" rtlCol="0" anchor="ctr"/>
          <a:lstStyle/>
          <a:p>
            <a:pPr marL="0" indent="0">
              <a:buNone/>
            </a:pPr>
            <a:r>
              <a:rPr lang="en-US" sz="950" dirty="0">
                <a:solidFill>
                  <a:srgbClr val="8FA3B1"/>
                </a:solidFill>
                <a:latin typeface="Consolas" pitchFamily="34" charset="0"/>
                <a:ea typeface="Consolas" pitchFamily="34" charset="-122"/>
                <a:cs typeface="Consolas" pitchFamily="34" charset="-120"/>
              </a:rPr>
              <a:t># =================================================================</a:t>
            </a:r>
            <a:endParaRPr lang="en-US" sz="950" dirty="0"/>
          </a:p>
        </p:txBody>
      </p:sp>
      <p:sp>
        <p:nvSpPr>
          <p:cNvPr id="7" name="Text 5"/>
          <p:cNvSpPr/>
          <p:nvPr/>
        </p:nvSpPr>
        <p:spPr>
          <a:xfrm>
            <a:off x="475488" y="1289304"/>
            <a:ext cx="8229600" cy="182880"/>
          </a:xfrm>
          <a:prstGeom prst="rect">
            <a:avLst/>
          </a:prstGeom>
          <a:noFill/>
          <a:ln/>
        </p:spPr>
        <p:txBody>
          <a:bodyPr wrap="square" lIns="0" tIns="0" rIns="0" bIns="0" rtlCol="0" anchor="ctr"/>
          <a:lstStyle/>
          <a:p>
            <a:pPr marL="0" indent="0">
              <a:buNone/>
            </a:pPr>
            <a:r>
              <a:rPr lang="en-US" sz="950" dirty="0">
                <a:solidFill>
                  <a:srgbClr val="8FA3B1"/>
                </a:solidFill>
                <a:latin typeface="Consolas" pitchFamily="34" charset="0"/>
                <a:ea typeface="Consolas" pitchFamily="34" charset="-122"/>
                <a:cs typeface="Consolas" pitchFamily="34" charset="-120"/>
              </a:rPr>
              <a:t># Sesión 1 · Diplomado ML en Seguros · Facultad de Ciencias UNAM</a:t>
            </a:r>
            <a:endParaRPr lang="en-US" sz="950" dirty="0"/>
          </a:p>
        </p:txBody>
      </p:sp>
      <p:sp>
        <p:nvSpPr>
          <p:cNvPr id="8" name="Text 6"/>
          <p:cNvSpPr/>
          <p:nvPr/>
        </p:nvSpPr>
        <p:spPr>
          <a:xfrm>
            <a:off x="475488" y="1463040"/>
            <a:ext cx="8229600" cy="182880"/>
          </a:xfrm>
          <a:prstGeom prst="rect">
            <a:avLst/>
          </a:prstGeom>
          <a:noFill/>
          <a:ln/>
        </p:spPr>
        <p:txBody>
          <a:bodyPr wrap="square" lIns="0" tIns="0" rIns="0" bIns="0" rtlCol="0" anchor="ctr"/>
          <a:lstStyle/>
          <a:p>
            <a:pPr marL="0" indent="0">
              <a:buNone/>
            </a:pPr>
            <a:r>
              <a:rPr lang="en-US" sz="950" dirty="0">
                <a:solidFill>
                  <a:srgbClr val="8FA3B1"/>
                </a:solidFill>
                <a:latin typeface="Consolas" pitchFamily="34" charset="0"/>
                <a:ea typeface="Consolas" pitchFamily="34" charset="-122"/>
                <a:cs typeface="Consolas" pitchFamily="34" charset="-120"/>
              </a:rPr>
              <a:t># =================================================================</a:t>
            </a:r>
            <a:endParaRPr lang="en-US" sz="950" dirty="0"/>
          </a:p>
        </p:txBody>
      </p:sp>
      <p:sp>
        <p:nvSpPr>
          <p:cNvPr id="9" name="Text 7"/>
          <p:cNvSpPr/>
          <p:nvPr/>
        </p:nvSpPr>
        <p:spPr>
          <a:xfrm>
            <a:off x="475488" y="1810512"/>
            <a:ext cx="8229600" cy="182880"/>
          </a:xfrm>
          <a:prstGeom prst="rect">
            <a:avLst/>
          </a:prstGeom>
          <a:noFill/>
          <a:ln/>
        </p:spPr>
        <p:txBody>
          <a:bodyPr wrap="square" lIns="0" tIns="0" rIns="0" bIns="0" rtlCol="0" anchor="ctr"/>
          <a:lstStyle/>
          <a:p>
            <a:pPr marL="0" indent="0">
              <a:buNone/>
            </a:pPr>
            <a:r>
              <a:rPr lang="en-US" sz="950" dirty="0">
                <a:solidFill>
                  <a:srgbClr val="8FA3B1"/>
                </a:solidFill>
                <a:latin typeface="Consolas" pitchFamily="34" charset="0"/>
                <a:ea typeface="Consolas" pitchFamily="34" charset="-122"/>
                <a:cs typeface="Consolas" pitchFamily="34" charset="-120"/>
              </a:rPr>
              <a:t># Verificación del entorno</a:t>
            </a:r>
            <a:endParaRPr lang="en-US" sz="950" dirty="0"/>
          </a:p>
        </p:txBody>
      </p:sp>
      <p:sp>
        <p:nvSpPr>
          <p:cNvPr id="10" name="Text 8"/>
          <p:cNvSpPr/>
          <p:nvPr/>
        </p:nvSpPr>
        <p:spPr>
          <a:xfrm>
            <a:off x="475488" y="1984248"/>
            <a:ext cx="8229600" cy="182880"/>
          </a:xfrm>
          <a:prstGeom prst="rect">
            <a:avLst/>
          </a:prstGeom>
          <a:noFill/>
          <a:ln/>
        </p:spPr>
        <p:txBody>
          <a:bodyPr wrap="square" lIns="0" tIns="0" rIns="0" bIns="0" rtlCol="0" anchor="ctr"/>
          <a:lstStyle/>
          <a:p>
            <a:pPr marL="0" indent="0">
              <a:buNone/>
            </a:pPr>
            <a:r>
              <a:rPr lang="en-US" sz="950" dirty="0">
                <a:solidFill>
                  <a:srgbClr val="A8D8EA"/>
                </a:solidFill>
                <a:latin typeface="Consolas" pitchFamily="34" charset="0"/>
                <a:ea typeface="Consolas" pitchFamily="34" charset="-122"/>
                <a:cs typeface="Consolas" pitchFamily="34" charset="-120"/>
              </a:rPr>
              <a:t>import pandas as pd</a:t>
            </a:r>
            <a:endParaRPr lang="en-US" sz="950" dirty="0"/>
          </a:p>
        </p:txBody>
      </p:sp>
      <p:sp>
        <p:nvSpPr>
          <p:cNvPr id="11" name="Text 9"/>
          <p:cNvSpPr/>
          <p:nvPr/>
        </p:nvSpPr>
        <p:spPr>
          <a:xfrm>
            <a:off x="475488" y="2157984"/>
            <a:ext cx="8229600" cy="182880"/>
          </a:xfrm>
          <a:prstGeom prst="rect">
            <a:avLst/>
          </a:prstGeom>
          <a:noFill/>
          <a:ln/>
        </p:spPr>
        <p:txBody>
          <a:bodyPr wrap="square" lIns="0" tIns="0" rIns="0" bIns="0" rtlCol="0" anchor="ctr"/>
          <a:lstStyle/>
          <a:p>
            <a:pPr marL="0" indent="0">
              <a:buNone/>
            </a:pPr>
            <a:r>
              <a:rPr lang="en-US" sz="950" dirty="0">
                <a:solidFill>
                  <a:srgbClr val="A8D8EA"/>
                </a:solidFill>
                <a:latin typeface="Consolas" pitchFamily="34" charset="0"/>
                <a:ea typeface="Consolas" pitchFamily="34" charset="-122"/>
                <a:cs typeface="Consolas" pitchFamily="34" charset="-120"/>
              </a:rPr>
              <a:t>import numpy  as np</a:t>
            </a:r>
            <a:endParaRPr lang="en-US" sz="950" dirty="0"/>
          </a:p>
        </p:txBody>
      </p:sp>
      <p:sp>
        <p:nvSpPr>
          <p:cNvPr id="12" name="Text 10"/>
          <p:cNvSpPr/>
          <p:nvPr/>
        </p:nvSpPr>
        <p:spPr>
          <a:xfrm>
            <a:off x="475488" y="2331720"/>
            <a:ext cx="8229600" cy="182880"/>
          </a:xfrm>
          <a:prstGeom prst="rect">
            <a:avLst/>
          </a:prstGeom>
          <a:noFill/>
          <a:ln/>
        </p:spPr>
        <p:txBody>
          <a:bodyPr wrap="square" lIns="0" tIns="0" rIns="0" bIns="0" rtlCol="0" anchor="ctr"/>
          <a:lstStyle/>
          <a:p>
            <a:pPr marL="0" indent="0">
              <a:buNone/>
            </a:pPr>
            <a:r>
              <a:rPr lang="en-US" sz="950" dirty="0">
                <a:solidFill>
                  <a:srgbClr val="A8D8EA"/>
                </a:solidFill>
                <a:latin typeface="Consolas" pitchFamily="34" charset="0"/>
                <a:ea typeface="Consolas" pitchFamily="34" charset="-122"/>
                <a:cs typeface="Consolas" pitchFamily="34" charset="-120"/>
              </a:rPr>
              <a:t>print("✓ Entorno listo — Python", __import__("sys").version[:6])</a:t>
            </a:r>
            <a:endParaRPr lang="en-US" sz="950" dirty="0"/>
          </a:p>
        </p:txBody>
      </p:sp>
      <p:sp>
        <p:nvSpPr>
          <p:cNvPr id="13" name="Text 11"/>
          <p:cNvSpPr/>
          <p:nvPr/>
        </p:nvSpPr>
        <p:spPr>
          <a:xfrm>
            <a:off x="475488" y="2679192"/>
            <a:ext cx="8229600" cy="182880"/>
          </a:xfrm>
          <a:prstGeom prst="rect">
            <a:avLst/>
          </a:prstGeom>
          <a:noFill/>
          <a:ln/>
        </p:spPr>
        <p:txBody>
          <a:bodyPr wrap="square" lIns="0" tIns="0" rIns="0" bIns="0" rtlCol="0" anchor="ctr"/>
          <a:lstStyle/>
          <a:p>
            <a:pPr marL="0" indent="0">
              <a:buNone/>
            </a:pPr>
            <a:r>
              <a:rPr lang="en-US" sz="950" dirty="0">
                <a:solidFill>
                  <a:srgbClr val="8FA3B1"/>
                </a:solidFill>
                <a:latin typeface="Consolas" pitchFamily="34" charset="0"/>
                <a:ea typeface="Consolas" pitchFamily="34" charset="-122"/>
                <a:cs typeface="Consolas" pitchFamily="34" charset="-120"/>
              </a:rPr>
              <a:t># Mi primera tabla de datos actuarial</a:t>
            </a:r>
            <a:endParaRPr lang="en-US" sz="950" dirty="0"/>
          </a:p>
        </p:txBody>
      </p:sp>
      <p:sp>
        <p:nvSpPr>
          <p:cNvPr id="14" name="Text 12"/>
          <p:cNvSpPr/>
          <p:nvPr/>
        </p:nvSpPr>
        <p:spPr>
          <a:xfrm>
            <a:off x="475488" y="2852928"/>
            <a:ext cx="8229600" cy="182880"/>
          </a:xfrm>
          <a:prstGeom prst="rect">
            <a:avLst/>
          </a:prstGeom>
          <a:noFill/>
          <a:ln/>
        </p:spPr>
        <p:txBody>
          <a:bodyPr wrap="square" lIns="0" tIns="0" rIns="0" bIns="0" rtlCol="0" anchor="ctr"/>
          <a:lstStyle/>
          <a:p>
            <a:pPr marL="0" indent="0">
              <a:buNone/>
            </a:pPr>
            <a:r>
              <a:rPr lang="en-US" sz="950" dirty="0">
                <a:solidFill>
                  <a:srgbClr val="A8D8EA"/>
                </a:solidFill>
                <a:latin typeface="Consolas" pitchFamily="34" charset="0"/>
                <a:ea typeface="Consolas" pitchFamily="34" charset="-122"/>
                <a:cs typeface="Consolas" pitchFamily="34" charset="-120"/>
              </a:rPr>
              <a:t>polizas = {</a:t>
            </a:r>
            <a:endParaRPr lang="en-US" sz="950" dirty="0"/>
          </a:p>
        </p:txBody>
      </p:sp>
      <p:sp>
        <p:nvSpPr>
          <p:cNvPr id="15" name="Text 13"/>
          <p:cNvSpPr/>
          <p:nvPr/>
        </p:nvSpPr>
        <p:spPr>
          <a:xfrm>
            <a:off x="475488" y="3026664"/>
            <a:ext cx="8229600" cy="182880"/>
          </a:xfrm>
          <a:prstGeom prst="rect">
            <a:avLst/>
          </a:prstGeom>
          <a:noFill/>
          <a:ln/>
        </p:spPr>
        <p:txBody>
          <a:bodyPr wrap="square" lIns="0" tIns="0" rIns="0" bIns="0" rtlCol="0" anchor="ctr"/>
          <a:lstStyle/>
          <a:p>
            <a:pPr marL="0" indent="0">
              <a:buNone/>
            </a:pPr>
            <a:r>
              <a:rPr lang="en-US" sz="950" dirty="0">
                <a:solidFill>
                  <a:srgbClr val="A8D8EA"/>
                </a:solidFill>
                <a:latin typeface="Consolas" pitchFamily="34" charset="0"/>
                <a:ea typeface="Consolas" pitchFamily="34" charset="-122"/>
                <a:cs typeface="Consolas" pitchFamily="34" charset="-120"/>
              </a:rPr>
              <a:t>    "id_poliza": [1001, 1002, 1003, 1004, 1005],</a:t>
            </a:r>
            <a:endParaRPr lang="en-US" sz="950" dirty="0"/>
          </a:p>
        </p:txBody>
      </p:sp>
      <p:sp>
        <p:nvSpPr>
          <p:cNvPr id="16" name="Text 14"/>
          <p:cNvSpPr/>
          <p:nvPr/>
        </p:nvSpPr>
        <p:spPr>
          <a:xfrm>
            <a:off x="475488" y="3200400"/>
            <a:ext cx="8229600" cy="182880"/>
          </a:xfrm>
          <a:prstGeom prst="rect">
            <a:avLst/>
          </a:prstGeom>
          <a:noFill/>
          <a:ln/>
        </p:spPr>
        <p:txBody>
          <a:bodyPr wrap="square" lIns="0" tIns="0" rIns="0" bIns="0" rtlCol="0" anchor="ctr"/>
          <a:lstStyle/>
          <a:p>
            <a:pPr marL="0" indent="0">
              <a:buNone/>
            </a:pPr>
            <a:r>
              <a:rPr lang="en-US" sz="950" dirty="0">
                <a:solidFill>
                  <a:srgbClr val="A8D8EA"/>
                </a:solidFill>
                <a:latin typeface="Consolas" pitchFamily="34" charset="0"/>
                <a:ea typeface="Consolas" pitchFamily="34" charset="-122"/>
                <a:cs typeface="Consolas" pitchFamily="34" charset="-120"/>
              </a:rPr>
              <a:t>    "edad":      [28,   45,   32,   58,   41  ],</a:t>
            </a:r>
            <a:endParaRPr lang="en-US" sz="950" dirty="0"/>
          </a:p>
        </p:txBody>
      </p:sp>
      <p:sp>
        <p:nvSpPr>
          <p:cNvPr id="17" name="Text 15"/>
          <p:cNvSpPr/>
          <p:nvPr/>
        </p:nvSpPr>
        <p:spPr>
          <a:xfrm>
            <a:off x="475488" y="3374136"/>
            <a:ext cx="8229600" cy="182880"/>
          </a:xfrm>
          <a:prstGeom prst="rect">
            <a:avLst/>
          </a:prstGeom>
          <a:noFill/>
          <a:ln/>
        </p:spPr>
        <p:txBody>
          <a:bodyPr wrap="square" lIns="0" tIns="0" rIns="0" bIns="0" rtlCol="0" anchor="ctr"/>
          <a:lstStyle/>
          <a:p>
            <a:pPr marL="0" indent="0">
              <a:buNone/>
            </a:pPr>
            <a:r>
              <a:rPr lang="en-US" sz="950" dirty="0">
                <a:solidFill>
                  <a:srgbClr val="A8D8EA"/>
                </a:solidFill>
                <a:latin typeface="Consolas" pitchFamily="34" charset="0"/>
                <a:ea typeface="Consolas" pitchFamily="34" charset="-122"/>
                <a:cs typeface="Consolas" pitchFamily="34" charset="-120"/>
              </a:rPr>
              <a:t>    "prima_mxn": [1800, 4500, 2200, 8900, 3600],</a:t>
            </a:r>
            <a:endParaRPr lang="en-US" sz="950" dirty="0"/>
          </a:p>
        </p:txBody>
      </p:sp>
      <p:sp>
        <p:nvSpPr>
          <p:cNvPr id="18" name="Text 16"/>
          <p:cNvSpPr/>
          <p:nvPr/>
        </p:nvSpPr>
        <p:spPr>
          <a:xfrm>
            <a:off x="475488" y="3547872"/>
            <a:ext cx="8229600" cy="182880"/>
          </a:xfrm>
          <a:prstGeom prst="rect">
            <a:avLst/>
          </a:prstGeom>
          <a:noFill/>
          <a:ln/>
        </p:spPr>
        <p:txBody>
          <a:bodyPr wrap="square" lIns="0" tIns="0" rIns="0" bIns="0" rtlCol="0" anchor="ctr"/>
          <a:lstStyle/>
          <a:p>
            <a:pPr marL="0" indent="0">
              <a:buNone/>
            </a:pPr>
            <a:r>
              <a:rPr lang="en-US" sz="950" dirty="0">
                <a:solidFill>
                  <a:srgbClr val="A8D8EA"/>
                </a:solidFill>
                <a:latin typeface="Consolas" pitchFamily="34" charset="0"/>
                <a:ea typeface="Consolas" pitchFamily="34" charset="-122"/>
                <a:cs typeface="Consolas" pitchFamily="34" charset="-120"/>
              </a:rPr>
              <a:t>    "siniestros":[0,    1,    0,    2,    0   ]</a:t>
            </a:r>
            <a:endParaRPr lang="en-US" sz="950" dirty="0"/>
          </a:p>
        </p:txBody>
      </p:sp>
      <p:sp>
        <p:nvSpPr>
          <p:cNvPr id="19" name="Text 17"/>
          <p:cNvSpPr/>
          <p:nvPr/>
        </p:nvSpPr>
        <p:spPr>
          <a:xfrm>
            <a:off x="475488" y="3721608"/>
            <a:ext cx="8229600" cy="182880"/>
          </a:xfrm>
          <a:prstGeom prst="rect">
            <a:avLst/>
          </a:prstGeom>
          <a:noFill/>
          <a:ln/>
        </p:spPr>
        <p:txBody>
          <a:bodyPr wrap="square" lIns="0" tIns="0" rIns="0" bIns="0" rtlCol="0" anchor="ctr"/>
          <a:lstStyle/>
          <a:p>
            <a:pPr marL="0" indent="0">
              <a:buNone/>
            </a:pPr>
            <a:r>
              <a:rPr lang="en-US" sz="950" dirty="0">
                <a:solidFill>
                  <a:srgbClr val="A8D8EA"/>
                </a:solidFill>
                <a:latin typeface="Consolas" pitchFamily="34" charset="0"/>
                <a:ea typeface="Consolas" pitchFamily="34" charset="-122"/>
                <a:cs typeface="Consolas" pitchFamily="34" charset="-120"/>
              </a:rPr>
              <a:t>}</a:t>
            </a:r>
            <a:endParaRPr lang="en-US" sz="950" dirty="0"/>
          </a:p>
        </p:txBody>
      </p:sp>
      <p:sp>
        <p:nvSpPr>
          <p:cNvPr id="20" name="Text 18"/>
          <p:cNvSpPr/>
          <p:nvPr/>
        </p:nvSpPr>
        <p:spPr>
          <a:xfrm>
            <a:off x="475488" y="3895344"/>
            <a:ext cx="8229600" cy="182880"/>
          </a:xfrm>
          <a:prstGeom prst="rect">
            <a:avLst/>
          </a:prstGeom>
          <a:noFill/>
          <a:ln/>
        </p:spPr>
        <p:txBody>
          <a:bodyPr wrap="square" lIns="0" tIns="0" rIns="0" bIns="0" rtlCol="0" anchor="ctr"/>
          <a:lstStyle/>
          <a:p>
            <a:pPr marL="0" indent="0">
              <a:buNone/>
            </a:pPr>
            <a:r>
              <a:rPr lang="en-US" sz="950" dirty="0">
                <a:solidFill>
                  <a:srgbClr val="A8D8EA"/>
                </a:solidFill>
                <a:latin typeface="Consolas" pitchFamily="34" charset="0"/>
                <a:ea typeface="Consolas" pitchFamily="34" charset="-122"/>
                <a:cs typeface="Consolas" pitchFamily="34" charset="-120"/>
              </a:rPr>
              <a:t>df = pd.DataFrame(polizas)</a:t>
            </a:r>
            <a:endParaRPr lang="en-US" sz="950" dirty="0"/>
          </a:p>
        </p:txBody>
      </p:sp>
      <p:sp>
        <p:nvSpPr>
          <p:cNvPr id="21" name="Text 19"/>
          <p:cNvSpPr/>
          <p:nvPr/>
        </p:nvSpPr>
        <p:spPr>
          <a:xfrm>
            <a:off x="475488" y="4069080"/>
            <a:ext cx="8229600" cy="182880"/>
          </a:xfrm>
          <a:prstGeom prst="rect">
            <a:avLst/>
          </a:prstGeom>
          <a:noFill/>
          <a:ln/>
        </p:spPr>
        <p:txBody>
          <a:bodyPr wrap="square" lIns="0" tIns="0" rIns="0" bIns="0" rtlCol="0" anchor="ctr"/>
          <a:lstStyle/>
          <a:p>
            <a:pPr marL="0" indent="0">
              <a:buNone/>
            </a:pPr>
            <a:r>
              <a:rPr lang="en-US" sz="950" dirty="0">
                <a:solidFill>
                  <a:srgbClr val="A8D8EA"/>
                </a:solidFill>
                <a:latin typeface="Consolas" pitchFamily="34" charset="0"/>
                <a:ea typeface="Consolas" pitchFamily="34" charset="-122"/>
                <a:cs typeface="Consolas" pitchFamily="34" charset="-120"/>
              </a:rPr>
              <a:t>print(df)</a:t>
            </a:r>
            <a:endParaRPr lang="en-US" sz="950" dirty="0"/>
          </a:p>
        </p:txBody>
      </p:sp>
      <p:sp>
        <p:nvSpPr>
          <p:cNvPr id="22" name="Text 20"/>
          <p:cNvSpPr/>
          <p:nvPr/>
        </p:nvSpPr>
        <p:spPr>
          <a:xfrm>
            <a:off x="475488" y="4416552"/>
            <a:ext cx="8229600" cy="182880"/>
          </a:xfrm>
          <a:prstGeom prst="rect">
            <a:avLst/>
          </a:prstGeom>
          <a:noFill/>
          <a:ln/>
        </p:spPr>
        <p:txBody>
          <a:bodyPr wrap="square" lIns="0" tIns="0" rIns="0" bIns="0" rtlCol="0" anchor="ctr"/>
          <a:lstStyle/>
          <a:p>
            <a:pPr marL="0" indent="0">
              <a:buNone/>
            </a:pPr>
            <a:r>
              <a:rPr lang="en-US" sz="950" dirty="0">
                <a:solidFill>
                  <a:srgbClr val="8FA3B1"/>
                </a:solidFill>
                <a:latin typeface="Consolas" pitchFamily="34" charset="0"/>
                <a:ea typeface="Consolas" pitchFamily="34" charset="-122"/>
                <a:cs typeface="Consolas" pitchFamily="34" charset="-120"/>
              </a:rPr>
              <a:t># Estadísticas básicas</a:t>
            </a:r>
            <a:endParaRPr lang="en-US" sz="950" dirty="0"/>
          </a:p>
        </p:txBody>
      </p:sp>
      <p:sp>
        <p:nvSpPr>
          <p:cNvPr id="23" name="Text 21"/>
          <p:cNvSpPr/>
          <p:nvPr/>
        </p:nvSpPr>
        <p:spPr>
          <a:xfrm>
            <a:off x="475488" y="4590288"/>
            <a:ext cx="8229600" cy="182880"/>
          </a:xfrm>
          <a:prstGeom prst="rect">
            <a:avLst/>
          </a:prstGeom>
          <a:noFill/>
          <a:ln/>
        </p:spPr>
        <p:txBody>
          <a:bodyPr wrap="square" lIns="0" tIns="0" rIns="0" bIns="0" rtlCol="0" anchor="ctr"/>
          <a:lstStyle/>
          <a:p>
            <a:pPr marL="0" indent="0">
              <a:buNone/>
            </a:pPr>
            <a:r>
              <a:rPr lang="en-US" sz="950" dirty="0">
                <a:solidFill>
                  <a:srgbClr val="A8D8EA"/>
                </a:solidFill>
                <a:latin typeface="Consolas" pitchFamily="34" charset="0"/>
                <a:ea typeface="Consolas" pitchFamily="34" charset="-122"/>
                <a:cs typeface="Consolas" pitchFamily="34" charset="-120"/>
              </a:rPr>
              <a:t>print("\nPrima promedio: $", df["prima_mxn"].mean().round(0))</a:t>
            </a:r>
            <a:endParaRPr lang="en-US" sz="950" dirty="0"/>
          </a:p>
        </p:txBody>
      </p:sp>
      <p:sp>
        <p:nvSpPr>
          <p:cNvPr id="24" name="Shape 22"/>
          <p:cNvSpPr/>
          <p:nvPr/>
        </p:nvSpPr>
        <p:spPr>
          <a:xfrm>
            <a:off x="347472" y="4864608"/>
            <a:ext cx="8449056" cy="420624"/>
          </a:xfrm>
          <a:prstGeom prst="rect">
            <a:avLst/>
          </a:prstGeom>
          <a:solidFill>
            <a:srgbClr val="071020"/>
          </a:solidFill>
          <a:ln w="12700">
            <a:solidFill>
              <a:srgbClr val="F4A261"/>
            </a:solidFill>
            <a:prstDash val="solid"/>
          </a:ln>
        </p:spPr>
        <p:txBody>
          <a:bodyPr/>
          <a:lstStyle/>
          <a:p>
            <a:endParaRPr lang="es-MX"/>
          </a:p>
        </p:txBody>
      </p:sp>
      <p:sp>
        <p:nvSpPr>
          <p:cNvPr id="25" name="Text 23"/>
          <p:cNvSpPr/>
          <p:nvPr/>
        </p:nvSpPr>
        <p:spPr>
          <a:xfrm>
            <a:off x="493776" y="4901184"/>
            <a:ext cx="8229600" cy="274320"/>
          </a:xfrm>
          <a:prstGeom prst="rect">
            <a:avLst/>
          </a:prstGeom>
          <a:noFill/>
          <a:ln/>
        </p:spPr>
        <p:txBody>
          <a:bodyPr wrap="square" lIns="0" tIns="0" rIns="0" bIns="0" rtlCol="0" anchor="ctr"/>
          <a:lstStyle/>
          <a:p>
            <a:pPr marL="0" indent="0">
              <a:buNone/>
            </a:pPr>
            <a:r>
              <a:rPr lang="en-US" sz="1000" dirty="0">
                <a:solidFill>
                  <a:srgbClr val="F0F4F8"/>
                </a:solidFill>
                <a:latin typeface="Consolas" pitchFamily="34" charset="0"/>
                <a:ea typeface="Consolas" pitchFamily="34" charset="-122"/>
                <a:cs typeface="Consolas" pitchFamily="34" charset="-120"/>
              </a:rPr>
              <a:t>Out: ✓ Entorno listo — Python 3.11.x    Prima promedio: $ 4200.0</a:t>
            </a:r>
            <a:endParaRPr lang="en-US" sz="1000" dirty="0"/>
          </a:p>
        </p:txBody>
      </p:sp>
      <p:sp>
        <p:nvSpPr>
          <p:cNvPr id="26" name="Shape 24"/>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27" name="Text 25"/>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Módulo 1 · Introducción a Python · Sesión 1  —  15 abril 2026</a:t>
            </a:r>
            <a:endParaRPr lang="en-US" sz="850" dirty="0"/>
          </a:p>
        </p:txBody>
      </p:sp>
      <p:sp>
        <p:nvSpPr>
          <p:cNvPr id="28" name="Text 26"/>
          <p:cNvSpPr/>
          <p:nvPr/>
        </p:nvSpPr>
        <p:spPr>
          <a:xfrm>
            <a:off x="274320" y="4892040"/>
            <a:ext cx="5486400" cy="251460"/>
          </a:xfrm>
          <a:prstGeom prst="rect">
            <a:avLst/>
          </a:prstGeom>
          <a:noFill/>
          <a:ln/>
        </p:spPr>
        <p:txBody>
          <a:bodyPr wrap="square" lIns="0" tIns="0" rIns="0" bIns="0" rtlCol="0" anchor="ctr"/>
          <a:lstStyle/>
          <a:p>
            <a:pPr marL="0" indent="0" algn="l">
              <a:buNone/>
            </a:pPr>
            <a:r>
              <a:rPr lang="en-US" sz="850" dirty="0">
                <a:solidFill>
                  <a:srgbClr val="A8D8EA"/>
                </a:solidFill>
              </a:rPr>
              <a:t>¡Primer Notebook!</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Text 1"/>
          <p:cNvSpPr/>
          <p:nvPr/>
        </p:nvSpPr>
        <p:spPr>
          <a:xfrm>
            <a:off x="457200" y="182880"/>
            <a:ext cx="8229600" cy="475488"/>
          </a:xfrm>
          <a:prstGeom prst="rect">
            <a:avLst/>
          </a:prstGeom>
          <a:noFill/>
          <a:ln/>
        </p:spPr>
        <p:txBody>
          <a:bodyPr wrap="square" lIns="0" tIns="0" rIns="0" bIns="0" rtlCol="0" anchor="ctr"/>
          <a:lstStyle/>
          <a:p>
            <a:pPr marL="0" indent="0" algn="l">
              <a:buNone/>
            </a:pPr>
            <a:r>
              <a:rPr lang="en-US" sz="2800" b="1" dirty="0">
                <a:solidFill>
                  <a:srgbClr val="0D1B3E"/>
                </a:solidFill>
              </a:rPr>
              <a:t>Ejercicio en Clase</a:t>
            </a:r>
            <a:endParaRPr lang="en-US" sz="2800" dirty="0"/>
          </a:p>
        </p:txBody>
      </p:sp>
      <p:sp>
        <p:nvSpPr>
          <p:cNvPr id="4" name="Text 2"/>
          <p:cNvSpPr/>
          <p:nvPr/>
        </p:nvSpPr>
        <p:spPr>
          <a:xfrm>
            <a:off x="457200" y="685800"/>
            <a:ext cx="8229600" cy="256032"/>
          </a:xfrm>
          <a:prstGeom prst="rect">
            <a:avLst/>
          </a:prstGeom>
          <a:noFill/>
          <a:ln/>
        </p:spPr>
        <p:txBody>
          <a:bodyPr wrap="square" lIns="0" tIns="0" rIns="0" bIns="0" rtlCol="0" anchor="ctr"/>
          <a:lstStyle/>
          <a:p>
            <a:pPr marL="0" indent="0" algn="l">
              <a:buNone/>
            </a:pPr>
            <a:r>
              <a:rPr lang="en-US" sz="1200" dirty="0">
                <a:solidFill>
                  <a:srgbClr val="0D7A8A"/>
                </a:solidFill>
              </a:rPr>
              <a:t>Resuelve en tu notebook — tienes 15 minutos</a:t>
            </a:r>
            <a:endParaRPr lang="en-US" sz="1200" dirty="0"/>
          </a:p>
        </p:txBody>
      </p:sp>
      <p:sp>
        <p:nvSpPr>
          <p:cNvPr id="5" name="Shape 3"/>
          <p:cNvSpPr/>
          <p:nvPr/>
        </p:nvSpPr>
        <p:spPr>
          <a:xfrm>
            <a:off x="347472" y="1005840"/>
            <a:ext cx="8449056" cy="1170432"/>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6" name="Shape 4"/>
          <p:cNvSpPr/>
          <p:nvPr/>
        </p:nvSpPr>
        <p:spPr>
          <a:xfrm>
            <a:off x="347472" y="1005840"/>
            <a:ext cx="109728" cy="1170432"/>
          </a:xfrm>
          <a:prstGeom prst="rect">
            <a:avLst/>
          </a:prstGeom>
          <a:solidFill>
            <a:srgbClr val="0D7A8A"/>
          </a:solidFill>
          <a:ln w="12700">
            <a:solidFill>
              <a:srgbClr val="0D7A8A"/>
            </a:solidFill>
            <a:prstDash val="solid"/>
          </a:ln>
        </p:spPr>
        <p:txBody>
          <a:bodyPr/>
          <a:lstStyle/>
          <a:p>
            <a:endParaRPr lang="es-MX"/>
          </a:p>
        </p:txBody>
      </p:sp>
      <p:sp>
        <p:nvSpPr>
          <p:cNvPr id="7" name="Text 5"/>
          <p:cNvSpPr/>
          <p:nvPr/>
        </p:nvSpPr>
        <p:spPr>
          <a:xfrm>
            <a:off x="548640" y="1042416"/>
            <a:ext cx="1280160" cy="292608"/>
          </a:xfrm>
          <a:prstGeom prst="rect">
            <a:avLst/>
          </a:prstGeom>
          <a:noFill/>
          <a:ln/>
        </p:spPr>
        <p:txBody>
          <a:bodyPr wrap="square" lIns="0" tIns="0" rIns="0" bIns="0" rtlCol="0" anchor="ctr"/>
          <a:lstStyle/>
          <a:p>
            <a:pPr marL="0" indent="0">
              <a:buNone/>
            </a:pPr>
            <a:r>
              <a:rPr lang="en-US" sz="1200" b="1" dirty="0">
                <a:solidFill>
                  <a:srgbClr val="0D1B3E"/>
                </a:solidFill>
              </a:rPr>
              <a:t>Contexto</a:t>
            </a:r>
            <a:endParaRPr lang="en-US" sz="1200" dirty="0"/>
          </a:p>
        </p:txBody>
      </p:sp>
      <p:sp>
        <p:nvSpPr>
          <p:cNvPr id="8" name="Text 6"/>
          <p:cNvSpPr/>
          <p:nvPr/>
        </p:nvSpPr>
        <p:spPr>
          <a:xfrm>
            <a:off x="548640" y="1335024"/>
            <a:ext cx="8138160" cy="749808"/>
          </a:xfrm>
          <a:prstGeom prst="rect">
            <a:avLst/>
          </a:prstGeom>
          <a:noFill/>
          <a:ln/>
        </p:spPr>
        <p:txBody>
          <a:bodyPr wrap="square" lIns="0" tIns="0" rIns="0" bIns="0" rtlCol="0" anchor="ctr"/>
          <a:lstStyle/>
          <a:p>
            <a:pPr marL="0" indent="0">
              <a:buNone/>
            </a:pPr>
            <a:r>
              <a:rPr lang="en-US" sz="1100" dirty="0">
                <a:solidFill>
                  <a:srgbClr val="374151"/>
                </a:solidFill>
              </a:rPr>
              <a:t>Eres analista en una aseguradora. Tu jefe te entregó una lista de 6 pólizas de seguro de gastos médicos y quiere un resumen rápido de la cartera. Usa Python para analizarla.</a:t>
            </a:r>
            <a:endParaRPr lang="en-US" sz="1100" dirty="0"/>
          </a:p>
        </p:txBody>
      </p:sp>
      <p:sp>
        <p:nvSpPr>
          <p:cNvPr id="9" name="Shape 7"/>
          <p:cNvSpPr/>
          <p:nvPr/>
        </p:nvSpPr>
        <p:spPr>
          <a:xfrm>
            <a:off x="347472" y="2286000"/>
            <a:ext cx="8449056" cy="1298448"/>
          </a:xfrm>
          <a:prstGeom prst="rect">
            <a:avLst/>
          </a:prstGeom>
          <a:solidFill>
            <a:srgbClr val="071228"/>
          </a:solidFill>
          <a:ln w="12700">
            <a:solidFill>
              <a:srgbClr val="0D7A8A"/>
            </a:solidFill>
            <a:prstDash val="solid"/>
          </a:ln>
        </p:spPr>
        <p:txBody>
          <a:bodyPr/>
          <a:lstStyle/>
          <a:p>
            <a:endParaRPr lang="es-MX"/>
          </a:p>
        </p:txBody>
      </p:sp>
      <p:sp>
        <p:nvSpPr>
          <p:cNvPr id="10" name="Shape 8"/>
          <p:cNvSpPr/>
          <p:nvPr/>
        </p:nvSpPr>
        <p:spPr>
          <a:xfrm>
            <a:off x="347472" y="2286000"/>
            <a:ext cx="8449056" cy="292608"/>
          </a:xfrm>
          <a:prstGeom prst="rect">
            <a:avLst/>
          </a:prstGeom>
          <a:solidFill>
            <a:srgbClr val="1A5276"/>
          </a:solidFill>
          <a:ln w="12700">
            <a:solidFill>
              <a:srgbClr val="1A5276"/>
            </a:solidFill>
            <a:prstDash val="solid"/>
          </a:ln>
        </p:spPr>
        <p:txBody>
          <a:bodyPr/>
          <a:lstStyle/>
          <a:p>
            <a:endParaRPr lang="es-MX"/>
          </a:p>
        </p:txBody>
      </p:sp>
      <p:sp>
        <p:nvSpPr>
          <p:cNvPr id="11" name="Text 9"/>
          <p:cNvSpPr/>
          <p:nvPr/>
        </p:nvSpPr>
        <p:spPr>
          <a:xfrm>
            <a:off x="475488" y="2286000"/>
            <a:ext cx="8229600" cy="292608"/>
          </a:xfrm>
          <a:prstGeom prst="rect">
            <a:avLst/>
          </a:prstGeom>
          <a:noFill/>
          <a:ln/>
        </p:spPr>
        <p:txBody>
          <a:bodyPr wrap="square" lIns="0" tIns="0" rIns="0" bIns="0" rtlCol="0" anchor="ctr"/>
          <a:lstStyle/>
          <a:p>
            <a:pPr marL="0" indent="0">
              <a:buNone/>
            </a:pPr>
            <a:r>
              <a:rPr lang="en-US" sz="1000" b="1" dirty="0">
                <a:solidFill>
                  <a:srgbClr val="FFFFFF"/>
                </a:solidFill>
              </a:rPr>
              <a:t>Datos a cargar en tu notebook</a:t>
            </a:r>
            <a:endParaRPr lang="en-US" sz="1000" dirty="0"/>
          </a:p>
        </p:txBody>
      </p:sp>
      <p:sp>
        <p:nvSpPr>
          <p:cNvPr id="12" name="Text 10"/>
          <p:cNvSpPr/>
          <p:nvPr/>
        </p:nvSpPr>
        <p:spPr>
          <a:xfrm>
            <a:off x="475488" y="2633472"/>
            <a:ext cx="8229600" cy="164592"/>
          </a:xfrm>
          <a:prstGeom prst="rect">
            <a:avLst/>
          </a:prstGeom>
          <a:noFill/>
          <a:ln/>
        </p:spPr>
        <p:txBody>
          <a:bodyPr wrap="square" lIns="0" tIns="0" rIns="0" bIns="0" rtlCol="0" anchor="ctr"/>
          <a:lstStyle/>
          <a:p>
            <a:pPr marL="0" indent="0">
              <a:buNone/>
            </a:pPr>
            <a:r>
              <a:rPr lang="en-US" sz="900" dirty="0">
                <a:solidFill>
                  <a:srgbClr val="A8D8EA"/>
                </a:solidFill>
                <a:latin typeface="Consolas" pitchFamily="34" charset="0"/>
                <a:ea typeface="Consolas" pitchFamily="34" charset="-122"/>
                <a:cs typeface="Consolas" pitchFamily="34" charset="-120"/>
              </a:rPr>
              <a:t>datos = {"poliza": ["P01","P02","P03","P04","P05","P06"],</a:t>
            </a:r>
            <a:endParaRPr lang="en-US" sz="900" dirty="0"/>
          </a:p>
        </p:txBody>
      </p:sp>
      <p:sp>
        <p:nvSpPr>
          <p:cNvPr id="13" name="Text 11"/>
          <p:cNvSpPr/>
          <p:nvPr/>
        </p:nvSpPr>
        <p:spPr>
          <a:xfrm>
            <a:off x="475488" y="2788920"/>
            <a:ext cx="8229600" cy="164592"/>
          </a:xfrm>
          <a:prstGeom prst="rect">
            <a:avLst/>
          </a:prstGeom>
          <a:noFill/>
          <a:ln/>
        </p:spPr>
        <p:txBody>
          <a:bodyPr wrap="square" lIns="0" tIns="0" rIns="0" bIns="0" rtlCol="0" anchor="ctr"/>
          <a:lstStyle/>
          <a:p>
            <a:pPr marL="0" indent="0">
              <a:buNone/>
            </a:pPr>
            <a:r>
              <a:rPr lang="en-US" sz="900" dirty="0">
                <a:solidFill>
                  <a:srgbClr val="A8D8EA"/>
                </a:solidFill>
                <a:latin typeface="Consolas" pitchFamily="34" charset="0"/>
                <a:ea typeface="Consolas" pitchFamily="34" charset="-122"/>
                <a:cs typeface="Consolas" pitchFamily="34" charset="-120"/>
              </a:rPr>
              <a:t>         "asegurado": ["Ana","Luis","María","Carlos","Rosa","Jorge"],</a:t>
            </a:r>
            <a:endParaRPr lang="en-US" sz="900" dirty="0"/>
          </a:p>
        </p:txBody>
      </p:sp>
      <p:sp>
        <p:nvSpPr>
          <p:cNvPr id="14" name="Text 12"/>
          <p:cNvSpPr/>
          <p:nvPr/>
        </p:nvSpPr>
        <p:spPr>
          <a:xfrm>
            <a:off x="475488" y="2944368"/>
            <a:ext cx="8229600" cy="164592"/>
          </a:xfrm>
          <a:prstGeom prst="rect">
            <a:avLst/>
          </a:prstGeom>
          <a:noFill/>
          <a:ln/>
        </p:spPr>
        <p:txBody>
          <a:bodyPr wrap="square" lIns="0" tIns="0" rIns="0" bIns="0" rtlCol="0" anchor="ctr"/>
          <a:lstStyle/>
          <a:p>
            <a:pPr marL="0" indent="0">
              <a:buNone/>
            </a:pPr>
            <a:r>
              <a:rPr lang="en-US" sz="900" dirty="0">
                <a:solidFill>
                  <a:srgbClr val="A8D8EA"/>
                </a:solidFill>
                <a:latin typeface="Consolas" pitchFamily="34" charset="0"/>
                <a:ea typeface="Consolas" pitchFamily="34" charset="-122"/>
                <a:cs typeface="Consolas" pitchFamily="34" charset="-120"/>
              </a:rPr>
              <a:t>         "edad":   [32, 45, 28, 62, 38, 51],</a:t>
            </a:r>
            <a:endParaRPr lang="en-US" sz="900" dirty="0"/>
          </a:p>
        </p:txBody>
      </p:sp>
      <p:sp>
        <p:nvSpPr>
          <p:cNvPr id="15" name="Text 13"/>
          <p:cNvSpPr/>
          <p:nvPr/>
        </p:nvSpPr>
        <p:spPr>
          <a:xfrm>
            <a:off x="475488" y="3099816"/>
            <a:ext cx="8229600" cy="164592"/>
          </a:xfrm>
          <a:prstGeom prst="rect">
            <a:avLst/>
          </a:prstGeom>
          <a:noFill/>
          <a:ln/>
        </p:spPr>
        <p:txBody>
          <a:bodyPr wrap="square" lIns="0" tIns="0" rIns="0" bIns="0" rtlCol="0" anchor="ctr"/>
          <a:lstStyle/>
          <a:p>
            <a:pPr marL="0" indent="0">
              <a:buNone/>
            </a:pPr>
            <a:r>
              <a:rPr lang="en-US" sz="900" dirty="0">
                <a:solidFill>
                  <a:srgbClr val="A8D8EA"/>
                </a:solidFill>
                <a:latin typeface="Consolas" pitchFamily="34" charset="0"/>
                <a:ea typeface="Consolas" pitchFamily="34" charset="-122"/>
                <a:cs typeface="Consolas" pitchFamily="34" charset="-120"/>
              </a:rPr>
              <a:t>         "prima":  [2400, 5600, 1900, 12000, 3200, 7800],</a:t>
            </a:r>
            <a:endParaRPr lang="en-US" sz="900" dirty="0"/>
          </a:p>
        </p:txBody>
      </p:sp>
      <p:sp>
        <p:nvSpPr>
          <p:cNvPr id="16" name="Text 14"/>
          <p:cNvSpPr/>
          <p:nvPr/>
        </p:nvSpPr>
        <p:spPr>
          <a:xfrm>
            <a:off x="475488" y="3255264"/>
            <a:ext cx="8229600" cy="164592"/>
          </a:xfrm>
          <a:prstGeom prst="rect">
            <a:avLst/>
          </a:prstGeom>
          <a:noFill/>
          <a:ln/>
        </p:spPr>
        <p:txBody>
          <a:bodyPr wrap="square" lIns="0" tIns="0" rIns="0" bIns="0" rtlCol="0" anchor="ctr"/>
          <a:lstStyle/>
          <a:p>
            <a:pPr marL="0" indent="0">
              <a:buNone/>
            </a:pPr>
            <a:r>
              <a:rPr lang="en-US" sz="900" dirty="0">
                <a:solidFill>
                  <a:srgbClr val="A8D8EA"/>
                </a:solidFill>
                <a:latin typeface="Consolas" pitchFamily="34" charset="0"/>
                <a:ea typeface="Consolas" pitchFamily="34" charset="-122"/>
                <a:cs typeface="Consolas" pitchFamily="34" charset="-120"/>
              </a:rPr>
              <a:t>         "cobertura_mxn": [500000,1000000,300000,2000000,500000,1500000]}</a:t>
            </a:r>
            <a:endParaRPr lang="en-US" sz="900" dirty="0"/>
          </a:p>
        </p:txBody>
      </p:sp>
      <p:sp>
        <p:nvSpPr>
          <p:cNvPr id="17" name="Text 15"/>
          <p:cNvSpPr/>
          <p:nvPr/>
        </p:nvSpPr>
        <p:spPr>
          <a:xfrm>
            <a:off x="475488" y="3410712"/>
            <a:ext cx="8229600" cy="164592"/>
          </a:xfrm>
          <a:prstGeom prst="rect">
            <a:avLst/>
          </a:prstGeom>
          <a:noFill/>
          <a:ln/>
        </p:spPr>
        <p:txBody>
          <a:bodyPr wrap="square" lIns="0" tIns="0" rIns="0" bIns="0" rtlCol="0" anchor="ctr"/>
          <a:lstStyle/>
          <a:p>
            <a:pPr marL="0" indent="0">
              <a:buNone/>
            </a:pPr>
            <a:r>
              <a:rPr lang="en-US" sz="900" dirty="0">
                <a:solidFill>
                  <a:srgbClr val="A8D8EA"/>
                </a:solidFill>
                <a:latin typeface="Consolas" pitchFamily="34" charset="0"/>
                <a:ea typeface="Consolas" pitchFamily="34" charset="-122"/>
                <a:cs typeface="Consolas" pitchFamily="34" charset="-120"/>
              </a:rPr>
              <a:t>df = pd.DataFrame(datos)</a:t>
            </a:r>
            <a:endParaRPr lang="en-US" sz="900" dirty="0"/>
          </a:p>
        </p:txBody>
      </p:sp>
      <p:sp>
        <p:nvSpPr>
          <p:cNvPr id="18" name="Text 16"/>
          <p:cNvSpPr/>
          <p:nvPr/>
        </p:nvSpPr>
        <p:spPr>
          <a:xfrm>
            <a:off x="347472" y="3675888"/>
            <a:ext cx="8229600" cy="274320"/>
          </a:xfrm>
          <a:prstGeom prst="rect">
            <a:avLst/>
          </a:prstGeom>
          <a:noFill/>
          <a:ln/>
        </p:spPr>
        <p:txBody>
          <a:bodyPr wrap="square" lIns="0" tIns="0" rIns="0" bIns="0" rtlCol="0" anchor="ctr"/>
          <a:lstStyle/>
          <a:p>
            <a:pPr marL="0" indent="0">
              <a:buNone/>
            </a:pPr>
            <a:r>
              <a:rPr lang="en-US" sz="1200" b="1" dirty="0">
                <a:solidFill>
                  <a:srgbClr val="0D1B3E"/>
                </a:solidFill>
              </a:rPr>
              <a:t>Tareas:</a:t>
            </a:r>
            <a:endParaRPr lang="en-US" sz="1200" dirty="0"/>
          </a:p>
        </p:txBody>
      </p:sp>
      <p:sp>
        <p:nvSpPr>
          <p:cNvPr id="19" name="Text 17"/>
          <p:cNvSpPr/>
          <p:nvPr/>
        </p:nvSpPr>
        <p:spPr>
          <a:xfrm>
            <a:off x="438912" y="3986784"/>
            <a:ext cx="8339328" cy="256032"/>
          </a:xfrm>
          <a:prstGeom prst="rect">
            <a:avLst/>
          </a:prstGeom>
          <a:noFill/>
          <a:ln/>
        </p:spPr>
        <p:txBody>
          <a:bodyPr wrap="square" lIns="0" tIns="0" rIns="0" bIns="0" rtlCol="0" anchor="ctr"/>
          <a:lstStyle/>
          <a:p>
            <a:pPr marL="0" indent="0">
              <a:buNone/>
            </a:pPr>
            <a:r>
              <a:rPr lang="en-US" sz="1100" dirty="0">
                <a:solidFill>
                  <a:srgbClr val="374151"/>
                </a:solidFill>
              </a:rPr>
              <a:t>1.  Imprime el DataFrame completo y verifica que se cargó correctamente.</a:t>
            </a:r>
            <a:endParaRPr lang="en-US" sz="1100" dirty="0"/>
          </a:p>
        </p:txBody>
      </p:sp>
      <p:sp>
        <p:nvSpPr>
          <p:cNvPr id="20" name="Text 18"/>
          <p:cNvSpPr/>
          <p:nvPr/>
        </p:nvSpPr>
        <p:spPr>
          <a:xfrm>
            <a:off x="438912" y="4261104"/>
            <a:ext cx="8339328" cy="256032"/>
          </a:xfrm>
          <a:prstGeom prst="rect">
            <a:avLst/>
          </a:prstGeom>
          <a:noFill/>
          <a:ln/>
        </p:spPr>
        <p:txBody>
          <a:bodyPr wrap="square" lIns="0" tIns="0" rIns="0" bIns="0" rtlCol="0" anchor="ctr"/>
          <a:lstStyle/>
          <a:p>
            <a:pPr marL="0" indent="0">
              <a:buNone/>
            </a:pPr>
            <a:r>
              <a:rPr lang="en-US" sz="1100" dirty="0">
                <a:solidFill>
                  <a:srgbClr val="374151"/>
                </a:solidFill>
              </a:rPr>
              <a:t>2.  Calcula y muestra: la prima promedio, la prima máxima y la prima mínima.</a:t>
            </a:r>
            <a:endParaRPr lang="en-US" sz="1100" dirty="0"/>
          </a:p>
        </p:txBody>
      </p:sp>
      <p:sp>
        <p:nvSpPr>
          <p:cNvPr id="21" name="Text 19"/>
          <p:cNvSpPr/>
          <p:nvPr/>
        </p:nvSpPr>
        <p:spPr>
          <a:xfrm>
            <a:off x="438912" y="4535424"/>
            <a:ext cx="8339328" cy="256032"/>
          </a:xfrm>
          <a:prstGeom prst="rect">
            <a:avLst/>
          </a:prstGeom>
          <a:noFill/>
          <a:ln/>
        </p:spPr>
        <p:txBody>
          <a:bodyPr wrap="square" lIns="0" tIns="0" rIns="0" bIns="0" rtlCol="0" anchor="ctr"/>
          <a:lstStyle/>
          <a:p>
            <a:pPr marL="0" indent="0">
              <a:buNone/>
            </a:pPr>
            <a:r>
              <a:rPr lang="en-US" sz="1100" dirty="0">
                <a:solidFill>
                  <a:srgbClr val="374151"/>
                </a:solidFill>
              </a:rPr>
              <a:t>3.  Calcula la cobertura promedio en millones de pesos.</a:t>
            </a:r>
            <a:endParaRPr lang="en-US" sz="1100" dirty="0"/>
          </a:p>
        </p:txBody>
      </p:sp>
      <p:sp>
        <p:nvSpPr>
          <p:cNvPr id="22" name="Text 20"/>
          <p:cNvSpPr/>
          <p:nvPr/>
        </p:nvSpPr>
        <p:spPr>
          <a:xfrm>
            <a:off x="438912" y="4809744"/>
            <a:ext cx="8339328" cy="256032"/>
          </a:xfrm>
          <a:prstGeom prst="rect">
            <a:avLst/>
          </a:prstGeom>
          <a:noFill/>
          <a:ln/>
        </p:spPr>
        <p:txBody>
          <a:bodyPr wrap="square" lIns="0" tIns="0" rIns="0" bIns="0" rtlCol="0" anchor="ctr"/>
          <a:lstStyle/>
          <a:p>
            <a:pPr marL="0" indent="0">
              <a:buNone/>
            </a:pPr>
            <a:r>
              <a:rPr lang="en-US" sz="1100" dirty="0">
                <a:solidFill>
                  <a:srgbClr val="374151"/>
                </a:solidFill>
              </a:rPr>
              <a:t>4.  Bonus: ¿Cuántos asegurados tienen prima mayor a $4,000? Usa una condición booleana.</a:t>
            </a:r>
            <a:endParaRPr lang="en-US" sz="1100" dirty="0"/>
          </a:p>
        </p:txBody>
      </p:sp>
      <p:sp>
        <p:nvSpPr>
          <p:cNvPr id="23" name="Shape 21"/>
          <p:cNvSpPr/>
          <p:nvPr/>
        </p:nvSpPr>
        <p:spPr>
          <a:xfrm>
            <a:off x="347472" y="5029200"/>
            <a:ext cx="8449056" cy="292608"/>
          </a:xfrm>
          <a:prstGeom prst="rect">
            <a:avLst/>
          </a:prstGeom>
          <a:solidFill>
            <a:srgbClr val="0D7A8A">
              <a:alpha val="12000"/>
            </a:srgbClr>
          </a:solidFill>
          <a:ln w="12700">
            <a:solidFill>
              <a:srgbClr val="0D7A8A"/>
            </a:solidFill>
            <a:prstDash val="solid"/>
          </a:ln>
        </p:spPr>
        <p:txBody>
          <a:bodyPr/>
          <a:lstStyle/>
          <a:p>
            <a:endParaRPr lang="es-MX"/>
          </a:p>
        </p:txBody>
      </p:sp>
      <p:sp>
        <p:nvSpPr>
          <p:cNvPr id="24" name="Text 22"/>
          <p:cNvSpPr/>
          <p:nvPr/>
        </p:nvSpPr>
        <p:spPr>
          <a:xfrm>
            <a:off x="475488" y="5056632"/>
            <a:ext cx="8229600" cy="237744"/>
          </a:xfrm>
          <a:prstGeom prst="rect">
            <a:avLst/>
          </a:prstGeom>
          <a:noFill/>
          <a:ln/>
        </p:spPr>
        <p:txBody>
          <a:bodyPr wrap="square" lIns="0" tIns="0" rIns="0" bIns="0" rtlCol="0" anchor="ctr"/>
          <a:lstStyle/>
          <a:p>
            <a:pPr marL="0" indent="0">
              <a:buNone/>
            </a:pPr>
            <a:r>
              <a:rPr lang="en-US" sz="950" dirty="0">
                <a:solidFill>
                  <a:srgbClr val="0D1B3E"/>
                </a:solidFill>
                <a:latin typeface="Consolas" pitchFamily="34" charset="0"/>
                <a:ea typeface="Consolas" pitchFamily="34" charset="-122"/>
                <a:cs typeface="Consolas" pitchFamily="34" charset="-120"/>
              </a:rPr>
              <a:t>💡  Pista: df["columna"].mean()  ·  df["columna"].max()  ·  df[df["columna"] &gt; valor]</a:t>
            </a:r>
            <a:endParaRPr lang="en-US" sz="950" dirty="0"/>
          </a:p>
        </p:txBody>
      </p:sp>
      <p:sp>
        <p:nvSpPr>
          <p:cNvPr id="25" name="Shape 23"/>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26" name="Text 24"/>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Módulo 1 · Introducción a Python · Sesión 1  —  15 abril 2026</a:t>
            </a:r>
            <a:endParaRPr lang="en-US" sz="850" dirty="0"/>
          </a:p>
        </p:txBody>
      </p:sp>
      <p:sp>
        <p:nvSpPr>
          <p:cNvPr id="27" name="Text 25"/>
          <p:cNvSpPr/>
          <p:nvPr/>
        </p:nvSpPr>
        <p:spPr>
          <a:xfrm>
            <a:off x="274320" y="4892040"/>
            <a:ext cx="5486400" cy="251460"/>
          </a:xfrm>
          <a:prstGeom prst="rect">
            <a:avLst/>
          </a:prstGeom>
          <a:noFill/>
          <a:ln/>
        </p:spPr>
        <p:txBody>
          <a:bodyPr wrap="square" lIns="0" tIns="0" rIns="0" bIns="0" rtlCol="0" anchor="ctr"/>
          <a:lstStyle/>
          <a:p>
            <a:pPr marL="0" indent="0" algn="l">
              <a:buNone/>
            </a:pPr>
            <a:r>
              <a:rPr lang="en-US" sz="850" dirty="0">
                <a:solidFill>
                  <a:srgbClr val="A8D8EA"/>
                </a:solidFill>
              </a:rPr>
              <a:t>Ejercicio en Clase</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Text 1"/>
          <p:cNvSpPr/>
          <p:nvPr/>
        </p:nvSpPr>
        <p:spPr>
          <a:xfrm>
            <a:off x="457200" y="182880"/>
            <a:ext cx="8229600" cy="475488"/>
          </a:xfrm>
          <a:prstGeom prst="rect">
            <a:avLst/>
          </a:prstGeom>
          <a:noFill/>
          <a:ln/>
        </p:spPr>
        <p:txBody>
          <a:bodyPr wrap="square" lIns="0" tIns="0" rIns="0" bIns="0" rtlCol="0" anchor="ctr"/>
          <a:lstStyle/>
          <a:p>
            <a:pPr marL="0" indent="0" algn="l">
              <a:buNone/>
            </a:pPr>
            <a:r>
              <a:rPr lang="en-US" sz="2800" b="1" dirty="0">
                <a:solidFill>
                  <a:srgbClr val="FFFFFF"/>
                </a:solidFill>
              </a:rPr>
              <a:t>Solución del Ejercicio</a:t>
            </a:r>
            <a:endParaRPr lang="en-US" sz="2800" dirty="0"/>
          </a:p>
        </p:txBody>
      </p:sp>
      <p:sp>
        <p:nvSpPr>
          <p:cNvPr id="4" name="Text 2"/>
          <p:cNvSpPr/>
          <p:nvPr/>
        </p:nvSpPr>
        <p:spPr>
          <a:xfrm>
            <a:off x="457200" y="685800"/>
            <a:ext cx="8229600" cy="256032"/>
          </a:xfrm>
          <a:prstGeom prst="rect">
            <a:avLst/>
          </a:prstGeom>
          <a:noFill/>
          <a:ln/>
        </p:spPr>
        <p:txBody>
          <a:bodyPr wrap="square" lIns="0" tIns="0" rIns="0" bIns="0" rtlCol="0" anchor="ctr"/>
          <a:lstStyle/>
          <a:p>
            <a:pPr marL="0" indent="0" algn="l">
              <a:buNone/>
            </a:pPr>
            <a:r>
              <a:rPr lang="en-US" sz="1200" dirty="0">
                <a:solidFill>
                  <a:srgbClr val="A8D8EA"/>
                </a:solidFill>
              </a:rPr>
              <a:t>Revisamos juntos — compara con tu respuesta</a:t>
            </a:r>
            <a:endParaRPr lang="en-US" sz="1200" dirty="0"/>
          </a:p>
        </p:txBody>
      </p:sp>
      <p:sp>
        <p:nvSpPr>
          <p:cNvPr id="5" name="Shape 3"/>
          <p:cNvSpPr/>
          <p:nvPr/>
        </p:nvSpPr>
        <p:spPr>
          <a:xfrm>
            <a:off x="347472" y="987552"/>
            <a:ext cx="8449056" cy="3913632"/>
          </a:xfrm>
          <a:prstGeom prst="rect">
            <a:avLst/>
          </a:prstGeom>
          <a:solidFill>
            <a:srgbClr val="071228"/>
          </a:solidFill>
          <a:ln w="12700">
            <a:solidFill>
              <a:srgbClr val="0D7A8A"/>
            </a:solidFill>
            <a:prstDash val="solid"/>
          </a:ln>
        </p:spPr>
        <p:txBody>
          <a:bodyPr/>
          <a:lstStyle/>
          <a:p>
            <a:endParaRPr lang="es-MX"/>
          </a:p>
        </p:txBody>
      </p:sp>
      <p:sp>
        <p:nvSpPr>
          <p:cNvPr id="6" name="Shape 4"/>
          <p:cNvSpPr/>
          <p:nvPr/>
        </p:nvSpPr>
        <p:spPr>
          <a:xfrm>
            <a:off x="347472" y="987552"/>
            <a:ext cx="8449056" cy="292608"/>
          </a:xfrm>
          <a:prstGeom prst="rect">
            <a:avLst/>
          </a:prstGeom>
          <a:solidFill>
            <a:srgbClr val="0D7A8A"/>
          </a:solidFill>
          <a:ln w="12700">
            <a:solidFill>
              <a:srgbClr val="0D7A8A"/>
            </a:solidFill>
            <a:prstDash val="solid"/>
          </a:ln>
        </p:spPr>
        <p:txBody>
          <a:bodyPr/>
          <a:lstStyle/>
          <a:p>
            <a:endParaRPr lang="es-MX"/>
          </a:p>
        </p:txBody>
      </p:sp>
      <p:sp>
        <p:nvSpPr>
          <p:cNvPr id="7" name="Text 5"/>
          <p:cNvSpPr/>
          <p:nvPr/>
        </p:nvSpPr>
        <p:spPr>
          <a:xfrm>
            <a:off x="475488" y="987552"/>
            <a:ext cx="8229600" cy="292608"/>
          </a:xfrm>
          <a:prstGeom prst="rect">
            <a:avLst/>
          </a:prstGeom>
          <a:noFill/>
          <a:ln/>
        </p:spPr>
        <p:txBody>
          <a:bodyPr wrap="square" lIns="0" tIns="0" rIns="0" bIns="0" rtlCol="0" anchor="ctr"/>
          <a:lstStyle/>
          <a:p>
            <a:pPr marL="0" indent="0">
              <a:buNone/>
            </a:pPr>
            <a:r>
              <a:rPr lang="en-US" sz="1000" b="1" dirty="0">
                <a:solidFill>
                  <a:srgbClr val="FFFFFF"/>
                </a:solidFill>
              </a:rPr>
              <a:t>Solución</a:t>
            </a:r>
            <a:endParaRPr lang="en-US" sz="1000" dirty="0"/>
          </a:p>
        </p:txBody>
      </p:sp>
      <p:sp>
        <p:nvSpPr>
          <p:cNvPr id="8" name="Text 6"/>
          <p:cNvSpPr/>
          <p:nvPr/>
        </p:nvSpPr>
        <p:spPr>
          <a:xfrm>
            <a:off x="475488" y="1335024"/>
            <a:ext cx="8229600" cy="155448"/>
          </a:xfrm>
          <a:prstGeom prst="rect">
            <a:avLst/>
          </a:prstGeom>
          <a:noFill/>
          <a:ln/>
        </p:spPr>
        <p:txBody>
          <a:bodyPr wrap="square" lIns="0" tIns="0" rIns="0" bIns="0" rtlCol="0" anchor="ctr"/>
          <a:lstStyle/>
          <a:p>
            <a:pPr marL="0" indent="0">
              <a:buNone/>
            </a:pPr>
            <a:r>
              <a:rPr lang="en-US" sz="850" dirty="0">
                <a:solidFill>
                  <a:srgbClr val="A8D8EA"/>
                </a:solidFill>
                <a:latin typeface="Consolas" pitchFamily="34" charset="0"/>
                <a:ea typeface="Consolas" pitchFamily="34" charset="-122"/>
                <a:cs typeface="Consolas" pitchFamily="34" charset="-120"/>
              </a:rPr>
              <a:t>import pandas as pd</a:t>
            </a:r>
            <a:endParaRPr lang="en-US" sz="850" dirty="0"/>
          </a:p>
        </p:txBody>
      </p:sp>
      <p:sp>
        <p:nvSpPr>
          <p:cNvPr id="9" name="Text 7"/>
          <p:cNvSpPr/>
          <p:nvPr/>
        </p:nvSpPr>
        <p:spPr>
          <a:xfrm>
            <a:off x="475488" y="1490472"/>
            <a:ext cx="8229600" cy="155448"/>
          </a:xfrm>
          <a:prstGeom prst="rect">
            <a:avLst/>
          </a:prstGeom>
          <a:noFill/>
          <a:ln/>
        </p:spPr>
        <p:txBody>
          <a:bodyPr wrap="square" lIns="0" tIns="0" rIns="0" bIns="0" rtlCol="0" anchor="ctr"/>
          <a:lstStyle/>
          <a:p>
            <a:pPr marL="0" indent="0">
              <a:buNone/>
            </a:pPr>
            <a:r>
              <a:rPr lang="en-US" sz="850" dirty="0">
                <a:solidFill>
                  <a:srgbClr val="A8D8EA"/>
                </a:solidFill>
                <a:latin typeface="Consolas" pitchFamily="34" charset="0"/>
                <a:ea typeface="Consolas" pitchFamily="34" charset="-122"/>
                <a:cs typeface="Consolas" pitchFamily="34" charset="-120"/>
              </a:rPr>
              <a:t>datos = {"poliza":["P01","P02","P03","P04","P05","P06"],</a:t>
            </a:r>
            <a:endParaRPr lang="en-US" sz="850" dirty="0"/>
          </a:p>
        </p:txBody>
      </p:sp>
      <p:sp>
        <p:nvSpPr>
          <p:cNvPr id="10" name="Text 8"/>
          <p:cNvSpPr/>
          <p:nvPr/>
        </p:nvSpPr>
        <p:spPr>
          <a:xfrm>
            <a:off x="475488" y="1645920"/>
            <a:ext cx="8229600" cy="155448"/>
          </a:xfrm>
          <a:prstGeom prst="rect">
            <a:avLst/>
          </a:prstGeom>
          <a:noFill/>
          <a:ln/>
        </p:spPr>
        <p:txBody>
          <a:bodyPr wrap="square" lIns="0" tIns="0" rIns="0" bIns="0" rtlCol="0" anchor="ctr"/>
          <a:lstStyle/>
          <a:p>
            <a:pPr marL="0" indent="0">
              <a:buNone/>
            </a:pPr>
            <a:r>
              <a:rPr lang="en-US" sz="850" dirty="0">
                <a:solidFill>
                  <a:srgbClr val="A8D8EA"/>
                </a:solidFill>
                <a:latin typeface="Consolas" pitchFamily="34" charset="0"/>
                <a:ea typeface="Consolas" pitchFamily="34" charset="-122"/>
                <a:cs typeface="Consolas" pitchFamily="34" charset="-120"/>
              </a:rPr>
              <a:t>         "edad":[32,45,28,62,38,51], "prima":[2400,5600,1900,12000,3200,7800],</a:t>
            </a:r>
            <a:endParaRPr lang="en-US" sz="850" dirty="0"/>
          </a:p>
        </p:txBody>
      </p:sp>
      <p:sp>
        <p:nvSpPr>
          <p:cNvPr id="11" name="Text 9"/>
          <p:cNvSpPr/>
          <p:nvPr/>
        </p:nvSpPr>
        <p:spPr>
          <a:xfrm>
            <a:off x="475488" y="1801368"/>
            <a:ext cx="8229600" cy="155448"/>
          </a:xfrm>
          <a:prstGeom prst="rect">
            <a:avLst/>
          </a:prstGeom>
          <a:noFill/>
          <a:ln/>
        </p:spPr>
        <p:txBody>
          <a:bodyPr wrap="square" lIns="0" tIns="0" rIns="0" bIns="0" rtlCol="0" anchor="ctr"/>
          <a:lstStyle/>
          <a:p>
            <a:pPr marL="0" indent="0">
              <a:buNone/>
            </a:pPr>
            <a:r>
              <a:rPr lang="en-US" sz="850" dirty="0">
                <a:solidFill>
                  <a:srgbClr val="A8D8EA"/>
                </a:solidFill>
                <a:latin typeface="Consolas" pitchFamily="34" charset="0"/>
                <a:ea typeface="Consolas" pitchFamily="34" charset="-122"/>
                <a:cs typeface="Consolas" pitchFamily="34" charset="-120"/>
              </a:rPr>
              <a:t>         "cobertura_mxn":[500000,1000000,300000,2000000,500000,1500000]}</a:t>
            </a:r>
            <a:endParaRPr lang="en-US" sz="850" dirty="0"/>
          </a:p>
        </p:txBody>
      </p:sp>
      <p:sp>
        <p:nvSpPr>
          <p:cNvPr id="12" name="Text 10"/>
          <p:cNvSpPr/>
          <p:nvPr/>
        </p:nvSpPr>
        <p:spPr>
          <a:xfrm>
            <a:off x="475488" y="1956816"/>
            <a:ext cx="8229600" cy="155448"/>
          </a:xfrm>
          <a:prstGeom prst="rect">
            <a:avLst/>
          </a:prstGeom>
          <a:noFill/>
          <a:ln/>
        </p:spPr>
        <p:txBody>
          <a:bodyPr wrap="square" lIns="0" tIns="0" rIns="0" bIns="0" rtlCol="0" anchor="ctr"/>
          <a:lstStyle/>
          <a:p>
            <a:pPr marL="0" indent="0">
              <a:buNone/>
            </a:pPr>
            <a:r>
              <a:rPr lang="en-US" sz="850" dirty="0">
                <a:solidFill>
                  <a:srgbClr val="A8D8EA"/>
                </a:solidFill>
                <a:latin typeface="Consolas" pitchFamily="34" charset="0"/>
                <a:ea typeface="Consolas" pitchFamily="34" charset="-122"/>
                <a:cs typeface="Consolas" pitchFamily="34" charset="-120"/>
              </a:rPr>
              <a:t>df = pd.DataFrame(datos)</a:t>
            </a:r>
            <a:endParaRPr lang="en-US" sz="850" dirty="0"/>
          </a:p>
        </p:txBody>
      </p:sp>
      <p:sp>
        <p:nvSpPr>
          <p:cNvPr id="13" name="Text 11"/>
          <p:cNvSpPr/>
          <p:nvPr/>
        </p:nvSpPr>
        <p:spPr>
          <a:xfrm>
            <a:off x="475488" y="2267712"/>
            <a:ext cx="8229600" cy="155448"/>
          </a:xfrm>
          <a:prstGeom prst="rect">
            <a:avLst/>
          </a:prstGeom>
          <a:noFill/>
          <a:ln/>
        </p:spPr>
        <p:txBody>
          <a:bodyPr wrap="square" lIns="0" tIns="0" rIns="0" bIns="0" rtlCol="0" anchor="ctr"/>
          <a:lstStyle/>
          <a:p>
            <a:pPr marL="0" indent="0">
              <a:buNone/>
            </a:pPr>
            <a:r>
              <a:rPr lang="en-US" sz="850" dirty="0">
                <a:solidFill>
                  <a:srgbClr val="8FA3B1"/>
                </a:solidFill>
                <a:latin typeface="Consolas" pitchFamily="34" charset="0"/>
                <a:ea typeface="Consolas" pitchFamily="34" charset="-122"/>
                <a:cs typeface="Consolas" pitchFamily="34" charset="-120"/>
              </a:rPr>
              <a:t># 1. Ver la tabla</a:t>
            </a:r>
            <a:endParaRPr lang="en-US" sz="850" dirty="0"/>
          </a:p>
        </p:txBody>
      </p:sp>
      <p:sp>
        <p:nvSpPr>
          <p:cNvPr id="14" name="Text 12"/>
          <p:cNvSpPr/>
          <p:nvPr/>
        </p:nvSpPr>
        <p:spPr>
          <a:xfrm>
            <a:off x="475488" y="2423160"/>
            <a:ext cx="8229600" cy="155448"/>
          </a:xfrm>
          <a:prstGeom prst="rect">
            <a:avLst/>
          </a:prstGeom>
          <a:noFill/>
          <a:ln/>
        </p:spPr>
        <p:txBody>
          <a:bodyPr wrap="square" lIns="0" tIns="0" rIns="0" bIns="0" rtlCol="0" anchor="ctr"/>
          <a:lstStyle/>
          <a:p>
            <a:pPr marL="0" indent="0">
              <a:buNone/>
            </a:pPr>
            <a:r>
              <a:rPr lang="en-US" sz="850" dirty="0">
                <a:solidFill>
                  <a:srgbClr val="A8D8EA"/>
                </a:solidFill>
                <a:latin typeface="Consolas" pitchFamily="34" charset="0"/>
                <a:ea typeface="Consolas" pitchFamily="34" charset="-122"/>
                <a:cs typeface="Consolas" pitchFamily="34" charset="-120"/>
              </a:rPr>
              <a:t>print(df)</a:t>
            </a:r>
            <a:endParaRPr lang="en-US" sz="850" dirty="0"/>
          </a:p>
        </p:txBody>
      </p:sp>
      <p:sp>
        <p:nvSpPr>
          <p:cNvPr id="15" name="Text 13"/>
          <p:cNvSpPr/>
          <p:nvPr/>
        </p:nvSpPr>
        <p:spPr>
          <a:xfrm>
            <a:off x="475488" y="2734056"/>
            <a:ext cx="8229600" cy="155448"/>
          </a:xfrm>
          <a:prstGeom prst="rect">
            <a:avLst/>
          </a:prstGeom>
          <a:noFill/>
          <a:ln/>
        </p:spPr>
        <p:txBody>
          <a:bodyPr wrap="square" lIns="0" tIns="0" rIns="0" bIns="0" rtlCol="0" anchor="ctr"/>
          <a:lstStyle/>
          <a:p>
            <a:pPr marL="0" indent="0">
              <a:buNone/>
            </a:pPr>
            <a:r>
              <a:rPr lang="en-US" sz="850" dirty="0">
                <a:solidFill>
                  <a:srgbClr val="8FA3B1"/>
                </a:solidFill>
                <a:latin typeface="Consolas" pitchFamily="34" charset="0"/>
                <a:ea typeface="Consolas" pitchFamily="34" charset="-122"/>
                <a:cs typeface="Consolas" pitchFamily="34" charset="-120"/>
              </a:rPr>
              <a:t># 2. Primas</a:t>
            </a:r>
            <a:endParaRPr lang="en-US" sz="850" dirty="0"/>
          </a:p>
        </p:txBody>
      </p:sp>
      <p:sp>
        <p:nvSpPr>
          <p:cNvPr id="16" name="Text 14"/>
          <p:cNvSpPr/>
          <p:nvPr/>
        </p:nvSpPr>
        <p:spPr>
          <a:xfrm>
            <a:off x="475488" y="2889504"/>
            <a:ext cx="8229600" cy="155448"/>
          </a:xfrm>
          <a:prstGeom prst="rect">
            <a:avLst/>
          </a:prstGeom>
          <a:noFill/>
          <a:ln/>
        </p:spPr>
        <p:txBody>
          <a:bodyPr wrap="square" lIns="0" tIns="0" rIns="0" bIns="0" rtlCol="0" anchor="ctr"/>
          <a:lstStyle/>
          <a:p>
            <a:pPr marL="0" indent="0">
              <a:buNone/>
            </a:pPr>
            <a:r>
              <a:rPr lang="en-US" sz="850" dirty="0">
                <a:solidFill>
                  <a:srgbClr val="A8D8EA"/>
                </a:solidFill>
                <a:latin typeface="Consolas" pitchFamily="34" charset="0"/>
                <a:ea typeface="Consolas" pitchFamily="34" charset="-122"/>
                <a:cs typeface="Consolas" pitchFamily="34" charset="-120"/>
              </a:rPr>
              <a:t>print(f"Prima promedio: ${df['prima'].mean():,.0f}")</a:t>
            </a:r>
            <a:endParaRPr lang="en-US" sz="850" dirty="0"/>
          </a:p>
        </p:txBody>
      </p:sp>
      <p:sp>
        <p:nvSpPr>
          <p:cNvPr id="17" name="Text 15"/>
          <p:cNvSpPr/>
          <p:nvPr/>
        </p:nvSpPr>
        <p:spPr>
          <a:xfrm>
            <a:off x="475488" y="3044952"/>
            <a:ext cx="8229600" cy="155448"/>
          </a:xfrm>
          <a:prstGeom prst="rect">
            <a:avLst/>
          </a:prstGeom>
          <a:noFill/>
          <a:ln/>
        </p:spPr>
        <p:txBody>
          <a:bodyPr wrap="square" lIns="0" tIns="0" rIns="0" bIns="0" rtlCol="0" anchor="ctr"/>
          <a:lstStyle/>
          <a:p>
            <a:pPr marL="0" indent="0">
              <a:buNone/>
            </a:pPr>
            <a:r>
              <a:rPr lang="en-US" sz="850" dirty="0">
                <a:solidFill>
                  <a:srgbClr val="A8D8EA"/>
                </a:solidFill>
                <a:latin typeface="Consolas" pitchFamily="34" charset="0"/>
                <a:ea typeface="Consolas" pitchFamily="34" charset="-122"/>
                <a:cs typeface="Consolas" pitchFamily="34" charset="-120"/>
              </a:rPr>
              <a:t>print(f"Prima máxima:   ${df['prima'].max():,.0f}")</a:t>
            </a:r>
            <a:endParaRPr lang="en-US" sz="850" dirty="0"/>
          </a:p>
        </p:txBody>
      </p:sp>
      <p:sp>
        <p:nvSpPr>
          <p:cNvPr id="18" name="Text 16"/>
          <p:cNvSpPr/>
          <p:nvPr/>
        </p:nvSpPr>
        <p:spPr>
          <a:xfrm>
            <a:off x="475488" y="3200400"/>
            <a:ext cx="8229600" cy="155448"/>
          </a:xfrm>
          <a:prstGeom prst="rect">
            <a:avLst/>
          </a:prstGeom>
          <a:noFill/>
          <a:ln/>
        </p:spPr>
        <p:txBody>
          <a:bodyPr wrap="square" lIns="0" tIns="0" rIns="0" bIns="0" rtlCol="0" anchor="ctr"/>
          <a:lstStyle/>
          <a:p>
            <a:pPr marL="0" indent="0">
              <a:buNone/>
            </a:pPr>
            <a:r>
              <a:rPr lang="en-US" sz="850" dirty="0">
                <a:solidFill>
                  <a:srgbClr val="A8D8EA"/>
                </a:solidFill>
                <a:latin typeface="Consolas" pitchFamily="34" charset="0"/>
                <a:ea typeface="Consolas" pitchFamily="34" charset="-122"/>
                <a:cs typeface="Consolas" pitchFamily="34" charset="-120"/>
              </a:rPr>
              <a:t>print(f"Prima mínima:   ${df['prima'].min():,.0f}")</a:t>
            </a:r>
            <a:endParaRPr lang="en-US" sz="850" dirty="0"/>
          </a:p>
        </p:txBody>
      </p:sp>
      <p:sp>
        <p:nvSpPr>
          <p:cNvPr id="19" name="Text 17"/>
          <p:cNvSpPr/>
          <p:nvPr/>
        </p:nvSpPr>
        <p:spPr>
          <a:xfrm>
            <a:off x="475488" y="3511296"/>
            <a:ext cx="8229600" cy="155448"/>
          </a:xfrm>
          <a:prstGeom prst="rect">
            <a:avLst/>
          </a:prstGeom>
          <a:noFill/>
          <a:ln/>
        </p:spPr>
        <p:txBody>
          <a:bodyPr wrap="square" lIns="0" tIns="0" rIns="0" bIns="0" rtlCol="0" anchor="ctr"/>
          <a:lstStyle/>
          <a:p>
            <a:pPr marL="0" indent="0">
              <a:buNone/>
            </a:pPr>
            <a:r>
              <a:rPr lang="en-US" sz="850" dirty="0">
                <a:solidFill>
                  <a:srgbClr val="8FA3B1"/>
                </a:solidFill>
                <a:latin typeface="Consolas" pitchFamily="34" charset="0"/>
                <a:ea typeface="Consolas" pitchFamily="34" charset="-122"/>
                <a:cs typeface="Consolas" pitchFamily="34" charset="-120"/>
              </a:rPr>
              <a:t># 3. Cobertura promedio</a:t>
            </a:r>
            <a:endParaRPr lang="en-US" sz="850" dirty="0"/>
          </a:p>
        </p:txBody>
      </p:sp>
      <p:sp>
        <p:nvSpPr>
          <p:cNvPr id="20" name="Text 18"/>
          <p:cNvSpPr/>
          <p:nvPr/>
        </p:nvSpPr>
        <p:spPr>
          <a:xfrm>
            <a:off x="475488" y="3666744"/>
            <a:ext cx="8229600" cy="155448"/>
          </a:xfrm>
          <a:prstGeom prst="rect">
            <a:avLst/>
          </a:prstGeom>
          <a:noFill/>
          <a:ln/>
        </p:spPr>
        <p:txBody>
          <a:bodyPr wrap="square" lIns="0" tIns="0" rIns="0" bIns="0" rtlCol="0" anchor="ctr"/>
          <a:lstStyle/>
          <a:p>
            <a:pPr marL="0" indent="0">
              <a:buNone/>
            </a:pPr>
            <a:r>
              <a:rPr lang="en-US" sz="850" dirty="0">
                <a:solidFill>
                  <a:srgbClr val="A8D8EA"/>
                </a:solidFill>
                <a:latin typeface="Consolas" pitchFamily="34" charset="0"/>
                <a:ea typeface="Consolas" pitchFamily="34" charset="-122"/>
                <a:cs typeface="Consolas" pitchFamily="34" charset="-120"/>
              </a:rPr>
              <a:t>print(f"Cobertura prom: ${df['cobertura_mxn'].mean()/1e6:.1f} M")</a:t>
            </a:r>
            <a:endParaRPr lang="en-US" sz="850" dirty="0"/>
          </a:p>
        </p:txBody>
      </p:sp>
      <p:sp>
        <p:nvSpPr>
          <p:cNvPr id="21" name="Text 19"/>
          <p:cNvSpPr/>
          <p:nvPr/>
        </p:nvSpPr>
        <p:spPr>
          <a:xfrm>
            <a:off x="475488" y="3977640"/>
            <a:ext cx="8229600" cy="155448"/>
          </a:xfrm>
          <a:prstGeom prst="rect">
            <a:avLst/>
          </a:prstGeom>
          <a:noFill/>
          <a:ln/>
        </p:spPr>
        <p:txBody>
          <a:bodyPr wrap="square" lIns="0" tIns="0" rIns="0" bIns="0" rtlCol="0" anchor="ctr"/>
          <a:lstStyle/>
          <a:p>
            <a:pPr marL="0" indent="0">
              <a:buNone/>
            </a:pPr>
            <a:r>
              <a:rPr lang="en-US" sz="850" dirty="0">
                <a:solidFill>
                  <a:srgbClr val="8FA3B1"/>
                </a:solidFill>
                <a:latin typeface="Consolas" pitchFamily="34" charset="0"/>
                <a:ea typeface="Consolas" pitchFamily="34" charset="-122"/>
                <a:cs typeface="Consolas" pitchFamily="34" charset="-120"/>
              </a:rPr>
              <a:t># Bonus: primas &gt; 4000</a:t>
            </a:r>
            <a:endParaRPr lang="en-US" sz="850" dirty="0"/>
          </a:p>
        </p:txBody>
      </p:sp>
      <p:sp>
        <p:nvSpPr>
          <p:cNvPr id="22" name="Text 20"/>
          <p:cNvSpPr/>
          <p:nvPr/>
        </p:nvSpPr>
        <p:spPr>
          <a:xfrm>
            <a:off x="475488" y="4133088"/>
            <a:ext cx="8229600" cy="155448"/>
          </a:xfrm>
          <a:prstGeom prst="rect">
            <a:avLst/>
          </a:prstGeom>
          <a:noFill/>
          <a:ln/>
        </p:spPr>
        <p:txBody>
          <a:bodyPr wrap="square" lIns="0" tIns="0" rIns="0" bIns="0" rtlCol="0" anchor="ctr"/>
          <a:lstStyle/>
          <a:p>
            <a:pPr marL="0" indent="0">
              <a:buNone/>
            </a:pPr>
            <a:r>
              <a:rPr lang="en-US" sz="850" dirty="0">
                <a:solidFill>
                  <a:srgbClr val="A8D8EA"/>
                </a:solidFill>
                <a:latin typeface="Consolas" pitchFamily="34" charset="0"/>
                <a:ea typeface="Consolas" pitchFamily="34" charset="-122"/>
                <a:cs typeface="Consolas" pitchFamily="34" charset="-120"/>
              </a:rPr>
              <a:t>altas = df[df["prima"] &gt; 4000]</a:t>
            </a:r>
            <a:endParaRPr lang="en-US" sz="850" dirty="0"/>
          </a:p>
        </p:txBody>
      </p:sp>
      <p:sp>
        <p:nvSpPr>
          <p:cNvPr id="23" name="Text 21"/>
          <p:cNvSpPr/>
          <p:nvPr/>
        </p:nvSpPr>
        <p:spPr>
          <a:xfrm>
            <a:off x="475488" y="4288536"/>
            <a:ext cx="8229600" cy="155448"/>
          </a:xfrm>
          <a:prstGeom prst="rect">
            <a:avLst/>
          </a:prstGeom>
          <a:noFill/>
          <a:ln/>
        </p:spPr>
        <p:txBody>
          <a:bodyPr wrap="square" lIns="0" tIns="0" rIns="0" bIns="0" rtlCol="0" anchor="ctr"/>
          <a:lstStyle/>
          <a:p>
            <a:pPr marL="0" indent="0">
              <a:buNone/>
            </a:pPr>
            <a:r>
              <a:rPr lang="en-US" sz="850" dirty="0">
                <a:solidFill>
                  <a:srgbClr val="A8D8EA"/>
                </a:solidFill>
                <a:latin typeface="Consolas" pitchFamily="34" charset="0"/>
                <a:ea typeface="Consolas" pitchFamily="34" charset="-122"/>
                <a:cs typeface="Consolas" pitchFamily="34" charset="-120"/>
              </a:rPr>
              <a:t>print(f"Pólizas con prima &gt; $4,000: {len(altas)}")</a:t>
            </a:r>
            <a:endParaRPr lang="en-US" sz="850" dirty="0"/>
          </a:p>
        </p:txBody>
      </p:sp>
      <p:sp>
        <p:nvSpPr>
          <p:cNvPr id="24" name="Shape 22"/>
          <p:cNvSpPr/>
          <p:nvPr/>
        </p:nvSpPr>
        <p:spPr>
          <a:xfrm>
            <a:off x="347472" y="4956048"/>
            <a:ext cx="8449056" cy="347472"/>
          </a:xfrm>
          <a:prstGeom prst="rect">
            <a:avLst/>
          </a:prstGeom>
          <a:solidFill>
            <a:srgbClr val="071020"/>
          </a:solidFill>
          <a:ln w="12700">
            <a:solidFill>
              <a:srgbClr val="F4A261"/>
            </a:solidFill>
            <a:prstDash val="solid"/>
          </a:ln>
        </p:spPr>
        <p:txBody>
          <a:bodyPr/>
          <a:lstStyle/>
          <a:p>
            <a:endParaRPr lang="es-MX"/>
          </a:p>
        </p:txBody>
      </p:sp>
      <p:sp>
        <p:nvSpPr>
          <p:cNvPr id="25" name="Text 23"/>
          <p:cNvSpPr/>
          <p:nvPr/>
        </p:nvSpPr>
        <p:spPr>
          <a:xfrm>
            <a:off x="493776" y="4983480"/>
            <a:ext cx="8229600" cy="274320"/>
          </a:xfrm>
          <a:prstGeom prst="rect">
            <a:avLst/>
          </a:prstGeom>
          <a:noFill/>
          <a:ln/>
        </p:spPr>
        <p:txBody>
          <a:bodyPr wrap="square" lIns="0" tIns="0" rIns="0" bIns="0" rtlCol="0" anchor="ctr"/>
          <a:lstStyle/>
          <a:p>
            <a:pPr marL="0" indent="0">
              <a:buNone/>
            </a:pPr>
            <a:r>
              <a:rPr lang="en-US" sz="950" dirty="0">
                <a:solidFill>
                  <a:srgbClr val="F0F4F8"/>
                </a:solidFill>
                <a:latin typeface="Consolas" pitchFamily="34" charset="0"/>
                <a:ea typeface="Consolas" pitchFamily="34" charset="-122"/>
                <a:cs typeface="Consolas" pitchFamily="34" charset="-120"/>
              </a:rPr>
              <a:t>Prima promedio: $5,483   |   Prima máxima: $12,000   |   Cobertura prom: $1.0 M   |   Pólizas &gt; $4,000: 3</a:t>
            </a:r>
            <a:endParaRPr lang="en-US" sz="950" dirty="0"/>
          </a:p>
        </p:txBody>
      </p:sp>
      <p:sp>
        <p:nvSpPr>
          <p:cNvPr id="26" name="Shape 24"/>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27" name="Text 25"/>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Módulo 1 · Introducción a Python · Sesión 1  —  15 abril 2026</a:t>
            </a:r>
            <a:endParaRPr lang="en-US" sz="850" dirty="0"/>
          </a:p>
        </p:txBody>
      </p:sp>
      <p:sp>
        <p:nvSpPr>
          <p:cNvPr id="28" name="Text 26"/>
          <p:cNvSpPr/>
          <p:nvPr/>
        </p:nvSpPr>
        <p:spPr>
          <a:xfrm>
            <a:off x="274320" y="4892040"/>
            <a:ext cx="5486400" cy="251460"/>
          </a:xfrm>
          <a:prstGeom prst="rect">
            <a:avLst/>
          </a:prstGeom>
          <a:noFill/>
          <a:ln/>
        </p:spPr>
        <p:txBody>
          <a:bodyPr wrap="square" lIns="0" tIns="0" rIns="0" bIns="0" rtlCol="0" anchor="ctr"/>
          <a:lstStyle/>
          <a:p>
            <a:pPr marL="0" indent="0" algn="l">
              <a:buNone/>
            </a:pPr>
            <a:r>
              <a:rPr lang="en-US" sz="850" dirty="0">
                <a:solidFill>
                  <a:srgbClr val="A8D8EA"/>
                </a:solidFill>
              </a:rPr>
              <a:t>Solución del Ejercicio</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A8A"/>
          </a:solidFill>
          <a:ln w="12700">
            <a:solidFill>
              <a:srgbClr val="0D7A8A"/>
            </a:solidFill>
            <a:prstDash val="solid"/>
          </a:ln>
        </p:spPr>
        <p:txBody>
          <a:bodyPr/>
          <a:lstStyle/>
          <a:p>
            <a:endParaRPr lang="es-MX"/>
          </a:p>
        </p:txBody>
      </p:sp>
      <p:sp>
        <p:nvSpPr>
          <p:cNvPr id="3" name="Shape 1"/>
          <p:cNvSpPr/>
          <p:nvPr/>
        </p:nvSpPr>
        <p:spPr>
          <a:xfrm>
            <a:off x="0" y="4389120"/>
            <a:ext cx="9144000" cy="754380"/>
          </a:xfrm>
          <a:prstGeom prst="rect">
            <a:avLst/>
          </a:prstGeom>
          <a:solidFill>
            <a:srgbClr val="071228"/>
          </a:solidFill>
          <a:ln w="12700">
            <a:solidFill>
              <a:srgbClr val="071228"/>
            </a:solidFill>
            <a:prstDash val="solid"/>
          </a:ln>
        </p:spPr>
        <p:txBody>
          <a:bodyPr/>
          <a:lstStyle/>
          <a:p>
            <a:endParaRPr lang="es-MX"/>
          </a:p>
        </p:txBody>
      </p:sp>
      <p:sp>
        <p:nvSpPr>
          <p:cNvPr id="4" name="Text 2"/>
          <p:cNvSpPr/>
          <p:nvPr/>
        </p:nvSpPr>
        <p:spPr>
          <a:xfrm>
            <a:off x="411480" y="320040"/>
            <a:ext cx="8229600" cy="621792"/>
          </a:xfrm>
          <a:prstGeom prst="rect">
            <a:avLst/>
          </a:prstGeom>
          <a:noFill/>
          <a:ln/>
        </p:spPr>
        <p:txBody>
          <a:bodyPr wrap="square" lIns="0" tIns="0" rIns="0" bIns="0" rtlCol="0" anchor="ctr"/>
          <a:lstStyle/>
          <a:p>
            <a:pPr marL="0" indent="0">
              <a:buNone/>
            </a:pPr>
            <a:r>
              <a:rPr lang="en-US" sz="3600" b="1" dirty="0">
                <a:solidFill>
                  <a:srgbClr val="FFFFFF"/>
                </a:solidFill>
              </a:rPr>
              <a:t>¡Lo logramos!</a:t>
            </a:r>
            <a:endParaRPr lang="en-US" sz="3600" dirty="0"/>
          </a:p>
        </p:txBody>
      </p:sp>
      <p:sp>
        <p:nvSpPr>
          <p:cNvPr id="5" name="Text 3"/>
          <p:cNvSpPr/>
          <p:nvPr/>
        </p:nvSpPr>
        <p:spPr>
          <a:xfrm>
            <a:off x="411480" y="987552"/>
            <a:ext cx="8229600" cy="329184"/>
          </a:xfrm>
          <a:prstGeom prst="rect">
            <a:avLst/>
          </a:prstGeom>
          <a:noFill/>
          <a:ln/>
        </p:spPr>
        <p:txBody>
          <a:bodyPr wrap="square" lIns="0" tIns="0" rIns="0" bIns="0" rtlCol="0" anchor="ctr"/>
          <a:lstStyle/>
          <a:p>
            <a:pPr marL="0" indent="0">
              <a:buNone/>
            </a:pPr>
            <a:r>
              <a:rPr lang="en-US" sz="1400" dirty="0">
                <a:solidFill>
                  <a:srgbClr val="A8D8EA"/>
                </a:solidFill>
              </a:rPr>
              <a:t>Hoy configuraste tu entorno completo de trabajo en Python</a:t>
            </a:r>
            <a:endParaRPr lang="en-US" sz="1400" dirty="0"/>
          </a:p>
        </p:txBody>
      </p:sp>
      <p:pic>
        <p:nvPicPr>
          <p:cNvPr id="6" name="Image 0" descr="preencoded.png"/>
          <p:cNvPicPr>
            <a:picLocks noChangeAspect="1"/>
          </p:cNvPicPr>
          <p:nvPr/>
        </p:nvPicPr>
        <p:blipFill>
          <a:blip r:embed="rId3"/>
          <a:stretch>
            <a:fillRect/>
          </a:stretch>
        </p:blipFill>
        <p:spPr>
          <a:xfrm>
            <a:off x="411480" y="1481328"/>
            <a:ext cx="274320" cy="274320"/>
          </a:xfrm>
          <a:prstGeom prst="rect">
            <a:avLst/>
          </a:prstGeom>
        </p:spPr>
      </p:pic>
      <p:sp>
        <p:nvSpPr>
          <p:cNvPr id="7" name="Text 4"/>
          <p:cNvSpPr/>
          <p:nvPr/>
        </p:nvSpPr>
        <p:spPr>
          <a:xfrm>
            <a:off x="804672" y="1463040"/>
            <a:ext cx="8046720" cy="310896"/>
          </a:xfrm>
          <a:prstGeom prst="rect">
            <a:avLst/>
          </a:prstGeom>
          <a:noFill/>
          <a:ln/>
        </p:spPr>
        <p:txBody>
          <a:bodyPr wrap="square" lIns="0" tIns="0" rIns="0" bIns="0" rtlCol="0" anchor="ctr"/>
          <a:lstStyle/>
          <a:p>
            <a:pPr marL="0" indent="0">
              <a:buNone/>
            </a:pPr>
            <a:r>
              <a:rPr lang="en-US" sz="1300" dirty="0">
                <a:solidFill>
                  <a:srgbClr val="F0F4F8"/>
                </a:solidFill>
              </a:rPr>
              <a:t>Python + Anaconda instalado y funcionando correctamente</a:t>
            </a:r>
            <a:endParaRPr lang="en-US" sz="1300" dirty="0"/>
          </a:p>
        </p:txBody>
      </p:sp>
      <p:pic>
        <p:nvPicPr>
          <p:cNvPr id="8" name="Image 1" descr="preencoded.png"/>
          <p:cNvPicPr>
            <a:picLocks noChangeAspect="1"/>
          </p:cNvPicPr>
          <p:nvPr/>
        </p:nvPicPr>
        <p:blipFill>
          <a:blip r:embed="rId4"/>
          <a:stretch>
            <a:fillRect/>
          </a:stretch>
        </p:blipFill>
        <p:spPr>
          <a:xfrm>
            <a:off x="411480" y="1920240"/>
            <a:ext cx="274320" cy="274320"/>
          </a:xfrm>
          <a:prstGeom prst="rect">
            <a:avLst/>
          </a:prstGeom>
        </p:spPr>
      </p:pic>
      <p:sp>
        <p:nvSpPr>
          <p:cNvPr id="9" name="Text 5"/>
          <p:cNvSpPr/>
          <p:nvPr/>
        </p:nvSpPr>
        <p:spPr>
          <a:xfrm>
            <a:off x="804672" y="1901952"/>
            <a:ext cx="8046720" cy="310896"/>
          </a:xfrm>
          <a:prstGeom prst="rect">
            <a:avLst/>
          </a:prstGeom>
          <a:noFill/>
          <a:ln/>
        </p:spPr>
        <p:txBody>
          <a:bodyPr wrap="square" lIns="0" tIns="0" rIns="0" bIns="0" rtlCol="0" anchor="ctr"/>
          <a:lstStyle/>
          <a:p>
            <a:pPr marL="0" indent="0">
              <a:buNone/>
            </a:pPr>
            <a:r>
              <a:rPr lang="en-US" sz="1300" dirty="0">
                <a:solidFill>
                  <a:srgbClr val="F0F4F8"/>
                </a:solidFill>
              </a:rPr>
              <a:t>VS Code configurado con extensiones Python y Jupyter</a:t>
            </a:r>
            <a:endParaRPr lang="en-US" sz="1300" dirty="0"/>
          </a:p>
        </p:txBody>
      </p:sp>
      <p:pic>
        <p:nvPicPr>
          <p:cNvPr id="10" name="Image 2" descr="preencoded.png"/>
          <p:cNvPicPr>
            <a:picLocks noChangeAspect="1"/>
          </p:cNvPicPr>
          <p:nvPr/>
        </p:nvPicPr>
        <p:blipFill>
          <a:blip r:embed="rId5"/>
          <a:stretch>
            <a:fillRect/>
          </a:stretch>
        </p:blipFill>
        <p:spPr>
          <a:xfrm>
            <a:off x="411480" y="2359152"/>
            <a:ext cx="274320" cy="274320"/>
          </a:xfrm>
          <a:prstGeom prst="rect">
            <a:avLst/>
          </a:prstGeom>
        </p:spPr>
      </p:pic>
      <p:sp>
        <p:nvSpPr>
          <p:cNvPr id="11" name="Text 6"/>
          <p:cNvSpPr/>
          <p:nvPr/>
        </p:nvSpPr>
        <p:spPr>
          <a:xfrm>
            <a:off x="804672" y="2340864"/>
            <a:ext cx="8046720" cy="310896"/>
          </a:xfrm>
          <a:prstGeom prst="rect">
            <a:avLst/>
          </a:prstGeom>
          <a:noFill/>
          <a:ln/>
        </p:spPr>
        <p:txBody>
          <a:bodyPr wrap="square" lIns="0" tIns="0" rIns="0" bIns="0" rtlCol="0" anchor="ctr"/>
          <a:lstStyle/>
          <a:p>
            <a:pPr marL="0" indent="0">
              <a:buNone/>
            </a:pPr>
            <a:r>
              <a:rPr lang="en-US" sz="1300" dirty="0">
                <a:solidFill>
                  <a:srgbClr val="F0F4F8"/>
                </a:solidFill>
              </a:rPr>
              <a:t>Jupyter Notebook ejecutado — primeras celdas de código</a:t>
            </a:r>
            <a:endParaRPr lang="en-US" sz="1300" dirty="0"/>
          </a:p>
        </p:txBody>
      </p:sp>
      <p:pic>
        <p:nvPicPr>
          <p:cNvPr id="12" name="Image 3" descr="preencoded.png"/>
          <p:cNvPicPr>
            <a:picLocks noChangeAspect="1"/>
          </p:cNvPicPr>
          <p:nvPr/>
        </p:nvPicPr>
        <p:blipFill>
          <a:blip r:embed="rId6"/>
          <a:stretch>
            <a:fillRect/>
          </a:stretch>
        </p:blipFill>
        <p:spPr>
          <a:xfrm>
            <a:off x="411480" y="2798064"/>
            <a:ext cx="274320" cy="274320"/>
          </a:xfrm>
          <a:prstGeom prst="rect">
            <a:avLst/>
          </a:prstGeom>
        </p:spPr>
      </p:pic>
      <p:sp>
        <p:nvSpPr>
          <p:cNvPr id="13" name="Text 7"/>
          <p:cNvSpPr/>
          <p:nvPr/>
        </p:nvSpPr>
        <p:spPr>
          <a:xfrm>
            <a:off x="804672" y="2779776"/>
            <a:ext cx="8046720" cy="310896"/>
          </a:xfrm>
          <a:prstGeom prst="rect">
            <a:avLst/>
          </a:prstGeom>
          <a:noFill/>
          <a:ln/>
        </p:spPr>
        <p:txBody>
          <a:bodyPr wrap="square" lIns="0" tIns="0" rIns="0" bIns="0" rtlCol="0" anchor="ctr"/>
          <a:lstStyle/>
          <a:p>
            <a:pPr marL="0" indent="0">
              <a:buNone/>
            </a:pPr>
            <a:r>
              <a:rPr lang="en-US" sz="1300" dirty="0">
                <a:solidFill>
                  <a:srgbClr val="F0F4F8"/>
                </a:solidFill>
              </a:rPr>
              <a:t>Bibliotecas científicas listas: NumPy, Pandas, Matplotlib, Seaborn</a:t>
            </a:r>
            <a:endParaRPr lang="en-US" sz="1300" dirty="0"/>
          </a:p>
        </p:txBody>
      </p:sp>
      <p:pic>
        <p:nvPicPr>
          <p:cNvPr id="14" name="Image 4" descr="preencoded.png"/>
          <p:cNvPicPr>
            <a:picLocks noChangeAspect="1"/>
          </p:cNvPicPr>
          <p:nvPr/>
        </p:nvPicPr>
        <p:blipFill>
          <a:blip r:embed="rId7"/>
          <a:stretch>
            <a:fillRect/>
          </a:stretch>
        </p:blipFill>
        <p:spPr>
          <a:xfrm>
            <a:off x="411480" y="3236976"/>
            <a:ext cx="274320" cy="274320"/>
          </a:xfrm>
          <a:prstGeom prst="rect">
            <a:avLst/>
          </a:prstGeom>
        </p:spPr>
      </p:pic>
      <p:sp>
        <p:nvSpPr>
          <p:cNvPr id="15" name="Text 8"/>
          <p:cNvSpPr/>
          <p:nvPr/>
        </p:nvSpPr>
        <p:spPr>
          <a:xfrm>
            <a:off x="804672" y="3218688"/>
            <a:ext cx="8046720" cy="310896"/>
          </a:xfrm>
          <a:prstGeom prst="rect">
            <a:avLst/>
          </a:prstGeom>
          <a:noFill/>
          <a:ln/>
        </p:spPr>
        <p:txBody>
          <a:bodyPr wrap="square" lIns="0" tIns="0" rIns="0" bIns="0" rtlCol="0" anchor="ctr"/>
          <a:lstStyle/>
          <a:p>
            <a:pPr marL="0" indent="0">
              <a:buNone/>
            </a:pPr>
            <a:r>
              <a:rPr lang="en-US" sz="1300" dirty="0">
                <a:solidFill>
                  <a:srgbClr val="F0F4F8"/>
                </a:solidFill>
              </a:rPr>
              <a:t>Cuenta de GitHub creada — control de versiones configurado</a:t>
            </a:r>
            <a:endParaRPr lang="en-US" sz="1300" dirty="0"/>
          </a:p>
        </p:txBody>
      </p:sp>
      <p:sp>
        <p:nvSpPr>
          <p:cNvPr id="16" name="Shape 9"/>
          <p:cNvSpPr/>
          <p:nvPr/>
        </p:nvSpPr>
        <p:spPr>
          <a:xfrm>
            <a:off x="411480" y="3730752"/>
            <a:ext cx="8321040" cy="548640"/>
          </a:xfrm>
          <a:prstGeom prst="rect">
            <a:avLst/>
          </a:prstGeom>
          <a:solidFill>
            <a:srgbClr val="1A5276"/>
          </a:solidFill>
          <a:ln w="12700">
            <a:solidFill>
              <a:srgbClr val="1A5276"/>
            </a:solidFill>
            <a:prstDash val="solid"/>
          </a:ln>
          <a:effectLst>
            <a:outerShdw blurRad="101600" dist="38100" dir="8100000" algn="bl" rotWithShape="0">
              <a:srgbClr val="000000">
                <a:alpha val="10000"/>
              </a:srgbClr>
            </a:outerShdw>
          </a:effectLst>
        </p:spPr>
        <p:txBody>
          <a:bodyPr/>
          <a:lstStyle/>
          <a:p>
            <a:endParaRPr lang="es-MX"/>
          </a:p>
        </p:txBody>
      </p:sp>
      <p:sp>
        <p:nvSpPr>
          <p:cNvPr id="17" name="Shape 10"/>
          <p:cNvSpPr/>
          <p:nvPr/>
        </p:nvSpPr>
        <p:spPr>
          <a:xfrm>
            <a:off x="411480" y="3730752"/>
            <a:ext cx="91440" cy="548640"/>
          </a:xfrm>
          <a:prstGeom prst="rect">
            <a:avLst/>
          </a:prstGeom>
          <a:solidFill>
            <a:srgbClr val="F4A261"/>
          </a:solidFill>
          <a:ln w="12700">
            <a:solidFill>
              <a:srgbClr val="F4A261"/>
            </a:solidFill>
            <a:prstDash val="solid"/>
          </a:ln>
        </p:spPr>
        <p:txBody>
          <a:bodyPr/>
          <a:lstStyle/>
          <a:p>
            <a:endParaRPr lang="es-MX"/>
          </a:p>
        </p:txBody>
      </p:sp>
      <p:pic>
        <p:nvPicPr>
          <p:cNvPr id="18" name="Image 5" descr="preencoded.png"/>
          <p:cNvPicPr>
            <a:picLocks noChangeAspect="1"/>
          </p:cNvPicPr>
          <p:nvPr/>
        </p:nvPicPr>
        <p:blipFill>
          <a:blip r:embed="rId8"/>
          <a:stretch>
            <a:fillRect/>
          </a:stretch>
        </p:blipFill>
        <p:spPr>
          <a:xfrm>
            <a:off x="594360" y="3822192"/>
            <a:ext cx="256032" cy="256032"/>
          </a:xfrm>
          <a:prstGeom prst="rect">
            <a:avLst/>
          </a:prstGeom>
        </p:spPr>
      </p:pic>
      <p:sp>
        <p:nvSpPr>
          <p:cNvPr id="19" name="Text 11"/>
          <p:cNvSpPr/>
          <p:nvPr/>
        </p:nvSpPr>
        <p:spPr>
          <a:xfrm>
            <a:off x="950976" y="3776472"/>
            <a:ext cx="7132320" cy="274320"/>
          </a:xfrm>
          <a:prstGeom prst="rect">
            <a:avLst/>
          </a:prstGeom>
          <a:noFill/>
          <a:ln/>
        </p:spPr>
        <p:txBody>
          <a:bodyPr wrap="square" lIns="0" tIns="0" rIns="0" bIns="0" rtlCol="0" anchor="ctr"/>
          <a:lstStyle/>
          <a:p>
            <a:pPr marL="0" indent="0">
              <a:buNone/>
            </a:pPr>
            <a:r>
              <a:rPr lang="en-US" sz="1200" b="1" dirty="0">
                <a:solidFill>
                  <a:srgbClr val="FFFFFF"/>
                </a:solidFill>
              </a:rPr>
              <a:t>Próxima sesión: Viernes 17 de abril  ·  18:00–21:00 h  ·  Zoom</a:t>
            </a:r>
            <a:endParaRPr lang="en-US" sz="1200" dirty="0"/>
          </a:p>
        </p:txBody>
      </p:sp>
      <p:sp>
        <p:nvSpPr>
          <p:cNvPr id="20" name="Text 12"/>
          <p:cNvSpPr/>
          <p:nvPr/>
        </p:nvSpPr>
        <p:spPr>
          <a:xfrm>
            <a:off x="950976" y="4059936"/>
            <a:ext cx="7132320" cy="201168"/>
          </a:xfrm>
          <a:prstGeom prst="rect">
            <a:avLst/>
          </a:prstGeom>
          <a:noFill/>
          <a:ln/>
        </p:spPr>
        <p:txBody>
          <a:bodyPr wrap="square" lIns="0" tIns="0" rIns="0" bIns="0" rtlCol="0" anchor="ctr"/>
          <a:lstStyle/>
          <a:p>
            <a:pPr marL="0" indent="0">
              <a:buNone/>
            </a:pPr>
            <a:r>
              <a:rPr lang="en-US" sz="1000" dirty="0">
                <a:solidFill>
                  <a:srgbClr val="A8D8EA"/>
                </a:solidFill>
              </a:rPr>
              <a:t>Tema: GitHub — primer repositorio + inicio de Sintaxis Básica de Python (T2)</a:t>
            </a:r>
            <a:endParaRPr lang="en-US" sz="1000" dirty="0"/>
          </a:p>
        </p:txBody>
      </p:sp>
      <p:sp>
        <p:nvSpPr>
          <p:cNvPr id="21" name="Text 13"/>
          <p:cNvSpPr/>
          <p:nvPr/>
        </p:nvSpPr>
        <p:spPr>
          <a:xfrm>
            <a:off x="274320" y="4462272"/>
            <a:ext cx="8595360" cy="256032"/>
          </a:xfrm>
          <a:prstGeom prst="rect">
            <a:avLst/>
          </a:prstGeom>
          <a:noFill/>
          <a:ln/>
        </p:spPr>
        <p:txBody>
          <a:bodyPr wrap="square" lIns="0" tIns="0" rIns="0" bIns="0" rtlCol="0" anchor="ctr"/>
          <a:lstStyle/>
          <a:p>
            <a:pPr marL="0" indent="0" algn="ctr">
              <a:buNone/>
            </a:pPr>
            <a:r>
              <a:rPr lang="en-US" sz="900" dirty="0">
                <a:solidFill>
                  <a:srgbClr val="8FA3B1"/>
                </a:solidFill>
              </a:rPr>
              <a:t>Facultad de Ciencias · UNAM  ·  Diplomado ML en Seguros  ·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TotalTime>
  <Words>4543</Words>
  <Application>Microsoft Office PowerPoint</Application>
  <PresentationFormat>Presentación en pantalla (16:9)</PresentationFormat>
  <Paragraphs>556</Paragraphs>
  <Slides>25</Slides>
  <Notes>25</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25</vt:i4>
      </vt:variant>
    </vt:vector>
  </HeadingPairs>
  <TitlesOfParts>
    <vt:vector size="28" baseType="lpstr">
      <vt:lpstr>Arial</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Módulo 1 · Sesión 1 · Instalación y Configuración</dc:title>
  <dc:subject>PptxGenJS Presentation</dc:subject>
  <dc:creator>Eric — Diplomado ML en Seguros, FC UNAM</dc:creator>
  <cp:lastModifiedBy>ERIC DANIEL HERNANDEZ JARDON</cp:lastModifiedBy>
  <cp:revision>7</cp:revision>
  <dcterms:created xsi:type="dcterms:W3CDTF">2026-04-15T02:53:38Z</dcterms:created>
  <dcterms:modified xsi:type="dcterms:W3CDTF">2026-04-15T21:16:58Z</dcterms:modified>
</cp:coreProperties>
</file>