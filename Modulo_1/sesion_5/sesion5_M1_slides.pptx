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1005840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71600"/>
            <a:ext cx="192024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75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MODULO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89611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D8EA"/>
                </a:solidFill>
              </a:rPr>
              <a:t>Introduccion a Python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65760" y="1389888"/>
            <a:ext cx="6217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Sesion 5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365760" y="208483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3B1"/>
                </a:solidFill>
              </a:rPr>
              <a:t>T4 — Funciones Avanzadas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65760" y="24505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1"/>
                </a:solidFill>
              </a:rPr>
              <a:t>*args · **kwargs · try/except · Modulos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834640"/>
            <a:ext cx="4389120" cy="36576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01752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" y="29992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Viernes 24 de abril de 2026  ·  18:00 - 21:00 h</a:t>
            </a:r>
            <a:endParaRPr lang="en-US" sz="12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8328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" y="33649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Modalidad: En linea via Zoom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4904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" y="373075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Instructor: Eric  ·  Diplomado ML en Seguros, FC UNAM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Universidad Nacional Autonoma de Mexico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Agenda de Hoy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Sesion 5  ·  3 horas  ·  Viernes 24 de abril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133856"/>
            <a:ext cx="1508760" cy="27432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3385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18:00-18:10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38528" y="11338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Revision S4 — preguntas sobre def, parametros y return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56893"/>
            <a:ext cx="150876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56893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18:10-18:50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38528" y="1656893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*args y **kwargs — funciones de argumentos variables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" y="2125066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179930"/>
            <a:ext cx="1508760" cy="2743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7993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18:50-19:25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38528" y="217993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try / except a fondo — proteger funciones con datos malos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7472" y="2702966"/>
            <a:ext cx="1508760" cy="2743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70296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19:25-19:35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38528" y="270296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1"/>
                </a:solidFill>
              </a:rPr>
              <a:t>Receso (10 minutos)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" y="3171139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3226003"/>
            <a:ext cx="15087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3226003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19:35-20:10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38528" y="3226003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Modulos: que son, como importar, modulos estandar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" y="3749040"/>
            <a:ext cx="1508760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749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20:10-20:40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38528" y="3749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math · datetime · os — los mas utiles en actuaria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" y="4217213"/>
            <a:ext cx="8449056" cy="457200"/>
          </a:xfrm>
          <a:prstGeom prst="rect">
            <a:avLst/>
          </a:prstGeom>
          <a:solidFill>
            <a:srgbClr val="1A5276">
              <a:alpha val="18000"/>
            </a:srgbClr>
          </a:solidFill>
          <a:ln w="12700">
            <a:solidFill>
              <a:srgbClr val="1A5276">
                <a:alpha val="1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272077"/>
            <a:ext cx="150876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272077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20:40-21:00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38528" y="4272077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Ejercicio integrador de la sesion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*args · **kwargs — EL PROBLEMA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¿Que pasa si no sabes cuantos argumentos llegaran?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El problema antes de conocer *args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Imagina que quieres una funcion que sume primas de una cartera. El problema: no siempre sabes cuantas polizas llegan — pueden ser 3, 10 o 10,000.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8449056" cy="148132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737360"/>
            <a:ext cx="8449056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37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Sin *args — tienes que hacer una funcion por cada cantidad posible (MAL)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08483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sumar_2_primas(p1, p2):         return p1 + p2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23570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sumar_3_primas(p1, p2, p3):     return p1 + p2 + p3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38658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sumar_4_primas(p1, p2, p3, p4): return p1 + p2 + p3 + p4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53746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esto no escala nunca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3310128"/>
            <a:ext cx="8449056" cy="157276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310128"/>
            <a:ext cx="8449056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101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 *args — una sola funcion para cualquier cantidad (BIEN)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365760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sumar_primas(*primas):   # el * indica 'cualquier cantidad de argumentos'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380847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sum(primas)       # primas llega como una TUPLA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395935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411022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sumar_primas(2400)                      # 1 poliza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426110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sumar_primas(2400, 6200, 1900)          # 3 polizas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441198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sumar_primas(2400, 6200, 1900, 14500)   # 4 polizas  ← misma funcion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*args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T4 · *args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*args: Argumentos Posicionales Variables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El * empaca todos los argumentos extra en una TUPLA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Como funciona por dentro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mostrar_polizas(*polizas):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590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polizas es una TUPLA dentro de la funcion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677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print(type(polizas))   # &lt;class 'tuple'&gt;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8765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print(f'Recibidas: {len(polizas)}')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3852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p in enumerate(polizas, 1):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8940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  Poliza {i}: ${p:,}')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4028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9115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mostrar_polizas(2400, 6200, 1900)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4203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&lt;class 'tuple'&gt;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9290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Recibidas: 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4378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Poliza 1: $2,400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9466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Poliza 2: $6,200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4553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Poliza 3: $1,900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9641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4728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Combinar con parametros normales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9816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Los normales van PRIMERO, *args al final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4904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reporte_cartera(ramo, *primas):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9991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sum(primas)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5079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print(f'{ramo}: {len(primas)} polizas')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20166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print(f'Total: ${total:,}')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35254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50342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reporte_cartera('GMM', 2400, 6200, 1900)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65429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reporte_cartera('Autos', 5800, 3200)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Aplicacion actuarial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56048" y="133502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estadisticas_cartera(*primas):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148590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"""Calcula metricas de una cartera."""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163677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len(primas) == 0: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78765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193852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  = sum(primas)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208940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promedio= total / len(primas)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224028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39115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'n':       len(primas),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54203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'total':   total,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69290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'promedio':promedio,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84378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'maximo':  max(primas),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99466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'minimo':  min(primas),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314553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329641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44728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estadisticas_cartera(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59816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2400, 6200, 1900, 14500, 3200)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74904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89991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k, v in res.items():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405079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print(f'{k:10}: {v:&gt;10,.2f}')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*args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T4 · **kwargs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**kwargs: Argumentos con Nombre Variables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El ** empaca argumentos con nombre en un DICCIONARIO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kwargs viene de keyword arguments. Mientras *args captura argumentos sin nombre (posicionales), **kwargs captura argumentos pasados con nombre=valor. Dentro de la funcion llega como un diccionario.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4315968" cy="33649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82496"/>
            <a:ext cx="431596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8249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Como funciona **kwargs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02996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crear_poliza(**campos):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8084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campos llega como DICCIONARIO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33172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print(type(campos))  # &lt;class 'dict'&gt;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8259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k, v in campos.items():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63347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  {k}: {v}')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8434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93522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crear_poliza(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8610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nombre='Ana Torres',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23697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suma=500_000,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38785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ramo='GMM',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53872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activa=True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68960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84048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nombre: Ana Torres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99135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suma: 500000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414223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ramo: GMM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429310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activa: True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28032" y="1682496"/>
            <a:ext cx="3968496" cy="336499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28032" y="1682496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16824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*args + **kwargs juntos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56048" y="202996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Orden obligatorio: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56048" y="218084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normales → *args → **kwargs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56048" y="233172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registrar(ramo, *primas, **meta):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56048" y="248259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print(f'Ramo: {ramo}')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56048" y="263347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print(f'Primas: {primas}')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56048" y="278434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print(f'Meta: {meta}')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56048" y="293522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56048" y="308610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registrar(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323697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'GMM',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338785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2400, 6200, 1900,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353872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agente='Carlos R.',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368960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zona='CDMX'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384048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399135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Ramo: GMM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414223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Primas: (2400, 6200, 1900)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429310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Meta: {'agente':'Carlos R.', 'zona':'CDMX'}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7472" y="5138928"/>
            <a:ext cx="8449056" cy="292608"/>
          </a:xfrm>
          <a:prstGeom prst="rect">
            <a:avLst/>
          </a:prstGeom>
          <a:solidFill>
            <a:srgbClr val="0D7A8A">
              <a:alpha val="12000"/>
            </a:srgbClr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51663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Regla de orden: def funcion(obligatorios, *args, **kwargs)  —  siempre en ese orden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**kwargs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try / except — EL PROBLEMA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Los Datos Reales Nunca son Perfectos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Por que necesitamos proteger nuestras funciones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0350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En la vida real los datos de seguros llegan sucios: primas como texto, edades como None, divisiones por cero cuando no hay exposicion. Sin manejo de errores, un solo dato malo detiene TODO el programa.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4315968" cy="190195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82496"/>
            <a:ext cx="431596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68249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Sin try/except — el programa se rompe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02996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frecuencia(siniestros, exposicion):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8084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siniestros / exposicion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33172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48259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Datos de un CSV con error: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63347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frecuencia(5, 0)      # ZeroDivisionError!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78434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frecuencia(5, 'N/A')  # TypeError!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93522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programa para aqui. Las 9,999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08610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polizas restantes NO se procesan.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28032" y="1682496"/>
            <a:ext cx="3968496" cy="190195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682496"/>
            <a:ext cx="3968496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6824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 try/except — maneja y continua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56048" y="202996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frecuencia(siniestros, exposicion):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56048" y="218084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956048" y="233172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siniestros / exposicion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56048" y="248259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ZeroDivisionError: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956048" y="263347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0.0   # expuesto = 0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6048" y="278434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TypeError: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56048" y="293522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None  # dato invalido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56048" y="308610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 programa CONTINUA con las demas.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47472" y="36758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D8EA"/>
                </a:solidFill>
              </a:rPr>
              <a:t>Anatomia completa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7472" y="3968496"/>
            <a:ext cx="8449056" cy="102412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02336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17423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 = operacion_riesgosa()  # bloque que puede fallar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5488" y="432511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TipoDeError: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5488" y="447598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# que hacer si falla ESE error especifico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5488" y="462686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(Error1, Error2):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" y="477774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# capturar varios errores a la vez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" y="492861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finally: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5488" y="507949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# se ejecuta SIEMPRE, haya error o no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try / except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T4 · try/except · ERRORES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Errores Mas Comunes en Datos de Seguros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Cada tipo de error tiene su causa tipica y su solucion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097280"/>
            <a:ext cx="41148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ZeroDivisionError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444752"/>
            <a:ext cx="41148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499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Dividir entre 0 — exposicion cero, polizas sin periodo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" y="1865376"/>
            <a:ext cx="3968496" cy="100584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920240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3776" y="2144268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frec = siniestros / exposicion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" y="2368296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ZeroDivisionError: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93776" y="2592324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frec = 0.0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9744" y="1097280"/>
            <a:ext cx="4114800" cy="347472"/>
          </a:xfrm>
          <a:prstGeom prst="rect">
            <a:avLst/>
          </a:prstGeom>
          <a:solidFill>
            <a:srgbClr val="E37B2A"/>
          </a:solidFill>
          <a:ln w="12700">
            <a:solidFill>
              <a:srgbClr val="E37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ValueError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9744" y="1444752"/>
            <a:ext cx="41148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01184" y="149961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Convertir texto no numerico — prima = 'N/A' o 'sin dato'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82896" y="1865376"/>
            <a:ext cx="3968496" cy="100584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920240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56048" y="2144268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 = float(campo_prima)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56048" y="2368296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56048" y="2592324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 = None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3035808"/>
            <a:ext cx="4114800" cy="347472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TypeError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" y="3383280"/>
            <a:ext cx="41148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8912" y="3438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Operar con None — campo faltante en el CSV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0624" y="3803904"/>
            <a:ext cx="3968496" cy="100584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" y="3858768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3776" y="4082796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prima * factor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3776" y="4306824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TypeError: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3776" y="4530852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None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9744" y="3035808"/>
            <a:ext cx="411480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035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KeyError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09744" y="3383280"/>
            <a:ext cx="41148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01184" y="3438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</a:rPr>
              <a:t>Clave que no existe en diccionario — campo no mapeado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82896" y="3803904"/>
            <a:ext cx="3968496" cy="100584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3858768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4082796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tasa = tarifas[ramo]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4306824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KeyError: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4530852"/>
            <a:ext cx="3822192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tasa = 0.025  # default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try / except · Errores comunes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T4 · try/except · APLICACION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Funcion Robusta: Procesar Cartera con Datos Sucios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Combinamos todo lo aprendido en una funcion real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8449056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Funcion de produccion — maneja errores sin detener el proceso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procesar_poliza(datos):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590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"""Procesa un registro de poliza con manejo de errores.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677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Retorna dict con resultado o None si el registro es invalido.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8765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3852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8940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Convertir y validar campos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4028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prima      = float(datos['prima'])   # puede ser texto sucio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9115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exposicion = int(datos['exposicion'])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4203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siniestros = int(datos['siniestros'])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9290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4378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exposicion &lt;= 0: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9466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raise ValueError('Exposicion debe ser positiva')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4553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9641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frecuencia = siniestros / exposicion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4728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prima_dia  = prima / exposicion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9816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4904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9991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'id':         datos['id'],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5079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'prima':      prima,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20166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'frecuencia': round(frecuencia, 6),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35254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'prima_dia':  round(prima_dia, 4),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50342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'ok':         True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65429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80517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(ValueError, KeyError, TypeError, ZeroDivisionError) as e: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95604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{'id': datos.get('id','?'), 'ok': False, 'error': str(e)}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try / except · Funcion robusta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T4 · MODULOS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Modulos: Codigo Reutilizable Organizado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Un modulo es simplemente un archivo .py con funciones y variables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44905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" y="10515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Hasta ahora todo nuestro codigo vive en el notebook. Un modulo es un archivo .py separado que puedes importar en cualquier notebook o script. Piensalo como una biblioteca personal de funciones que vas construyendo.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755648"/>
            <a:ext cx="2724912" cy="43891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81051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1801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Modulos estandar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" y="2194560"/>
            <a:ext cx="272491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38912" y="2258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A8A"/>
                </a:solidFill>
              </a:rPr>
              <a:t>Vienen con Python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20624" y="2523744"/>
            <a:ext cx="2596896" cy="4023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" y="256032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 · datetime · os · random · csv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38912" y="299923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Ya estan instalados. Solo necesitas importarlos con import.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0" y="1755648"/>
            <a:ext cx="2724912" cy="4389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810512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57600" y="1801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Modulos de terceros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200400" y="2194560"/>
            <a:ext cx="272491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3291840" y="2258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5276"/>
                </a:solidFill>
              </a:rPr>
              <a:t>Se instalan con pip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73552" y="2523744"/>
            <a:ext cx="2596896" cy="4023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28416" y="256032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pandas · numpy · matplotlib · sklearn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3291840" y="299923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Los instalaste con pip install. Se importan igual.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053328" y="1755648"/>
            <a:ext cx="2724912" cy="43891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810512"/>
            <a:ext cx="292608" cy="2926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510528" y="1801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Modulos propios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053328" y="2194560"/>
            <a:ext cx="2724912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6144768" y="2258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8449"/>
                </a:solidFill>
              </a:rPr>
              <a:t>Los creas tu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126480" y="2523744"/>
            <a:ext cx="2596896" cy="402336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181344" y="256032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mi_modulo.py · tabla_tarifas.py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6144768" y="2999232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Un archivo .py que escribes tu. Lo importas por nombre de archivo.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347472" y="4773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Formas de importar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347472" y="5047488"/>
            <a:ext cx="8449056" cy="256032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75488" y="506577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            from math import sqrt            from math import sqrt, log as ln            import math as m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  <p:sp>
        <p:nvSpPr>
          <p:cNvPr id="38" name="Text 33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Modulos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T4 · MODULOS ESTANDAR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Modulo math — Funciones Matematicas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El modulo que mas usaras en calculos actuariales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Funciones matematicas esenciales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590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677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Raiz cuadrada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8765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math.sqrt(16)       # 4.0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3852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8940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Logaritmos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4028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math.log(1000)      # 6.908  (natural)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9115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math.log10(1000)    # 3.0    (base 10)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4203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math.log(8, 2)      # 3.0    (base 2)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9290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4378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Exponencial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9466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math.exp(1)         # 2.718 (numero e)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4553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math.exp(0.032)     # 1.033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9641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4728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Redondeo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9816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math.floor(3.7)     # 3  (hacia abajo)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4904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math.ceil(3.2)      # 4  (hacia arriba)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9991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5079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Constantes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20166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math.pi             # 3.14159...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35254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math.e              # 2.71828...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50342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65429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Potencia y valor absoluto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80517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math.pow(2, 10)     # 1024.0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95604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math.fabs(-45.3)    # 45.3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Aplicaciones actuariales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133502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48590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163677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Valor presente de una renta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178765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valor_presente(flujo, tasa, n):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193852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flujo * (1 - math.pow(1+tasa,-n)) / tasa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08940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24028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= valor_presente(10_000, 0.08, 10)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39115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print(f'VP: ${vp:,.2f}')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54203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69290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Volatilidad anual desde diaria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284378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vol_diaria = 0.015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299466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vol_anual  = vol_diaria * math.sqrt(252)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14553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print(f'Vol anual: {vol_anual:.4f}')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29641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44728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Coeficiente de variacion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59816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coef_variacion(media, desv):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374904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desv / media if media != 0 else None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389991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05079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coef_variacion(3500, 850)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20166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print(f'CV: {cv:.4f}')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35254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450342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Prima de riesgo (teoria de credibilidad)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465429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prima_buhlmann(grand_mean, var_riesgo, var_proceso, n, media_obs):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956048" y="480517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= var_proceso / var_riesgo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956048" y="495604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n / (n + k)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956048" y="510692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z * media_obs + (1-z) * grand_mean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Modulo math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66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</a:rPr>
              <a:t>T4 · MODULOS ESTANDAR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Modulo datetime — Fechas con Poder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7A8A"/>
                </a:solidFill>
              </a:rPr>
              <a:t>Ya lo usamos en S2 — ahora lo vemos completo con funciones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315968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87552"/>
            <a:ext cx="4315968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98755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Funciones de fecha en funciones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133502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date, timedelta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48590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63677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dias_vigencia(emision, vencimiento):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178765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"""Dias entre emision y vencimiento."""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193852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(vencimiento - emision).days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208940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224028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fraccion_expuesta(emision, vencimiento):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39115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"""Fraccion del periodo transcurrido."""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5488" y="254203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hoy  = date.today()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269290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total= (vencimiento - emision).days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284378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trans= (hoy - emision).days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299466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total &lt;= 0: return 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314553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min(max(trans / total, 0), 1)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" y="329641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" y="344728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proxima_renovacion(vencimiento):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9816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"""Fecha de renovacion (+1 dia)."""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" y="374904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vencimiento + timedelta(days=1)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" y="389991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" y="405079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Usar las funciones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" y="420166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" y="4352544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emision = date(2026, 1, 15)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4503420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vence   = date(2026, 12, 31)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" y="4654296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print(dias_vigencia(emision, vence))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805172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print(f'{fraccion_expuesta(emision, vence):.1%}')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5488" y="4956048"/>
            <a:ext cx="4059936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print(proxima_renovacion(vence))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28032" y="987552"/>
            <a:ext cx="3968496" cy="4041648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8032" y="987552"/>
            <a:ext cx="396849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9875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Aging de siniestros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56048" y="133502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956048" y="148590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956048" y="163677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clasificar_aging(fecha_siniestro):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56048" y="178765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"""Clasifica siniestro por antiguedad.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56048" y="193852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Retorna bucket de aging para reservas.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956048" y="208940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956048" y="224028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dias = (date.today() - fecha_siniestro).days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56048" y="239115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dias &lt;= 30:   return '0-30 dias'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56048" y="254203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dias &lt;= 90: return '31-90 dias'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956048" y="269290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dias &lt;= 180:return '91-180 dias'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956048" y="284378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dias &lt;= 365:return '181-365 dias'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956048" y="299466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           return 'Mas de 1 anio'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56048" y="314553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56048" y="329641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siniestros = [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56048" y="344728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date(2026, 4, 1),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56048" y="359816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date(2026, 2, 10),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956048" y="374904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date(2025, 11, 5),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956048" y="389991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date(2025, 3, 20),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956048" y="4050792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956048" y="4201668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956048" y="4352544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f in siniestros: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56048" y="4503420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 = clasificar_aging(f)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956048" y="4654296"/>
            <a:ext cx="374904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print(f'{f}: {bucket}')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Modulo datetime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Ejercicio Integrador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</a:rPr>
              <a:t>20 minutos — combina todo lo de la sesion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1097280"/>
          </a:xfrm>
          <a:prstGeom prst="rect">
            <a:avLst/>
          </a:prstGeom>
          <a:solidFill>
            <a:srgbClr val="071228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8449056" cy="2926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875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Datos con errores reales de un CSV de cartera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33502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48590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registros = [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" y="1636776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{'id':'A-01','prima':'3200', 'exposicion':'365','siniest':'1','emision':'2026-01-15'},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787652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{'id':'A-02','prima':'N/A',  'exposicion':'180','siniest':'0','emision':'2026-03-01'},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938528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{'id':'A-03','prima':'5800', 'exposicion':'0',  'siniest':'2','emision':'2025-07-01'},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089404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{'id':'A-04','prima':'9100', 'exposicion':'365','siniest':'0','emision':'2026-02-10'},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240280"/>
            <a:ext cx="8229600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21762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Tareas: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2505456"/>
            <a:ext cx="8357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1. Escribe calcular_metricas(*registros) que reciba cualquier cantidad de registros con **kwargs opcionales (ej. incluir_errores=False).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2944368"/>
            <a:ext cx="8357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2. Dentro de la funcion usa try/except para manejar: prima no numerica, exposicion cero, campo faltante.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383280"/>
            <a:ext cx="8357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3. Para cada registro valido calcula: frecuencia (siniest/exposicion) y prima_dia (prima/exposicion).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3822192"/>
            <a:ext cx="8357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4. Usa math.sqrt para calcular la desviacion estandar de las primas validas.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4261104"/>
            <a:ext cx="8357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</a:rPr>
              <a:t>5. Imprime un reporte con: total procesados, total errores, promedio prima, promedio frecuencia.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FA3B1"/>
                </a:solidFill>
              </a:rPr>
              <a:t>Modulo 1 · Sesion 5  ·  Viernes 24 de abril 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D8EA"/>
                </a:solidFill>
              </a:rPr>
              <a:t>Ejercicio Integrador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71228"/>
          </a:solidFill>
          <a:ln w="12700">
            <a:solidFill>
              <a:srgbClr val="0712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926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Resumen de la Sesion 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</a:rPr>
              <a:t>T4 Funciones: segunda y ultima parte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98448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128016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*args: recibir cualquier cantidad de argumentos posicionales (empaca en tupla)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190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170078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**kwargs: recibir argumentos con nombre variables (empaca en diccionario)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39696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21214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Orden correcto: def f(normales, *args, **kwargs)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60320"/>
            <a:ext cx="219456" cy="2194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9808" y="254203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try/except: proteger funciones de datos sucios — ZeroDivisionError, ValueError, TypeError, KeyError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980944"/>
            <a:ext cx="219456" cy="21945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9808" y="296265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Modulos: estandar (ya incluidos), terceros (pip install), propios (tu archivo .py)</a:t>
            </a:r>
            <a:endParaRPr lang="en-US" sz="11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401568"/>
            <a:ext cx="219456" cy="21945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49808" y="33832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math: sqrt, log, exp, ceil, floor — aplicados a calculos actuariales</a:t>
            </a:r>
            <a:endParaRPr lang="en-US" sz="11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822192"/>
            <a:ext cx="219456" cy="219456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49808" y="380390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8"/>
                </a:solidFill>
              </a:rPr>
              <a:t>datetime en funciones: vigencias, aging de siniestros, fracciones de exposicion</a:t>
            </a:r>
            <a:endParaRPr lang="en-US" sz="1150" dirty="0"/>
          </a:p>
        </p:txBody>
      </p:sp>
      <p:sp>
        <p:nvSpPr>
          <p:cNvPr id="20" name="Shape 11"/>
          <p:cNvSpPr/>
          <p:nvPr/>
        </p:nvSpPr>
        <p:spPr>
          <a:xfrm>
            <a:off x="411480" y="4005072"/>
            <a:ext cx="8321040" cy="32918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2"/>
          <p:cNvSpPr/>
          <p:nvPr/>
        </p:nvSpPr>
        <p:spPr>
          <a:xfrm>
            <a:off x="411480" y="4005072"/>
            <a:ext cx="91440" cy="32918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059936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14400" y="404164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Proxima sesion: Sab 25 de abril · 07:00-11:00 h  ·  Modulos propios + tabla_tarifas.py + inicio Pandas</a:t>
            </a:r>
            <a:endParaRPr lang="en-US" sz="1050" dirty="0"/>
          </a:p>
        </p:txBody>
      </p:sp>
      <p:sp>
        <p:nvSpPr>
          <p:cNvPr id="24" name="Text 14"/>
          <p:cNvSpPr/>
          <p:nvPr/>
        </p:nvSpPr>
        <p:spPr>
          <a:xfrm>
            <a:off x="274320" y="446227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1"/>
                </a:solidFill>
              </a:rPr>
              <a:t>Facultad de Ciencias · UNAM  ·  Diplomado ML en Seguros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1 · Sesion 5 · Funciones Avanzadas y Modulos</dc:title>
  <dc:subject>PptxGenJS Presentation</dc:subject>
  <dc:creator>PptxGenJS</dc:creator>
  <cp:lastModifiedBy>PptxGenJS</cp:lastModifiedBy>
  <cp:revision>1</cp:revision>
  <dcterms:created xsi:type="dcterms:W3CDTF">2026-04-24T17:44:17Z</dcterms:created>
  <dcterms:modified xsi:type="dcterms:W3CDTF">2026-04-24T17:44:17Z</dcterms:modified>
</cp:coreProperties>
</file>