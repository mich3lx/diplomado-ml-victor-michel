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sp>
      <p:sp>
        <p:nvSpPr>
          <p:cNvPr id="3" name="Shape 1"/>
          <p:cNvSpPr/>
          <p:nvPr/>
        </p:nvSpPr>
        <p:spPr>
          <a:xfrm>
            <a:off x="7498080" y="0"/>
            <a:ext cx="1645920" cy="1371600"/>
          </a:xfrm>
          <a:prstGeom prst="rect">
            <a:avLst/>
          </a:prstGeom>
          <a:solidFill>
            <a:srgbClr val="1A5276"/>
          </a:solidFill>
          <a:ln w="12700">
            <a:solidFill>
              <a:srgbClr val="1A5276"/>
            </a:solidFill>
            <a:prstDash val="solid"/>
          </a:ln>
        </p:spPr>
      </p:sp>
      <p:sp>
        <p:nvSpPr>
          <p:cNvPr id="4" name="Shape 2"/>
          <p:cNvSpPr/>
          <p:nvPr/>
        </p:nvSpPr>
        <p:spPr>
          <a:xfrm>
            <a:off x="8138160" y="0"/>
            <a:ext cx="1005840" cy="1371600"/>
          </a:xfrm>
          <a:prstGeom prst="rect">
            <a:avLst/>
          </a:prstGeom>
          <a:solidFill>
            <a:srgbClr val="0D7A8A"/>
          </a:solidFill>
          <a:ln w="12700">
            <a:solidFill>
              <a:srgbClr val="0D7A8A"/>
            </a:solidFill>
            <a:prstDash val="solid"/>
          </a:ln>
        </p:spPr>
      </p:sp>
      <p:pic>
        <p:nvPicPr>
          <p:cNvPr id="5" name="Image 0" descr="preencoded.png">    </p:cNvPr>
          <p:cNvPicPr>
            <a:picLocks noChangeAspect="1"/>
          </p:cNvPicPr>
          <p:nvPr/>
        </p:nvPicPr>
        <p:blipFill>
          <a:blip r:embed="rId1"/>
          <a:stretch>
            <a:fillRect/>
          </a:stretch>
        </p:blipFill>
        <p:spPr>
          <a:xfrm>
            <a:off x="6949440" y="1371600"/>
            <a:ext cx="1920240" cy="1920240"/>
          </a:xfrm>
          <a:prstGeom prst="rect">
            <a:avLst/>
          </a:prstGeom>
        </p:spPr>
      </p:pic>
      <p:sp>
        <p:nvSpPr>
          <p:cNvPr id="6" name="Shape 3"/>
          <p:cNvSpPr/>
          <p:nvPr/>
        </p:nvSpPr>
        <p:spPr>
          <a:xfrm>
            <a:off x="365760" y="475488"/>
            <a:ext cx="1554480" cy="292608"/>
          </a:xfrm>
          <a:prstGeom prst="rect">
            <a:avLst/>
          </a:prstGeom>
          <a:solidFill>
            <a:srgbClr val="0D7A8A"/>
          </a:solidFill>
          <a:ln w="12700">
            <a:solidFill>
              <a:srgbClr val="0D7A8A"/>
            </a:solidFill>
            <a:prstDash val="solid"/>
          </a:ln>
        </p:spPr>
      </p:sp>
      <p:sp>
        <p:nvSpPr>
          <p:cNvPr id="7" name="Text 4"/>
          <p:cNvSpPr/>
          <p:nvPr/>
        </p:nvSpPr>
        <p:spPr>
          <a:xfrm>
            <a:off x="365760" y="475488"/>
            <a:ext cx="1554480"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rPr>
              <a:t>MODULO 1</a:t>
            </a:r>
            <a:endParaRPr lang="en-US" sz="900" dirty="0"/>
          </a:p>
        </p:txBody>
      </p:sp>
      <p:sp>
        <p:nvSpPr>
          <p:cNvPr id="8" name="Text 5"/>
          <p:cNvSpPr/>
          <p:nvPr/>
        </p:nvSpPr>
        <p:spPr>
          <a:xfrm>
            <a:off x="365760" y="896112"/>
            <a:ext cx="6217920" cy="475488"/>
          </a:xfrm>
          <a:prstGeom prst="rect">
            <a:avLst/>
          </a:prstGeom>
          <a:noFill/>
          <a:ln/>
        </p:spPr>
        <p:txBody>
          <a:bodyPr wrap="square" lIns="0" tIns="0" rIns="0" bIns="0" rtlCol="0" anchor="ctr"/>
          <a:lstStyle/>
          <a:p>
            <a:pPr indent="0" marL="0">
              <a:buNone/>
            </a:pPr>
            <a:r>
              <a:rPr lang="en-US" sz="2200" b="1" dirty="0">
                <a:solidFill>
                  <a:srgbClr val="A8D8EA"/>
                </a:solidFill>
              </a:rPr>
              <a:t>Introduccion a Python</a:t>
            </a:r>
            <a:endParaRPr lang="en-US" sz="2200" dirty="0"/>
          </a:p>
        </p:txBody>
      </p:sp>
      <p:sp>
        <p:nvSpPr>
          <p:cNvPr id="9" name="Text 6"/>
          <p:cNvSpPr/>
          <p:nvPr/>
        </p:nvSpPr>
        <p:spPr>
          <a:xfrm>
            <a:off x="365760" y="1389888"/>
            <a:ext cx="6217920" cy="658368"/>
          </a:xfrm>
          <a:prstGeom prst="rect">
            <a:avLst/>
          </a:prstGeom>
          <a:noFill/>
          <a:ln/>
        </p:spPr>
        <p:txBody>
          <a:bodyPr wrap="square" lIns="0" tIns="0" rIns="0" bIns="0" rtlCol="0" anchor="ctr"/>
          <a:lstStyle/>
          <a:p>
            <a:pPr indent="0" marL="0">
              <a:buNone/>
            </a:pPr>
            <a:r>
              <a:rPr lang="en-US" sz="4400" b="1" dirty="0">
                <a:solidFill>
                  <a:srgbClr val="FFFFFF"/>
                </a:solidFill>
              </a:rPr>
              <a:t>Sesion 6</a:t>
            </a:r>
            <a:endParaRPr lang="en-US" sz="4400" dirty="0"/>
          </a:p>
        </p:txBody>
      </p:sp>
      <p:sp>
        <p:nvSpPr>
          <p:cNvPr id="10" name="Text 7"/>
          <p:cNvSpPr/>
          <p:nvPr/>
        </p:nvSpPr>
        <p:spPr>
          <a:xfrm>
            <a:off x="365760" y="2084832"/>
            <a:ext cx="6217920" cy="347472"/>
          </a:xfrm>
          <a:prstGeom prst="rect">
            <a:avLst/>
          </a:prstGeom>
          <a:noFill/>
          <a:ln/>
        </p:spPr>
        <p:txBody>
          <a:bodyPr wrap="square" lIns="0" tIns="0" rIns="0" bIns="0" rtlCol="0" anchor="ctr"/>
          <a:lstStyle/>
          <a:p>
            <a:pPr indent="0" marL="0">
              <a:buNone/>
            </a:pPr>
            <a:r>
              <a:rPr lang="en-US" sz="1600" dirty="0">
                <a:solidFill>
                  <a:srgbClr val="8FA3B1"/>
                </a:solidFill>
              </a:rPr>
              <a:t>T4 Cierre: Modulos Propios + Scripts</a:t>
            </a:r>
            <a:endParaRPr lang="en-US" sz="1600" dirty="0"/>
          </a:p>
        </p:txBody>
      </p:sp>
      <p:sp>
        <p:nvSpPr>
          <p:cNvPr id="11" name="Text 8"/>
          <p:cNvSpPr/>
          <p:nvPr/>
        </p:nvSpPr>
        <p:spPr>
          <a:xfrm>
            <a:off x="365760" y="2450592"/>
            <a:ext cx="6217920" cy="329184"/>
          </a:xfrm>
          <a:prstGeom prst="rect">
            <a:avLst/>
          </a:prstGeom>
          <a:noFill/>
          <a:ln/>
        </p:spPr>
        <p:txBody>
          <a:bodyPr wrap="square" lIns="0" tIns="0" rIns="0" bIns="0" rtlCol="0" anchor="ctr"/>
          <a:lstStyle/>
          <a:p>
            <a:pPr indent="0" marL="0">
              <a:buNone/>
            </a:pPr>
            <a:r>
              <a:rPr lang="en-US" sz="1600" dirty="0">
                <a:solidFill>
                  <a:srgbClr val="A8D8EA"/>
                </a:solidFill>
              </a:rPr>
              <a:t>T5 Inicio: Pandas — Series y DataFrames</a:t>
            </a:r>
            <a:endParaRPr lang="en-US" sz="1600" dirty="0"/>
          </a:p>
        </p:txBody>
      </p:sp>
      <p:sp>
        <p:nvSpPr>
          <p:cNvPr id="12" name="Shape 9"/>
          <p:cNvSpPr/>
          <p:nvPr/>
        </p:nvSpPr>
        <p:spPr>
          <a:xfrm>
            <a:off x="365760" y="2852928"/>
            <a:ext cx="4389120" cy="36576"/>
          </a:xfrm>
          <a:prstGeom prst="rect">
            <a:avLst/>
          </a:prstGeom>
          <a:solidFill>
            <a:srgbClr val="0D7A8A"/>
          </a:solidFill>
          <a:ln w="12700">
            <a:solidFill>
              <a:srgbClr val="0D7A8A"/>
            </a:solidFill>
            <a:prstDash val="solid"/>
          </a:ln>
        </p:spPr>
      </p:sp>
      <p:pic>
        <p:nvPicPr>
          <p:cNvPr id="13" name="Image 1" descr="preencoded.png">    </p:cNvPr>
          <p:cNvPicPr>
            <a:picLocks noChangeAspect="1"/>
          </p:cNvPicPr>
          <p:nvPr/>
        </p:nvPicPr>
        <p:blipFill>
          <a:blip r:embed="rId2"/>
          <a:stretch>
            <a:fillRect/>
          </a:stretch>
        </p:blipFill>
        <p:spPr>
          <a:xfrm>
            <a:off x="365760" y="3035808"/>
            <a:ext cx="256032" cy="256032"/>
          </a:xfrm>
          <a:prstGeom prst="rect">
            <a:avLst/>
          </a:prstGeom>
        </p:spPr>
      </p:pic>
      <p:sp>
        <p:nvSpPr>
          <p:cNvPr id="14" name="Text 10"/>
          <p:cNvSpPr/>
          <p:nvPr/>
        </p:nvSpPr>
        <p:spPr>
          <a:xfrm>
            <a:off x="713232" y="3017520"/>
            <a:ext cx="5943600" cy="292608"/>
          </a:xfrm>
          <a:prstGeom prst="rect">
            <a:avLst/>
          </a:prstGeom>
          <a:noFill/>
          <a:ln/>
        </p:spPr>
        <p:txBody>
          <a:bodyPr wrap="square" lIns="0" tIns="0" rIns="0" bIns="0" rtlCol="0" anchor="ctr"/>
          <a:lstStyle/>
          <a:p>
            <a:pPr indent="0" marL="0">
              <a:buNone/>
            </a:pPr>
            <a:r>
              <a:rPr lang="en-US" sz="1200" dirty="0">
                <a:solidFill>
                  <a:srgbClr val="F0F4F8"/>
                </a:solidFill>
              </a:rPr>
              <a:t>Sabado 25 de abril de 2026  ·  07:00 - 11:00 h  (4 horas)</a:t>
            </a:r>
            <a:endParaRPr lang="en-US" sz="1200" dirty="0"/>
          </a:p>
        </p:txBody>
      </p:sp>
      <p:pic>
        <p:nvPicPr>
          <p:cNvPr id="15" name="Image 2" descr="preencoded.png">    </p:cNvPr>
          <p:cNvPicPr>
            <a:picLocks noChangeAspect="1"/>
          </p:cNvPicPr>
          <p:nvPr/>
        </p:nvPicPr>
        <p:blipFill>
          <a:blip r:embed="rId3"/>
          <a:stretch>
            <a:fillRect/>
          </a:stretch>
        </p:blipFill>
        <p:spPr>
          <a:xfrm>
            <a:off x="365760" y="3401568"/>
            <a:ext cx="256032" cy="256032"/>
          </a:xfrm>
          <a:prstGeom prst="rect">
            <a:avLst/>
          </a:prstGeom>
        </p:spPr>
      </p:pic>
      <p:sp>
        <p:nvSpPr>
          <p:cNvPr id="16" name="Text 11"/>
          <p:cNvSpPr/>
          <p:nvPr/>
        </p:nvSpPr>
        <p:spPr>
          <a:xfrm>
            <a:off x="713232" y="3383280"/>
            <a:ext cx="5943600" cy="292608"/>
          </a:xfrm>
          <a:prstGeom prst="rect">
            <a:avLst/>
          </a:prstGeom>
          <a:noFill/>
          <a:ln/>
        </p:spPr>
        <p:txBody>
          <a:bodyPr wrap="square" lIns="0" tIns="0" rIns="0" bIns="0" rtlCol="0" anchor="ctr"/>
          <a:lstStyle/>
          <a:p>
            <a:pPr indent="0" marL="0">
              <a:buNone/>
            </a:pPr>
            <a:r>
              <a:rPr lang="en-US" sz="1200" dirty="0">
                <a:solidFill>
                  <a:srgbClr val="F0F4F8"/>
                </a:solidFill>
              </a:rPr>
              <a:t>Modalidad: En linea via Zoom</a:t>
            </a:r>
            <a:endParaRPr lang="en-US" sz="1200" dirty="0"/>
          </a:p>
        </p:txBody>
      </p:sp>
      <p:pic>
        <p:nvPicPr>
          <p:cNvPr id="17" name="Image 3" descr="preencoded.png">    </p:cNvPr>
          <p:cNvPicPr>
            <a:picLocks noChangeAspect="1"/>
          </p:cNvPicPr>
          <p:nvPr/>
        </p:nvPicPr>
        <p:blipFill>
          <a:blip r:embed="rId4"/>
          <a:stretch>
            <a:fillRect/>
          </a:stretch>
        </p:blipFill>
        <p:spPr>
          <a:xfrm>
            <a:off x="365760" y="3767328"/>
            <a:ext cx="256032" cy="256032"/>
          </a:xfrm>
          <a:prstGeom prst="rect">
            <a:avLst/>
          </a:prstGeom>
        </p:spPr>
      </p:pic>
      <p:sp>
        <p:nvSpPr>
          <p:cNvPr id="18" name="Text 12"/>
          <p:cNvSpPr/>
          <p:nvPr/>
        </p:nvSpPr>
        <p:spPr>
          <a:xfrm>
            <a:off x="713232" y="3749040"/>
            <a:ext cx="5943600" cy="292608"/>
          </a:xfrm>
          <a:prstGeom prst="rect">
            <a:avLst/>
          </a:prstGeom>
          <a:noFill/>
          <a:ln/>
        </p:spPr>
        <p:txBody>
          <a:bodyPr wrap="square" lIns="0" tIns="0" rIns="0" bIns="0" rtlCol="0" anchor="ctr"/>
          <a:lstStyle/>
          <a:p>
            <a:pPr indent="0" marL="0">
              <a:buNone/>
            </a:pPr>
            <a:r>
              <a:rPr lang="en-US" sz="1200" dirty="0">
                <a:solidFill>
                  <a:srgbClr val="8FA3B1"/>
                </a:solidFill>
              </a:rPr>
              <a:t>Instructor: Eric  ·  Diplomado ML en Seguros, FC UNAM</a:t>
            </a:r>
            <a:endParaRPr lang="en-US" sz="1200" dirty="0"/>
          </a:p>
        </p:txBody>
      </p:sp>
      <p:sp>
        <p:nvSpPr>
          <p:cNvPr id="19" name="Shape 13"/>
          <p:cNvSpPr/>
          <p:nvPr/>
        </p:nvSpPr>
        <p:spPr>
          <a:xfrm>
            <a:off x="0" y="4892040"/>
            <a:ext cx="9144000" cy="251460"/>
          </a:xfrm>
          <a:prstGeom prst="rect">
            <a:avLst/>
          </a:prstGeom>
          <a:solidFill>
            <a:srgbClr val="071228"/>
          </a:solidFill>
          <a:ln w="12700">
            <a:solidFill>
              <a:srgbClr val="071228"/>
            </a:solidFill>
            <a:prstDash val="solid"/>
          </a:ln>
        </p:spPr>
      </p:sp>
      <p:sp>
        <p:nvSpPr>
          <p:cNvPr id="20" name="Text 14"/>
          <p:cNvSpPr/>
          <p:nvPr/>
        </p:nvSpPr>
        <p:spPr>
          <a:xfrm>
            <a:off x="274320" y="4892040"/>
            <a:ext cx="8595360" cy="251460"/>
          </a:xfrm>
          <a:prstGeom prst="rect">
            <a:avLst/>
          </a:prstGeom>
          <a:noFill/>
          <a:ln/>
        </p:spPr>
        <p:txBody>
          <a:bodyPr wrap="square" lIns="0" tIns="0" rIns="0" bIns="0" rtlCol="0" anchor="ctr"/>
          <a:lstStyle/>
          <a:p>
            <a:pPr algn="ctr" indent="0" marL="0">
              <a:buNone/>
            </a:pPr>
            <a:r>
              <a:rPr lang="en-US" sz="900" dirty="0">
                <a:solidFill>
                  <a:srgbClr val="8FA3B1"/>
                </a:solidFill>
              </a:rPr>
              <a:t>Facultad de Ciencias · Universidad Nacional Autonoma de Mexico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Text 1"/>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FFFFFF"/>
                </a:solidFill>
              </a:rPr>
              <a:t>Agenda de Hoy — 4 Horas</a:t>
            </a:r>
            <a:endParaRPr lang="en-US" sz="26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Sesion 6  ·  Sabado 25 de abril  ·  Cierre T4 + Inicio T5</a:t>
            </a:r>
            <a:endParaRPr lang="en-US" sz="1200" dirty="0"/>
          </a:p>
        </p:txBody>
      </p:sp>
      <p:sp>
        <p:nvSpPr>
          <p:cNvPr id="5" name="Shape 3"/>
          <p:cNvSpPr/>
          <p:nvPr/>
        </p:nvSpPr>
        <p:spPr>
          <a:xfrm>
            <a:off x="347472" y="1078992"/>
            <a:ext cx="8449056" cy="457200"/>
          </a:xfrm>
          <a:prstGeom prst="rect">
            <a:avLst/>
          </a:prstGeom>
          <a:solidFill>
            <a:srgbClr val="1A5276">
              <a:alpha val="18000"/>
            </a:srgbClr>
          </a:solidFill>
          <a:ln w="12700">
            <a:solidFill>
              <a:srgbClr val="1A5276">
                <a:alpha val="18000"/>
              </a:srgbClr>
            </a:solidFill>
            <a:prstDash val="solid"/>
          </a:ln>
        </p:spPr>
      </p:sp>
      <p:sp>
        <p:nvSpPr>
          <p:cNvPr id="6" name="Shape 4"/>
          <p:cNvSpPr/>
          <p:nvPr/>
        </p:nvSpPr>
        <p:spPr>
          <a:xfrm>
            <a:off x="347472" y="1133856"/>
            <a:ext cx="1508760" cy="274320"/>
          </a:xfrm>
          <a:prstGeom prst="rect">
            <a:avLst/>
          </a:prstGeom>
          <a:solidFill>
            <a:srgbClr val="0D7A8A"/>
          </a:solidFill>
          <a:ln w="12700">
            <a:solidFill>
              <a:srgbClr val="0D7A8A"/>
            </a:solidFill>
            <a:prstDash val="solid"/>
          </a:ln>
        </p:spPr>
      </p:sp>
      <p:sp>
        <p:nvSpPr>
          <p:cNvPr id="7" name="Text 5"/>
          <p:cNvSpPr/>
          <p:nvPr/>
        </p:nvSpPr>
        <p:spPr>
          <a:xfrm>
            <a:off x="347472" y="1133856"/>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07:00-07:45</a:t>
            </a:r>
            <a:endParaRPr lang="en-US" sz="900" dirty="0"/>
          </a:p>
        </p:txBody>
      </p:sp>
      <p:sp>
        <p:nvSpPr>
          <p:cNvPr id="8" name="Text 6"/>
          <p:cNvSpPr/>
          <p:nvPr/>
        </p:nvSpPr>
        <p:spPr>
          <a:xfrm>
            <a:off x="1938528" y="1133856"/>
            <a:ext cx="6858000" cy="274320"/>
          </a:xfrm>
          <a:prstGeom prst="rect">
            <a:avLst/>
          </a:prstGeom>
          <a:noFill/>
          <a:ln/>
        </p:spPr>
        <p:txBody>
          <a:bodyPr wrap="square" lIns="0" tIns="0" rIns="0" bIns="0" rtlCol="0" anchor="ctr"/>
          <a:lstStyle/>
          <a:p>
            <a:pPr indent="0" marL="0">
              <a:buNone/>
            </a:pPr>
            <a:r>
              <a:rPr lang="en-US" sz="1200" dirty="0">
                <a:solidFill>
                  <a:srgbClr val="FFFFFF"/>
                </a:solidFill>
              </a:rPr>
              <a:t>T4 — Modulos propios: crear mi_modulo.py desde cero</a:t>
            </a:r>
            <a:endParaRPr lang="en-US" sz="1200" dirty="0"/>
          </a:p>
        </p:txBody>
      </p:sp>
      <p:sp>
        <p:nvSpPr>
          <p:cNvPr id="9" name="Shape 7"/>
          <p:cNvSpPr/>
          <p:nvPr/>
        </p:nvSpPr>
        <p:spPr>
          <a:xfrm>
            <a:off x="347472" y="1656893"/>
            <a:ext cx="1508760" cy="274320"/>
          </a:xfrm>
          <a:prstGeom prst="rect">
            <a:avLst/>
          </a:prstGeom>
          <a:solidFill>
            <a:srgbClr val="0D7A8A"/>
          </a:solidFill>
          <a:ln w="12700">
            <a:solidFill>
              <a:srgbClr val="0D7A8A"/>
            </a:solidFill>
            <a:prstDash val="solid"/>
          </a:ln>
        </p:spPr>
      </p:sp>
      <p:sp>
        <p:nvSpPr>
          <p:cNvPr id="10" name="Text 8"/>
          <p:cNvSpPr/>
          <p:nvPr/>
        </p:nvSpPr>
        <p:spPr>
          <a:xfrm>
            <a:off x="347472" y="1656893"/>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07:45-08:30</a:t>
            </a:r>
            <a:endParaRPr lang="en-US" sz="900" dirty="0"/>
          </a:p>
        </p:txBody>
      </p:sp>
      <p:sp>
        <p:nvSpPr>
          <p:cNvPr id="11" name="Text 9"/>
          <p:cNvSpPr/>
          <p:nvPr/>
        </p:nvSpPr>
        <p:spPr>
          <a:xfrm>
            <a:off x="1938528" y="1656893"/>
            <a:ext cx="6858000" cy="274320"/>
          </a:xfrm>
          <a:prstGeom prst="rect">
            <a:avLst/>
          </a:prstGeom>
          <a:noFill/>
          <a:ln/>
        </p:spPr>
        <p:txBody>
          <a:bodyPr wrap="square" lIns="0" tIns="0" rIns="0" bIns="0" rtlCol="0" anchor="ctr"/>
          <a:lstStyle/>
          <a:p>
            <a:pPr indent="0" marL="0">
              <a:buNone/>
            </a:pPr>
            <a:r>
              <a:rPr lang="en-US" sz="1200" dirty="0">
                <a:solidFill>
                  <a:srgbClr val="FFFFFF"/>
                </a:solidFill>
              </a:rPr>
              <a:t>T4 — tabla_tarifas.py: clase actuarial real con docstrings</a:t>
            </a:r>
            <a:endParaRPr lang="en-US" sz="1200" dirty="0"/>
          </a:p>
        </p:txBody>
      </p:sp>
      <p:sp>
        <p:nvSpPr>
          <p:cNvPr id="12" name="Shape 10"/>
          <p:cNvSpPr/>
          <p:nvPr/>
        </p:nvSpPr>
        <p:spPr>
          <a:xfrm>
            <a:off x="347472" y="2125066"/>
            <a:ext cx="8449056" cy="457200"/>
          </a:xfrm>
          <a:prstGeom prst="rect">
            <a:avLst/>
          </a:prstGeom>
          <a:solidFill>
            <a:srgbClr val="1A5276">
              <a:alpha val="18000"/>
            </a:srgbClr>
          </a:solidFill>
          <a:ln w="12700">
            <a:solidFill>
              <a:srgbClr val="1A5276">
                <a:alpha val="18000"/>
              </a:srgbClr>
            </a:solidFill>
            <a:prstDash val="solid"/>
          </a:ln>
        </p:spPr>
      </p:sp>
      <p:sp>
        <p:nvSpPr>
          <p:cNvPr id="13" name="Shape 11"/>
          <p:cNvSpPr/>
          <p:nvPr/>
        </p:nvSpPr>
        <p:spPr>
          <a:xfrm>
            <a:off x="347472" y="2179930"/>
            <a:ext cx="1508760" cy="274320"/>
          </a:xfrm>
          <a:prstGeom prst="rect">
            <a:avLst/>
          </a:prstGeom>
          <a:solidFill>
            <a:srgbClr val="0D7A8A"/>
          </a:solidFill>
          <a:ln w="12700">
            <a:solidFill>
              <a:srgbClr val="0D7A8A"/>
            </a:solidFill>
            <a:prstDash val="solid"/>
          </a:ln>
        </p:spPr>
      </p:sp>
      <p:sp>
        <p:nvSpPr>
          <p:cNvPr id="14" name="Text 12"/>
          <p:cNvSpPr/>
          <p:nvPr/>
        </p:nvSpPr>
        <p:spPr>
          <a:xfrm>
            <a:off x="347472" y="2179930"/>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08:30-09:00</a:t>
            </a:r>
            <a:endParaRPr lang="en-US" sz="900" dirty="0"/>
          </a:p>
        </p:txBody>
      </p:sp>
      <p:sp>
        <p:nvSpPr>
          <p:cNvPr id="15" name="Text 13"/>
          <p:cNvSpPr/>
          <p:nvPr/>
        </p:nvSpPr>
        <p:spPr>
          <a:xfrm>
            <a:off x="1938528" y="2179930"/>
            <a:ext cx="6858000" cy="274320"/>
          </a:xfrm>
          <a:prstGeom prst="rect">
            <a:avLst/>
          </a:prstGeom>
          <a:noFill/>
          <a:ln/>
        </p:spPr>
        <p:txBody>
          <a:bodyPr wrap="square" lIns="0" tIns="0" rIns="0" bIns="0" rtlCol="0" anchor="ctr"/>
          <a:lstStyle/>
          <a:p>
            <a:pPr indent="0" marL="0">
              <a:buNone/>
            </a:pPr>
            <a:r>
              <a:rPr lang="en-US" sz="1200" dirty="0">
                <a:solidFill>
                  <a:srgbClr val="FFFFFF"/>
                </a:solidFill>
              </a:rPr>
              <a:t>T4 — Scripts .py: if __name__ == '__main__'</a:t>
            </a:r>
            <a:endParaRPr lang="en-US" sz="1200" dirty="0"/>
          </a:p>
        </p:txBody>
      </p:sp>
      <p:sp>
        <p:nvSpPr>
          <p:cNvPr id="16" name="Shape 14"/>
          <p:cNvSpPr/>
          <p:nvPr/>
        </p:nvSpPr>
        <p:spPr>
          <a:xfrm>
            <a:off x="347472" y="2702966"/>
            <a:ext cx="1508760" cy="274320"/>
          </a:xfrm>
          <a:prstGeom prst="rect">
            <a:avLst/>
          </a:prstGeom>
          <a:solidFill>
            <a:srgbClr val="374151"/>
          </a:solidFill>
          <a:ln w="12700">
            <a:solidFill>
              <a:srgbClr val="374151"/>
            </a:solidFill>
            <a:prstDash val="solid"/>
          </a:ln>
        </p:spPr>
      </p:sp>
      <p:sp>
        <p:nvSpPr>
          <p:cNvPr id="17" name="Text 15"/>
          <p:cNvSpPr/>
          <p:nvPr/>
        </p:nvSpPr>
        <p:spPr>
          <a:xfrm>
            <a:off x="347472" y="2702966"/>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09:00-09:15</a:t>
            </a:r>
            <a:endParaRPr lang="en-US" sz="900" dirty="0"/>
          </a:p>
        </p:txBody>
      </p:sp>
      <p:sp>
        <p:nvSpPr>
          <p:cNvPr id="18" name="Text 16"/>
          <p:cNvSpPr/>
          <p:nvPr/>
        </p:nvSpPr>
        <p:spPr>
          <a:xfrm>
            <a:off x="1938528" y="2702966"/>
            <a:ext cx="6858000" cy="274320"/>
          </a:xfrm>
          <a:prstGeom prst="rect">
            <a:avLst/>
          </a:prstGeom>
          <a:noFill/>
          <a:ln/>
        </p:spPr>
        <p:txBody>
          <a:bodyPr wrap="square" lIns="0" tIns="0" rIns="0" bIns="0" rtlCol="0" anchor="ctr"/>
          <a:lstStyle/>
          <a:p>
            <a:pPr indent="0" marL="0">
              <a:buNone/>
            </a:pPr>
            <a:r>
              <a:rPr lang="en-US" sz="1200" dirty="0">
                <a:solidFill>
                  <a:srgbClr val="8FA3B1"/>
                </a:solidFill>
              </a:rPr>
              <a:t>Receso (15 minutos)</a:t>
            </a:r>
            <a:endParaRPr lang="en-US" sz="1200" dirty="0"/>
          </a:p>
        </p:txBody>
      </p:sp>
      <p:sp>
        <p:nvSpPr>
          <p:cNvPr id="19" name="Shape 17"/>
          <p:cNvSpPr/>
          <p:nvPr/>
        </p:nvSpPr>
        <p:spPr>
          <a:xfrm>
            <a:off x="347472" y="3171139"/>
            <a:ext cx="8449056" cy="457200"/>
          </a:xfrm>
          <a:prstGeom prst="rect">
            <a:avLst/>
          </a:prstGeom>
          <a:solidFill>
            <a:srgbClr val="1A5276">
              <a:alpha val="18000"/>
            </a:srgbClr>
          </a:solidFill>
          <a:ln w="12700">
            <a:solidFill>
              <a:srgbClr val="1A5276">
                <a:alpha val="18000"/>
              </a:srgbClr>
            </a:solidFill>
            <a:prstDash val="solid"/>
          </a:ln>
        </p:spPr>
      </p:sp>
      <p:sp>
        <p:nvSpPr>
          <p:cNvPr id="20" name="Shape 18"/>
          <p:cNvSpPr/>
          <p:nvPr/>
        </p:nvSpPr>
        <p:spPr>
          <a:xfrm>
            <a:off x="347472" y="3226003"/>
            <a:ext cx="1508760" cy="274320"/>
          </a:xfrm>
          <a:prstGeom prst="rect">
            <a:avLst/>
          </a:prstGeom>
          <a:solidFill>
            <a:srgbClr val="1E8449"/>
          </a:solidFill>
          <a:ln w="12700">
            <a:solidFill>
              <a:srgbClr val="1E8449"/>
            </a:solidFill>
            <a:prstDash val="solid"/>
          </a:ln>
        </p:spPr>
      </p:sp>
      <p:sp>
        <p:nvSpPr>
          <p:cNvPr id="21" name="Text 19"/>
          <p:cNvSpPr/>
          <p:nvPr/>
        </p:nvSpPr>
        <p:spPr>
          <a:xfrm>
            <a:off x="347472" y="3226003"/>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09:15-09:55</a:t>
            </a:r>
            <a:endParaRPr lang="en-US" sz="900" dirty="0"/>
          </a:p>
        </p:txBody>
      </p:sp>
      <p:sp>
        <p:nvSpPr>
          <p:cNvPr id="22" name="Text 20"/>
          <p:cNvSpPr/>
          <p:nvPr/>
        </p:nvSpPr>
        <p:spPr>
          <a:xfrm>
            <a:off x="1938528" y="3226003"/>
            <a:ext cx="6858000" cy="274320"/>
          </a:xfrm>
          <a:prstGeom prst="rect">
            <a:avLst/>
          </a:prstGeom>
          <a:noFill/>
          <a:ln/>
        </p:spPr>
        <p:txBody>
          <a:bodyPr wrap="square" lIns="0" tIns="0" rIns="0" bIns="0" rtlCol="0" anchor="ctr"/>
          <a:lstStyle/>
          <a:p>
            <a:pPr indent="0" marL="0">
              <a:buNone/>
            </a:pPr>
            <a:r>
              <a:rPr lang="en-US" sz="1200" dirty="0">
                <a:solidFill>
                  <a:srgbClr val="FFFFFF"/>
                </a:solidFill>
              </a:rPr>
              <a:t>T5 — Pandas: que es, Series desde cero</a:t>
            </a:r>
            <a:endParaRPr lang="en-US" sz="1200" dirty="0"/>
          </a:p>
        </p:txBody>
      </p:sp>
      <p:sp>
        <p:nvSpPr>
          <p:cNvPr id="23" name="Shape 21"/>
          <p:cNvSpPr/>
          <p:nvPr/>
        </p:nvSpPr>
        <p:spPr>
          <a:xfrm>
            <a:off x="347472" y="3749040"/>
            <a:ext cx="1508760" cy="274320"/>
          </a:xfrm>
          <a:prstGeom prst="rect">
            <a:avLst/>
          </a:prstGeom>
          <a:solidFill>
            <a:srgbClr val="1E8449"/>
          </a:solidFill>
          <a:ln w="12700">
            <a:solidFill>
              <a:srgbClr val="1E8449"/>
            </a:solidFill>
            <a:prstDash val="solid"/>
          </a:ln>
        </p:spPr>
      </p:sp>
      <p:sp>
        <p:nvSpPr>
          <p:cNvPr id="24" name="Text 22"/>
          <p:cNvSpPr/>
          <p:nvPr/>
        </p:nvSpPr>
        <p:spPr>
          <a:xfrm>
            <a:off x="347472" y="3749040"/>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09:55-10:35</a:t>
            </a:r>
            <a:endParaRPr lang="en-US" sz="900" dirty="0"/>
          </a:p>
        </p:txBody>
      </p:sp>
      <p:sp>
        <p:nvSpPr>
          <p:cNvPr id="25" name="Text 23"/>
          <p:cNvSpPr/>
          <p:nvPr/>
        </p:nvSpPr>
        <p:spPr>
          <a:xfrm>
            <a:off x="1938528" y="3749040"/>
            <a:ext cx="6858000" cy="274320"/>
          </a:xfrm>
          <a:prstGeom prst="rect">
            <a:avLst/>
          </a:prstGeom>
          <a:noFill/>
          <a:ln/>
        </p:spPr>
        <p:txBody>
          <a:bodyPr wrap="square" lIns="0" tIns="0" rIns="0" bIns="0" rtlCol="0" anchor="ctr"/>
          <a:lstStyle/>
          <a:p>
            <a:pPr indent="0" marL="0">
              <a:buNone/>
            </a:pPr>
            <a:r>
              <a:rPr lang="en-US" sz="1200" dirty="0">
                <a:solidFill>
                  <a:srgbClr val="FFFFFF"/>
                </a:solidFill>
              </a:rPr>
              <a:t>T5 — DataFrames: crear, explorar, indexar y filtrar</a:t>
            </a:r>
            <a:endParaRPr lang="en-US" sz="1200" dirty="0"/>
          </a:p>
        </p:txBody>
      </p:sp>
      <p:sp>
        <p:nvSpPr>
          <p:cNvPr id="26" name="Shape 24"/>
          <p:cNvSpPr/>
          <p:nvPr/>
        </p:nvSpPr>
        <p:spPr>
          <a:xfrm>
            <a:off x="347472" y="4217213"/>
            <a:ext cx="8449056" cy="457200"/>
          </a:xfrm>
          <a:prstGeom prst="rect">
            <a:avLst/>
          </a:prstGeom>
          <a:solidFill>
            <a:srgbClr val="1A5276">
              <a:alpha val="18000"/>
            </a:srgbClr>
          </a:solidFill>
          <a:ln w="12700">
            <a:solidFill>
              <a:srgbClr val="1A5276">
                <a:alpha val="18000"/>
              </a:srgbClr>
            </a:solidFill>
            <a:prstDash val="solid"/>
          </a:ln>
        </p:spPr>
      </p:sp>
      <p:sp>
        <p:nvSpPr>
          <p:cNvPr id="27" name="Shape 25"/>
          <p:cNvSpPr/>
          <p:nvPr/>
        </p:nvSpPr>
        <p:spPr>
          <a:xfrm>
            <a:off x="347472" y="4272077"/>
            <a:ext cx="1508760" cy="274320"/>
          </a:xfrm>
          <a:prstGeom prst="rect">
            <a:avLst/>
          </a:prstGeom>
          <a:solidFill>
            <a:srgbClr val="F4A261"/>
          </a:solidFill>
          <a:ln w="12700">
            <a:solidFill>
              <a:srgbClr val="F4A261"/>
            </a:solidFill>
            <a:prstDash val="solid"/>
          </a:ln>
        </p:spPr>
      </p:sp>
      <p:sp>
        <p:nvSpPr>
          <p:cNvPr id="28" name="Text 26"/>
          <p:cNvSpPr/>
          <p:nvPr/>
        </p:nvSpPr>
        <p:spPr>
          <a:xfrm>
            <a:off x="347472" y="4272077"/>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10:35-11:00</a:t>
            </a:r>
            <a:endParaRPr lang="en-US" sz="900" dirty="0"/>
          </a:p>
        </p:txBody>
      </p:sp>
      <p:sp>
        <p:nvSpPr>
          <p:cNvPr id="29" name="Text 27"/>
          <p:cNvSpPr/>
          <p:nvPr/>
        </p:nvSpPr>
        <p:spPr>
          <a:xfrm>
            <a:off x="1938528" y="4272077"/>
            <a:ext cx="6858000" cy="274320"/>
          </a:xfrm>
          <a:prstGeom prst="rect">
            <a:avLst/>
          </a:prstGeom>
          <a:noFill/>
          <a:ln/>
        </p:spPr>
        <p:txBody>
          <a:bodyPr wrap="square" lIns="0" tIns="0" rIns="0" bIns="0" rtlCol="0" anchor="ctr"/>
          <a:lstStyle/>
          <a:p>
            <a:pPr indent="0" marL="0">
              <a:buNone/>
            </a:pPr>
            <a:r>
              <a:rPr lang="en-US" sz="1200" dirty="0">
                <a:solidFill>
                  <a:srgbClr val="FFFFFF"/>
                </a:solidFill>
              </a:rPr>
              <a:t>Ejercicio integrador + cierre del T4 completo</a:t>
            </a:r>
            <a:endParaRPr lang="en-US" sz="1200" dirty="0"/>
          </a:p>
        </p:txBody>
      </p:sp>
      <p:sp>
        <p:nvSpPr>
          <p:cNvPr id="30" name="Shape 28"/>
          <p:cNvSpPr/>
          <p:nvPr/>
        </p:nvSpPr>
        <p:spPr>
          <a:xfrm>
            <a:off x="0" y="4892040"/>
            <a:ext cx="9144000" cy="251460"/>
          </a:xfrm>
          <a:prstGeom prst="rect">
            <a:avLst/>
          </a:prstGeom>
          <a:solidFill>
            <a:srgbClr val="071228"/>
          </a:solidFill>
          <a:ln w="12700">
            <a:solidFill>
              <a:srgbClr val="071228"/>
            </a:solidFill>
            <a:prstDash val="solid"/>
          </a:ln>
        </p:spPr>
      </p:sp>
      <p:sp>
        <p:nvSpPr>
          <p:cNvPr id="31" name="Text 29"/>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1E8449"/>
          </a:solidFill>
          <a:ln w="12700">
            <a:solidFill>
              <a:srgbClr val="1E8449"/>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MODULOS PROPIOS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0D1B3E"/>
                </a:solidFill>
              </a:rPr>
              <a:t>Crear Tu Propio Modulo</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Un modulo propio es simplemente un archivo .py con funciones que reutilizas</a:t>
            </a:r>
            <a:endParaRPr lang="en-US" sz="1200" dirty="0"/>
          </a:p>
        </p:txBody>
      </p:sp>
      <p:sp>
        <p:nvSpPr>
          <p:cNvPr id="7" name="Shape 5"/>
          <p:cNvSpPr/>
          <p:nvPr/>
        </p:nvSpPr>
        <p:spPr>
          <a:xfrm>
            <a:off x="347472" y="987552"/>
            <a:ext cx="8449056" cy="603504"/>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493776" y="1042416"/>
            <a:ext cx="8229600" cy="475488"/>
          </a:xfrm>
          <a:prstGeom prst="rect">
            <a:avLst/>
          </a:prstGeom>
          <a:noFill/>
          <a:ln/>
        </p:spPr>
        <p:txBody>
          <a:bodyPr wrap="square" lIns="0" tIns="0" rIns="0" bIns="0" rtlCol="0" anchor="ctr"/>
          <a:lstStyle/>
          <a:p>
            <a:pPr indent="0" marL="0">
              <a:buNone/>
            </a:pPr>
            <a:r>
              <a:rPr lang="en-US" sz="1100" dirty="0">
                <a:solidFill>
                  <a:srgbClr val="374151"/>
                </a:solidFill>
              </a:rPr>
              <a:t>Hasta ahora todas nuestras funciones viven dentro del notebook. Un modulo propio es un archivo .py separado con funciones que puedes importar en CUALQUIER notebook o script. Es como crear tu propia biblioteca personal de herramientas actuariales.</a:t>
            </a:r>
            <a:endParaRPr lang="en-US" sz="1100" dirty="0"/>
          </a:p>
        </p:txBody>
      </p:sp>
      <p:sp>
        <p:nvSpPr>
          <p:cNvPr id="9" name="Shape 7"/>
          <p:cNvSpPr/>
          <p:nvPr/>
        </p:nvSpPr>
        <p:spPr>
          <a:xfrm>
            <a:off x="347472" y="1682496"/>
            <a:ext cx="3986784" cy="1938528"/>
          </a:xfrm>
          <a:prstGeom prst="rect">
            <a:avLst/>
          </a:prstGeom>
          <a:solidFill>
            <a:srgbClr val="071228"/>
          </a:solidFill>
          <a:ln w="12700">
            <a:solidFill>
              <a:srgbClr val="0D7A8A"/>
            </a:solidFill>
            <a:prstDash val="solid"/>
          </a:ln>
        </p:spPr>
      </p:sp>
      <p:sp>
        <p:nvSpPr>
          <p:cNvPr id="10" name="Shape 8"/>
          <p:cNvSpPr/>
          <p:nvPr/>
        </p:nvSpPr>
        <p:spPr>
          <a:xfrm>
            <a:off x="347472" y="1682496"/>
            <a:ext cx="3986784" cy="292608"/>
          </a:xfrm>
          <a:prstGeom prst="rect">
            <a:avLst/>
          </a:prstGeom>
          <a:solidFill>
            <a:srgbClr val="0D7A8A"/>
          </a:solidFill>
          <a:ln w="12700">
            <a:solidFill>
              <a:srgbClr val="0D7A8A"/>
            </a:solidFill>
            <a:prstDash val="solid"/>
          </a:ln>
        </p:spPr>
      </p:sp>
      <p:sp>
        <p:nvSpPr>
          <p:cNvPr id="11" name="Text 9"/>
          <p:cNvSpPr/>
          <p:nvPr/>
        </p:nvSpPr>
        <p:spPr>
          <a:xfrm>
            <a:off x="475488" y="1682496"/>
            <a:ext cx="3840480" cy="292608"/>
          </a:xfrm>
          <a:prstGeom prst="rect">
            <a:avLst/>
          </a:prstGeom>
          <a:noFill/>
          <a:ln/>
        </p:spPr>
        <p:txBody>
          <a:bodyPr wrap="square" lIns="0" tIns="0" rIns="0" bIns="0" rtlCol="0" anchor="ctr"/>
          <a:lstStyle/>
          <a:p>
            <a:pPr indent="0" marL="0">
              <a:buNone/>
            </a:pPr>
            <a:r>
              <a:rPr lang="en-US" sz="950" b="1" dirty="0">
                <a:solidFill>
                  <a:srgbClr val="FFFFFF"/>
                </a:solidFill>
              </a:rPr>
              <a:t>mi_modulo.py  (el modulo)</a:t>
            </a:r>
            <a:endParaRPr lang="en-US" sz="950" dirty="0"/>
          </a:p>
        </p:txBody>
      </p:sp>
      <p:sp>
        <p:nvSpPr>
          <p:cNvPr id="12" name="Text 10"/>
          <p:cNvSpPr/>
          <p:nvPr/>
        </p:nvSpPr>
        <p:spPr>
          <a:xfrm>
            <a:off x="475488" y="2029968"/>
            <a:ext cx="3730752"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Este archivo vive en la misma carpeta</a:t>
            </a:r>
            <a:endParaRPr lang="en-US" sz="850" dirty="0"/>
          </a:p>
        </p:txBody>
      </p:sp>
      <p:sp>
        <p:nvSpPr>
          <p:cNvPr id="13" name="Text 11"/>
          <p:cNvSpPr/>
          <p:nvPr/>
        </p:nvSpPr>
        <p:spPr>
          <a:xfrm>
            <a:off x="475488" y="2180844"/>
            <a:ext cx="3730752"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que tu notebook</a:t>
            </a:r>
            <a:endParaRPr lang="en-US" sz="850" dirty="0"/>
          </a:p>
        </p:txBody>
      </p:sp>
      <p:sp>
        <p:nvSpPr>
          <p:cNvPr id="14" name="Text 12"/>
          <p:cNvSpPr/>
          <p:nvPr/>
        </p:nvSpPr>
        <p:spPr>
          <a:xfrm>
            <a:off x="475488" y="2331720"/>
            <a:ext cx="373075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5" name="Text 13"/>
          <p:cNvSpPr/>
          <p:nvPr/>
        </p:nvSpPr>
        <p:spPr>
          <a:xfrm>
            <a:off x="475488" y="2482596"/>
            <a:ext cx="373075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 recargo=0.15):</a:t>
            </a:r>
            <a:endParaRPr lang="en-US" sz="850" dirty="0"/>
          </a:p>
        </p:txBody>
      </p:sp>
      <p:sp>
        <p:nvSpPr>
          <p:cNvPr id="16" name="Text 14"/>
          <p:cNvSpPr/>
          <p:nvPr/>
        </p:nvSpPr>
        <p:spPr>
          <a:xfrm>
            <a:off x="475488" y="2633472"/>
            <a:ext cx="3730752" cy="15087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"""Calcula prima comercial."""</a:t>
            </a:r>
            <a:endParaRPr lang="en-US" sz="850" dirty="0"/>
          </a:p>
        </p:txBody>
      </p:sp>
      <p:sp>
        <p:nvSpPr>
          <p:cNvPr id="17" name="Text 15"/>
          <p:cNvSpPr/>
          <p:nvPr/>
        </p:nvSpPr>
        <p:spPr>
          <a:xfrm>
            <a:off x="475488" y="2784348"/>
            <a:ext cx="373075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 * (1 + recargo) * 1.16</a:t>
            </a:r>
            <a:endParaRPr lang="en-US" sz="850" dirty="0"/>
          </a:p>
        </p:txBody>
      </p:sp>
      <p:sp>
        <p:nvSpPr>
          <p:cNvPr id="18" name="Text 16"/>
          <p:cNvSpPr/>
          <p:nvPr/>
        </p:nvSpPr>
        <p:spPr>
          <a:xfrm>
            <a:off x="475488" y="2935224"/>
            <a:ext cx="373075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9" name="Text 17"/>
          <p:cNvSpPr/>
          <p:nvPr/>
        </p:nvSpPr>
        <p:spPr>
          <a:xfrm>
            <a:off x="475488" y="3086100"/>
            <a:ext cx="373075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clasificar_riesgo(siniest):</a:t>
            </a:r>
            <a:endParaRPr lang="en-US" sz="850" dirty="0"/>
          </a:p>
        </p:txBody>
      </p:sp>
      <p:sp>
        <p:nvSpPr>
          <p:cNvPr id="20" name="Text 18"/>
          <p:cNvSpPr/>
          <p:nvPr/>
        </p:nvSpPr>
        <p:spPr>
          <a:xfrm>
            <a:off x="475488" y="3236976"/>
            <a:ext cx="3730752" cy="15087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"""Clasifica nivel de riesgo."""</a:t>
            </a:r>
            <a:endParaRPr lang="en-US" sz="850" dirty="0"/>
          </a:p>
        </p:txBody>
      </p:sp>
      <p:sp>
        <p:nvSpPr>
          <p:cNvPr id="21" name="Text 19"/>
          <p:cNvSpPr/>
          <p:nvPr/>
        </p:nvSpPr>
        <p:spPr>
          <a:xfrm>
            <a:off x="475488" y="3387852"/>
            <a:ext cx="373075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if siniest &gt;= 2: return 'ALTO'</a:t>
            </a:r>
            <a:endParaRPr lang="en-US" sz="850" dirty="0"/>
          </a:p>
        </p:txBody>
      </p:sp>
      <p:sp>
        <p:nvSpPr>
          <p:cNvPr id="22" name="Text 20"/>
          <p:cNvSpPr/>
          <p:nvPr/>
        </p:nvSpPr>
        <p:spPr>
          <a:xfrm>
            <a:off x="475488" y="3538728"/>
            <a:ext cx="373075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elif siniest == 1: return 'MEDIO'</a:t>
            </a:r>
            <a:endParaRPr lang="en-US" sz="850" dirty="0"/>
          </a:p>
        </p:txBody>
      </p:sp>
      <p:sp>
        <p:nvSpPr>
          <p:cNvPr id="23" name="Text 21"/>
          <p:cNvSpPr/>
          <p:nvPr/>
        </p:nvSpPr>
        <p:spPr>
          <a:xfrm>
            <a:off x="475488" y="3689604"/>
            <a:ext cx="373075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'BAJO'</a:t>
            </a:r>
            <a:endParaRPr lang="en-US" sz="850" dirty="0"/>
          </a:p>
        </p:txBody>
      </p:sp>
      <p:sp>
        <p:nvSpPr>
          <p:cNvPr id="24" name="Shape 22"/>
          <p:cNvSpPr/>
          <p:nvPr/>
        </p:nvSpPr>
        <p:spPr>
          <a:xfrm>
            <a:off x="4443984" y="1682496"/>
            <a:ext cx="4352544" cy="1938528"/>
          </a:xfrm>
          <a:prstGeom prst="rect">
            <a:avLst/>
          </a:prstGeom>
          <a:solidFill>
            <a:srgbClr val="071228"/>
          </a:solidFill>
          <a:ln w="12700">
            <a:solidFill>
              <a:srgbClr val="0D7A8A"/>
            </a:solidFill>
            <a:prstDash val="solid"/>
          </a:ln>
        </p:spPr>
      </p:sp>
      <p:sp>
        <p:nvSpPr>
          <p:cNvPr id="25" name="Shape 23"/>
          <p:cNvSpPr/>
          <p:nvPr/>
        </p:nvSpPr>
        <p:spPr>
          <a:xfrm>
            <a:off x="4443984" y="1682496"/>
            <a:ext cx="4352544" cy="292608"/>
          </a:xfrm>
          <a:prstGeom prst="rect">
            <a:avLst/>
          </a:prstGeom>
          <a:solidFill>
            <a:srgbClr val="1A5276"/>
          </a:solidFill>
          <a:ln w="12700">
            <a:solidFill>
              <a:srgbClr val="1A5276"/>
            </a:solidFill>
            <a:prstDash val="solid"/>
          </a:ln>
        </p:spPr>
      </p:sp>
      <p:sp>
        <p:nvSpPr>
          <p:cNvPr id="26" name="Text 24"/>
          <p:cNvSpPr/>
          <p:nvPr/>
        </p:nvSpPr>
        <p:spPr>
          <a:xfrm>
            <a:off x="4572000" y="1682496"/>
            <a:ext cx="4206240" cy="292608"/>
          </a:xfrm>
          <a:prstGeom prst="rect">
            <a:avLst/>
          </a:prstGeom>
          <a:noFill/>
          <a:ln/>
        </p:spPr>
        <p:txBody>
          <a:bodyPr wrap="square" lIns="0" tIns="0" rIns="0" bIns="0" rtlCol="0" anchor="ctr"/>
          <a:lstStyle/>
          <a:p>
            <a:pPr indent="0" marL="0">
              <a:buNone/>
            </a:pPr>
            <a:r>
              <a:rPr lang="en-US" sz="950" b="1" dirty="0">
                <a:solidFill>
                  <a:srgbClr val="FFFFFF"/>
                </a:solidFill>
              </a:rPr>
              <a:t>notebook.ipynb  (usa el modulo)</a:t>
            </a:r>
            <a:endParaRPr lang="en-US" sz="950" dirty="0"/>
          </a:p>
        </p:txBody>
      </p:sp>
      <p:sp>
        <p:nvSpPr>
          <p:cNvPr id="27" name="Text 25"/>
          <p:cNvSpPr/>
          <p:nvPr/>
        </p:nvSpPr>
        <p:spPr>
          <a:xfrm>
            <a:off x="4572000" y="2029968"/>
            <a:ext cx="4096512"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Importar el modulo</a:t>
            </a:r>
            <a:endParaRPr lang="en-US" sz="850" dirty="0"/>
          </a:p>
        </p:txBody>
      </p:sp>
      <p:sp>
        <p:nvSpPr>
          <p:cNvPr id="28" name="Text 26"/>
          <p:cNvSpPr/>
          <p:nvPr/>
        </p:nvSpPr>
        <p:spPr>
          <a:xfrm>
            <a:off x="4572000" y="2180844"/>
            <a:ext cx="409651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import mi_modulo</a:t>
            </a:r>
            <a:endParaRPr lang="en-US" sz="850" dirty="0"/>
          </a:p>
        </p:txBody>
      </p:sp>
      <p:sp>
        <p:nvSpPr>
          <p:cNvPr id="29" name="Text 27"/>
          <p:cNvSpPr/>
          <p:nvPr/>
        </p:nvSpPr>
        <p:spPr>
          <a:xfrm>
            <a:off x="4572000" y="2331720"/>
            <a:ext cx="409651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0" name="Text 28"/>
          <p:cNvSpPr/>
          <p:nvPr/>
        </p:nvSpPr>
        <p:spPr>
          <a:xfrm>
            <a:off x="4572000" y="2482596"/>
            <a:ext cx="4096512"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Usar sus funciones</a:t>
            </a:r>
            <a:endParaRPr lang="en-US" sz="850" dirty="0"/>
          </a:p>
        </p:txBody>
      </p:sp>
      <p:sp>
        <p:nvSpPr>
          <p:cNvPr id="31" name="Text 29"/>
          <p:cNvSpPr/>
          <p:nvPr/>
        </p:nvSpPr>
        <p:spPr>
          <a:xfrm>
            <a:off x="4572000" y="2633472"/>
            <a:ext cx="409651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 = mi_modulo.calcular_prima(500_000, 0.022)</a:t>
            </a:r>
            <a:endParaRPr lang="en-US" sz="850" dirty="0"/>
          </a:p>
        </p:txBody>
      </p:sp>
      <p:sp>
        <p:nvSpPr>
          <p:cNvPr id="32" name="Text 30"/>
          <p:cNvSpPr/>
          <p:nvPr/>
        </p:nvSpPr>
        <p:spPr>
          <a:xfrm>
            <a:off x="4572000" y="2784348"/>
            <a:ext cx="409651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r = mi_modulo.clasificar_riesgo(1)</a:t>
            </a:r>
            <a:endParaRPr lang="en-US" sz="850" dirty="0"/>
          </a:p>
        </p:txBody>
      </p:sp>
      <p:sp>
        <p:nvSpPr>
          <p:cNvPr id="33" name="Text 31"/>
          <p:cNvSpPr/>
          <p:nvPr/>
        </p:nvSpPr>
        <p:spPr>
          <a:xfrm>
            <a:off x="4572000" y="2935224"/>
            <a:ext cx="409651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4" name="Text 32"/>
          <p:cNvSpPr/>
          <p:nvPr/>
        </p:nvSpPr>
        <p:spPr>
          <a:xfrm>
            <a:off x="4572000" y="3086100"/>
            <a:ext cx="4096512"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O importar solo lo que necesitas:</a:t>
            </a:r>
            <a:endParaRPr lang="en-US" sz="850" dirty="0"/>
          </a:p>
        </p:txBody>
      </p:sp>
      <p:sp>
        <p:nvSpPr>
          <p:cNvPr id="35" name="Text 33"/>
          <p:cNvSpPr/>
          <p:nvPr/>
        </p:nvSpPr>
        <p:spPr>
          <a:xfrm>
            <a:off x="4572000" y="3236976"/>
            <a:ext cx="409651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from mi_modulo import calcular_prima</a:t>
            </a:r>
            <a:endParaRPr lang="en-US" sz="850" dirty="0"/>
          </a:p>
        </p:txBody>
      </p:sp>
      <p:sp>
        <p:nvSpPr>
          <p:cNvPr id="36" name="Text 34"/>
          <p:cNvSpPr/>
          <p:nvPr/>
        </p:nvSpPr>
        <p:spPr>
          <a:xfrm>
            <a:off x="4572000" y="3387852"/>
            <a:ext cx="4096512"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 = calcular_prima(500_000, 0.022)</a:t>
            </a:r>
            <a:endParaRPr lang="en-US" sz="850" dirty="0"/>
          </a:p>
        </p:txBody>
      </p:sp>
      <p:sp>
        <p:nvSpPr>
          <p:cNvPr id="37" name="Shape 35"/>
          <p:cNvSpPr/>
          <p:nvPr/>
        </p:nvSpPr>
        <p:spPr>
          <a:xfrm>
            <a:off x="347472" y="3712464"/>
            <a:ext cx="8449056" cy="493776"/>
          </a:xfrm>
          <a:prstGeom prst="rect">
            <a:avLst/>
          </a:prstGeom>
          <a:solidFill>
            <a:srgbClr val="F4A261">
              <a:alpha val="12000"/>
            </a:srgbClr>
          </a:solidFill>
          <a:ln w="12700">
            <a:solidFill>
              <a:srgbClr val="F4A261"/>
            </a:solidFill>
            <a:prstDash val="solid"/>
          </a:ln>
        </p:spPr>
      </p:sp>
      <p:pic>
        <p:nvPicPr>
          <p:cNvPr id="38" name="Image 0" descr="preencoded.png">    </p:cNvPr>
          <p:cNvPicPr>
            <a:picLocks noChangeAspect="1"/>
          </p:cNvPicPr>
          <p:nvPr/>
        </p:nvPicPr>
        <p:blipFill>
          <a:blip r:embed="rId1"/>
          <a:stretch>
            <a:fillRect/>
          </a:stretch>
        </p:blipFill>
        <p:spPr>
          <a:xfrm>
            <a:off x="475488" y="3803904"/>
            <a:ext cx="256032" cy="256032"/>
          </a:xfrm>
          <a:prstGeom prst="rect">
            <a:avLst/>
          </a:prstGeom>
        </p:spPr>
      </p:pic>
      <p:sp>
        <p:nvSpPr>
          <p:cNvPr id="39" name="Text 36"/>
          <p:cNvSpPr/>
          <p:nvPr/>
        </p:nvSpPr>
        <p:spPr>
          <a:xfrm>
            <a:off x="822960" y="3749040"/>
            <a:ext cx="7863840" cy="384048"/>
          </a:xfrm>
          <a:prstGeom prst="rect">
            <a:avLst/>
          </a:prstGeom>
          <a:noFill/>
          <a:ln/>
        </p:spPr>
        <p:txBody>
          <a:bodyPr wrap="square" lIns="0" tIns="0" rIns="0" bIns="0" rtlCol="0" anchor="ctr"/>
          <a:lstStyle/>
          <a:p>
            <a:pPr indent="0" marL="0">
              <a:buNone/>
            </a:pPr>
            <a:r>
              <a:rPr lang="en-US" sz="1000" dirty="0">
                <a:solidFill>
                  <a:srgbClr val="374151"/>
                </a:solidFill>
              </a:rPr>
              <a:t>Estructura de carpetas: mi_modulo.py y el notebook deben estar en la MISMA carpeta para que import funcione sin configuracion adicional.</a:t>
            </a:r>
            <a:endParaRPr lang="en-US" sz="1000" dirty="0"/>
          </a:p>
        </p:txBody>
      </p:sp>
      <p:sp>
        <p:nvSpPr>
          <p:cNvPr id="40" name="Shape 37"/>
          <p:cNvSpPr/>
          <p:nvPr/>
        </p:nvSpPr>
        <p:spPr>
          <a:xfrm>
            <a:off x="347472" y="4279392"/>
            <a:ext cx="8449056" cy="530352"/>
          </a:xfrm>
          <a:prstGeom prst="rect">
            <a:avLst/>
          </a:prstGeom>
          <a:solidFill>
            <a:srgbClr val="071228"/>
          </a:solidFill>
          <a:ln w="12700">
            <a:solidFill>
              <a:srgbClr val="0D7A8A"/>
            </a:solidFill>
            <a:prstDash val="solid"/>
          </a:ln>
        </p:spPr>
      </p:sp>
      <p:sp>
        <p:nvSpPr>
          <p:cNvPr id="41" name="Text 38"/>
          <p:cNvSpPr/>
          <p:nvPr/>
        </p:nvSpPr>
        <p:spPr>
          <a:xfrm>
            <a:off x="475488" y="431596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modulo1/sesion6/</a:t>
            </a:r>
            <a:endParaRPr lang="en-US" sz="850" dirty="0"/>
          </a:p>
        </p:txBody>
      </p:sp>
      <p:sp>
        <p:nvSpPr>
          <p:cNvPr id="42" name="Text 39"/>
          <p:cNvSpPr/>
          <p:nvPr/>
        </p:nvSpPr>
        <p:spPr>
          <a:xfrm>
            <a:off x="475488" y="446684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mi_modulo.py          ← el modulo (funciones)</a:t>
            </a:r>
            <a:endParaRPr lang="en-US" sz="850" dirty="0"/>
          </a:p>
        </p:txBody>
      </p:sp>
      <p:sp>
        <p:nvSpPr>
          <p:cNvPr id="43" name="Text 40"/>
          <p:cNvSpPr/>
          <p:nvPr/>
        </p:nvSpPr>
        <p:spPr>
          <a:xfrm>
            <a:off x="475488" y="461772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tabla_tarifas.py      ← otro modulo (clase)</a:t>
            </a:r>
            <a:endParaRPr lang="en-US" sz="850" dirty="0"/>
          </a:p>
        </p:txBody>
      </p:sp>
      <p:sp>
        <p:nvSpPr>
          <p:cNvPr id="44" name="Text 41"/>
          <p:cNvSpPr/>
          <p:nvPr/>
        </p:nvSpPr>
        <p:spPr>
          <a:xfrm>
            <a:off x="475488" y="476859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sesion6_notebook.ipynb ← usa ambos modulos</a:t>
            </a:r>
            <a:endParaRPr lang="en-US" sz="850" dirty="0"/>
          </a:p>
        </p:txBody>
      </p:sp>
      <p:sp>
        <p:nvSpPr>
          <p:cNvPr id="45" name="Shape 42"/>
          <p:cNvSpPr/>
          <p:nvPr/>
        </p:nvSpPr>
        <p:spPr>
          <a:xfrm>
            <a:off x="0" y="4892040"/>
            <a:ext cx="9144000" cy="251460"/>
          </a:xfrm>
          <a:prstGeom prst="rect">
            <a:avLst/>
          </a:prstGeom>
          <a:solidFill>
            <a:srgbClr val="071228"/>
          </a:solidFill>
          <a:ln w="12700">
            <a:solidFill>
              <a:srgbClr val="071228"/>
            </a:solidFill>
            <a:prstDash val="solid"/>
          </a:ln>
        </p:spPr>
      </p:sp>
      <p:sp>
        <p:nvSpPr>
          <p:cNvPr id="46" name="Text 43"/>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47" name="Text 44"/>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Modulos propios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0D7A8A"/>
          </a:solidFill>
          <a:ln w="12700">
            <a:solidFill>
              <a:srgbClr val="0D7A8A"/>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PRACTICA EN VIVO</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FFFFFF"/>
                </a:solidFill>
              </a:rPr>
              <a:t>Construimos mi_modulo.py Juntos</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Abre VS Code → crea un archivo nuevo → guardalo como mi_modulo.py</a:t>
            </a:r>
            <a:endParaRPr lang="en-US" sz="1200" dirty="0"/>
          </a:p>
        </p:txBody>
      </p:sp>
      <p:sp>
        <p:nvSpPr>
          <p:cNvPr id="7" name="Shape 5"/>
          <p:cNvSpPr/>
          <p:nvPr/>
        </p:nvSpPr>
        <p:spPr>
          <a:xfrm>
            <a:off x="347472" y="987552"/>
            <a:ext cx="8449056" cy="4041648"/>
          </a:xfrm>
          <a:prstGeom prst="rect">
            <a:avLst/>
          </a:prstGeom>
          <a:solidFill>
            <a:srgbClr val="071228"/>
          </a:solidFill>
          <a:ln w="12700">
            <a:solidFill>
              <a:srgbClr val="0D7A8A"/>
            </a:solidFill>
            <a:prstDash val="solid"/>
          </a:ln>
        </p:spPr>
      </p:sp>
      <p:sp>
        <p:nvSpPr>
          <p:cNvPr id="8" name="Shape 6"/>
          <p:cNvSpPr/>
          <p:nvPr/>
        </p:nvSpPr>
        <p:spPr>
          <a:xfrm>
            <a:off x="347472" y="987552"/>
            <a:ext cx="8449056" cy="292608"/>
          </a:xfrm>
          <a:prstGeom prst="rect">
            <a:avLst/>
          </a:prstGeom>
          <a:solidFill>
            <a:srgbClr val="0D7A8A"/>
          </a:solidFill>
          <a:ln w="12700">
            <a:solidFill>
              <a:srgbClr val="0D7A8A"/>
            </a:solidFill>
            <a:prstDash val="solid"/>
          </a:ln>
        </p:spPr>
      </p:sp>
      <p:sp>
        <p:nvSpPr>
          <p:cNvPr id="9" name="Text 7"/>
          <p:cNvSpPr/>
          <p:nvPr/>
        </p:nvSpPr>
        <p:spPr>
          <a:xfrm>
            <a:off x="475488" y="987552"/>
            <a:ext cx="8229600" cy="292608"/>
          </a:xfrm>
          <a:prstGeom prst="rect">
            <a:avLst/>
          </a:prstGeom>
          <a:noFill/>
          <a:ln/>
        </p:spPr>
        <p:txBody>
          <a:bodyPr wrap="square" lIns="0" tIns="0" rIns="0" bIns="0" rtlCol="0" anchor="ctr"/>
          <a:lstStyle/>
          <a:p>
            <a:pPr indent="0" marL="0">
              <a:buNone/>
            </a:pPr>
            <a:r>
              <a:rPr lang="en-US" sz="1000" b="1" dirty="0">
                <a:solidFill>
                  <a:srgbClr val="FFFFFF"/>
                </a:solidFill>
              </a:rPr>
              <a:t>mi_modulo.py — escribe esto en VS Code</a:t>
            </a:r>
            <a:endParaRPr lang="en-US" sz="1000" dirty="0"/>
          </a:p>
        </p:txBody>
      </p:sp>
      <p:sp>
        <p:nvSpPr>
          <p:cNvPr id="10" name="Text 8"/>
          <p:cNvSpPr/>
          <p:nvPr/>
        </p:nvSpPr>
        <p:spPr>
          <a:xfrm>
            <a:off x="475488" y="1335024"/>
            <a:ext cx="8229600" cy="15087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a:t>
            </a:r>
            <a:endParaRPr lang="en-US" sz="850" dirty="0"/>
          </a:p>
        </p:txBody>
      </p:sp>
      <p:sp>
        <p:nvSpPr>
          <p:cNvPr id="11" name="Text 9"/>
          <p:cNvSpPr/>
          <p:nvPr/>
        </p:nvSpPr>
        <p:spPr>
          <a:xfrm>
            <a:off x="475488" y="148590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Modulo de funciones actuariales para el Diplomado ML en Seguros.</a:t>
            </a:r>
            <a:endParaRPr lang="en-US" sz="850" dirty="0"/>
          </a:p>
        </p:txBody>
      </p:sp>
      <p:sp>
        <p:nvSpPr>
          <p:cNvPr id="12" name="Text 10"/>
          <p:cNvSpPr/>
          <p:nvPr/>
        </p:nvSpPr>
        <p:spPr>
          <a:xfrm>
            <a:off x="475488" y="163677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Facultad de Ciencias, UNAM — Modulo 1.</a:t>
            </a:r>
            <a:endParaRPr lang="en-US" sz="850" dirty="0"/>
          </a:p>
        </p:txBody>
      </p:sp>
      <p:sp>
        <p:nvSpPr>
          <p:cNvPr id="13" name="Text 11"/>
          <p:cNvSpPr/>
          <p:nvPr/>
        </p:nvSpPr>
        <p:spPr>
          <a:xfrm>
            <a:off x="475488" y="1787652"/>
            <a:ext cx="8229600" cy="15087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a:t>
            </a:r>
            <a:endParaRPr lang="en-US" sz="850" dirty="0"/>
          </a:p>
        </p:txBody>
      </p:sp>
      <p:sp>
        <p:nvSpPr>
          <p:cNvPr id="14" name="Text 12"/>
          <p:cNvSpPr/>
          <p:nvPr/>
        </p:nvSpPr>
        <p:spPr>
          <a:xfrm>
            <a:off x="475488" y="193852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5" name="Text 13"/>
          <p:cNvSpPr/>
          <p:nvPr/>
        </p:nvSpPr>
        <p:spPr>
          <a:xfrm>
            <a:off x="475488" y="2089404"/>
            <a:ext cx="822960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Funciones de primas ──────────────────────────────────────────────────</a:t>
            </a:r>
            <a:endParaRPr lang="en-US" sz="850" dirty="0"/>
          </a:p>
        </p:txBody>
      </p:sp>
      <p:sp>
        <p:nvSpPr>
          <p:cNvPr id="16" name="Text 14"/>
          <p:cNvSpPr/>
          <p:nvPr/>
        </p:nvSpPr>
        <p:spPr>
          <a:xfrm>
            <a:off x="475488" y="224028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calcular_prima(suma_asegurada, tasa_riesgo, recargo=0.15, iva=1.16):</a:t>
            </a:r>
            <a:endParaRPr lang="en-US" sz="850" dirty="0"/>
          </a:p>
        </p:txBody>
      </p:sp>
      <p:sp>
        <p:nvSpPr>
          <p:cNvPr id="17" name="Text 15"/>
          <p:cNvSpPr/>
          <p:nvPr/>
        </p:nvSpPr>
        <p:spPr>
          <a:xfrm>
            <a:off x="475488" y="2391156"/>
            <a:ext cx="8229600" cy="15087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"""Calcula la prima comercial de una poliza."""</a:t>
            </a:r>
            <a:endParaRPr lang="en-US" sz="850" dirty="0"/>
          </a:p>
        </p:txBody>
      </p:sp>
      <p:sp>
        <p:nvSpPr>
          <p:cNvPr id="18" name="Text 16"/>
          <p:cNvSpPr/>
          <p:nvPr/>
        </p:nvSpPr>
        <p:spPr>
          <a:xfrm>
            <a:off x="475488" y="254203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prima_pura = suma_asegurada * tasa_riesgo</a:t>
            </a:r>
            <a:endParaRPr lang="en-US" sz="850" dirty="0"/>
          </a:p>
        </p:txBody>
      </p:sp>
      <p:sp>
        <p:nvSpPr>
          <p:cNvPr id="19" name="Text 17"/>
          <p:cNvSpPr/>
          <p:nvPr/>
        </p:nvSpPr>
        <p:spPr>
          <a:xfrm>
            <a:off x="475488" y="269290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prima_pura * (1 + recargo) * iva</a:t>
            </a:r>
            <a:endParaRPr lang="en-US" sz="850" dirty="0"/>
          </a:p>
        </p:txBody>
      </p:sp>
      <p:sp>
        <p:nvSpPr>
          <p:cNvPr id="20" name="Text 18"/>
          <p:cNvSpPr/>
          <p:nvPr/>
        </p:nvSpPr>
        <p:spPr>
          <a:xfrm>
            <a:off x="475488" y="284378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1" name="Text 19"/>
          <p:cNvSpPr/>
          <p:nvPr/>
        </p:nvSpPr>
        <p:spPr>
          <a:xfrm>
            <a:off x="475488" y="299466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prima_mensual(suma_asegurada, tasa_riesgo, **kwargs):</a:t>
            </a:r>
            <a:endParaRPr lang="en-US" sz="850" dirty="0"/>
          </a:p>
        </p:txBody>
      </p:sp>
      <p:sp>
        <p:nvSpPr>
          <p:cNvPr id="22" name="Text 20"/>
          <p:cNvSpPr/>
          <p:nvPr/>
        </p:nvSpPr>
        <p:spPr>
          <a:xfrm>
            <a:off x="475488" y="3145536"/>
            <a:ext cx="8229600" cy="15087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"""Devuelve la prima mensual."""</a:t>
            </a:r>
            <a:endParaRPr lang="en-US" sz="850" dirty="0"/>
          </a:p>
        </p:txBody>
      </p:sp>
      <p:sp>
        <p:nvSpPr>
          <p:cNvPr id="23" name="Text 21"/>
          <p:cNvSpPr/>
          <p:nvPr/>
        </p:nvSpPr>
        <p:spPr>
          <a:xfrm>
            <a:off x="475488" y="329641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calcular_prima(suma_asegurada, tasa_riesgo, **kwargs) / 12</a:t>
            </a:r>
            <a:endParaRPr lang="en-US" sz="850" dirty="0"/>
          </a:p>
        </p:txBody>
      </p:sp>
      <p:sp>
        <p:nvSpPr>
          <p:cNvPr id="24" name="Text 22"/>
          <p:cNvSpPr/>
          <p:nvPr/>
        </p:nvSpPr>
        <p:spPr>
          <a:xfrm>
            <a:off x="475488" y="344728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5" name="Text 23"/>
          <p:cNvSpPr/>
          <p:nvPr/>
        </p:nvSpPr>
        <p:spPr>
          <a:xfrm>
            <a:off x="475488" y="3598164"/>
            <a:ext cx="822960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Funciones de clasificacion ───────────────────────────────────────────</a:t>
            </a:r>
            <a:endParaRPr lang="en-US" sz="850" dirty="0"/>
          </a:p>
        </p:txBody>
      </p:sp>
      <p:sp>
        <p:nvSpPr>
          <p:cNvPr id="26" name="Text 24"/>
          <p:cNvSpPr/>
          <p:nvPr/>
        </p:nvSpPr>
        <p:spPr>
          <a:xfrm>
            <a:off x="475488" y="374904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clasificar_riesgo(siniestros):</a:t>
            </a:r>
            <a:endParaRPr lang="en-US" sz="850" dirty="0"/>
          </a:p>
        </p:txBody>
      </p:sp>
      <p:sp>
        <p:nvSpPr>
          <p:cNvPr id="27" name="Text 25"/>
          <p:cNvSpPr/>
          <p:nvPr/>
        </p:nvSpPr>
        <p:spPr>
          <a:xfrm>
            <a:off x="475488" y="3899916"/>
            <a:ext cx="8229600" cy="15087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"""Clasifica el nivel de riesgo por numero de siniestros."""</a:t>
            </a:r>
            <a:endParaRPr lang="en-US" sz="850" dirty="0"/>
          </a:p>
        </p:txBody>
      </p:sp>
      <p:sp>
        <p:nvSpPr>
          <p:cNvPr id="28" name="Text 26"/>
          <p:cNvSpPr/>
          <p:nvPr/>
        </p:nvSpPr>
        <p:spPr>
          <a:xfrm>
            <a:off x="475488" y="405079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if siniestros &gt;= 3:   return 'ALTO'</a:t>
            </a:r>
            <a:endParaRPr lang="en-US" sz="850" dirty="0"/>
          </a:p>
        </p:txBody>
      </p:sp>
      <p:sp>
        <p:nvSpPr>
          <p:cNvPr id="29" name="Text 27"/>
          <p:cNvSpPr/>
          <p:nvPr/>
        </p:nvSpPr>
        <p:spPr>
          <a:xfrm>
            <a:off x="475488" y="420166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elif siniestros &gt;= 1: return 'MEDIO'</a:t>
            </a:r>
            <a:endParaRPr lang="en-US" sz="850" dirty="0"/>
          </a:p>
        </p:txBody>
      </p:sp>
      <p:sp>
        <p:nvSpPr>
          <p:cNvPr id="30" name="Text 28"/>
          <p:cNvSpPr/>
          <p:nvPr/>
        </p:nvSpPr>
        <p:spPr>
          <a:xfrm>
            <a:off x="475488" y="435254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'BAJO'</a:t>
            </a:r>
            <a:endParaRPr lang="en-US" sz="850" dirty="0"/>
          </a:p>
        </p:txBody>
      </p:sp>
      <p:sp>
        <p:nvSpPr>
          <p:cNvPr id="31" name="Text 29"/>
          <p:cNvSpPr/>
          <p:nvPr/>
        </p:nvSpPr>
        <p:spPr>
          <a:xfrm>
            <a:off x="475488" y="450342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2" name="Text 30"/>
          <p:cNvSpPr/>
          <p:nvPr/>
        </p:nvSpPr>
        <p:spPr>
          <a:xfrm>
            <a:off x="475488" y="465429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grupo_edad(edad):</a:t>
            </a:r>
            <a:endParaRPr lang="en-US" sz="850" dirty="0"/>
          </a:p>
        </p:txBody>
      </p:sp>
      <p:sp>
        <p:nvSpPr>
          <p:cNvPr id="33" name="Text 31"/>
          <p:cNvSpPr/>
          <p:nvPr/>
        </p:nvSpPr>
        <p:spPr>
          <a:xfrm>
            <a:off x="475488" y="4805172"/>
            <a:ext cx="8229600" cy="15087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"""Devuelve el grupo tarifario por edad."""</a:t>
            </a:r>
            <a:endParaRPr lang="en-US" sz="850" dirty="0"/>
          </a:p>
        </p:txBody>
      </p:sp>
      <p:sp>
        <p:nvSpPr>
          <p:cNvPr id="34" name="Text 32"/>
          <p:cNvSpPr/>
          <p:nvPr/>
        </p:nvSpPr>
        <p:spPr>
          <a:xfrm>
            <a:off x="475488" y="495604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if edad &lt;= 30:   return '18-30'</a:t>
            </a:r>
            <a:endParaRPr lang="en-US" sz="850" dirty="0"/>
          </a:p>
        </p:txBody>
      </p:sp>
      <p:sp>
        <p:nvSpPr>
          <p:cNvPr id="35" name="Text 33"/>
          <p:cNvSpPr/>
          <p:nvPr/>
        </p:nvSpPr>
        <p:spPr>
          <a:xfrm>
            <a:off x="475488" y="510692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elif edad &lt;= 45: return '31-45'</a:t>
            </a:r>
            <a:endParaRPr lang="en-US" sz="850" dirty="0"/>
          </a:p>
        </p:txBody>
      </p:sp>
      <p:sp>
        <p:nvSpPr>
          <p:cNvPr id="36" name="Text 34"/>
          <p:cNvSpPr/>
          <p:nvPr/>
        </p:nvSpPr>
        <p:spPr>
          <a:xfrm>
            <a:off x="475488" y="525780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elif edad &lt;= 60: return '46-60'</a:t>
            </a:r>
            <a:endParaRPr lang="en-US" sz="850" dirty="0"/>
          </a:p>
        </p:txBody>
      </p:sp>
      <p:sp>
        <p:nvSpPr>
          <p:cNvPr id="37" name="Text 35"/>
          <p:cNvSpPr/>
          <p:nvPr/>
        </p:nvSpPr>
        <p:spPr>
          <a:xfrm>
            <a:off x="475488" y="540867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'61+'</a:t>
            </a:r>
            <a:endParaRPr lang="en-US" sz="850" dirty="0"/>
          </a:p>
        </p:txBody>
      </p:sp>
      <p:sp>
        <p:nvSpPr>
          <p:cNvPr id="38" name="Shape 36"/>
          <p:cNvSpPr/>
          <p:nvPr/>
        </p:nvSpPr>
        <p:spPr>
          <a:xfrm>
            <a:off x="0" y="4892040"/>
            <a:ext cx="9144000" cy="251460"/>
          </a:xfrm>
          <a:prstGeom prst="rect">
            <a:avLst/>
          </a:prstGeom>
          <a:solidFill>
            <a:srgbClr val="071228"/>
          </a:solidFill>
          <a:ln w="12700">
            <a:solidFill>
              <a:srgbClr val="071228"/>
            </a:solidFill>
            <a:prstDash val="solid"/>
          </a:ln>
        </p:spPr>
      </p:sp>
      <p:sp>
        <p:nvSpPr>
          <p:cNvPr id="39" name="Text 37"/>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40" name="Text 38"/>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mi_modulo.py</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1E8449"/>
          </a:solidFill>
          <a:ln w="12700">
            <a:solidFill>
              <a:srgbClr val="1E8449"/>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tabla_tarifas.py</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0D1B3E"/>
                </a:solidFill>
              </a:rPr>
              <a:t>tabla_tarifas.py — Una Clase Actuarial Real</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El mejor ejemplo de modulo propio que ya tienes en el proyecto</a:t>
            </a:r>
            <a:endParaRPr lang="en-US" sz="1200" dirty="0"/>
          </a:p>
        </p:txBody>
      </p:sp>
      <p:sp>
        <p:nvSpPr>
          <p:cNvPr id="7" name="Shape 5"/>
          <p:cNvSpPr/>
          <p:nvPr/>
        </p:nvSpPr>
        <p:spPr>
          <a:xfrm>
            <a:off x="347472" y="987552"/>
            <a:ext cx="8449056" cy="530352"/>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493776" y="1042416"/>
            <a:ext cx="8229600" cy="402336"/>
          </a:xfrm>
          <a:prstGeom prst="rect">
            <a:avLst/>
          </a:prstGeom>
          <a:noFill/>
          <a:ln/>
        </p:spPr>
        <p:txBody>
          <a:bodyPr wrap="square" lIns="0" tIns="0" rIns="0" bIns="0" rtlCol="0" anchor="ctr"/>
          <a:lstStyle/>
          <a:p>
            <a:pPr indent="0" marL="0">
              <a:buNone/>
            </a:pPr>
            <a:r>
              <a:rPr lang="en-US" sz="1050" dirty="0">
                <a:solidFill>
                  <a:srgbClr val="374151"/>
                </a:solidFill>
              </a:rPr>
              <a:t>tabla_tarifas.py es un archivo que ya existe en el proyecto. Contiene una CLASE (concepto que veremos en profundidad mas adelante) que representa una tabla de tarifas de GMM. Hoy lo usamos como ejemplo de modulo real — lo importamos y usamos sus funciones.</a:t>
            </a:r>
            <a:endParaRPr lang="en-US" sz="1050" dirty="0"/>
          </a:p>
        </p:txBody>
      </p:sp>
      <p:sp>
        <p:nvSpPr>
          <p:cNvPr id="9" name="Shape 7"/>
          <p:cNvSpPr/>
          <p:nvPr/>
        </p:nvSpPr>
        <p:spPr>
          <a:xfrm>
            <a:off x="347472" y="1609344"/>
            <a:ext cx="4315968" cy="3456432"/>
          </a:xfrm>
          <a:prstGeom prst="rect">
            <a:avLst/>
          </a:prstGeom>
          <a:solidFill>
            <a:srgbClr val="071228"/>
          </a:solidFill>
          <a:ln w="12700">
            <a:solidFill>
              <a:srgbClr val="0D7A8A"/>
            </a:solidFill>
            <a:prstDash val="solid"/>
          </a:ln>
        </p:spPr>
      </p:sp>
      <p:sp>
        <p:nvSpPr>
          <p:cNvPr id="10" name="Shape 8"/>
          <p:cNvSpPr/>
          <p:nvPr/>
        </p:nvSpPr>
        <p:spPr>
          <a:xfrm>
            <a:off x="347472" y="1609344"/>
            <a:ext cx="4315968" cy="292608"/>
          </a:xfrm>
          <a:prstGeom prst="rect">
            <a:avLst/>
          </a:prstGeom>
          <a:solidFill>
            <a:srgbClr val="0D7A8A"/>
          </a:solidFill>
          <a:ln w="12700">
            <a:solidFill>
              <a:srgbClr val="0D7A8A"/>
            </a:solidFill>
            <a:prstDash val="solid"/>
          </a:ln>
        </p:spPr>
      </p:sp>
      <p:sp>
        <p:nvSpPr>
          <p:cNvPr id="11" name="Text 9"/>
          <p:cNvSpPr/>
          <p:nvPr/>
        </p:nvSpPr>
        <p:spPr>
          <a:xfrm>
            <a:off x="475488" y="1609344"/>
            <a:ext cx="4187952" cy="292608"/>
          </a:xfrm>
          <a:prstGeom prst="rect">
            <a:avLst/>
          </a:prstGeom>
          <a:noFill/>
          <a:ln/>
        </p:spPr>
        <p:txBody>
          <a:bodyPr wrap="square" lIns="0" tIns="0" rIns="0" bIns="0" rtlCol="0" anchor="ctr"/>
          <a:lstStyle/>
          <a:p>
            <a:pPr indent="0" marL="0">
              <a:buNone/>
            </a:pPr>
            <a:r>
              <a:rPr lang="en-US" sz="900" b="1" dirty="0">
                <a:solidFill>
                  <a:srgbClr val="FFFFFF"/>
                </a:solidFill>
              </a:rPr>
              <a:t>tabla_tarifas.py (ya existe en tu repo)</a:t>
            </a:r>
            <a:endParaRPr lang="en-US" sz="900" dirty="0"/>
          </a:p>
        </p:txBody>
      </p:sp>
      <p:sp>
        <p:nvSpPr>
          <p:cNvPr id="12" name="Text 10"/>
          <p:cNvSpPr/>
          <p:nvPr/>
        </p:nvSpPr>
        <p:spPr>
          <a:xfrm>
            <a:off x="475488" y="1956816"/>
            <a:ext cx="4059936" cy="150876"/>
          </a:xfrm>
          <a:prstGeom prst="rect">
            <a:avLst/>
          </a:prstGeom>
          <a:noFill/>
          <a:ln/>
        </p:spPr>
        <p:txBody>
          <a:bodyPr wrap="square" lIns="0" tIns="0" rIns="0" bIns="0" rtlCol="0" anchor="ctr"/>
          <a:lstStyle/>
          <a:p>
            <a:pPr indent="0" marL="0">
              <a:buNone/>
            </a:pPr>
            <a:r>
              <a:rPr lang="en-US" sz="800" dirty="0">
                <a:solidFill>
                  <a:srgbClr val="8FA3B1"/>
                </a:solidFill>
                <a:latin typeface="Courier New" pitchFamily="34" charset="0"/>
                <a:ea typeface="Courier New" pitchFamily="34" charset="-122"/>
                <a:cs typeface="Courier New" pitchFamily="34" charset="-120"/>
              </a:rPr>
              <a:t>"""</a:t>
            </a:r>
            <a:endParaRPr lang="en-US" sz="800" dirty="0"/>
          </a:p>
        </p:txBody>
      </p:sp>
      <p:sp>
        <p:nvSpPr>
          <p:cNvPr id="13" name="Text 11"/>
          <p:cNvSpPr/>
          <p:nvPr/>
        </p:nvSpPr>
        <p:spPr>
          <a:xfrm>
            <a:off x="475488" y="2107692"/>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Clase para representar tabla actuarial de tarifas.</a:t>
            </a:r>
            <a:endParaRPr lang="en-US" sz="800" dirty="0"/>
          </a:p>
        </p:txBody>
      </p:sp>
      <p:sp>
        <p:nvSpPr>
          <p:cNvPr id="14" name="Text 12"/>
          <p:cNvSpPr/>
          <p:nvPr/>
        </p:nvSpPr>
        <p:spPr>
          <a:xfrm>
            <a:off x="475488" y="2258568"/>
            <a:ext cx="4059936" cy="150876"/>
          </a:xfrm>
          <a:prstGeom prst="rect">
            <a:avLst/>
          </a:prstGeom>
          <a:noFill/>
          <a:ln/>
        </p:spPr>
        <p:txBody>
          <a:bodyPr wrap="square" lIns="0" tIns="0" rIns="0" bIns="0" rtlCol="0" anchor="ctr"/>
          <a:lstStyle/>
          <a:p>
            <a:pPr indent="0" marL="0">
              <a:buNone/>
            </a:pPr>
            <a:r>
              <a:rPr lang="en-US" sz="800" dirty="0">
                <a:solidFill>
                  <a:srgbClr val="8FA3B1"/>
                </a:solidFill>
                <a:latin typeface="Courier New" pitchFamily="34" charset="0"/>
                <a:ea typeface="Courier New" pitchFamily="34" charset="-122"/>
                <a:cs typeface="Courier New" pitchFamily="34" charset="-120"/>
              </a:rPr>
              <a:t>"""</a:t>
            </a:r>
            <a:endParaRPr lang="en-US" sz="800" dirty="0"/>
          </a:p>
        </p:txBody>
      </p:sp>
      <p:sp>
        <p:nvSpPr>
          <p:cNvPr id="15" name="Text 13"/>
          <p:cNvSpPr/>
          <p:nvPr/>
        </p:nvSpPr>
        <p:spPr>
          <a:xfrm>
            <a:off x="475488" y="2409444"/>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class Tablatarifas:</a:t>
            </a:r>
            <a:endParaRPr lang="en-US" sz="800" dirty="0"/>
          </a:p>
        </p:txBody>
      </p:sp>
      <p:sp>
        <p:nvSpPr>
          <p:cNvPr id="16" name="Text 14"/>
          <p:cNvSpPr/>
          <p:nvPr/>
        </p:nvSpPr>
        <p:spPr>
          <a:xfrm>
            <a:off x="475488" y="2560320"/>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def __init__(self, edad_inicio, edad_final,</a:t>
            </a:r>
            <a:endParaRPr lang="en-US" sz="800" dirty="0"/>
          </a:p>
        </p:txBody>
      </p:sp>
      <p:sp>
        <p:nvSpPr>
          <p:cNvPr id="17" name="Text 15"/>
          <p:cNvSpPr/>
          <p:nvPr/>
        </p:nvSpPr>
        <p:spPr>
          <a:xfrm>
            <a:off x="475488" y="2711196"/>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brinco, piso):</a:t>
            </a:r>
            <a:endParaRPr lang="en-US" sz="800" dirty="0"/>
          </a:p>
        </p:txBody>
      </p:sp>
      <p:sp>
        <p:nvSpPr>
          <p:cNvPr id="18" name="Text 16"/>
          <p:cNvSpPr/>
          <p:nvPr/>
        </p:nvSpPr>
        <p:spPr>
          <a:xfrm>
            <a:off x="475488" y="2862072"/>
            <a:ext cx="4059936" cy="150876"/>
          </a:xfrm>
          <a:prstGeom prst="rect">
            <a:avLst/>
          </a:prstGeom>
          <a:noFill/>
          <a:ln/>
        </p:spPr>
        <p:txBody>
          <a:bodyPr wrap="square" lIns="0" tIns="0" rIns="0" bIns="0" rtlCol="0" anchor="ctr"/>
          <a:lstStyle/>
          <a:p>
            <a:pPr indent="0" marL="0">
              <a:buNone/>
            </a:pPr>
            <a:r>
              <a:rPr lang="en-US" sz="800" dirty="0">
                <a:solidFill>
                  <a:srgbClr val="8FA3B1"/>
                </a:solidFill>
                <a:latin typeface="Courier New" pitchFamily="34" charset="0"/>
                <a:ea typeface="Courier New" pitchFamily="34" charset="-122"/>
                <a:cs typeface="Courier New" pitchFamily="34" charset="-120"/>
              </a:rPr>
              <a:t>        """Inicializa la tabla de tarifas.</a:t>
            </a:r>
            <a:endParaRPr lang="en-US" sz="800" dirty="0"/>
          </a:p>
        </p:txBody>
      </p:sp>
      <p:sp>
        <p:nvSpPr>
          <p:cNvPr id="19" name="Text 17"/>
          <p:cNvSpPr/>
          <p:nvPr/>
        </p:nvSpPr>
        <p:spPr>
          <a:xfrm>
            <a:off x="475488" y="3012948"/>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edad_inicio: Edad inicial</a:t>
            </a:r>
            <a:endParaRPr lang="en-US" sz="800" dirty="0"/>
          </a:p>
        </p:txBody>
      </p:sp>
      <p:sp>
        <p:nvSpPr>
          <p:cNvPr id="20" name="Text 18"/>
          <p:cNvSpPr/>
          <p:nvPr/>
        </p:nvSpPr>
        <p:spPr>
          <a:xfrm>
            <a:off x="475488" y="3163824"/>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edad_final:  Edad final</a:t>
            </a:r>
            <a:endParaRPr lang="en-US" sz="800" dirty="0"/>
          </a:p>
        </p:txBody>
      </p:sp>
      <p:sp>
        <p:nvSpPr>
          <p:cNvPr id="21" name="Text 19"/>
          <p:cNvSpPr/>
          <p:nvPr/>
        </p:nvSpPr>
        <p:spPr>
          <a:xfrm>
            <a:off x="475488" y="3314700"/>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brinco:      Tamano de rangos</a:t>
            </a:r>
            <a:endParaRPr lang="en-US" sz="800" dirty="0"/>
          </a:p>
        </p:txBody>
      </p:sp>
      <p:sp>
        <p:nvSpPr>
          <p:cNvPr id="22" name="Text 20"/>
          <p:cNvSpPr/>
          <p:nvPr/>
        </p:nvSpPr>
        <p:spPr>
          <a:xfrm>
            <a:off x="475488" y="3465576"/>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piso:        Segmentar por minimo/maximo"""</a:t>
            </a:r>
            <a:endParaRPr lang="en-US" sz="800" dirty="0"/>
          </a:p>
        </p:txBody>
      </p:sp>
      <p:sp>
        <p:nvSpPr>
          <p:cNvPr id="23" name="Text 21"/>
          <p:cNvSpPr/>
          <p:nvPr/>
        </p:nvSpPr>
        <p:spPr>
          <a:xfrm>
            <a:off x="475488" y="3616452"/>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self.edades = list(range(</a:t>
            </a:r>
            <a:endParaRPr lang="en-US" sz="800" dirty="0"/>
          </a:p>
        </p:txBody>
      </p:sp>
      <p:sp>
        <p:nvSpPr>
          <p:cNvPr id="24" name="Text 22"/>
          <p:cNvSpPr/>
          <p:nvPr/>
        </p:nvSpPr>
        <p:spPr>
          <a:xfrm>
            <a:off x="475488" y="3767328"/>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edad_inicio, edad_final+1, brinco))</a:t>
            </a:r>
            <a:endParaRPr lang="en-US" sz="800" dirty="0"/>
          </a:p>
        </p:txBody>
      </p:sp>
      <p:sp>
        <p:nvSpPr>
          <p:cNvPr id="25" name="Text 23"/>
          <p:cNvSpPr/>
          <p:nvPr/>
        </p:nvSpPr>
        <p:spPr>
          <a:xfrm>
            <a:off x="475488" y="3918204"/>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self.piso   = piso</a:t>
            </a:r>
            <a:endParaRPr lang="en-US" sz="800" dirty="0"/>
          </a:p>
        </p:txBody>
      </p:sp>
      <p:sp>
        <p:nvSpPr>
          <p:cNvPr id="26" name="Text 24"/>
          <p:cNvSpPr/>
          <p:nvPr/>
        </p:nvSpPr>
        <p:spPr>
          <a:xfrm>
            <a:off x="475488" y="4069080"/>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self.tarifa = []</a:t>
            </a:r>
            <a:endParaRPr lang="en-US" sz="800" dirty="0"/>
          </a:p>
        </p:txBody>
      </p:sp>
      <p:sp>
        <p:nvSpPr>
          <p:cNvPr id="27" name="Text 25"/>
          <p:cNvSpPr/>
          <p:nvPr/>
        </p:nvSpPr>
        <p:spPr>
          <a:xfrm>
            <a:off x="475488" y="4219956"/>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a:t>
            </a:r>
            <a:endParaRPr lang="en-US" sz="800" dirty="0"/>
          </a:p>
        </p:txBody>
      </p:sp>
      <p:sp>
        <p:nvSpPr>
          <p:cNvPr id="28" name="Text 26"/>
          <p:cNvSpPr/>
          <p:nvPr/>
        </p:nvSpPr>
        <p:spPr>
          <a:xfrm>
            <a:off x="475488" y="4370832"/>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def set_tarifa(self, tarifa):</a:t>
            </a:r>
            <a:endParaRPr lang="en-US" sz="800" dirty="0"/>
          </a:p>
        </p:txBody>
      </p:sp>
      <p:sp>
        <p:nvSpPr>
          <p:cNvPr id="29" name="Text 27"/>
          <p:cNvSpPr/>
          <p:nvPr/>
        </p:nvSpPr>
        <p:spPr>
          <a:xfrm>
            <a:off x="475488" y="4521708"/>
            <a:ext cx="4059936" cy="150876"/>
          </a:xfrm>
          <a:prstGeom prst="rect">
            <a:avLst/>
          </a:prstGeom>
          <a:noFill/>
          <a:ln/>
        </p:spPr>
        <p:txBody>
          <a:bodyPr wrap="square" lIns="0" tIns="0" rIns="0" bIns="0" rtlCol="0" anchor="ctr"/>
          <a:lstStyle/>
          <a:p>
            <a:pPr indent="0" marL="0">
              <a:buNone/>
            </a:pPr>
            <a:r>
              <a:rPr lang="en-US" sz="800" dirty="0">
                <a:solidFill>
                  <a:srgbClr val="8FA3B1"/>
                </a:solidFill>
                <a:latin typeface="Courier New" pitchFamily="34" charset="0"/>
                <a:ea typeface="Courier New" pitchFamily="34" charset="-122"/>
                <a:cs typeface="Courier New" pitchFamily="34" charset="-120"/>
              </a:rPr>
              <a:t>        """Establece tarifas por franja de edad."""</a:t>
            </a:r>
            <a:endParaRPr lang="en-US" sz="800" dirty="0"/>
          </a:p>
        </p:txBody>
      </p:sp>
      <p:sp>
        <p:nvSpPr>
          <p:cNvPr id="30" name="Text 28"/>
          <p:cNvSpPr/>
          <p:nvPr/>
        </p:nvSpPr>
        <p:spPr>
          <a:xfrm>
            <a:off x="475488" y="4672584"/>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if len(tarifa) == len(self.edades):</a:t>
            </a:r>
            <a:endParaRPr lang="en-US" sz="800" dirty="0"/>
          </a:p>
        </p:txBody>
      </p:sp>
      <p:sp>
        <p:nvSpPr>
          <p:cNvPr id="31" name="Text 29"/>
          <p:cNvSpPr/>
          <p:nvPr/>
        </p:nvSpPr>
        <p:spPr>
          <a:xfrm>
            <a:off x="475488" y="4823460"/>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self.tarifa.extend(tarifa)</a:t>
            </a:r>
            <a:endParaRPr lang="en-US" sz="800" dirty="0"/>
          </a:p>
        </p:txBody>
      </p:sp>
      <p:sp>
        <p:nvSpPr>
          <p:cNvPr id="32" name="Text 30"/>
          <p:cNvSpPr/>
          <p:nvPr/>
        </p:nvSpPr>
        <p:spPr>
          <a:xfrm>
            <a:off x="475488" y="4974336"/>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return True</a:t>
            </a:r>
            <a:endParaRPr lang="en-US" sz="800" dirty="0"/>
          </a:p>
        </p:txBody>
      </p:sp>
      <p:sp>
        <p:nvSpPr>
          <p:cNvPr id="33" name="Text 31"/>
          <p:cNvSpPr/>
          <p:nvPr/>
        </p:nvSpPr>
        <p:spPr>
          <a:xfrm>
            <a:off x="475488" y="5125212"/>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return False</a:t>
            </a:r>
            <a:endParaRPr lang="en-US" sz="800" dirty="0"/>
          </a:p>
        </p:txBody>
      </p:sp>
      <p:sp>
        <p:nvSpPr>
          <p:cNvPr id="34" name="Text 32"/>
          <p:cNvSpPr/>
          <p:nvPr/>
        </p:nvSpPr>
        <p:spPr>
          <a:xfrm>
            <a:off x="475488" y="5276088"/>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a:t>
            </a:r>
            <a:endParaRPr lang="en-US" sz="800" dirty="0"/>
          </a:p>
        </p:txBody>
      </p:sp>
      <p:sp>
        <p:nvSpPr>
          <p:cNvPr id="35" name="Text 33"/>
          <p:cNvSpPr/>
          <p:nvPr/>
        </p:nvSpPr>
        <p:spPr>
          <a:xfrm>
            <a:off x="475488" y="5426964"/>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def get_tarifa(self, edad):</a:t>
            </a:r>
            <a:endParaRPr lang="en-US" sz="800" dirty="0"/>
          </a:p>
        </p:txBody>
      </p:sp>
      <p:sp>
        <p:nvSpPr>
          <p:cNvPr id="36" name="Text 34"/>
          <p:cNvSpPr/>
          <p:nvPr/>
        </p:nvSpPr>
        <p:spPr>
          <a:xfrm>
            <a:off x="475488" y="5577840"/>
            <a:ext cx="4059936" cy="150876"/>
          </a:xfrm>
          <a:prstGeom prst="rect">
            <a:avLst/>
          </a:prstGeom>
          <a:noFill/>
          <a:ln/>
        </p:spPr>
        <p:txBody>
          <a:bodyPr wrap="square" lIns="0" tIns="0" rIns="0" bIns="0" rtlCol="0" anchor="ctr"/>
          <a:lstStyle/>
          <a:p>
            <a:pPr indent="0" marL="0">
              <a:buNone/>
            </a:pPr>
            <a:r>
              <a:rPr lang="en-US" sz="800" dirty="0">
                <a:solidFill>
                  <a:srgbClr val="8FA3B1"/>
                </a:solidFill>
                <a:latin typeface="Courier New" pitchFamily="34" charset="0"/>
                <a:ea typeface="Courier New" pitchFamily="34" charset="-122"/>
                <a:cs typeface="Courier New" pitchFamily="34" charset="-120"/>
              </a:rPr>
              <a:t>        """Obtiene la tarifa para una edad."""</a:t>
            </a:r>
            <a:endParaRPr lang="en-US" sz="800" dirty="0"/>
          </a:p>
        </p:txBody>
      </p:sp>
      <p:sp>
        <p:nvSpPr>
          <p:cNvPr id="37" name="Text 35"/>
          <p:cNvSpPr/>
          <p:nvPr/>
        </p:nvSpPr>
        <p:spPr>
          <a:xfrm>
            <a:off x="475488" y="5728716"/>
            <a:ext cx="4059936"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 ... logica de busqueda</a:t>
            </a:r>
            <a:endParaRPr lang="en-US" sz="800" dirty="0"/>
          </a:p>
        </p:txBody>
      </p:sp>
      <p:sp>
        <p:nvSpPr>
          <p:cNvPr id="38" name="Text 36"/>
          <p:cNvSpPr/>
          <p:nvPr/>
        </p:nvSpPr>
        <p:spPr>
          <a:xfrm>
            <a:off x="475488" y="5879592"/>
            <a:ext cx="4059936"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pass</a:t>
            </a:r>
            <a:endParaRPr lang="en-US" sz="800" dirty="0"/>
          </a:p>
        </p:txBody>
      </p:sp>
      <p:sp>
        <p:nvSpPr>
          <p:cNvPr id="39" name="Shape 37"/>
          <p:cNvSpPr/>
          <p:nvPr/>
        </p:nvSpPr>
        <p:spPr>
          <a:xfrm>
            <a:off x="4828032" y="1609344"/>
            <a:ext cx="3968496" cy="3456432"/>
          </a:xfrm>
          <a:prstGeom prst="rect">
            <a:avLst/>
          </a:prstGeom>
          <a:solidFill>
            <a:srgbClr val="071228"/>
          </a:solidFill>
          <a:ln w="12700">
            <a:solidFill>
              <a:srgbClr val="0D7A8A"/>
            </a:solidFill>
            <a:prstDash val="solid"/>
          </a:ln>
        </p:spPr>
      </p:sp>
      <p:sp>
        <p:nvSpPr>
          <p:cNvPr id="40" name="Shape 38"/>
          <p:cNvSpPr/>
          <p:nvPr/>
        </p:nvSpPr>
        <p:spPr>
          <a:xfrm>
            <a:off x="4828032" y="1609344"/>
            <a:ext cx="3968496" cy="292608"/>
          </a:xfrm>
          <a:prstGeom prst="rect">
            <a:avLst/>
          </a:prstGeom>
          <a:solidFill>
            <a:srgbClr val="1E8449"/>
          </a:solidFill>
          <a:ln w="12700">
            <a:solidFill>
              <a:srgbClr val="1E8449"/>
            </a:solidFill>
            <a:prstDash val="solid"/>
          </a:ln>
        </p:spPr>
      </p:sp>
      <p:sp>
        <p:nvSpPr>
          <p:cNvPr id="41" name="Text 39"/>
          <p:cNvSpPr/>
          <p:nvPr/>
        </p:nvSpPr>
        <p:spPr>
          <a:xfrm>
            <a:off x="4956048" y="1609344"/>
            <a:ext cx="3840480" cy="292608"/>
          </a:xfrm>
          <a:prstGeom prst="rect">
            <a:avLst/>
          </a:prstGeom>
          <a:noFill/>
          <a:ln/>
        </p:spPr>
        <p:txBody>
          <a:bodyPr wrap="square" lIns="0" tIns="0" rIns="0" bIns="0" rtlCol="0" anchor="ctr"/>
          <a:lstStyle/>
          <a:p>
            <a:pPr indent="0" marL="0">
              <a:buNone/>
            </a:pPr>
            <a:r>
              <a:rPr lang="en-US" sz="900" b="1" dirty="0">
                <a:solidFill>
                  <a:srgbClr val="FFFFFF"/>
                </a:solidFill>
              </a:rPr>
              <a:t>Como se usa en el notebook</a:t>
            </a:r>
            <a:endParaRPr lang="en-US" sz="900" dirty="0"/>
          </a:p>
        </p:txBody>
      </p:sp>
      <p:sp>
        <p:nvSpPr>
          <p:cNvPr id="42" name="Text 40"/>
          <p:cNvSpPr/>
          <p:nvPr/>
        </p:nvSpPr>
        <p:spPr>
          <a:xfrm>
            <a:off x="4956048" y="1956816"/>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from tabla_tarifas import Tablatarifas</a:t>
            </a:r>
            <a:endParaRPr lang="en-US" sz="800" dirty="0"/>
          </a:p>
        </p:txBody>
      </p:sp>
      <p:sp>
        <p:nvSpPr>
          <p:cNvPr id="43" name="Text 41"/>
          <p:cNvSpPr/>
          <p:nvPr/>
        </p:nvSpPr>
        <p:spPr>
          <a:xfrm>
            <a:off x="4956048" y="2107692"/>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a:t>
            </a:r>
            <a:endParaRPr lang="en-US" sz="800" dirty="0"/>
          </a:p>
        </p:txBody>
      </p:sp>
      <p:sp>
        <p:nvSpPr>
          <p:cNvPr id="44" name="Text 42"/>
          <p:cNvSpPr/>
          <p:nvPr/>
        </p:nvSpPr>
        <p:spPr>
          <a:xfrm>
            <a:off x="4956048" y="2258568"/>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Crear tabla para polizas con COVID</a:t>
            </a:r>
            <a:endParaRPr lang="en-US" sz="800" dirty="0"/>
          </a:p>
        </p:txBody>
      </p:sp>
      <p:sp>
        <p:nvSpPr>
          <p:cNvPr id="45" name="Text 43"/>
          <p:cNvSpPr/>
          <p:nvPr/>
        </p:nvSpPr>
        <p:spPr>
          <a:xfrm>
            <a:off x="4956048" y="2409444"/>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tarifa_covid = Tablatarifas(</a:t>
            </a:r>
            <a:endParaRPr lang="en-US" sz="800" dirty="0"/>
          </a:p>
        </p:txBody>
      </p:sp>
      <p:sp>
        <p:nvSpPr>
          <p:cNvPr id="46" name="Text 44"/>
          <p:cNvSpPr/>
          <p:nvPr/>
        </p:nvSpPr>
        <p:spPr>
          <a:xfrm>
            <a:off x="4956048" y="2560320"/>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edad_inicio=45,</a:t>
            </a:r>
            <a:endParaRPr lang="en-US" sz="800" dirty="0"/>
          </a:p>
        </p:txBody>
      </p:sp>
      <p:sp>
        <p:nvSpPr>
          <p:cNvPr id="47" name="Text 45"/>
          <p:cNvSpPr/>
          <p:nvPr/>
        </p:nvSpPr>
        <p:spPr>
          <a:xfrm>
            <a:off x="4956048" y="2711196"/>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edad_final=65,</a:t>
            </a:r>
            <a:endParaRPr lang="en-US" sz="800" dirty="0"/>
          </a:p>
        </p:txBody>
      </p:sp>
      <p:sp>
        <p:nvSpPr>
          <p:cNvPr id="48" name="Text 46"/>
          <p:cNvSpPr/>
          <p:nvPr/>
        </p:nvSpPr>
        <p:spPr>
          <a:xfrm>
            <a:off x="4956048" y="2862072"/>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brinco=5,</a:t>
            </a:r>
            <a:endParaRPr lang="en-US" sz="800" dirty="0"/>
          </a:p>
        </p:txBody>
      </p:sp>
      <p:sp>
        <p:nvSpPr>
          <p:cNvPr id="49" name="Text 47"/>
          <p:cNvSpPr/>
          <p:nvPr/>
        </p:nvSpPr>
        <p:spPr>
          <a:xfrm>
            <a:off x="4956048" y="3012948"/>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piso=False</a:t>
            </a:r>
            <a:endParaRPr lang="en-US" sz="800" dirty="0"/>
          </a:p>
        </p:txBody>
      </p:sp>
      <p:sp>
        <p:nvSpPr>
          <p:cNvPr id="50" name="Text 48"/>
          <p:cNvSpPr/>
          <p:nvPr/>
        </p:nvSpPr>
        <p:spPr>
          <a:xfrm>
            <a:off x="4956048" y="3163824"/>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a:t>
            </a:r>
            <a:endParaRPr lang="en-US" sz="800" dirty="0"/>
          </a:p>
        </p:txBody>
      </p:sp>
      <p:sp>
        <p:nvSpPr>
          <p:cNvPr id="51" name="Text 49"/>
          <p:cNvSpPr/>
          <p:nvPr/>
        </p:nvSpPr>
        <p:spPr>
          <a:xfrm>
            <a:off x="4956048" y="3314700"/>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a:t>
            </a:r>
            <a:endParaRPr lang="en-US" sz="800" dirty="0"/>
          </a:p>
        </p:txBody>
      </p:sp>
      <p:sp>
        <p:nvSpPr>
          <p:cNvPr id="52" name="Text 50"/>
          <p:cNvSpPr/>
          <p:nvPr/>
        </p:nvSpPr>
        <p:spPr>
          <a:xfrm>
            <a:off x="4956048" y="3465576"/>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Asignar tarifas por franja</a:t>
            </a:r>
            <a:endParaRPr lang="en-US" sz="800" dirty="0"/>
          </a:p>
        </p:txBody>
      </p:sp>
      <p:sp>
        <p:nvSpPr>
          <p:cNvPr id="53" name="Text 51"/>
          <p:cNvSpPr/>
          <p:nvPr/>
        </p:nvSpPr>
        <p:spPr>
          <a:xfrm>
            <a:off x="4956048" y="3616452"/>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tarifa_covid.set_tarifa(</a:t>
            </a:r>
            <a:endParaRPr lang="en-US" sz="800" dirty="0"/>
          </a:p>
        </p:txBody>
      </p:sp>
      <p:sp>
        <p:nvSpPr>
          <p:cNvPr id="54" name="Text 52"/>
          <p:cNvSpPr/>
          <p:nvPr/>
        </p:nvSpPr>
        <p:spPr>
          <a:xfrm>
            <a:off x="4956048" y="3767328"/>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[5000, 6000, 8000, 10000, 12000]</a:t>
            </a:r>
            <a:endParaRPr lang="en-US" sz="800" dirty="0"/>
          </a:p>
        </p:txBody>
      </p:sp>
      <p:sp>
        <p:nvSpPr>
          <p:cNvPr id="55" name="Text 53"/>
          <p:cNvSpPr/>
          <p:nvPr/>
        </p:nvSpPr>
        <p:spPr>
          <a:xfrm>
            <a:off x="4956048" y="3918204"/>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a:t>
            </a:r>
            <a:endParaRPr lang="en-US" sz="800" dirty="0"/>
          </a:p>
        </p:txBody>
      </p:sp>
      <p:sp>
        <p:nvSpPr>
          <p:cNvPr id="56" name="Text 54"/>
          <p:cNvSpPr/>
          <p:nvPr/>
        </p:nvSpPr>
        <p:spPr>
          <a:xfrm>
            <a:off x="4956048" y="4069080"/>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a:t>
            </a:r>
            <a:endParaRPr lang="en-US" sz="800" dirty="0"/>
          </a:p>
        </p:txBody>
      </p:sp>
      <p:sp>
        <p:nvSpPr>
          <p:cNvPr id="57" name="Text 55"/>
          <p:cNvSpPr/>
          <p:nvPr/>
        </p:nvSpPr>
        <p:spPr>
          <a:xfrm>
            <a:off x="4956048" y="4219956"/>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Consultar tarifa para una edad</a:t>
            </a:r>
            <a:endParaRPr lang="en-US" sz="800" dirty="0"/>
          </a:p>
        </p:txBody>
      </p:sp>
      <p:sp>
        <p:nvSpPr>
          <p:cNvPr id="58" name="Text 56"/>
          <p:cNvSpPr/>
          <p:nvPr/>
        </p:nvSpPr>
        <p:spPr>
          <a:xfrm>
            <a:off x="4956048" y="4370832"/>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print(tarifa_covid.get_tarifa(52))</a:t>
            </a:r>
            <a:endParaRPr lang="en-US" sz="800" dirty="0"/>
          </a:p>
        </p:txBody>
      </p:sp>
      <p:sp>
        <p:nvSpPr>
          <p:cNvPr id="59" name="Text 57"/>
          <p:cNvSpPr/>
          <p:nvPr/>
        </p:nvSpPr>
        <p:spPr>
          <a:xfrm>
            <a:off x="4956048" y="4521708"/>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8000</a:t>
            </a:r>
            <a:endParaRPr lang="en-US" sz="800" dirty="0"/>
          </a:p>
        </p:txBody>
      </p:sp>
      <p:sp>
        <p:nvSpPr>
          <p:cNvPr id="60" name="Text 58"/>
          <p:cNvSpPr/>
          <p:nvPr/>
        </p:nvSpPr>
        <p:spPr>
          <a:xfrm>
            <a:off x="4956048" y="4672584"/>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 </a:t>
            </a:r>
            <a:endParaRPr lang="en-US" sz="800" dirty="0"/>
          </a:p>
        </p:txBody>
      </p:sp>
      <p:sp>
        <p:nvSpPr>
          <p:cNvPr id="61" name="Text 59"/>
          <p:cNvSpPr/>
          <p:nvPr/>
        </p:nvSpPr>
        <p:spPr>
          <a:xfrm>
            <a:off x="4956048" y="4823460"/>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Ver la tabla completa</a:t>
            </a:r>
            <a:endParaRPr lang="en-US" sz="800" dirty="0"/>
          </a:p>
        </p:txBody>
      </p:sp>
      <p:sp>
        <p:nvSpPr>
          <p:cNvPr id="62" name="Text 60"/>
          <p:cNvSpPr/>
          <p:nvPr/>
        </p:nvSpPr>
        <p:spPr>
          <a:xfrm>
            <a:off x="4956048" y="4974336"/>
            <a:ext cx="3749040" cy="150876"/>
          </a:xfrm>
          <a:prstGeom prst="rect">
            <a:avLst/>
          </a:prstGeom>
          <a:noFill/>
          <a:ln/>
        </p:spPr>
        <p:txBody>
          <a:bodyPr wrap="square" lIns="0" tIns="0" rIns="0" bIns="0" rtlCol="0" anchor="ctr"/>
          <a:lstStyle/>
          <a:p>
            <a:pPr indent="0" marL="0">
              <a:buNone/>
            </a:pPr>
            <a:r>
              <a:rPr lang="en-US" sz="800" dirty="0">
                <a:solidFill>
                  <a:srgbClr val="A8D8EA"/>
                </a:solidFill>
                <a:latin typeface="Courier New" pitchFamily="34" charset="0"/>
                <a:ea typeface="Courier New" pitchFamily="34" charset="-122"/>
                <a:cs typeface="Courier New" pitchFamily="34" charset="-120"/>
              </a:rPr>
              <a:t>print(tarifa_covid)</a:t>
            </a:r>
            <a:endParaRPr lang="en-US" sz="800" dirty="0"/>
          </a:p>
        </p:txBody>
      </p:sp>
      <p:sp>
        <p:nvSpPr>
          <p:cNvPr id="63" name="Text 61"/>
          <p:cNvSpPr/>
          <p:nvPr/>
        </p:nvSpPr>
        <p:spPr>
          <a:xfrm>
            <a:off x="4956048" y="5125212"/>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edad 45 tiene una tarifa de 5000</a:t>
            </a:r>
            <a:endParaRPr lang="en-US" sz="800" dirty="0"/>
          </a:p>
        </p:txBody>
      </p:sp>
      <p:sp>
        <p:nvSpPr>
          <p:cNvPr id="64" name="Text 62"/>
          <p:cNvSpPr/>
          <p:nvPr/>
        </p:nvSpPr>
        <p:spPr>
          <a:xfrm>
            <a:off x="4956048" y="5276088"/>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edad 50 tiene una tarifa de 6000</a:t>
            </a:r>
            <a:endParaRPr lang="en-US" sz="800" dirty="0"/>
          </a:p>
        </p:txBody>
      </p:sp>
      <p:sp>
        <p:nvSpPr>
          <p:cNvPr id="65" name="Text 63"/>
          <p:cNvSpPr/>
          <p:nvPr/>
        </p:nvSpPr>
        <p:spPr>
          <a:xfrm>
            <a:off x="4956048" y="5426964"/>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edad 55 tiene una tarifa de 8000</a:t>
            </a:r>
            <a:endParaRPr lang="en-US" sz="800" dirty="0"/>
          </a:p>
        </p:txBody>
      </p:sp>
      <p:sp>
        <p:nvSpPr>
          <p:cNvPr id="66" name="Text 64"/>
          <p:cNvSpPr/>
          <p:nvPr/>
        </p:nvSpPr>
        <p:spPr>
          <a:xfrm>
            <a:off x="4956048" y="5577840"/>
            <a:ext cx="3749040" cy="150876"/>
          </a:xfrm>
          <a:prstGeom prst="rect">
            <a:avLst/>
          </a:prstGeom>
          <a:noFill/>
          <a:ln/>
        </p:spPr>
        <p:txBody>
          <a:bodyPr wrap="square" lIns="0" tIns="0" rIns="0" bIns="0" rtlCol="0" anchor="ctr"/>
          <a:lstStyle/>
          <a:p>
            <a:pPr indent="0" marL="0">
              <a:buNone/>
            </a:pPr>
            <a:r>
              <a:rPr lang="en-US" sz="800" dirty="0">
                <a:solidFill>
                  <a:srgbClr val="6B8FA0"/>
                </a:solidFill>
                <a:latin typeface="Courier New" pitchFamily="34" charset="0"/>
                <a:ea typeface="Courier New" pitchFamily="34" charset="-122"/>
                <a:cs typeface="Courier New" pitchFamily="34" charset="-120"/>
              </a:rPr>
              <a:t># ...</a:t>
            </a:r>
            <a:endParaRPr lang="en-US" sz="800" dirty="0"/>
          </a:p>
        </p:txBody>
      </p:sp>
      <p:sp>
        <p:nvSpPr>
          <p:cNvPr id="67" name="Shape 65"/>
          <p:cNvSpPr/>
          <p:nvPr/>
        </p:nvSpPr>
        <p:spPr>
          <a:xfrm>
            <a:off x="0" y="4892040"/>
            <a:ext cx="9144000" cy="251460"/>
          </a:xfrm>
          <a:prstGeom prst="rect">
            <a:avLst/>
          </a:prstGeom>
          <a:solidFill>
            <a:srgbClr val="071228"/>
          </a:solidFill>
          <a:ln w="12700">
            <a:solidFill>
              <a:srgbClr val="071228"/>
            </a:solidFill>
            <a:prstDash val="solid"/>
          </a:ln>
        </p:spPr>
      </p:sp>
      <p:sp>
        <p:nvSpPr>
          <p:cNvPr id="68" name="Text 66"/>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69" name="Text 67"/>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tabla_tarifas.py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0D7A8A"/>
          </a:solidFill>
          <a:ln w="12700">
            <a:solidFill>
              <a:srgbClr val="0D7A8A"/>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SCRIPTS .py</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FFFFFF"/>
                </a:solidFill>
              </a:rPr>
              <a:t>Scripts: Ejecutar Python desde la Terminal</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La diferencia entre un modulo y un script ejecutable</a:t>
            </a:r>
            <a:endParaRPr lang="en-US" sz="1200" dirty="0"/>
          </a:p>
        </p:txBody>
      </p:sp>
      <p:sp>
        <p:nvSpPr>
          <p:cNvPr id="7" name="Shape 5"/>
          <p:cNvSpPr/>
          <p:nvPr/>
        </p:nvSpPr>
        <p:spPr>
          <a:xfrm>
            <a:off x="347472" y="987552"/>
            <a:ext cx="8449056" cy="585216"/>
          </a:xfrm>
          <a:prstGeom prst="rect">
            <a:avLst/>
          </a:prstGeom>
          <a:solidFill>
            <a:srgbClr val="1A5276"/>
          </a:solidFill>
          <a:ln w="12700">
            <a:solidFill>
              <a:srgbClr val="1A5276"/>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493776" y="1042416"/>
            <a:ext cx="8229600" cy="457200"/>
          </a:xfrm>
          <a:prstGeom prst="rect">
            <a:avLst/>
          </a:prstGeom>
          <a:noFill/>
          <a:ln/>
        </p:spPr>
        <p:txBody>
          <a:bodyPr wrap="square" lIns="0" tIns="0" rIns="0" bIns="0" rtlCol="0" anchor="ctr"/>
          <a:lstStyle/>
          <a:p>
            <a:pPr indent="0" marL="0">
              <a:buNone/>
            </a:pPr>
            <a:r>
              <a:rPr lang="en-US" sz="1100" dirty="0">
                <a:solidFill>
                  <a:srgbClr val="F0F4F8"/>
                </a:solidFill>
              </a:rPr>
              <a:t>Un script es un archivo .py que se ejecuta directamente desde la terminal. Un modulo es un .py que se importa. El mismo archivo puede hacer ambas cosas gracias a if __name__ == '__main__'.</a:t>
            </a:r>
            <a:endParaRPr lang="en-US" sz="1100" dirty="0"/>
          </a:p>
        </p:txBody>
      </p:sp>
      <p:sp>
        <p:nvSpPr>
          <p:cNvPr id="9" name="Shape 7"/>
          <p:cNvSpPr/>
          <p:nvPr/>
        </p:nvSpPr>
        <p:spPr>
          <a:xfrm>
            <a:off x="347472" y="1664208"/>
            <a:ext cx="4315968" cy="2359152"/>
          </a:xfrm>
          <a:prstGeom prst="rect">
            <a:avLst/>
          </a:prstGeom>
          <a:solidFill>
            <a:srgbClr val="071228"/>
          </a:solidFill>
          <a:ln w="12700">
            <a:solidFill>
              <a:srgbClr val="0D7A8A"/>
            </a:solidFill>
            <a:prstDash val="solid"/>
          </a:ln>
        </p:spPr>
      </p:sp>
      <p:sp>
        <p:nvSpPr>
          <p:cNvPr id="10" name="Shape 8"/>
          <p:cNvSpPr/>
          <p:nvPr/>
        </p:nvSpPr>
        <p:spPr>
          <a:xfrm>
            <a:off x="347472" y="1664208"/>
            <a:ext cx="4315968" cy="292608"/>
          </a:xfrm>
          <a:prstGeom prst="rect">
            <a:avLst/>
          </a:prstGeom>
          <a:solidFill>
            <a:srgbClr val="C0392B"/>
          </a:solidFill>
          <a:ln w="12700">
            <a:solidFill>
              <a:srgbClr val="C0392B"/>
            </a:solidFill>
            <a:prstDash val="solid"/>
          </a:ln>
        </p:spPr>
      </p:sp>
      <p:sp>
        <p:nvSpPr>
          <p:cNvPr id="11" name="Text 9"/>
          <p:cNvSpPr/>
          <p:nvPr/>
        </p:nvSpPr>
        <p:spPr>
          <a:xfrm>
            <a:off x="475488" y="1664208"/>
            <a:ext cx="4187952" cy="292608"/>
          </a:xfrm>
          <a:prstGeom prst="rect">
            <a:avLst/>
          </a:prstGeom>
          <a:noFill/>
          <a:ln/>
        </p:spPr>
        <p:txBody>
          <a:bodyPr wrap="square" lIns="0" tIns="0" rIns="0" bIns="0" rtlCol="0" anchor="ctr"/>
          <a:lstStyle/>
          <a:p>
            <a:pPr indent="0" marL="0">
              <a:buNone/>
            </a:pPr>
            <a:r>
              <a:rPr lang="en-US" sz="950" b="1" dirty="0">
                <a:solidFill>
                  <a:srgbClr val="FFFFFF"/>
                </a:solidFill>
              </a:rPr>
              <a:t>Sin if __name__ — problema</a:t>
            </a:r>
            <a:endParaRPr lang="en-US" sz="950" dirty="0"/>
          </a:p>
        </p:txBody>
      </p:sp>
      <p:sp>
        <p:nvSpPr>
          <p:cNvPr id="12" name="Text 10"/>
          <p:cNvSpPr/>
          <p:nvPr/>
        </p:nvSpPr>
        <p:spPr>
          <a:xfrm>
            <a:off x="475488" y="2011680"/>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calcular.py</a:t>
            </a:r>
            <a:endParaRPr lang="en-US" sz="850" dirty="0"/>
          </a:p>
        </p:txBody>
      </p:sp>
      <p:sp>
        <p:nvSpPr>
          <p:cNvPr id="13" name="Text 11"/>
          <p:cNvSpPr/>
          <p:nvPr/>
        </p:nvSpPr>
        <p:spPr>
          <a:xfrm>
            <a:off x="475488" y="216255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a:t>
            </a:r>
            <a:endParaRPr lang="en-US" sz="850" dirty="0"/>
          </a:p>
        </p:txBody>
      </p:sp>
      <p:sp>
        <p:nvSpPr>
          <p:cNvPr id="14" name="Text 12"/>
          <p:cNvSpPr/>
          <p:nvPr/>
        </p:nvSpPr>
        <p:spPr>
          <a:xfrm>
            <a:off x="475488" y="231343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 * 1.16</a:t>
            </a:r>
            <a:endParaRPr lang="en-US" sz="850" dirty="0"/>
          </a:p>
        </p:txBody>
      </p:sp>
      <p:sp>
        <p:nvSpPr>
          <p:cNvPr id="15" name="Text 13"/>
          <p:cNvSpPr/>
          <p:nvPr/>
        </p:nvSpPr>
        <p:spPr>
          <a:xfrm>
            <a:off x="475488" y="246430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6" name="Text 14"/>
          <p:cNvSpPr/>
          <p:nvPr/>
        </p:nvSpPr>
        <p:spPr>
          <a:xfrm>
            <a:off x="475488" y="2615184"/>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Este codigo corre cuando se IMPORTA</a:t>
            </a:r>
            <a:endParaRPr lang="en-US" sz="850" dirty="0"/>
          </a:p>
        </p:txBody>
      </p:sp>
      <p:sp>
        <p:nvSpPr>
          <p:cNvPr id="17" name="Text 15"/>
          <p:cNvSpPr/>
          <p:nvPr/>
        </p:nvSpPr>
        <p:spPr>
          <a:xfrm>
            <a:off x="475488" y="2766060"/>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no queremos esto</a:t>
            </a:r>
            <a:endParaRPr lang="en-US" sz="850" dirty="0"/>
          </a:p>
        </p:txBody>
      </p:sp>
      <p:sp>
        <p:nvSpPr>
          <p:cNvPr id="18" name="Text 16"/>
          <p:cNvSpPr/>
          <p:nvPr/>
        </p:nvSpPr>
        <p:spPr>
          <a:xfrm>
            <a:off x="475488" y="291693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print('Calculando...')</a:t>
            </a:r>
            <a:endParaRPr lang="en-US" sz="850" dirty="0"/>
          </a:p>
        </p:txBody>
      </p:sp>
      <p:sp>
        <p:nvSpPr>
          <p:cNvPr id="19" name="Text 17"/>
          <p:cNvSpPr/>
          <p:nvPr/>
        </p:nvSpPr>
        <p:spPr>
          <a:xfrm>
            <a:off x="475488" y="306781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resultado = calcular_prima(500_000, 0.022)</a:t>
            </a:r>
            <a:endParaRPr lang="en-US" sz="850" dirty="0"/>
          </a:p>
        </p:txBody>
      </p:sp>
      <p:sp>
        <p:nvSpPr>
          <p:cNvPr id="20" name="Text 18"/>
          <p:cNvSpPr/>
          <p:nvPr/>
        </p:nvSpPr>
        <p:spPr>
          <a:xfrm>
            <a:off x="475488" y="321868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print(f'Prima: ${resultado:,.2f}')</a:t>
            </a:r>
            <a:endParaRPr lang="en-US" sz="850" dirty="0"/>
          </a:p>
        </p:txBody>
      </p:sp>
      <p:sp>
        <p:nvSpPr>
          <p:cNvPr id="21" name="Shape 19"/>
          <p:cNvSpPr/>
          <p:nvPr/>
        </p:nvSpPr>
        <p:spPr>
          <a:xfrm>
            <a:off x="4828032" y="1664208"/>
            <a:ext cx="3968496" cy="2359152"/>
          </a:xfrm>
          <a:prstGeom prst="rect">
            <a:avLst/>
          </a:prstGeom>
          <a:solidFill>
            <a:srgbClr val="071228"/>
          </a:solidFill>
          <a:ln w="12700">
            <a:solidFill>
              <a:srgbClr val="0D7A8A"/>
            </a:solidFill>
            <a:prstDash val="solid"/>
          </a:ln>
        </p:spPr>
      </p:sp>
      <p:sp>
        <p:nvSpPr>
          <p:cNvPr id="22" name="Shape 20"/>
          <p:cNvSpPr/>
          <p:nvPr/>
        </p:nvSpPr>
        <p:spPr>
          <a:xfrm>
            <a:off x="4828032" y="1664208"/>
            <a:ext cx="3968496" cy="292608"/>
          </a:xfrm>
          <a:prstGeom prst="rect">
            <a:avLst/>
          </a:prstGeom>
          <a:solidFill>
            <a:srgbClr val="1E8449"/>
          </a:solidFill>
          <a:ln w="12700">
            <a:solidFill>
              <a:srgbClr val="1E8449"/>
            </a:solidFill>
            <a:prstDash val="solid"/>
          </a:ln>
        </p:spPr>
      </p:sp>
      <p:sp>
        <p:nvSpPr>
          <p:cNvPr id="23" name="Text 21"/>
          <p:cNvSpPr/>
          <p:nvPr/>
        </p:nvSpPr>
        <p:spPr>
          <a:xfrm>
            <a:off x="4956048" y="1664208"/>
            <a:ext cx="3840480" cy="292608"/>
          </a:xfrm>
          <a:prstGeom prst="rect">
            <a:avLst/>
          </a:prstGeom>
          <a:noFill/>
          <a:ln/>
        </p:spPr>
        <p:txBody>
          <a:bodyPr wrap="square" lIns="0" tIns="0" rIns="0" bIns="0" rtlCol="0" anchor="ctr"/>
          <a:lstStyle/>
          <a:p>
            <a:pPr indent="0" marL="0">
              <a:buNone/>
            </a:pPr>
            <a:r>
              <a:rPr lang="en-US" sz="950" b="1" dirty="0">
                <a:solidFill>
                  <a:srgbClr val="FFFFFF"/>
                </a:solidFill>
              </a:rPr>
              <a:t>Con if __name__ — correcto</a:t>
            </a:r>
            <a:endParaRPr lang="en-US" sz="950" dirty="0"/>
          </a:p>
        </p:txBody>
      </p:sp>
      <p:sp>
        <p:nvSpPr>
          <p:cNvPr id="24" name="Text 22"/>
          <p:cNvSpPr/>
          <p:nvPr/>
        </p:nvSpPr>
        <p:spPr>
          <a:xfrm>
            <a:off x="4956048" y="2011680"/>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calcular.py</a:t>
            </a:r>
            <a:endParaRPr lang="en-US" sz="850" dirty="0"/>
          </a:p>
        </p:txBody>
      </p:sp>
      <p:sp>
        <p:nvSpPr>
          <p:cNvPr id="25" name="Text 23"/>
          <p:cNvSpPr/>
          <p:nvPr/>
        </p:nvSpPr>
        <p:spPr>
          <a:xfrm>
            <a:off x="4956048" y="216255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a:t>
            </a:r>
            <a:endParaRPr lang="en-US" sz="850" dirty="0"/>
          </a:p>
        </p:txBody>
      </p:sp>
      <p:sp>
        <p:nvSpPr>
          <p:cNvPr id="26" name="Text 24"/>
          <p:cNvSpPr/>
          <p:nvPr/>
        </p:nvSpPr>
        <p:spPr>
          <a:xfrm>
            <a:off x="4956048" y="231343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 * 1.16</a:t>
            </a:r>
            <a:endParaRPr lang="en-US" sz="850" dirty="0"/>
          </a:p>
        </p:txBody>
      </p:sp>
      <p:sp>
        <p:nvSpPr>
          <p:cNvPr id="27" name="Text 25"/>
          <p:cNvSpPr/>
          <p:nvPr/>
        </p:nvSpPr>
        <p:spPr>
          <a:xfrm>
            <a:off x="4956048" y="246430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8" name="Text 26"/>
          <p:cNvSpPr/>
          <p:nvPr/>
        </p:nvSpPr>
        <p:spPr>
          <a:xfrm>
            <a:off x="4956048" y="261518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Solo corre si ejecutas el archivo</a:t>
            </a:r>
            <a:endParaRPr lang="en-US" sz="850" dirty="0"/>
          </a:p>
        </p:txBody>
      </p:sp>
      <p:sp>
        <p:nvSpPr>
          <p:cNvPr id="29" name="Text 27"/>
          <p:cNvSpPr/>
          <p:nvPr/>
        </p:nvSpPr>
        <p:spPr>
          <a:xfrm>
            <a:off x="4956048" y="2766060"/>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directamente — NO cuando se importa</a:t>
            </a:r>
            <a:endParaRPr lang="en-US" sz="850" dirty="0"/>
          </a:p>
        </p:txBody>
      </p:sp>
      <p:sp>
        <p:nvSpPr>
          <p:cNvPr id="30" name="Text 28"/>
          <p:cNvSpPr/>
          <p:nvPr/>
        </p:nvSpPr>
        <p:spPr>
          <a:xfrm>
            <a:off x="4956048" y="291693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if __name__ == '__main__':</a:t>
            </a:r>
            <a:endParaRPr lang="en-US" sz="850" dirty="0"/>
          </a:p>
        </p:txBody>
      </p:sp>
      <p:sp>
        <p:nvSpPr>
          <p:cNvPr id="31" name="Text 29"/>
          <p:cNvSpPr/>
          <p:nvPr/>
        </p:nvSpPr>
        <p:spPr>
          <a:xfrm>
            <a:off x="4956048" y="306781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 = calcular_prima(500_000, 0.022)</a:t>
            </a:r>
            <a:endParaRPr lang="en-US" sz="850" dirty="0"/>
          </a:p>
        </p:txBody>
      </p:sp>
      <p:sp>
        <p:nvSpPr>
          <p:cNvPr id="32" name="Text 30"/>
          <p:cNvSpPr/>
          <p:nvPr/>
        </p:nvSpPr>
        <p:spPr>
          <a:xfrm>
            <a:off x="4956048" y="321868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print(f'Prima: ${r:,.2f}')</a:t>
            </a:r>
            <a:endParaRPr lang="en-US" sz="850" dirty="0"/>
          </a:p>
        </p:txBody>
      </p:sp>
      <p:sp>
        <p:nvSpPr>
          <p:cNvPr id="33" name="Text 31"/>
          <p:cNvSpPr/>
          <p:nvPr/>
        </p:nvSpPr>
        <p:spPr>
          <a:xfrm>
            <a:off x="347472" y="4114800"/>
            <a:ext cx="8412480" cy="256032"/>
          </a:xfrm>
          <a:prstGeom prst="rect">
            <a:avLst/>
          </a:prstGeom>
          <a:noFill/>
          <a:ln/>
        </p:spPr>
        <p:txBody>
          <a:bodyPr wrap="square" lIns="0" tIns="0" rIns="0" bIns="0" rtlCol="0" anchor="ctr"/>
          <a:lstStyle/>
          <a:p>
            <a:pPr indent="0" marL="0">
              <a:buNone/>
            </a:pPr>
            <a:r>
              <a:rPr lang="en-US" sz="1200" b="1" dirty="0">
                <a:solidFill>
                  <a:srgbClr val="A8D8EA"/>
                </a:solidFill>
              </a:rPr>
              <a:t>Ejecutar desde la terminal</a:t>
            </a:r>
            <a:endParaRPr lang="en-US" sz="1200" dirty="0"/>
          </a:p>
        </p:txBody>
      </p:sp>
      <p:sp>
        <p:nvSpPr>
          <p:cNvPr id="34" name="Shape 32"/>
          <p:cNvSpPr/>
          <p:nvPr/>
        </p:nvSpPr>
        <p:spPr>
          <a:xfrm>
            <a:off x="347472" y="4407408"/>
            <a:ext cx="8449056" cy="658368"/>
          </a:xfrm>
          <a:prstGeom prst="rect">
            <a:avLst/>
          </a:prstGeom>
          <a:solidFill>
            <a:srgbClr val="071228"/>
          </a:solidFill>
          <a:ln w="12700">
            <a:solidFill>
              <a:srgbClr val="0D7A8A"/>
            </a:solidFill>
            <a:prstDash val="solid"/>
          </a:ln>
        </p:spPr>
      </p:sp>
      <p:sp>
        <p:nvSpPr>
          <p:cNvPr id="35" name="Text 33"/>
          <p:cNvSpPr/>
          <p:nvPr/>
        </p:nvSpPr>
        <p:spPr>
          <a:xfrm>
            <a:off x="475488" y="4462272"/>
            <a:ext cx="822960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En Anaconda Prompt o Terminal — navegar a la carpeta del archivo</a:t>
            </a:r>
            <a:endParaRPr lang="en-US" sz="850" dirty="0"/>
          </a:p>
        </p:txBody>
      </p:sp>
      <p:sp>
        <p:nvSpPr>
          <p:cNvPr id="36" name="Text 34"/>
          <p:cNvSpPr/>
          <p:nvPr/>
        </p:nvSpPr>
        <p:spPr>
          <a:xfrm>
            <a:off x="475488" y="461314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cd 'C:\Users\Eric\Documents\Ciencias Cursos\Diplomado\diplomado-ml-seguros\modulo1\sesion6'</a:t>
            </a:r>
            <a:endParaRPr lang="en-US" sz="850" dirty="0"/>
          </a:p>
        </p:txBody>
      </p:sp>
      <p:sp>
        <p:nvSpPr>
          <p:cNvPr id="37" name="Text 35"/>
          <p:cNvSpPr/>
          <p:nvPr/>
        </p:nvSpPr>
        <p:spPr>
          <a:xfrm>
            <a:off x="475488" y="476402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python calcular.py</a:t>
            </a:r>
            <a:endParaRPr lang="en-US" sz="850" dirty="0"/>
          </a:p>
        </p:txBody>
      </p:sp>
      <p:sp>
        <p:nvSpPr>
          <p:cNvPr id="38" name="Text 36"/>
          <p:cNvSpPr/>
          <p:nvPr/>
        </p:nvSpPr>
        <p:spPr>
          <a:xfrm>
            <a:off x="475488" y="4914900"/>
            <a:ext cx="822960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Prima: $13,050.00</a:t>
            </a:r>
            <a:endParaRPr lang="en-US" sz="850" dirty="0"/>
          </a:p>
        </p:txBody>
      </p:sp>
      <p:sp>
        <p:nvSpPr>
          <p:cNvPr id="39" name="Shape 37"/>
          <p:cNvSpPr/>
          <p:nvPr/>
        </p:nvSpPr>
        <p:spPr>
          <a:xfrm>
            <a:off x="0" y="4892040"/>
            <a:ext cx="9144000" cy="251460"/>
          </a:xfrm>
          <a:prstGeom prst="rect">
            <a:avLst/>
          </a:prstGeom>
          <a:solidFill>
            <a:srgbClr val="071228"/>
          </a:solidFill>
          <a:ln w="12700">
            <a:solidFill>
              <a:srgbClr val="071228"/>
            </a:solidFill>
            <a:prstDash val="solid"/>
          </a:ln>
        </p:spPr>
      </p:sp>
      <p:sp>
        <p:nvSpPr>
          <p:cNvPr id="40" name="Text 38"/>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41" name="Text 39"/>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Scripts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47472" y="987552"/>
            <a:ext cx="8449056" cy="438912"/>
          </a:xfrm>
          <a:prstGeom prst="rect">
            <a:avLst/>
          </a:prstGeom>
          <a:solidFill>
            <a:srgbClr val="0D7A8A"/>
          </a:solidFill>
          <a:ln w="12700">
            <a:solidFill>
              <a:srgbClr val="0D7A8A"/>
            </a:solidFill>
            <a:prstDash val="solid"/>
          </a:ln>
        </p:spPr>
      </p:sp>
      <p:sp>
        <p:nvSpPr>
          <p:cNvPr id="4" name="Text 2"/>
          <p:cNvSpPr/>
          <p:nvPr/>
        </p:nvSpPr>
        <p:spPr>
          <a:xfrm>
            <a:off x="475488" y="987552"/>
            <a:ext cx="8229600" cy="438912"/>
          </a:xfrm>
          <a:prstGeom prst="rect">
            <a:avLst/>
          </a:prstGeom>
          <a:noFill/>
          <a:ln/>
        </p:spPr>
        <p:txBody>
          <a:bodyPr wrap="square" lIns="0" tIns="0" rIns="0" bIns="0" rtlCol="0" anchor="ctr"/>
          <a:lstStyle/>
          <a:p>
            <a:pPr algn="ctr" indent="0" marL="0">
              <a:buNone/>
            </a:pPr>
            <a:r>
              <a:rPr lang="en-US" sz="1400" b="1" dirty="0">
                <a:solidFill>
                  <a:srgbClr val="FFFFFF"/>
                </a:solidFill>
              </a:rPr>
              <a:t>T4 Funciones y Modulos — COMPLETO</a:t>
            </a:r>
            <a:endParaRPr lang="en-US" sz="1400" dirty="0"/>
          </a:p>
        </p:txBody>
      </p:sp>
      <p:pic>
        <p:nvPicPr>
          <p:cNvPr id="5" name="Image 0" descr="preencoded.png">    </p:cNvPr>
          <p:cNvPicPr>
            <a:picLocks noChangeAspect="1"/>
          </p:cNvPicPr>
          <p:nvPr/>
        </p:nvPicPr>
        <p:blipFill>
          <a:blip r:embed="rId1"/>
          <a:stretch>
            <a:fillRect/>
          </a:stretch>
        </p:blipFill>
        <p:spPr>
          <a:xfrm>
            <a:off x="475488" y="1536192"/>
            <a:ext cx="219456" cy="219456"/>
          </a:xfrm>
          <a:prstGeom prst="rect">
            <a:avLst/>
          </a:prstGeom>
        </p:spPr>
      </p:pic>
      <p:sp>
        <p:nvSpPr>
          <p:cNvPr id="6" name="Text 3"/>
          <p:cNvSpPr/>
          <p:nvPr/>
        </p:nvSpPr>
        <p:spPr>
          <a:xfrm>
            <a:off x="786384" y="1517904"/>
            <a:ext cx="8046720" cy="274320"/>
          </a:xfrm>
          <a:prstGeom prst="rect">
            <a:avLst/>
          </a:prstGeom>
          <a:noFill/>
          <a:ln/>
        </p:spPr>
        <p:txBody>
          <a:bodyPr wrap="square" lIns="0" tIns="0" rIns="0" bIns="0" rtlCol="0" anchor="ctr"/>
          <a:lstStyle/>
          <a:p>
            <a:pPr indent="0" marL="0">
              <a:buNone/>
            </a:pPr>
            <a:r>
              <a:rPr lang="en-US" sz="1200" dirty="0">
                <a:solidFill>
                  <a:srgbClr val="F0F4F8"/>
                </a:solidFill>
              </a:rPr>
              <a:t>def, parametros, return, scope, docstrings, PEP8</a:t>
            </a:r>
            <a:endParaRPr lang="en-US" sz="1200" dirty="0"/>
          </a:p>
        </p:txBody>
      </p:sp>
      <p:pic>
        <p:nvPicPr>
          <p:cNvPr id="7" name="Image 1" descr="preencoded.png">    </p:cNvPr>
          <p:cNvPicPr>
            <a:picLocks noChangeAspect="1"/>
          </p:cNvPicPr>
          <p:nvPr/>
        </p:nvPicPr>
        <p:blipFill>
          <a:blip r:embed="rId2"/>
          <a:stretch>
            <a:fillRect/>
          </a:stretch>
        </p:blipFill>
        <p:spPr>
          <a:xfrm>
            <a:off x="475488" y="1901952"/>
            <a:ext cx="219456" cy="219456"/>
          </a:xfrm>
          <a:prstGeom prst="rect">
            <a:avLst/>
          </a:prstGeom>
        </p:spPr>
      </p:pic>
      <p:sp>
        <p:nvSpPr>
          <p:cNvPr id="8" name="Text 4"/>
          <p:cNvSpPr/>
          <p:nvPr/>
        </p:nvSpPr>
        <p:spPr>
          <a:xfrm>
            <a:off x="786384" y="1883664"/>
            <a:ext cx="8046720" cy="274320"/>
          </a:xfrm>
          <a:prstGeom prst="rect">
            <a:avLst/>
          </a:prstGeom>
          <a:noFill/>
          <a:ln/>
        </p:spPr>
        <p:txBody>
          <a:bodyPr wrap="square" lIns="0" tIns="0" rIns="0" bIns="0" rtlCol="0" anchor="ctr"/>
          <a:lstStyle/>
          <a:p>
            <a:pPr indent="0" marL="0">
              <a:buNone/>
            </a:pPr>
            <a:r>
              <a:rPr lang="en-US" sz="1200" dirty="0">
                <a:solidFill>
                  <a:srgbClr val="F0F4F8"/>
                </a:solidFill>
              </a:rPr>
              <a:t>*args, **kwargs — argumentos variables</a:t>
            </a:r>
            <a:endParaRPr lang="en-US" sz="1200" dirty="0"/>
          </a:p>
        </p:txBody>
      </p:sp>
      <p:pic>
        <p:nvPicPr>
          <p:cNvPr id="9" name="Image 2" descr="preencoded.png">    </p:cNvPr>
          <p:cNvPicPr>
            <a:picLocks noChangeAspect="1"/>
          </p:cNvPicPr>
          <p:nvPr/>
        </p:nvPicPr>
        <p:blipFill>
          <a:blip r:embed="rId3"/>
          <a:stretch>
            <a:fillRect/>
          </a:stretch>
        </p:blipFill>
        <p:spPr>
          <a:xfrm>
            <a:off x="475488" y="2267712"/>
            <a:ext cx="219456" cy="219456"/>
          </a:xfrm>
          <a:prstGeom prst="rect">
            <a:avLst/>
          </a:prstGeom>
        </p:spPr>
      </p:pic>
      <p:sp>
        <p:nvSpPr>
          <p:cNvPr id="10" name="Text 5"/>
          <p:cNvSpPr/>
          <p:nvPr/>
        </p:nvSpPr>
        <p:spPr>
          <a:xfrm>
            <a:off x="786384" y="2249424"/>
            <a:ext cx="8046720" cy="274320"/>
          </a:xfrm>
          <a:prstGeom prst="rect">
            <a:avLst/>
          </a:prstGeom>
          <a:noFill/>
          <a:ln/>
        </p:spPr>
        <p:txBody>
          <a:bodyPr wrap="square" lIns="0" tIns="0" rIns="0" bIns="0" rtlCol="0" anchor="ctr"/>
          <a:lstStyle/>
          <a:p>
            <a:pPr indent="0" marL="0">
              <a:buNone/>
            </a:pPr>
            <a:r>
              <a:rPr lang="en-US" sz="1200" dirty="0">
                <a:solidFill>
                  <a:srgbClr val="F0F4F8"/>
                </a:solidFill>
              </a:rPr>
              <a:t>try/except — manejo de errores y datos sucios</a:t>
            </a:r>
            <a:endParaRPr lang="en-US" sz="1200" dirty="0"/>
          </a:p>
        </p:txBody>
      </p:sp>
      <p:pic>
        <p:nvPicPr>
          <p:cNvPr id="11" name="Image 3" descr="preencoded.png">    </p:cNvPr>
          <p:cNvPicPr>
            <a:picLocks noChangeAspect="1"/>
          </p:cNvPicPr>
          <p:nvPr/>
        </p:nvPicPr>
        <p:blipFill>
          <a:blip r:embed="rId4"/>
          <a:stretch>
            <a:fillRect/>
          </a:stretch>
        </p:blipFill>
        <p:spPr>
          <a:xfrm>
            <a:off x="475488" y="2633472"/>
            <a:ext cx="219456" cy="219456"/>
          </a:xfrm>
          <a:prstGeom prst="rect">
            <a:avLst/>
          </a:prstGeom>
        </p:spPr>
      </p:pic>
      <p:sp>
        <p:nvSpPr>
          <p:cNvPr id="12" name="Text 6"/>
          <p:cNvSpPr/>
          <p:nvPr/>
        </p:nvSpPr>
        <p:spPr>
          <a:xfrm>
            <a:off x="786384" y="2615184"/>
            <a:ext cx="8046720" cy="274320"/>
          </a:xfrm>
          <a:prstGeom prst="rect">
            <a:avLst/>
          </a:prstGeom>
          <a:noFill/>
          <a:ln/>
        </p:spPr>
        <p:txBody>
          <a:bodyPr wrap="square" lIns="0" tIns="0" rIns="0" bIns="0" rtlCol="0" anchor="ctr"/>
          <a:lstStyle/>
          <a:p>
            <a:pPr indent="0" marL="0">
              <a:buNone/>
            </a:pPr>
            <a:r>
              <a:rPr lang="en-US" sz="1200" dirty="0">
                <a:solidFill>
                  <a:srgbClr val="F0F4F8"/>
                </a:solidFill>
              </a:rPr>
              <a:t>Modulos estandar: math, datetime</a:t>
            </a:r>
            <a:endParaRPr lang="en-US" sz="1200" dirty="0"/>
          </a:p>
        </p:txBody>
      </p:sp>
      <p:pic>
        <p:nvPicPr>
          <p:cNvPr id="13" name="Image 4" descr="preencoded.png">    </p:cNvPr>
          <p:cNvPicPr>
            <a:picLocks noChangeAspect="1"/>
          </p:cNvPicPr>
          <p:nvPr/>
        </p:nvPicPr>
        <p:blipFill>
          <a:blip r:embed="rId5"/>
          <a:stretch>
            <a:fillRect/>
          </a:stretch>
        </p:blipFill>
        <p:spPr>
          <a:xfrm>
            <a:off x="475488" y="2999232"/>
            <a:ext cx="219456" cy="219456"/>
          </a:xfrm>
          <a:prstGeom prst="rect">
            <a:avLst/>
          </a:prstGeom>
        </p:spPr>
      </p:pic>
      <p:sp>
        <p:nvSpPr>
          <p:cNvPr id="14" name="Text 7"/>
          <p:cNvSpPr/>
          <p:nvPr/>
        </p:nvSpPr>
        <p:spPr>
          <a:xfrm>
            <a:off x="786384" y="2980944"/>
            <a:ext cx="8046720" cy="274320"/>
          </a:xfrm>
          <a:prstGeom prst="rect">
            <a:avLst/>
          </a:prstGeom>
          <a:noFill/>
          <a:ln/>
        </p:spPr>
        <p:txBody>
          <a:bodyPr wrap="square" lIns="0" tIns="0" rIns="0" bIns="0" rtlCol="0" anchor="ctr"/>
          <a:lstStyle/>
          <a:p>
            <a:pPr indent="0" marL="0">
              <a:buNone/>
            </a:pPr>
            <a:r>
              <a:rPr lang="en-US" sz="1200" dirty="0">
                <a:solidFill>
                  <a:srgbClr val="F0F4F8"/>
                </a:solidFill>
              </a:rPr>
              <a:t>Modulos propios: mi_modulo.py, tabla_tarifas.py</a:t>
            </a:r>
            <a:endParaRPr lang="en-US" sz="1200" dirty="0"/>
          </a:p>
        </p:txBody>
      </p:sp>
      <p:pic>
        <p:nvPicPr>
          <p:cNvPr id="15" name="Image 5" descr="preencoded.png">    </p:cNvPr>
          <p:cNvPicPr>
            <a:picLocks noChangeAspect="1"/>
          </p:cNvPicPr>
          <p:nvPr/>
        </p:nvPicPr>
        <p:blipFill>
          <a:blip r:embed="rId6"/>
          <a:stretch>
            <a:fillRect/>
          </a:stretch>
        </p:blipFill>
        <p:spPr>
          <a:xfrm>
            <a:off x="475488" y="3364992"/>
            <a:ext cx="219456" cy="219456"/>
          </a:xfrm>
          <a:prstGeom prst="rect">
            <a:avLst/>
          </a:prstGeom>
        </p:spPr>
      </p:pic>
      <p:sp>
        <p:nvSpPr>
          <p:cNvPr id="16" name="Text 8"/>
          <p:cNvSpPr/>
          <p:nvPr/>
        </p:nvSpPr>
        <p:spPr>
          <a:xfrm>
            <a:off x="786384" y="3346704"/>
            <a:ext cx="8046720" cy="274320"/>
          </a:xfrm>
          <a:prstGeom prst="rect">
            <a:avLst/>
          </a:prstGeom>
          <a:noFill/>
          <a:ln/>
        </p:spPr>
        <p:txBody>
          <a:bodyPr wrap="square" lIns="0" tIns="0" rIns="0" bIns="0" rtlCol="0" anchor="ctr"/>
          <a:lstStyle/>
          <a:p>
            <a:pPr indent="0" marL="0">
              <a:buNone/>
            </a:pPr>
            <a:r>
              <a:rPr lang="en-US" sz="1200" dirty="0">
                <a:solidFill>
                  <a:srgbClr val="F0F4F8"/>
                </a:solidFill>
              </a:rPr>
              <a:t>Scripts ejecutables: if __name__ == '__main__'</a:t>
            </a:r>
            <a:endParaRPr lang="en-US" sz="1200" dirty="0"/>
          </a:p>
        </p:txBody>
      </p:sp>
      <p:sp>
        <p:nvSpPr>
          <p:cNvPr id="17" name="Shape 9"/>
          <p:cNvSpPr/>
          <p:nvPr/>
        </p:nvSpPr>
        <p:spPr>
          <a:xfrm>
            <a:off x="347472" y="3767328"/>
            <a:ext cx="8449056" cy="402336"/>
          </a:xfrm>
          <a:prstGeom prst="rect">
            <a:avLst/>
          </a:prstGeom>
          <a:solidFill>
            <a:srgbClr val="1E8449"/>
          </a:solidFill>
          <a:ln w="12700">
            <a:solidFill>
              <a:srgbClr val="1E8449"/>
            </a:solidFill>
            <a:prstDash val="solid"/>
          </a:ln>
        </p:spPr>
      </p:sp>
      <p:sp>
        <p:nvSpPr>
          <p:cNvPr id="18" name="Text 10"/>
          <p:cNvSpPr/>
          <p:nvPr/>
        </p:nvSpPr>
        <p:spPr>
          <a:xfrm>
            <a:off x="475488" y="3767328"/>
            <a:ext cx="8229600" cy="402336"/>
          </a:xfrm>
          <a:prstGeom prst="rect">
            <a:avLst/>
          </a:prstGeom>
          <a:noFill/>
          <a:ln/>
        </p:spPr>
        <p:txBody>
          <a:bodyPr wrap="square" lIns="0" tIns="0" rIns="0" bIns="0" rtlCol="0" anchor="ctr"/>
          <a:lstStyle/>
          <a:p>
            <a:pPr algn="ctr" indent="0" marL="0">
              <a:buNone/>
            </a:pPr>
            <a:r>
              <a:rPr lang="en-US" sz="1400" b="1" dirty="0">
                <a:solidFill>
                  <a:srgbClr val="FFFFFF"/>
                </a:solidFill>
              </a:rPr>
              <a:t>Ahora empezamos T5 — Manejo de Datos con Pandas</a:t>
            </a:r>
            <a:endParaRPr lang="en-US" sz="1400" dirty="0"/>
          </a:p>
        </p:txBody>
      </p:sp>
      <p:sp>
        <p:nvSpPr>
          <p:cNvPr id="19" name="Shape 11"/>
          <p:cNvSpPr/>
          <p:nvPr/>
        </p:nvSpPr>
        <p:spPr>
          <a:xfrm>
            <a:off x="347472" y="4261104"/>
            <a:ext cx="4114800" cy="329184"/>
          </a:xfrm>
          <a:prstGeom prst="rect">
            <a:avLst/>
          </a:prstGeom>
          <a:solidFill>
            <a:srgbClr val="1A5276"/>
          </a:solidFill>
          <a:ln w="12700">
            <a:solidFill>
              <a:srgbClr val="1A5276"/>
            </a:solidFill>
            <a:prstDash val="solid"/>
          </a:ln>
        </p:spPr>
      </p:sp>
      <p:sp>
        <p:nvSpPr>
          <p:cNvPr id="20" name="Text 12"/>
          <p:cNvSpPr/>
          <p:nvPr/>
        </p:nvSpPr>
        <p:spPr>
          <a:xfrm>
            <a:off x="438912" y="4261104"/>
            <a:ext cx="3931920" cy="329184"/>
          </a:xfrm>
          <a:prstGeom prst="rect">
            <a:avLst/>
          </a:prstGeom>
          <a:noFill/>
          <a:ln/>
        </p:spPr>
        <p:txBody>
          <a:bodyPr wrap="square" lIns="0" tIns="0" rIns="0" bIns="0" rtlCol="0" anchor="ctr"/>
          <a:lstStyle/>
          <a:p>
            <a:pPr indent="0" marL="0">
              <a:buNone/>
            </a:pPr>
            <a:r>
              <a:rPr lang="en-US" sz="1300" b="1" dirty="0">
                <a:solidFill>
                  <a:srgbClr val="A8D8EA"/>
                </a:solidFill>
              </a:rPr>
              <a:t>Series</a:t>
            </a:r>
            <a:endParaRPr lang="en-US" sz="1300" dirty="0"/>
          </a:p>
        </p:txBody>
      </p:sp>
      <p:sp>
        <p:nvSpPr>
          <p:cNvPr id="21" name="Shape 13"/>
          <p:cNvSpPr/>
          <p:nvPr/>
        </p:nvSpPr>
        <p:spPr>
          <a:xfrm>
            <a:off x="347472" y="4590288"/>
            <a:ext cx="4114800" cy="438912"/>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22" name="Text 14"/>
          <p:cNvSpPr/>
          <p:nvPr/>
        </p:nvSpPr>
        <p:spPr>
          <a:xfrm>
            <a:off x="438912" y="4645152"/>
            <a:ext cx="3931920" cy="329184"/>
          </a:xfrm>
          <a:prstGeom prst="rect">
            <a:avLst/>
          </a:prstGeom>
          <a:noFill/>
          <a:ln/>
        </p:spPr>
        <p:txBody>
          <a:bodyPr wrap="square" lIns="0" tIns="0" rIns="0" bIns="0" rtlCol="0" anchor="ctr"/>
          <a:lstStyle/>
          <a:p>
            <a:pPr indent="0" marL="0">
              <a:buNone/>
            </a:pPr>
            <a:r>
              <a:rPr lang="en-US" sz="1000" dirty="0">
                <a:solidFill>
                  <a:srgbClr val="374151"/>
                </a:solidFill>
              </a:rPr>
              <a:t>Array unidimensional con etiquetas — como una columna de Excel</a:t>
            </a:r>
            <a:endParaRPr lang="en-US" sz="1000" dirty="0"/>
          </a:p>
        </p:txBody>
      </p:sp>
      <p:sp>
        <p:nvSpPr>
          <p:cNvPr id="23" name="Shape 15"/>
          <p:cNvSpPr/>
          <p:nvPr/>
        </p:nvSpPr>
        <p:spPr>
          <a:xfrm>
            <a:off x="4809744" y="4261104"/>
            <a:ext cx="4114800" cy="329184"/>
          </a:xfrm>
          <a:prstGeom prst="rect">
            <a:avLst/>
          </a:prstGeom>
          <a:solidFill>
            <a:srgbClr val="1A5276"/>
          </a:solidFill>
          <a:ln w="12700">
            <a:solidFill>
              <a:srgbClr val="1A5276"/>
            </a:solidFill>
            <a:prstDash val="solid"/>
          </a:ln>
        </p:spPr>
      </p:sp>
      <p:sp>
        <p:nvSpPr>
          <p:cNvPr id="24" name="Text 16"/>
          <p:cNvSpPr/>
          <p:nvPr/>
        </p:nvSpPr>
        <p:spPr>
          <a:xfrm>
            <a:off x="4901184" y="4261104"/>
            <a:ext cx="3931920" cy="329184"/>
          </a:xfrm>
          <a:prstGeom prst="rect">
            <a:avLst/>
          </a:prstGeom>
          <a:noFill/>
          <a:ln/>
        </p:spPr>
        <p:txBody>
          <a:bodyPr wrap="square" lIns="0" tIns="0" rIns="0" bIns="0" rtlCol="0" anchor="ctr"/>
          <a:lstStyle/>
          <a:p>
            <a:pPr indent="0" marL="0">
              <a:buNone/>
            </a:pPr>
            <a:r>
              <a:rPr lang="en-US" sz="1300" b="1" dirty="0">
                <a:solidFill>
                  <a:srgbClr val="A8D8EA"/>
                </a:solidFill>
              </a:rPr>
              <a:t>DataFrame</a:t>
            </a:r>
            <a:endParaRPr lang="en-US" sz="1300" dirty="0"/>
          </a:p>
        </p:txBody>
      </p:sp>
      <p:sp>
        <p:nvSpPr>
          <p:cNvPr id="25" name="Shape 17"/>
          <p:cNvSpPr/>
          <p:nvPr/>
        </p:nvSpPr>
        <p:spPr>
          <a:xfrm>
            <a:off x="4809744" y="4590288"/>
            <a:ext cx="4114800" cy="438912"/>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26" name="Text 18"/>
          <p:cNvSpPr/>
          <p:nvPr/>
        </p:nvSpPr>
        <p:spPr>
          <a:xfrm>
            <a:off x="4901184" y="4645152"/>
            <a:ext cx="3931920" cy="329184"/>
          </a:xfrm>
          <a:prstGeom prst="rect">
            <a:avLst/>
          </a:prstGeom>
          <a:noFill/>
          <a:ln/>
        </p:spPr>
        <p:txBody>
          <a:bodyPr wrap="square" lIns="0" tIns="0" rIns="0" bIns="0" rtlCol="0" anchor="ctr"/>
          <a:lstStyle/>
          <a:p>
            <a:pPr indent="0" marL="0">
              <a:buNone/>
            </a:pPr>
            <a:r>
              <a:rPr lang="en-US" sz="1000" dirty="0">
                <a:solidFill>
                  <a:srgbClr val="374151"/>
                </a:solidFill>
              </a:rPr>
              <a:t>Tabla bidimensional — como una hoja de Excel entera</a:t>
            </a:r>
            <a:endParaRPr lang="en-US" sz="1000" dirty="0"/>
          </a:p>
        </p:txBody>
      </p:sp>
      <p:sp>
        <p:nvSpPr>
          <p:cNvPr id="27" name="Shape 19"/>
          <p:cNvSpPr/>
          <p:nvPr/>
        </p:nvSpPr>
        <p:spPr>
          <a:xfrm>
            <a:off x="0" y="4892040"/>
            <a:ext cx="9144000" cy="251460"/>
          </a:xfrm>
          <a:prstGeom prst="rect">
            <a:avLst/>
          </a:prstGeom>
          <a:solidFill>
            <a:srgbClr val="071228"/>
          </a:solidFill>
          <a:ln w="12700">
            <a:solidFill>
              <a:srgbClr val="071228"/>
            </a:solidFill>
            <a:prstDash val="solid"/>
          </a:ln>
        </p:spPr>
      </p:sp>
      <p:sp>
        <p:nvSpPr>
          <p:cNvPr id="28" name="Text 20"/>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1E8449"/>
          </a:solidFill>
          <a:ln w="12700">
            <a:solidFill>
              <a:srgbClr val="1E8449"/>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T5 · PANDAS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0D1B3E"/>
                </a:solidFill>
              </a:rPr>
              <a:t>Pandas: La Herramienta Central del Diplomado</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La biblioteca que usaras en TODOS los modulos restantes</a:t>
            </a:r>
            <a:endParaRPr lang="en-US" sz="1200" dirty="0"/>
          </a:p>
        </p:txBody>
      </p:sp>
      <p:sp>
        <p:nvSpPr>
          <p:cNvPr id="7" name="Shape 5"/>
          <p:cNvSpPr/>
          <p:nvPr/>
        </p:nvSpPr>
        <p:spPr>
          <a:xfrm>
            <a:off x="347472" y="987552"/>
            <a:ext cx="8449056" cy="658368"/>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493776" y="1051560"/>
            <a:ext cx="8229600" cy="530352"/>
          </a:xfrm>
          <a:prstGeom prst="rect">
            <a:avLst/>
          </a:prstGeom>
          <a:noFill/>
          <a:ln/>
        </p:spPr>
        <p:txBody>
          <a:bodyPr wrap="square" lIns="0" tIns="0" rIns="0" bIns="0" rtlCol="0" anchor="ctr"/>
          <a:lstStyle/>
          <a:p>
            <a:pPr indent="0" marL="0">
              <a:buNone/>
            </a:pPr>
            <a:r>
              <a:rPr lang="en-US" sz="1100" dirty="0">
                <a:solidFill>
                  <a:srgbClr val="374151"/>
                </a:solidFill>
              </a:rPr>
              <a:t>Pandas es una biblioteca de Python para analisis y manipulacion de datos tabulares. Piensalo como Excel pero dentro de Python: puedes cargar tablas, filtrarlas, agruparlas, hacer calculos y graficarlas — todo con codigo reproducible y escalable a millones de filas.</a:t>
            </a:r>
            <a:endParaRPr lang="en-US" sz="1100" dirty="0"/>
          </a:p>
        </p:txBody>
      </p:sp>
      <p:sp>
        <p:nvSpPr>
          <p:cNvPr id="9" name="Shape 7"/>
          <p:cNvSpPr/>
          <p:nvPr/>
        </p:nvSpPr>
        <p:spPr>
          <a:xfrm>
            <a:off x="347472" y="1755648"/>
            <a:ext cx="2194560" cy="365760"/>
          </a:xfrm>
          <a:prstGeom prst="rect">
            <a:avLst/>
          </a:prstGeom>
          <a:solidFill>
            <a:srgbClr val="0D1B3E"/>
          </a:solidFill>
          <a:ln w="12700">
            <a:solidFill>
              <a:srgbClr val="D5E8EE"/>
            </a:solidFill>
            <a:prstDash val="solid"/>
          </a:ln>
        </p:spPr>
      </p:sp>
      <p:sp>
        <p:nvSpPr>
          <p:cNvPr id="10" name="Text 8"/>
          <p:cNvSpPr/>
          <p:nvPr/>
        </p:nvSpPr>
        <p:spPr>
          <a:xfrm>
            <a:off x="420624" y="1755648"/>
            <a:ext cx="2103120" cy="365760"/>
          </a:xfrm>
          <a:prstGeom prst="rect">
            <a:avLst/>
          </a:prstGeom>
          <a:noFill/>
          <a:ln/>
        </p:spPr>
        <p:txBody>
          <a:bodyPr wrap="square" lIns="0" tIns="0" rIns="0" bIns="0" rtlCol="0" anchor="ctr"/>
          <a:lstStyle/>
          <a:p>
            <a:pPr algn="l" indent="0" marL="0">
              <a:buNone/>
            </a:pPr>
            <a:endParaRPr lang="en-US" sz="1000" dirty="0"/>
          </a:p>
        </p:txBody>
      </p:sp>
      <p:sp>
        <p:nvSpPr>
          <p:cNvPr id="11" name="Shape 9"/>
          <p:cNvSpPr/>
          <p:nvPr/>
        </p:nvSpPr>
        <p:spPr>
          <a:xfrm>
            <a:off x="2578608" y="1755648"/>
            <a:ext cx="1828800" cy="365760"/>
          </a:xfrm>
          <a:prstGeom prst="rect">
            <a:avLst/>
          </a:prstGeom>
          <a:solidFill>
            <a:srgbClr val="0D1B3E"/>
          </a:solidFill>
          <a:ln w="12700">
            <a:solidFill>
              <a:srgbClr val="D5E8EE"/>
            </a:solidFill>
            <a:prstDash val="solid"/>
          </a:ln>
        </p:spPr>
      </p:sp>
      <p:sp>
        <p:nvSpPr>
          <p:cNvPr id="12" name="Text 10"/>
          <p:cNvSpPr/>
          <p:nvPr/>
        </p:nvSpPr>
        <p:spPr>
          <a:xfrm>
            <a:off x="2651760" y="1755648"/>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rPr>
              <a:t>Excel</a:t>
            </a:r>
            <a:endParaRPr lang="en-US" sz="1000" dirty="0"/>
          </a:p>
        </p:txBody>
      </p:sp>
      <p:sp>
        <p:nvSpPr>
          <p:cNvPr id="13" name="Shape 11"/>
          <p:cNvSpPr/>
          <p:nvPr/>
        </p:nvSpPr>
        <p:spPr>
          <a:xfrm>
            <a:off x="4443984" y="1755648"/>
            <a:ext cx="4133088" cy="365760"/>
          </a:xfrm>
          <a:prstGeom prst="rect">
            <a:avLst/>
          </a:prstGeom>
          <a:solidFill>
            <a:srgbClr val="0D1B3E"/>
          </a:solidFill>
          <a:ln w="12700">
            <a:solidFill>
              <a:srgbClr val="D5E8EE"/>
            </a:solidFill>
            <a:prstDash val="solid"/>
          </a:ln>
        </p:spPr>
      </p:sp>
      <p:sp>
        <p:nvSpPr>
          <p:cNvPr id="14" name="Text 12"/>
          <p:cNvSpPr/>
          <p:nvPr/>
        </p:nvSpPr>
        <p:spPr>
          <a:xfrm>
            <a:off x="4517136" y="1755648"/>
            <a:ext cx="4041648" cy="365760"/>
          </a:xfrm>
          <a:prstGeom prst="rect">
            <a:avLst/>
          </a:prstGeom>
          <a:noFill/>
          <a:ln/>
        </p:spPr>
        <p:txBody>
          <a:bodyPr wrap="square" lIns="0" tIns="0" rIns="0" bIns="0" rtlCol="0" anchor="ctr"/>
          <a:lstStyle/>
          <a:p>
            <a:pPr algn="ctr" indent="0" marL="0">
              <a:buNone/>
            </a:pPr>
            <a:r>
              <a:rPr lang="en-US" sz="1000" b="1" dirty="0">
                <a:solidFill>
                  <a:srgbClr val="FFFFFF"/>
                </a:solidFill>
              </a:rPr>
              <a:t>Pandas</a:t>
            </a:r>
            <a:endParaRPr lang="en-US" sz="1000" dirty="0"/>
          </a:p>
        </p:txBody>
      </p:sp>
      <p:sp>
        <p:nvSpPr>
          <p:cNvPr id="15" name="Shape 13"/>
          <p:cNvSpPr/>
          <p:nvPr/>
        </p:nvSpPr>
        <p:spPr>
          <a:xfrm>
            <a:off x="347472" y="2139696"/>
            <a:ext cx="2194560" cy="365760"/>
          </a:xfrm>
          <a:prstGeom prst="rect">
            <a:avLst/>
          </a:prstGeom>
          <a:solidFill>
            <a:srgbClr val="FFFFFF"/>
          </a:solidFill>
          <a:ln w="12700">
            <a:solidFill>
              <a:srgbClr val="D5E8EE"/>
            </a:solidFill>
            <a:prstDash val="solid"/>
          </a:ln>
        </p:spPr>
      </p:sp>
      <p:sp>
        <p:nvSpPr>
          <p:cNvPr id="16" name="Text 14"/>
          <p:cNvSpPr/>
          <p:nvPr/>
        </p:nvSpPr>
        <p:spPr>
          <a:xfrm>
            <a:off x="420624" y="2139696"/>
            <a:ext cx="2103120" cy="365760"/>
          </a:xfrm>
          <a:prstGeom prst="rect">
            <a:avLst/>
          </a:prstGeom>
          <a:noFill/>
          <a:ln/>
        </p:spPr>
        <p:txBody>
          <a:bodyPr wrap="square" lIns="0" tIns="0" rIns="0" bIns="0" rtlCol="0" anchor="ctr"/>
          <a:lstStyle/>
          <a:p>
            <a:pPr algn="l" indent="0" marL="0">
              <a:buNone/>
            </a:pPr>
            <a:r>
              <a:rPr lang="en-US" sz="1000" dirty="0">
                <a:solidFill>
                  <a:srgbClr val="374151"/>
                </a:solidFill>
              </a:rPr>
              <a:t>Filas maximas</a:t>
            </a:r>
            <a:endParaRPr lang="en-US" sz="1000" dirty="0"/>
          </a:p>
        </p:txBody>
      </p:sp>
      <p:sp>
        <p:nvSpPr>
          <p:cNvPr id="17" name="Shape 15"/>
          <p:cNvSpPr/>
          <p:nvPr/>
        </p:nvSpPr>
        <p:spPr>
          <a:xfrm>
            <a:off x="2578608" y="2139696"/>
            <a:ext cx="1828800" cy="365760"/>
          </a:xfrm>
          <a:prstGeom prst="rect">
            <a:avLst/>
          </a:prstGeom>
          <a:solidFill>
            <a:srgbClr val="FFFFFF"/>
          </a:solidFill>
          <a:ln w="12700">
            <a:solidFill>
              <a:srgbClr val="D5E8EE"/>
            </a:solidFill>
            <a:prstDash val="solid"/>
          </a:ln>
        </p:spPr>
      </p:sp>
      <p:sp>
        <p:nvSpPr>
          <p:cNvPr id="18" name="Text 16"/>
          <p:cNvSpPr/>
          <p:nvPr/>
        </p:nvSpPr>
        <p:spPr>
          <a:xfrm>
            <a:off x="2651760" y="2139696"/>
            <a:ext cx="1737360" cy="365760"/>
          </a:xfrm>
          <a:prstGeom prst="rect">
            <a:avLst/>
          </a:prstGeom>
          <a:noFill/>
          <a:ln/>
        </p:spPr>
        <p:txBody>
          <a:bodyPr wrap="square" lIns="0" tIns="0" rIns="0" bIns="0" rtlCol="0" anchor="ctr"/>
          <a:lstStyle/>
          <a:p>
            <a:pPr algn="ctr" indent="0" marL="0">
              <a:buNone/>
            </a:pPr>
            <a:r>
              <a:rPr lang="en-US" sz="1000" dirty="0">
                <a:solidFill>
                  <a:srgbClr val="374151"/>
                </a:solidFill>
              </a:rPr>
              <a:t>~1 millon</a:t>
            </a:r>
            <a:endParaRPr lang="en-US" sz="1000" dirty="0"/>
          </a:p>
        </p:txBody>
      </p:sp>
      <p:sp>
        <p:nvSpPr>
          <p:cNvPr id="19" name="Shape 17"/>
          <p:cNvSpPr/>
          <p:nvPr/>
        </p:nvSpPr>
        <p:spPr>
          <a:xfrm>
            <a:off x="4443984" y="2139696"/>
            <a:ext cx="4133088" cy="365760"/>
          </a:xfrm>
          <a:prstGeom prst="rect">
            <a:avLst/>
          </a:prstGeom>
          <a:solidFill>
            <a:srgbClr val="FFFFFF"/>
          </a:solidFill>
          <a:ln w="12700">
            <a:solidFill>
              <a:srgbClr val="D5E8EE"/>
            </a:solidFill>
            <a:prstDash val="solid"/>
          </a:ln>
        </p:spPr>
      </p:sp>
      <p:sp>
        <p:nvSpPr>
          <p:cNvPr id="20" name="Text 18"/>
          <p:cNvSpPr/>
          <p:nvPr/>
        </p:nvSpPr>
        <p:spPr>
          <a:xfrm>
            <a:off x="4517136" y="2139696"/>
            <a:ext cx="4041648" cy="365760"/>
          </a:xfrm>
          <a:prstGeom prst="rect">
            <a:avLst/>
          </a:prstGeom>
          <a:noFill/>
          <a:ln/>
        </p:spPr>
        <p:txBody>
          <a:bodyPr wrap="square" lIns="0" tIns="0" rIns="0" bIns="0" rtlCol="0" anchor="ctr"/>
          <a:lstStyle/>
          <a:p>
            <a:pPr algn="ctr" indent="0" marL="0">
              <a:buNone/>
            </a:pPr>
            <a:r>
              <a:rPr lang="en-US" sz="1000" b="1" dirty="0">
                <a:solidFill>
                  <a:srgbClr val="1E8449"/>
                </a:solidFill>
              </a:rPr>
              <a:t>Sin limite practico</a:t>
            </a:r>
            <a:endParaRPr lang="en-US" sz="1000" dirty="0"/>
          </a:p>
        </p:txBody>
      </p:sp>
      <p:sp>
        <p:nvSpPr>
          <p:cNvPr id="21" name="Shape 19"/>
          <p:cNvSpPr/>
          <p:nvPr/>
        </p:nvSpPr>
        <p:spPr>
          <a:xfrm>
            <a:off x="347472" y="2523744"/>
            <a:ext cx="2194560" cy="365760"/>
          </a:xfrm>
          <a:prstGeom prst="rect">
            <a:avLst/>
          </a:prstGeom>
          <a:solidFill>
            <a:srgbClr val="F0F4F8"/>
          </a:solidFill>
          <a:ln w="12700">
            <a:solidFill>
              <a:srgbClr val="D5E8EE"/>
            </a:solidFill>
            <a:prstDash val="solid"/>
          </a:ln>
        </p:spPr>
      </p:sp>
      <p:sp>
        <p:nvSpPr>
          <p:cNvPr id="22" name="Text 20"/>
          <p:cNvSpPr/>
          <p:nvPr/>
        </p:nvSpPr>
        <p:spPr>
          <a:xfrm>
            <a:off x="420624" y="2523744"/>
            <a:ext cx="2103120" cy="365760"/>
          </a:xfrm>
          <a:prstGeom prst="rect">
            <a:avLst/>
          </a:prstGeom>
          <a:noFill/>
          <a:ln/>
        </p:spPr>
        <p:txBody>
          <a:bodyPr wrap="square" lIns="0" tIns="0" rIns="0" bIns="0" rtlCol="0" anchor="ctr"/>
          <a:lstStyle/>
          <a:p>
            <a:pPr algn="l" indent="0" marL="0">
              <a:buNone/>
            </a:pPr>
            <a:r>
              <a:rPr lang="en-US" sz="1000" dirty="0">
                <a:solidFill>
                  <a:srgbClr val="374151"/>
                </a:solidFill>
              </a:rPr>
              <a:t>Reproducible</a:t>
            </a:r>
            <a:endParaRPr lang="en-US" sz="1000" dirty="0"/>
          </a:p>
        </p:txBody>
      </p:sp>
      <p:sp>
        <p:nvSpPr>
          <p:cNvPr id="23" name="Shape 21"/>
          <p:cNvSpPr/>
          <p:nvPr/>
        </p:nvSpPr>
        <p:spPr>
          <a:xfrm>
            <a:off x="2578608" y="2523744"/>
            <a:ext cx="1828800" cy="365760"/>
          </a:xfrm>
          <a:prstGeom prst="rect">
            <a:avLst/>
          </a:prstGeom>
          <a:solidFill>
            <a:srgbClr val="F0F4F8"/>
          </a:solidFill>
          <a:ln w="12700">
            <a:solidFill>
              <a:srgbClr val="D5E8EE"/>
            </a:solidFill>
            <a:prstDash val="solid"/>
          </a:ln>
        </p:spPr>
      </p:sp>
      <p:sp>
        <p:nvSpPr>
          <p:cNvPr id="24" name="Text 22"/>
          <p:cNvSpPr/>
          <p:nvPr/>
        </p:nvSpPr>
        <p:spPr>
          <a:xfrm>
            <a:off x="2651760" y="2523744"/>
            <a:ext cx="1737360" cy="365760"/>
          </a:xfrm>
          <a:prstGeom prst="rect">
            <a:avLst/>
          </a:prstGeom>
          <a:noFill/>
          <a:ln/>
        </p:spPr>
        <p:txBody>
          <a:bodyPr wrap="square" lIns="0" tIns="0" rIns="0" bIns="0" rtlCol="0" anchor="ctr"/>
          <a:lstStyle/>
          <a:p>
            <a:pPr algn="ctr" indent="0" marL="0">
              <a:buNone/>
            </a:pPr>
            <a:r>
              <a:rPr lang="en-US" sz="1000" dirty="0">
                <a:solidFill>
                  <a:srgbClr val="374151"/>
                </a:solidFill>
              </a:rPr>
              <a:t>No</a:t>
            </a:r>
            <a:endParaRPr lang="en-US" sz="1000" dirty="0"/>
          </a:p>
        </p:txBody>
      </p:sp>
      <p:sp>
        <p:nvSpPr>
          <p:cNvPr id="25" name="Shape 23"/>
          <p:cNvSpPr/>
          <p:nvPr/>
        </p:nvSpPr>
        <p:spPr>
          <a:xfrm>
            <a:off x="4443984" y="2523744"/>
            <a:ext cx="4133088" cy="365760"/>
          </a:xfrm>
          <a:prstGeom prst="rect">
            <a:avLst/>
          </a:prstGeom>
          <a:solidFill>
            <a:srgbClr val="F0F4F8"/>
          </a:solidFill>
          <a:ln w="12700">
            <a:solidFill>
              <a:srgbClr val="D5E8EE"/>
            </a:solidFill>
            <a:prstDash val="solid"/>
          </a:ln>
        </p:spPr>
      </p:sp>
      <p:sp>
        <p:nvSpPr>
          <p:cNvPr id="26" name="Text 24"/>
          <p:cNvSpPr/>
          <p:nvPr/>
        </p:nvSpPr>
        <p:spPr>
          <a:xfrm>
            <a:off x="4517136" y="2523744"/>
            <a:ext cx="4041648" cy="365760"/>
          </a:xfrm>
          <a:prstGeom prst="rect">
            <a:avLst/>
          </a:prstGeom>
          <a:noFill/>
          <a:ln/>
        </p:spPr>
        <p:txBody>
          <a:bodyPr wrap="square" lIns="0" tIns="0" rIns="0" bIns="0" rtlCol="0" anchor="ctr"/>
          <a:lstStyle/>
          <a:p>
            <a:pPr algn="ctr" indent="0" marL="0">
              <a:buNone/>
            </a:pPr>
            <a:r>
              <a:rPr lang="en-US" sz="1000" b="1" dirty="0">
                <a:solidFill>
                  <a:srgbClr val="1E8449"/>
                </a:solidFill>
              </a:rPr>
              <a:t>Si (codigo)</a:t>
            </a:r>
            <a:endParaRPr lang="en-US" sz="1000" dirty="0"/>
          </a:p>
        </p:txBody>
      </p:sp>
      <p:sp>
        <p:nvSpPr>
          <p:cNvPr id="27" name="Shape 25"/>
          <p:cNvSpPr/>
          <p:nvPr/>
        </p:nvSpPr>
        <p:spPr>
          <a:xfrm>
            <a:off x="347472" y="2907792"/>
            <a:ext cx="2194560" cy="365760"/>
          </a:xfrm>
          <a:prstGeom prst="rect">
            <a:avLst/>
          </a:prstGeom>
          <a:solidFill>
            <a:srgbClr val="FFFFFF"/>
          </a:solidFill>
          <a:ln w="12700">
            <a:solidFill>
              <a:srgbClr val="D5E8EE"/>
            </a:solidFill>
            <a:prstDash val="solid"/>
          </a:ln>
        </p:spPr>
      </p:sp>
      <p:sp>
        <p:nvSpPr>
          <p:cNvPr id="28" name="Text 26"/>
          <p:cNvSpPr/>
          <p:nvPr/>
        </p:nvSpPr>
        <p:spPr>
          <a:xfrm>
            <a:off x="420624" y="2907792"/>
            <a:ext cx="2103120" cy="365760"/>
          </a:xfrm>
          <a:prstGeom prst="rect">
            <a:avLst/>
          </a:prstGeom>
          <a:noFill/>
          <a:ln/>
        </p:spPr>
        <p:txBody>
          <a:bodyPr wrap="square" lIns="0" tIns="0" rIns="0" bIns="0" rtlCol="0" anchor="ctr"/>
          <a:lstStyle/>
          <a:p>
            <a:pPr algn="l" indent="0" marL="0">
              <a:buNone/>
            </a:pPr>
            <a:r>
              <a:rPr lang="en-US" sz="1000" dirty="0">
                <a:solidFill>
                  <a:srgbClr val="374151"/>
                </a:solidFill>
              </a:rPr>
              <a:t>Automatizable</a:t>
            </a:r>
            <a:endParaRPr lang="en-US" sz="1000" dirty="0"/>
          </a:p>
        </p:txBody>
      </p:sp>
      <p:sp>
        <p:nvSpPr>
          <p:cNvPr id="29" name="Shape 27"/>
          <p:cNvSpPr/>
          <p:nvPr/>
        </p:nvSpPr>
        <p:spPr>
          <a:xfrm>
            <a:off x="2578608" y="2907792"/>
            <a:ext cx="1828800" cy="365760"/>
          </a:xfrm>
          <a:prstGeom prst="rect">
            <a:avLst/>
          </a:prstGeom>
          <a:solidFill>
            <a:srgbClr val="FFFFFF"/>
          </a:solidFill>
          <a:ln w="12700">
            <a:solidFill>
              <a:srgbClr val="D5E8EE"/>
            </a:solidFill>
            <a:prstDash val="solid"/>
          </a:ln>
        </p:spPr>
      </p:sp>
      <p:sp>
        <p:nvSpPr>
          <p:cNvPr id="30" name="Text 28"/>
          <p:cNvSpPr/>
          <p:nvPr/>
        </p:nvSpPr>
        <p:spPr>
          <a:xfrm>
            <a:off x="2651760" y="2907792"/>
            <a:ext cx="1737360" cy="365760"/>
          </a:xfrm>
          <a:prstGeom prst="rect">
            <a:avLst/>
          </a:prstGeom>
          <a:noFill/>
          <a:ln/>
        </p:spPr>
        <p:txBody>
          <a:bodyPr wrap="square" lIns="0" tIns="0" rIns="0" bIns="0" rtlCol="0" anchor="ctr"/>
          <a:lstStyle/>
          <a:p>
            <a:pPr algn="ctr" indent="0" marL="0">
              <a:buNone/>
            </a:pPr>
            <a:r>
              <a:rPr lang="en-US" sz="1000" dirty="0">
                <a:solidFill>
                  <a:srgbClr val="374151"/>
                </a:solidFill>
              </a:rPr>
              <a:t>Limitado</a:t>
            </a:r>
            <a:endParaRPr lang="en-US" sz="1000" dirty="0"/>
          </a:p>
        </p:txBody>
      </p:sp>
      <p:sp>
        <p:nvSpPr>
          <p:cNvPr id="31" name="Shape 29"/>
          <p:cNvSpPr/>
          <p:nvPr/>
        </p:nvSpPr>
        <p:spPr>
          <a:xfrm>
            <a:off x="4443984" y="2907792"/>
            <a:ext cx="4133088" cy="365760"/>
          </a:xfrm>
          <a:prstGeom prst="rect">
            <a:avLst/>
          </a:prstGeom>
          <a:solidFill>
            <a:srgbClr val="FFFFFF"/>
          </a:solidFill>
          <a:ln w="12700">
            <a:solidFill>
              <a:srgbClr val="D5E8EE"/>
            </a:solidFill>
            <a:prstDash val="solid"/>
          </a:ln>
        </p:spPr>
      </p:sp>
      <p:sp>
        <p:nvSpPr>
          <p:cNvPr id="32" name="Text 30"/>
          <p:cNvSpPr/>
          <p:nvPr/>
        </p:nvSpPr>
        <p:spPr>
          <a:xfrm>
            <a:off x="4517136" y="2907792"/>
            <a:ext cx="4041648" cy="365760"/>
          </a:xfrm>
          <a:prstGeom prst="rect">
            <a:avLst/>
          </a:prstGeom>
          <a:noFill/>
          <a:ln/>
        </p:spPr>
        <p:txBody>
          <a:bodyPr wrap="square" lIns="0" tIns="0" rIns="0" bIns="0" rtlCol="0" anchor="ctr"/>
          <a:lstStyle/>
          <a:p>
            <a:pPr algn="ctr" indent="0" marL="0">
              <a:buNone/>
            </a:pPr>
            <a:r>
              <a:rPr lang="en-US" sz="1000" b="1" dirty="0">
                <a:solidFill>
                  <a:srgbClr val="1E8449"/>
                </a:solidFill>
              </a:rPr>
              <a:t>Totalmente</a:t>
            </a:r>
            <a:endParaRPr lang="en-US" sz="1000" dirty="0"/>
          </a:p>
        </p:txBody>
      </p:sp>
      <p:sp>
        <p:nvSpPr>
          <p:cNvPr id="33" name="Shape 31"/>
          <p:cNvSpPr/>
          <p:nvPr/>
        </p:nvSpPr>
        <p:spPr>
          <a:xfrm>
            <a:off x="347472" y="3291840"/>
            <a:ext cx="2194560" cy="365760"/>
          </a:xfrm>
          <a:prstGeom prst="rect">
            <a:avLst/>
          </a:prstGeom>
          <a:solidFill>
            <a:srgbClr val="F0F4F8"/>
          </a:solidFill>
          <a:ln w="12700">
            <a:solidFill>
              <a:srgbClr val="D5E8EE"/>
            </a:solidFill>
            <a:prstDash val="solid"/>
          </a:ln>
        </p:spPr>
      </p:sp>
      <p:sp>
        <p:nvSpPr>
          <p:cNvPr id="34" name="Text 32"/>
          <p:cNvSpPr/>
          <p:nvPr/>
        </p:nvSpPr>
        <p:spPr>
          <a:xfrm>
            <a:off x="420624" y="3291840"/>
            <a:ext cx="2103120" cy="365760"/>
          </a:xfrm>
          <a:prstGeom prst="rect">
            <a:avLst/>
          </a:prstGeom>
          <a:noFill/>
          <a:ln/>
        </p:spPr>
        <p:txBody>
          <a:bodyPr wrap="square" lIns="0" tIns="0" rIns="0" bIns="0" rtlCol="0" anchor="ctr"/>
          <a:lstStyle/>
          <a:p>
            <a:pPr algn="l" indent="0" marL="0">
              <a:buNone/>
            </a:pPr>
            <a:r>
              <a:rPr lang="en-US" sz="1000" dirty="0">
                <a:solidFill>
                  <a:srgbClr val="374151"/>
                </a:solidFill>
              </a:rPr>
              <a:t>Fechas y texto</a:t>
            </a:r>
            <a:endParaRPr lang="en-US" sz="1000" dirty="0"/>
          </a:p>
        </p:txBody>
      </p:sp>
      <p:sp>
        <p:nvSpPr>
          <p:cNvPr id="35" name="Shape 33"/>
          <p:cNvSpPr/>
          <p:nvPr/>
        </p:nvSpPr>
        <p:spPr>
          <a:xfrm>
            <a:off x="2578608" y="3291840"/>
            <a:ext cx="1828800" cy="365760"/>
          </a:xfrm>
          <a:prstGeom prst="rect">
            <a:avLst/>
          </a:prstGeom>
          <a:solidFill>
            <a:srgbClr val="F0F4F8"/>
          </a:solidFill>
          <a:ln w="12700">
            <a:solidFill>
              <a:srgbClr val="D5E8EE"/>
            </a:solidFill>
            <a:prstDash val="solid"/>
          </a:ln>
        </p:spPr>
      </p:sp>
      <p:sp>
        <p:nvSpPr>
          <p:cNvPr id="36" name="Text 34"/>
          <p:cNvSpPr/>
          <p:nvPr/>
        </p:nvSpPr>
        <p:spPr>
          <a:xfrm>
            <a:off x="2651760" y="3291840"/>
            <a:ext cx="1737360" cy="365760"/>
          </a:xfrm>
          <a:prstGeom prst="rect">
            <a:avLst/>
          </a:prstGeom>
          <a:noFill/>
          <a:ln/>
        </p:spPr>
        <p:txBody>
          <a:bodyPr wrap="square" lIns="0" tIns="0" rIns="0" bIns="0" rtlCol="0" anchor="ctr"/>
          <a:lstStyle/>
          <a:p>
            <a:pPr algn="ctr" indent="0" marL="0">
              <a:buNone/>
            </a:pPr>
            <a:r>
              <a:rPr lang="en-US" sz="1000" dirty="0">
                <a:solidFill>
                  <a:srgbClr val="374151"/>
                </a:solidFill>
              </a:rPr>
              <a:t>Complicado</a:t>
            </a:r>
            <a:endParaRPr lang="en-US" sz="1000" dirty="0"/>
          </a:p>
        </p:txBody>
      </p:sp>
      <p:sp>
        <p:nvSpPr>
          <p:cNvPr id="37" name="Shape 35"/>
          <p:cNvSpPr/>
          <p:nvPr/>
        </p:nvSpPr>
        <p:spPr>
          <a:xfrm>
            <a:off x="4443984" y="3291840"/>
            <a:ext cx="4133088" cy="365760"/>
          </a:xfrm>
          <a:prstGeom prst="rect">
            <a:avLst/>
          </a:prstGeom>
          <a:solidFill>
            <a:srgbClr val="F0F4F8"/>
          </a:solidFill>
          <a:ln w="12700">
            <a:solidFill>
              <a:srgbClr val="D5E8EE"/>
            </a:solidFill>
            <a:prstDash val="solid"/>
          </a:ln>
        </p:spPr>
      </p:sp>
      <p:sp>
        <p:nvSpPr>
          <p:cNvPr id="38" name="Text 36"/>
          <p:cNvSpPr/>
          <p:nvPr/>
        </p:nvSpPr>
        <p:spPr>
          <a:xfrm>
            <a:off x="4517136" y="3291840"/>
            <a:ext cx="4041648" cy="365760"/>
          </a:xfrm>
          <a:prstGeom prst="rect">
            <a:avLst/>
          </a:prstGeom>
          <a:noFill/>
          <a:ln/>
        </p:spPr>
        <p:txBody>
          <a:bodyPr wrap="square" lIns="0" tIns="0" rIns="0" bIns="0" rtlCol="0" anchor="ctr"/>
          <a:lstStyle/>
          <a:p>
            <a:pPr algn="ctr" indent="0" marL="0">
              <a:buNone/>
            </a:pPr>
            <a:r>
              <a:rPr lang="en-US" sz="1000" b="1" dirty="0">
                <a:solidFill>
                  <a:srgbClr val="1E8449"/>
                </a:solidFill>
              </a:rPr>
              <a:t>Simple</a:t>
            </a:r>
            <a:endParaRPr lang="en-US" sz="1000" dirty="0"/>
          </a:p>
        </p:txBody>
      </p:sp>
      <p:sp>
        <p:nvSpPr>
          <p:cNvPr id="39" name="Shape 37"/>
          <p:cNvSpPr/>
          <p:nvPr/>
        </p:nvSpPr>
        <p:spPr>
          <a:xfrm>
            <a:off x="347472" y="3675888"/>
            <a:ext cx="2194560" cy="365760"/>
          </a:xfrm>
          <a:prstGeom prst="rect">
            <a:avLst/>
          </a:prstGeom>
          <a:solidFill>
            <a:srgbClr val="FFFFFF"/>
          </a:solidFill>
          <a:ln w="12700">
            <a:solidFill>
              <a:srgbClr val="D5E8EE"/>
            </a:solidFill>
            <a:prstDash val="solid"/>
          </a:ln>
        </p:spPr>
      </p:sp>
      <p:sp>
        <p:nvSpPr>
          <p:cNvPr id="40" name="Text 38"/>
          <p:cNvSpPr/>
          <p:nvPr/>
        </p:nvSpPr>
        <p:spPr>
          <a:xfrm>
            <a:off x="420624" y="3675888"/>
            <a:ext cx="2103120" cy="365760"/>
          </a:xfrm>
          <a:prstGeom prst="rect">
            <a:avLst/>
          </a:prstGeom>
          <a:noFill/>
          <a:ln/>
        </p:spPr>
        <p:txBody>
          <a:bodyPr wrap="square" lIns="0" tIns="0" rIns="0" bIns="0" rtlCol="0" anchor="ctr"/>
          <a:lstStyle/>
          <a:p>
            <a:pPr algn="l" indent="0" marL="0">
              <a:buNone/>
            </a:pPr>
            <a:r>
              <a:rPr lang="en-US" sz="1000" dirty="0">
                <a:solidFill>
                  <a:srgbClr val="374151"/>
                </a:solidFill>
              </a:rPr>
              <a:t>Unir tablas</a:t>
            </a:r>
            <a:endParaRPr lang="en-US" sz="1000" dirty="0"/>
          </a:p>
        </p:txBody>
      </p:sp>
      <p:sp>
        <p:nvSpPr>
          <p:cNvPr id="41" name="Shape 39"/>
          <p:cNvSpPr/>
          <p:nvPr/>
        </p:nvSpPr>
        <p:spPr>
          <a:xfrm>
            <a:off x="2578608" y="3675888"/>
            <a:ext cx="1828800" cy="365760"/>
          </a:xfrm>
          <a:prstGeom prst="rect">
            <a:avLst/>
          </a:prstGeom>
          <a:solidFill>
            <a:srgbClr val="FFFFFF"/>
          </a:solidFill>
          <a:ln w="12700">
            <a:solidFill>
              <a:srgbClr val="D5E8EE"/>
            </a:solidFill>
            <a:prstDash val="solid"/>
          </a:ln>
        </p:spPr>
      </p:sp>
      <p:sp>
        <p:nvSpPr>
          <p:cNvPr id="42" name="Text 40"/>
          <p:cNvSpPr/>
          <p:nvPr/>
        </p:nvSpPr>
        <p:spPr>
          <a:xfrm>
            <a:off x="2651760" y="3675888"/>
            <a:ext cx="1737360" cy="365760"/>
          </a:xfrm>
          <a:prstGeom prst="rect">
            <a:avLst/>
          </a:prstGeom>
          <a:noFill/>
          <a:ln/>
        </p:spPr>
        <p:txBody>
          <a:bodyPr wrap="square" lIns="0" tIns="0" rIns="0" bIns="0" rtlCol="0" anchor="ctr"/>
          <a:lstStyle/>
          <a:p>
            <a:pPr algn="ctr" indent="0" marL="0">
              <a:buNone/>
            </a:pPr>
            <a:r>
              <a:rPr lang="en-US" sz="1000" dirty="0">
                <a:solidFill>
                  <a:srgbClr val="374151"/>
                </a:solidFill>
              </a:rPr>
              <a:t>BUSCARV</a:t>
            </a:r>
            <a:endParaRPr lang="en-US" sz="1000" dirty="0"/>
          </a:p>
        </p:txBody>
      </p:sp>
      <p:sp>
        <p:nvSpPr>
          <p:cNvPr id="43" name="Shape 41"/>
          <p:cNvSpPr/>
          <p:nvPr/>
        </p:nvSpPr>
        <p:spPr>
          <a:xfrm>
            <a:off x="4443984" y="3675888"/>
            <a:ext cx="4133088" cy="365760"/>
          </a:xfrm>
          <a:prstGeom prst="rect">
            <a:avLst/>
          </a:prstGeom>
          <a:solidFill>
            <a:srgbClr val="FFFFFF"/>
          </a:solidFill>
          <a:ln w="12700">
            <a:solidFill>
              <a:srgbClr val="D5E8EE"/>
            </a:solidFill>
            <a:prstDash val="solid"/>
          </a:ln>
        </p:spPr>
      </p:sp>
      <p:sp>
        <p:nvSpPr>
          <p:cNvPr id="44" name="Text 42"/>
          <p:cNvSpPr/>
          <p:nvPr/>
        </p:nvSpPr>
        <p:spPr>
          <a:xfrm>
            <a:off x="4517136" y="3675888"/>
            <a:ext cx="4041648" cy="365760"/>
          </a:xfrm>
          <a:prstGeom prst="rect">
            <a:avLst/>
          </a:prstGeom>
          <a:noFill/>
          <a:ln/>
        </p:spPr>
        <p:txBody>
          <a:bodyPr wrap="square" lIns="0" tIns="0" rIns="0" bIns="0" rtlCol="0" anchor="ctr"/>
          <a:lstStyle/>
          <a:p>
            <a:pPr algn="ctr" indent="0" marL="0">
              <a:buNone/>
            </a:pPr>
            <a:r>
              <a:rPr lang="en-US" sz="1000" b="1" dirty="0">
                <a:solidFill>
                  <a:srgbClr val="1E8449"/>
                </a:solidFill>
              </a:rPr>
              <a:t>.merge()</a:t>
            </a:r>
            <a:endParaRPr lang="en-US" sz="1000" dirty="0"/>
          </a:p>
        </p:txBody>
      </p:sp>
      <p:sp>
        <p:nvSpPr>
          <p:cNvPr id="45" name="Shape 43"/>
          <p:cNvSpPr/>
          <p:nvPr/>
        </p:nvSpPr>
        <p:spPr>
          <a:xfrm>
            <a:off x="347472" y="4059936"/>
            <a:ext cx="2194560" cy="365760"/>
          </a:xfrm>
          <a:prstGeom prst="rect">
            <a:avLst/>
          </a:prstGeom>
          <a:solidFill>
            <a:srgbClr val="F0F4F8"/>
          </a:solidFill>
          <a:ln w="12700">
            <a:solidFill>
              <a:srgbClr val="D5E8EE"/>
            </a:solidFill>
            <a:prstDash val="solid"/>
          </a:ln>
        </p:spPr>
      </p:sp>
      <p:sp>
        <p:nvSpPr>
          <p:cNvPr id="46" name="Text 44"/>
          <p:cNvSpPr/>
          <p:nvPr/>
        </p:nvSpPr>
        <p:spPr>
          <a:xfrm>
            <a:off x="420624" y="4059936"/>
            <a:ext cx="2103120" cy="365760"/>
          </a:xfrm>
          <a:prstGeom prst="rect">
            <a:avLst/>
          </a:prstGeom>
          <a:noFill/>
          <a:ln/>
        </p:spPr>
        <p:txBody>
          <a:bodyPr wrap="square" lIns="0" tIns="0" rIns="0" bIns="0" rtlCol="0" anchor="ctr"/>
          <a:lstStyle/>
          <a:p>
            <a:pPr algn="l" indent="0" marL="0">
              <a:buNone/>
            </a:pPr>
            <a:r>
              <a:rPr lang="en-US" sz="1000" dirty="0">
                <a:solidFill>
                  <a:srgbClr val="374151"/>
                </a:solidFill>
              </a:rPr>
              <a:t>Groupby / pivot</a:t>
            </a:r>
            <a:endParaRPr lang="en-US" sz="1000" dirty="0"/>
          </a:p>
        </p:txBody>
      </p:sp>
      <p:sp>
        <p:nvSpPr>
          <p:cNvPr id="47" name="Shape 45"/>
          <p:cNvSpPr/>
          <p:nvPr/>
        </p:nvSpPr>
        <p:spPr>
          <a:xfrm>
            <a:off x="2578608" y="4059936"/>
            <a:ext cx="1828800" cy="365760"/>
          </a:xfrm>
          <a:prstGeom prst="rect">
            <a:avLst/>
          </a:prstGeom>
          <a:solidFill>
            <a:srgbClr val="F0F4F8"/>
          </a:solidFill>
          <a:ln w="12700">
            <a:solidFill>
              <a:srgbClr val="D5E8EE"/>
            </a:solidFill>
            <a:prstDash val="solid"/>
          </a:ln>
        </p:spPr>
      </p:sp>
      <p:sp>
        <p:nvSpPr>
          <p:cNvPr id="48" name="Text 46"/>
          <p:cNvSpPr/>
          <p:nvPr/>
        </p:nvSpPr>
        <p:spPr>
          <a:xfrm>
            <a:off x="2651760" y="4059936"/>
            <a:ext cx="1737360" cy="365760"/>
          </a:xfrm>
          <a:prstGeom prst="rect">
            <a:avLst/>
          </a:prstGeom>
          <a:noFill/>
          <a:ln/>
        </p:spPr>
        <p:txBody>
          <a:bodyPr wrap="square" lIns="0" tIns="0" rIns="0" bIns="0" rtlCol="0" anchor="ctr"/>
          <a:lstStyle/>
          <a:p>
            <a:pPr algn="ctr" indent="0" marL="0">
              <a:buNone/>
            </a:pPr>
            <a:r>
              <a:rPr lang="en-US" sz="1000" dirty="0">
                <a:solidFill>
                  <a:srgbClr val="374151"/>
                </a:solidFill>
              </a:rPr>
              <a:t>Tabla dinamica</a:t>
            </a:r>
            <a:endParaRPr lang="en-US" sz="1000" dirty="0"/>
          </a:p>
        </p:txBody>
      </p:sp>
      <p:sp>
        <p:nvSpPr>
          <p:cNvPr id="49" name="Shape 47"/>
          <p:cNvSpPr/>
          <p:nvPr/>
        </p:nvSpPr>
        <p:spPr>
          <a:xfrm>
            <a:off x="4443984" y="4059936"/>
            <a:ext cx="4133088" cy="365760"/>
          </a:xfrm>
          <a:prstGeom prst="rect">
            <a:avLst/>
          </a:prstGeom>
          <a:solidFill>
            <a:srgbClr val="F0F4F8"/>
          </a:solidFill>
          <a:ln w="12700">
            <a:solidFill>
              <a:srgbClr val="D5E8EE"/>
            </a:solidFill>
            <a:prstDash val="solid"/>
          </a:ln>
        </p:spPr>
      </p:sp>
      <p:sp>
        <p:nvSpPr>
          <p:cNvPr id="50" name="Text 48"/>
          <p:cNvSpPr/>
          <p:nvPr/>
        </p:nvSpPr>
        <p:spPr>
          <a:xfrm>
            <a:off x="4517136" y="4059936"/>
            <a:ext cx="4041648" cy="365760"/>
          </a:xfrm>
          <a:prstGeom prst="rect">
            <a:avLst/>
          </a:prstGeom>
          <a:noFill/>
          <a:ln/>
        </p:spPr>
        <p:txBody>
          <a:bodyPr wrap="square" lIns="0" tIns="0" rIns="0" bIns="0" rtlCol="0" anchor="ctr"/>
          <a:lstStyle/>
          <a:p>
            <a:pPr algn="ctr" indent="0" marL="0">
              <a:buNone/>
            </a:pPr>
            <a:r>
              <a:rPr lang="en-US" sz="1000" b="1" dirty="0">
                <a:solidFill>
                  <a:srgbClr val="1E8449"/>
                </a:solidFill>
              </a:rPr>
              <a:t>1 linea de codigo</a:t>
            </a:r>
            <a:endParaRPr lang="en-US" sz="1000" dirty="0"/>
          </a:p>
        </p:txBody>
      </p:sp>
      <p:sp>
        <p:nvSpPr>
          <p:cNvPr id="51" name="Shape 49"/>
          <p:cNvSpPr/>
          <p:nvPr/>
        </p:nvSpPr>
        <p:spPr>
          <a:xfrm>
            <a:off x="347472" y="4443984"/>
            <a:ext cx="2194560" cy="365760"/>
          </a:xfrm>
          <a:prstGeom prst="rect">
            <a:avLst/>
          </a:prstGeom>
          <a:solidFill>
            <a:srgbClr val="FFFFFF"/>
          </a:solidFill>
          <a:ln w="12700">
            <a:solidFill>
              <a:srgbClr val="D5E8EE"/>
            </a:solidFill>
            <a:prstDash val="solid"/>
          </a:ln>
        </p:spPr>
      </p:sp>
      <p:sp>
        <p:nvSpPr>
          <p:cNvPr id="52" name="Text 50"/>
          <p:cNvSpPr/>
          <p:nvPr/>
        </p:nvSpPr>
        <p:spPr>
          <a:xfrm>
            <a:off x="420624" y="4443984"/>
            <a:ext cx="2103120" cy="365760"/>
          </a:xfrm>
          <a:prstGeom prst="rect">
            <a:avLst/>
          </a:prstGeom>
          <a:noFill/>
          <a:ln/>
        </p:spPr>
        <p:txBody>
          <a:bodyPr wrap="square" lIns="0" tIns="0" rIns="0" bIns="0" rtlCol="0" anchor="ctr"/>
          <a:lstStyle/>
          <a:p>
            <a:pPr algn="l" indent="0" marL="0">
              <a:buNone/>
            </a:pPr>
            <a:r>
              <a:rPr lang="en-US" sz="1000" dirty="0">
                <a:solidFill>
                  <a:srgbClr val="374151"/>
                </a:solidFill>
              </a:rPr>
              <a:t>Graficas</a:t>
            </a:r>
            <a:endParaRPr lang="en-US" sz="1000" dirty="0"/>
          </a:p>
        </p:txBody>
      </p:sp>
      <p:sp>
        <p:nvSpPr>
          <p:cNvPr id="53" name="Shape 51"/>
          <p:cNvSpPr/>
          <p:nvPr/>
        </p:nvSpPr>
        <p:spPr>
          <a:xfrm>
            <a:off x="2578608" y="4443984"/>
            <a:ext cx="1828800" cy="365760"/>
          </a:xfrm>
          <a:prstGeom prst="rect">
            <a:avLst/>
          </a:prstGeom>
          <a:solidFill>
            <a:srgbClr val="FFFFFF"/>
          </a:solidFill>
          <a:ln w="12700">
            <a:solidFill>
              <a:srgbClr val="D5E8EE"/>
            </a:solidFill>
            <a:prstDash val="solid"/>
          </a:ln>
        </p:spPr>
      </p:sp>
      <p:sp>
        <p:nvSpPr>
          <p:cNvPr id="54" name="Text 52"/>
          <p:cNvSpPr/>
          <p:nvPr/>
        </p:nvSpPr>
        <p:spPr>
          <a:xfrm>
            <a:off x="2651760" y="4443984"/>
            <a:ext cx="1737360" cy="365760"/>
          </a:xfrm>
          <a:prstGeom prst="rect">
            <a:avLst/>
          </a:prstGeom>
          <a:noFill/>
          <a:ln/>
        </p:spPr>
        <p:txBody>
          <a:bodyPr wrap="square" lIns="0" tIns="0" rIns="0" bIns="0" rtlCol="0" anchor="ctr"/>
          <a:lstStyle/>
          <a:p>
            <a:pPr algn="ctr" indent="0" marL="0">
              <a:buNone/>
            </a:pPr>
            <a:r>
              <a:rPr lang="en-US" sz="1000" dirty="0">
                <a:solidFill>
                  <a:srgbClr val="374151"/>
                </a:solidFill>
              </a:rPr>
              <a:t>Manual</a:t>
            </a:r>
            <a:endParaRPr lang="en-US" sz="1000" dirty="0"/>
          </a:p>
        </p:txBody>
      </p:sp>
      <p:sp>
        <p:nvSpPr>
          <p:cNvPr id="55" name="Shape 53"/>
          <p:cNvSpPr/>
          <p:nvPr/>
        </p:nvSpPr>
        <p:spPr>
          <a:xfrm>
            <a:off x="4443984" y="4443984"/>
            <a:ext cx="4133088" cy="365760"/>
          </a:xfrm>
          <a:prstGeom prst="rect">
            <a:avLst/>
          </a:prstGeom>
          <a:solidFill>
            <a:srgbClr val="FFFFFF"/>
          </a:solidFill>
          <a:ln w="12700">
            <a:solidFill>
              <a:srgbClr val="D5E8EE"/>
            </a:solidFill>
            <a:prstDash val="solid"/>
          </a:ln>
        </p:spPr>
      </p:sp>
      <p:sp>
        <p:nvSpPr>
          <p:cNvPr id="56" name="Text 54"/>
          <p:cNvSpPr/>
          <p:nvPr/>
        </p:nvSpPr>
        <p:spPr>
          <a:xfrm>
            <a:off x="4517136" y="4443984"/>
            <a:ext cx="4041648" cy="365760"/>
          </a:xfrm>
          <a:prstGeom prst="rect">
            <a:avLst/>
          </a:prstGeom>
          <a:noFill/>
          <a:ln/>
        </p:spPr>
        <p:txBody>
          <a:bodyPr wrap="square" lIns="0" tIns="0" rIns="0" bIns="0" rtlCol="0" anchor="ctr"/>
          <a:lstStyle/>
          <a:p>
            <a:pPr algn="ctr" indent="0" marL="0">
              <a:buNone/>
            </a:pPr>
            <a:r>
              <a:rPr lang="en-US" sz="1000" b="1" dirty="0">
                <a:solidFill>
                  <a:srgbClr val="1E8449"/>
                </a:solidFill>
              </a:rPr>
              <a:t>Automatico con matplotlib</a:t>
            </a:r>
            <a:endParaRPr lang="en-US" sz="1000" dirty="0"/>
          </a:p>
        </p:txBody>
      </p:sp>
      <p:sp>
        <p:nvSpPr>
          <p:cNvPr id="57" name="Shape 55"/>
          <p:cNvSpPr/>
          <p:nvPr/>
        </p:nvSpPr>
        <p:spPr>
          <a:xfrm>
            <a:off x="347472" y="4572000"/>
            <a:ext cx="8449056" cy="402336"/>
          </a:xfrm>
          <a:prstGeom prst="rect">
            <a:avLst/>
          </a:prstGeom>
          <a:solidFill>
            <a:srgbClr val="0D7A8A">
              <a:alpha val="12000"/>
            </a:srgbClr>
          </a:solidFill>
          <a:ln w="12700">
            <a:solidFill>
              <a:srgbClr val="0D7A8A"/>
            </a:solidFill>
            <a:prstDash val="solid"/>
          </a:ln>
        </p:spPr>
      </p:sp>
      <p:pic>
        <p:nvPicPr>
          <p:cNvPr id="58" name="Image 0" descr="preencoded.png">    </p:cNvPr>
          <p:cNvPicPr>
            <a:picLocks noChangeAspect="1"/>
          </p:cNvPicPr>
          <p:nvPr/>
        </p:nvPicPr>
        <p:blipFill>
          <a:blip r:embed="rId1"/>
          <a:stretch>
            <a:fillRect/>
          </a:stretch>
        </p:blipFill>
        <p:spPr>
          <a:xfrm>
            <a:off x="475488" y="4663440"/>
            <a:ext cx="237744" cy="237744"/>
          </a:xfrm>
          <a:prstGeom prst="rect">
            <a:avLst/>
          </a:prstGeom>
        </p:spPr>
      </p:pic>
      <p:sp>
        <p:nvSpPr>
          <p:cNvPr id="59" name="Text 56"/>
          <p:cNvSpPr/>
          <p:nvPr/>
        </p:nvSpPr>
        <p:spPr>
          <a:xfrm>
            <a:off x="804672" y="4608576"/>
            <a:ext cx="7863840" cy="329184"/>
          </a:xfrm>
          <a:prstGeom prst="rect">
            <a:avLst/>
          </a:prstGeom>
          <a:noFill/>
          <a:ln/>
        </p:spPr>
        <p:txBody>
          <a:bodyPr wrap="square" lIns="0" tIns="0" rIns="0" bIns="0" rtlCol="0" anchor="ctr"/>
          <a:lstStyle/>
          <a:p>
            <a:pPr indent="0" marL="0">
              <a:buNone/>
            </a:pPr>
            <a:r>
              <a:rPr lang="en-US" sz="950" dirty="0">
                <a:solidFill>
                  <a:srgbClr val="0D1B3E"/>
                </a:solidFill>
              </a:rPr>
              <a:t>Pandas se usa en actuaria para: analizar carteras de polizas, limpiar datos de siniestros, calcular indicadores, preparar datos para modelos de ML y generar reportes automaticos.</a:t>
            </a:r>
            <a:endParaRPr lang="en-US" sz="950" dirty="0"/>
          </a:p>
        </p:txBody>
      </p:sp>
      <p:sp>
        <p:nvSpPr>
          <p:cNvPr id="60" name="Shape 57"/>
          <p:cNvSpPr/>
          <p:nvPr/>
        </p:nvSpPr>
        <p:spPr>
          <a:xfrm>
            <a:off x="0" y="4892040"/>
            <a:ext cx="9144000" cy="251460"/>
          </a:xfrm>
          <a:prstGeom prst="rect">
            <a:avLst/>
          </a:prstGeom>
          <a:solidFill>
            <a:srgbClr val="071228"/>
          </a:solidFill>
          <a:ln w="12700">
            <a:solidFill>
              <a:srgbClr val="071228"/>
            </a:solidFill>
            <a:prstDash val="solid"/>
          </a:ln>
        </p:spPr>
      </p:sp>
      <p:sp>
        <p:nvSpPr>
          <p:cNvPr id="61" name="Text 58"/>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62" name="Text 59"/>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T5 · Pandas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0D7A8A"/>
          </a:solidFill>
          <a:ln w="12700">
            <a:solidFill>
              <a:srgbClr val="0D7A8A"/>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T5 · PANDAS · SERIES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FFFFFF"/>
                </a:solidFill>
              </a:rPr>
              <a:t>Series: La Columna de Pandas</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Una Serie es un array unidimensional con etiquetas — como una columna de Excel</a:t>
            </a:r>
            <a:endParaRPr lang="en-US" sz="1200" dirty="0"/>
          </a:p>
        </p:txBody>
      </p:sp>
      <p:sp>
        <p:nvSpPr>
          <p:cNvPr id="7" name="Shape 5"/>
          <p:cNvSpPr/>
          <p:nvPr/>
        </p:nvSpPr>
        <p:spPr>
          <a:xfrm>
            <a:off x="347472" y="987552"/>
            <a:ext cx="4315968" cy="4041648"/>
          </a:xfrm>
          <a:prstGeom prst="rect">
            <a:avLst/>
          </a:prstGeom>
          <a:solidFill>
            <a:srgbClr val="071228"/>
          </a:solidFill>
          <a:ln w="12700">
            <a:solidFill>
              <a:srgbClr val="0D7A8A"/>
            </a:solidFill>
            <a:prstDash val="solid"/>
          </a:ln>
        </p:spPr>
      </p:sp>
      <p:sp>
        <p:nvSpPr>
          <p:cNvPr id="8" name="Shape 6"/>
          <p:cNvSpPr/>
          <p:nvPr/>
        </p:nvSpPr>
        <p:spPr>
          <a:xfrm>
            <a:off x="347472" y="987552"/>
            <a:ext cx="4315968" cy="292608"/>
          </a:xfrm>
          <a:prstGeom prst="rect">
            <a:avLst/>
          </a:prstGeom>
          <a:solidFill>
            <a:srgbClr val="1E8449"/>
          </a:solidFill>
          <a:ln w="12700">
            <a:solidFill>
              <a:srgbClr val="1E8449"/>
            </a:solidFill>
            <a:prstDash val="solid"/>
          </a:ln>
        </p:spPr>
      </p:sp>
      <p:sp>
        <p:nvSpPr>
          <p:cNvPr id="9" name="Text 7"/>
          <p:cNvSpPr/>
          <p:nvPr/>
        </p:nvSpPr>
        <p:spPr>
          <a:xfrm>
            <a:off x="475488" y="987552"/>
            <a:ext cx="4187952" cy="292608"/>
          </a:xfrm>
          <a:prstGeom prst="rect">
            <a:avLst/>
          </a:prstGeom>
          <a:noFill/>
          <a:ln/>
        </p:spPr>
        <p:txBody>
          <a:bodyPr wrap="square" lIns="0" tIns="0" rIns="0" bIns="0" rtlCol="0" anchor="ctr"/>
          <a:lstStyle/>
          <a:p>
            <a:pPr indent="0" marL="0">
              <a:buNone/>
            </a:pPr>
            <a:r>
              <a:rPr lang="en-US" sz="950" b="1" dirty="0">
                <a:solidFill>
                  <a:srgbClr val="FFFFFF"/>
                </a:solidFill>
              </a:rPr>
              <a:t>Crear y acceder a una Serie</a:t>
            </a:r>
            <a:endParaRPr lang="en-US" sz="950" dirty="0"/>
          </a:p>
        </p:txBody>
      </p:sp>
      <p:sp>
        <p:nvSpPr>
          <p:cNvPr id="10" name="Text 8"/>
          <p:cNvSpPr/>
          <p:nvPr/>
        </p:nvSpPr>
        <p:spPr>
          <a:xfrm>
            <a:off x="475488" y="133502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import pandas as pd</a:t>
            </a:r>
            <a:endParaRPr lang="en-US" sz="850" dirty="0"/>
          </a:p>
        </p:txBody>
      </p:sp>
      <p:sp>
        <p:nvSpPr>
          <p:cNvPr id="11" name="Text 9"/>
          <p:cNvSpPr/>
          <p:nvPr/>
        </p:nvSpPr>
        <p:spPr>
          <a:xfrm>
            <a:off x="475488" y="148590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2" name="Text 10"/>
          <p:cNvSpPr/>
          <p:nvPr/>
        </p:nvSpPr>
        <p:spPr>
          <a:xfrm>
            <a:off x="475488" y="1636776"/>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Desde una lista</a:t>
            </a:r>
            <a:endParaRPr lang="en-US" sz="850" dirty="0"/>
          </a:p>
        </p:txBody>
      </p:sp>
      <p:sp>
        <p:nvSpPr>
          <p:cNvPr id="13" name="Text 11"/>
          <p:cNvSpPr/>
          <p:nvPr/>
        </p:nvSpPr>
        <p:spPr>
          <a:xfrm>
            <a:off x="475488" y="178765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 = pd.Series([2400, 6200, 1900, 14500, 3200])</a:t>
            </a:r>
            <a:endParaRPr lang="en-US" sz="850" dirty="0"/>
          </a:p>
        </p:txBody>
      </p:sp>
      <p:sp>
        <p:nvSpPr>
          <p:cNvPr id="14" name="Text 12"/>
          <p:cNvSpPr/>
          <p:nvPr/>
        </p:nvSpPr>
        <p:spPr>
          <a:xfrm>
            <a:off x="475488" y="193852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print(primas)</a:t>
            </a:r>
            <a:endParaRPr lang="en-US" sz="850" dirty="0"/>
          </a:p>
        </p:txBody>
      </p:sp>
      <p:sp>
        <p:nvSpPr>
          <p:cNvPr id="15" name="Text 13"/>
          <p:cNvSpPr/>
          <p:nvPr/>
        </p:nvSpPr>
        <p:spPr>
          <a:xfrm>
            <a:off x="475488" y="2089404"/>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0     2400</a:t>
            </a:r>
            <a:endParaRPr lang="en-US" sz="850" dirty="0"/>
          </a:p>
        </p:txBody>
      </p:sp>
      <p:sp>
        <p:nvSpPr>
          <p:cNvPr id="16" name="Text 14"/>
          <p:cNvSpPr/>
          <p:nvPr/>
        </p:nvSpPr>
        <p:spPr>
          <a:xfrm>
            <a:off x="475488" y="2240280"/>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1     6200</a:t>
            </a:r>
            <a:endParaRPr lang="en-US" sz="850" dirty="0"/>
          </a:p>
        </p:txBody>
      </p:sp>
      <p:sp>
        <p:nvSpPr>
          <p:cNvPr id="17" name="Text 15"/>
          <p:cNvSpPr/>
          <p:nvPr/>
        </p:nvSpPr>
        <p:spPr>
          <a:xfrm>
            <a:off x="475488" y="2391156"/>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2     1900</a:t>
            </a:r>
            <a:endParaRPr lang="en-US" sz="850" dirty="0"/>
          </a:p>
        </p:txBody>
      </p:sp>
      <p:sp>
        <p:nvSpPr>
          <p:cNvPr id="18" name="Text 16"/>
          <p:cNvSpPr/>
          <p:nvPr/>
        </p:nvSpPr>
        <p:spPr>
          <a:xfrm>
            <a:off x="475488" y="2542032"/>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3    14500</a:t>
            </a:r>
            <a:endParaRPr lang="en-US" sz="850" dirty="0"/>
          </a:p>
        </p:txBody>
      </p:sp>
      <p:sp>
        <p:nvSpPr>
          <p:cNvPr id="19" name="Text 17"/>
          <p:cNvSpPr/>
          <p:nvPr/>
        </p:nvSpPr>
        <p:spPr>
          <a:xfrm>
            <a:off x="475488" y="2692908"/>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4     3200</a:t>
            </a:r>
            <a:endParaRPr lang="en-US" sz="850" dirty="0"/>
          </a:p>
        </p:txBody>
      </p:sp>
      <p:sp>
        <p:nvSpPr>
          <p:cNvPr id="20" name="Text 18"/>
          <p:cNvSpPr/>
          <p:nvPr/>
        </p:nvSpPr>
        <p:spPr>
          <a:xfrm>
            <a:off x="475488" y="284378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1" name="Text 19"/>
          <p:cNvSpPr/>
          <p:nvPr/>
        </p:nvSpPr>
        <p:spPr>
          <a:xfrm>
            <a:off x="475488" y="2994660"/>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Con etiquetas personalizadas (index)</a:t>
            </a:r>
            <a:endParaRPr lang="en-US" sz="850" dirty="0"/>
          </a:p>
        </p:txBody>
      </p:sp>
      <p:sp>
        <p:nvSpPr>
          <p:cNvPr id="22" name="Text 20"/>
          <p:cNvSpPr/>
          <p:nvPr/>
        </p:nvSpPr>
        <p:spPr>
          <a:xfrm>
            <a:off x="475488" y="314553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 = pd.Series(</a:t>
            </a:r>
            <a:endParaRPr lang="en-US" sz="850" dirty="0"/>
          </a:p>
        </p:txBody>
      </p:sp>
      <p:sp>
        <p:nvSpPr>
          <p:cNvPr id="23" name="Text 21"/>
          <p:cNvSpPr/>
          <p:nvPr/>
        </p:nvSpPr>
        <p:spPr>
          <a:xfrm>
            <a:off x="475488" y="329641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[2400, 6200, 1900, 14500, 3200],</a:t>
            </a:r>
            <a:endParaRPr lang="en-US" sz="850" dirty="0"/>
          </a:p>
        </p:txBody>
      </p:sp>
      <p:sp>
        <p:nvSpPr>
          <p:cNvPr id="24" name="Text 22"/>
          <p:cNvSpPr/>
          <p:nvPr/>
        </p:nvSpPr>
        <p:spPr>
          <a:xfrm>
            <a:off x="475488" y="344728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index=['P01','P02','P03','P04','P05']</a:t>
            </a:r>
            <a:endParaRPr lang="en-US" sz="850" dirty="0"/>
          </a:p>
        </p:txBody>
      </p:sp>
      <p:sp>
        <p:nvSpPr>
          <p:cNvPr id="25" name="Text 23"/>
          <p:cNvSpPr/>
          <p:nvPr/>
        </p:nvSpPr>
        <p:spPr>
          <a:xfrm>
            <a:off x="475488" y="359816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26" name="Text 24"/>
          <p:cNvSpPr/>
          <p:nvPr/>
        </p:nvSpPr>
        <p:spPr>
          <a:xfrm>
            <a:off x="475488" y="374904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print(primas['P03'])  # 1900</a:t>
            </a:r>
            <a:endParaRPr lang="en-US" sz="850" dirty="0"/>
          </a:p>
        </p:txBody>
      </p:sp>
      <p:sp>
        <p:nvSpPr>
          <p:cNvPr id="27" name="Text 25"/>
          <p:cNvSpPr/>
          <p:nvPr/>
        </p:nvSpPr>
        <p:spPr>
          <a:xfrm>
            <a:off x="475488" y="389991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print(primas[0])      # 2400  (por posicion)</a:t>
            </a:r>
            <a:endParaRPr lang="en-US" sz="850" dirty="0"/>
          </a:p>
        </p:txBody>
      </p:sp>
      <p:sp>
        <p:nvSpPr>
          <p:cNvPr id="28" name="Text 26"/>
          <p:cNvSpPr/>
          <p:nvPr/>
        </p:nvSpPr>
        <p:spPr>
          <a:xfrm>
            <a:off x="475488" y="405079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9" name="Text 27"/>
          <p:cNvSpPr/>
          <p:nvPr/>
        </p:nvSpPr>
        <p:spPr>
          <a:xfrm>
            <a:off x="475488" y="4201668"/>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Desde un diccionario</a:t>
            </a:r>
            <a:endParaRPr lang="en-US" sz="850" dirty="0"/>
          </a:p>
        </p:txBody>
      </p:sp>
      <p:sp>
        <p:nvSpPr>
          <p:cNvPr id="30" name="Text 28"/>
          <p:cNvSpPr/>
          <p:nvPr/>
        </p:nvSpPr>
        <p:spPr>
          <a:xfrm>
            <a:off x="475488" y="435254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 = pd.Series({</a:t>
            </a:r>
            <a:endParaRPr lang="en-US" sz="850" dirty="0"/>
          </a:p>
        </p:txBody>
      </p:sp>
      <p:sp>
        <p:nvSpPr>
          <p:cNvPr id="31" name="Text 29"/>
          <p:cNvSpPr/>
          <p:nvPr/>
        </p:nvSpPr>
        <p:spPr>
          <a:xfrm>
            <a:off x="475488" y="450342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'Ana':2400, 'Luis':6200, 'Maria':1900</a:t>
            </a:r>
            <a:endParaRPr lang="en-US" sz="850" dirty="0"/>
          </a:p>
        </p:txBody>
      </p:sp>
      <p:sp>
        <p:nvSpPr>
          <p:cNvPr id="32" name="Text 30"/>
          <p:cNvSpPr/>
          <p:nvPr/>
        </p:nvSpPr>
        <p:spPr>
          <a:xfrm>
            <a:off x="475488" y="465429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33" name="Text 31"/>
          <p:cNvSpPr/>
          <p:nvPr/>
        </p:nvSpPr>
        <p:spPr>
          <a:xfrm>
            <a:off x="475488" y="480517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print(primas['Luis'])  # 6200</a:t>
            </a:r>
            <a:endParaRPr lang="en-US" sz="850" dirty="0"/>
          </a:p>
        </p:txBody>
      </p:sp>
      <p:sp>
        <p:nvSpPr>
          <p:cNvPr id="34" name="Shape 32"/>
          <p:cNvSpPr/>
          <p:nvPr/>
        </p:nvSpPr>
        <p:spPr>
          <a:xfrm>
            <a:off x="4828032" y="987552"/>
            <a:ext cx="3968496" cy="4041648"/>
          </a:xfrm>
          <a:prstGeom prst="rect">
            <a:avLst/>
          </a:prstGeom>
          <a:solidFill>
            <a:srgbClr val="071228"/>
          </a:solidFill>
          <a:ln w="12700">
            <a:solidFill>
              <a:srgbClr val="0D7A8A"/>
            </a:solidFill>
            <a:prstDash val="solid"/>
          </a:ln>
        </p:spPr>
      </p:sp>
      <p:sp>
        <p:nvSpPr>
          <p:cNvPr id="35" name="Shape 33"/>
          <p:cNvSpPr/>
          <p:nvPr/>
        </p:nvSpPr>
        <p:spPr>
          <a:xfrm>
            <a:off x="4828032" y="987552"/>
            <a:ext cx="3968496" cy="292608"/>
          </a:xfrm>
          <a:prstGeom prst="rect">
            <a:avLst/>
          </a:prstGeom>
          <a:solidFill>
            <a:srgbClr val="1A5276"/>
          </a:solidFill>
          <a:ln w="12700">
            <a:solidFill>
              <a:srgbClr val="1A5276"/>
            </a:solidFill>
            <a:prstDash val="solid"/>
          </a:ln>
        </p:spPr>
      </p:sp>
      <p:sp>
        <p:nvSpPr>
          <p:cNvPr id="36" name="Text 34"/>
          <p:cNvSpPr/>
          <p:nvPr/>
        </p:nvSpPr>
        <p:spPr>
          <a:xfrm>
            <a:off x="4956048" y="987552"/>
            <a:ext cx="3840480" cy="292608"/>
          </a:xfrm>
          <a:prstGeom prst="rect">
            <a:avLst/>
          </a:prstGeom>
          <a:noFill/>
          <a:ln/>
        </p:spPr>
        <p:txBody>
          <a:bodyPr wrap="square" lIns="0" tIns="0" rIns="0" bIns="0" rtlCol="0" anchor="ctr"/>
          <a:lstStyle/>
          <a:p>
            <a:pPr indent="0" marL="0">
              <a:buNone/>
            </a:pPr>
            <a:r>
              <a:rPr lang="en-US" sz="950" b="1" dirty="0">
                <a:solidFill>
                  <a:srgbClr val="FFFFFF"/>
                </a:solidFill>
              </a:rPr>
              <a:t>Operaciones sobre Series</a:t>
            </a:r>
            <a:endParaRPr lang="en-US" sz="950" dirty="0"/>
          </a:p>
        </p:txBody>
      </p:sp>
      <p:sp>
        <p:nvSpPr>
          <p:cNvPr id="37" name="Text 35"/>
          <p:cNvSpPr/>
          <p:nvPr/>
        </p:nvSpPr>
        <p:spPr>
          <a:xfrm>
            <a:off x="4956048" y="1335024"/>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 = pd.Series([2400,6200,1900,14500,3200])</a:t>
            </a:r>
            <a:endParaRPr lang="en-US" sz="850" dirty="0"/>
          </a:p>
        </p:txBody>
      </p:sp>
      <p:sp>
        <p:nvSpPr>
          <p:cNvPr id="38" name="Text 36"/>
          <p:cNvSpPr/>
          <p:nvPr/>
        </p:nvSpPr>
        <p:spPr>
          <a:xfrm>
            <a:off x="4956048" y="148590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9" name="Text 37"/>
          <p:cNvSpPr/>
          <p:nvPr/>
        </p:nvSpPr>
        <p:spPr>
          <a:xfrm>
            <a:off x="4956048" y="1636776"/>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Estadisticas</a:t>
            </a:r>
            <a:endParaRPr lang="en-US" sz="850" dirty="0"/>
          </a:p>
        </p:txBody>
      </p:sp>
      <p:sp>
        <p:nvSpPr>
          <p:cNvPr id="40" name="Text 38"/>
          <p:cNvSpPr/>
          <p:nvPr/>
        </p:nvSpPr>
        <p:spPr>
          <a:xfrm>
            <a:off x="4956048" y="178765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primas.sum()    # 28200</a:t>
            </a:r>
            <a:endParaRPr lang="en-US" sz="850" dirty="0"/>
          </a:p>
        </p:txBody>
      </p:sp>
      <p:sp>
        <p:nvSpPr>
          <p:cNvPr id="41" name="Text 39"/>
          <p:cNvSpPr/>
          <p:nvPr/>
        </p:nvSpPr>
        <p:spPr>
          <a:xfrm>
            <a:off x="4956048" y="193852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primas.mean()   # 5640.0</a:t>
            </a:r>
            <a:endParaRPr lang="en-US" sz="850" dirty="0"/>
          </a:p>
        </p:txBody>
      </p:sp>
      <p:sp>
        <p:nvSpPr>
          <p:cNvPr id="42" name="Text 40"/>
          <p:cNvSpPr/>
          <p:nvPr/>
        </p:nvSpPr>
        <p:spPr>
          <a:xfrm>
            <a:off x="4956048" y="2089404"/>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primas.max()    # 14500</a:t>
            </a:r>
            <a:endParaRPr lang="en-US" sz="850" dirty="0"/>
          </a:p>
        </p:txBody>
      </p:sp>
      <p:sp>
        <p:nvSpPr>
          <p:cNvPr id="43" name="Text 41"/>
          <p:cNvSpPr/>
          <p:nvPr/>
        </p:nvSpPr>
        <p:spPr>
          <a:xfrm>
            <a:off x="4956048" y="224028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primas.min()    # 1900</a:t>
            </a:r>
            <a:endParaRPr lang="en-US" sz="850" dirty="0"/>
          </a:p>
        </p:txBody>
      </p:sp>
      <p:sp>
        <p:nvSpPr>
          <p:cNvPr id="44" name="Text 42"/>
          <p:cNvSpPr/>
          <p:nvPr/>
        </p:nvSpPr>
        <p:spPr>
          <a:xfrm>
            <a:off x="4956048" y="239115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primas.std()    # 4741.7...</a:t>
            </a:r>
            <a:endParaRPr lang="en-US" sz="850" dirty="0"/>
          </a:p>
        </p:txBody>
      </p:sp>
      <p:sp>
        <p:nvSpPr>
          <p:cNvPr id="45" name="Text 43"/>
          <p:cNvSpPr/>
          <p:nvPr/>
        </p:nvSpPr>
        <p:spPr>
          <a:xfrm>
            <a:off x="4956048" y="254203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primas.describe()  # todo junto</a:t>
            </a:r>
            <a:endParaRPr lang="en-US" sz="850" dirty="0"/>
          </a:p>
        </p:txBody>
      </p:sp>
      <p:sp>
        <p:nvSpPr>
          <p:cNvPr id="46" name="Text 44"/>
          <p:cNvSpPr/>
          <p:nvPr/>
        </p:nvSpPr>
        <p:spPr>
          <a:xfrm>
            <a:off x="4956048" y="269290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7" name="Text 45"/>
          <p:cNvSpPr/>
          <p:nvPr/>
        </p:nvSpPr>
        <p:spPr>
          <a:xfrm>
            <a:off x="4956048" y="284378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Operaciones vectorizadas (sin for!)</a:t>
            </a:r>
            <a:endParaRPr lang="en-US" sz="850" dirty="0"/>
          </a:p>
        </p:txBody>
      </p:sp>
      <p:sp>
        <p:nvSpPr>
          <p:cNvPr id="48" name="Text 46"/>
          <p:cNvSpPr/>
          <p:nvPr/>
        </p:nvSpPr>
        <p:spPr>
          <a:xfrm>
            <a:off x="4956048" y="299466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 * 1.16       # IVA a todas</a:t>
            </a:r>
            <a:endParaRPr lang="en-US" sz="850" dirty="0"/>
          </a:p>
        </p:txBody>
      </p:sp>
      <p:sp>
        <p:nvSpPr>
          <p:cNvPr id="49" name="Text 47"/>
          <p:cNvSpPr/>
          <p:nvPr/>
        </p:nvSpPr>
        <p:spPr>
          <a:xfrm>
            <a:off x="4956048" y="314553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 / 12         # prima mensual</a:t>
            </a:r>
            <a:endParaRPr lang="en-US" sz="850" dirty="0"/>
          </a:p>
        </p:txBody>
      </p:sp>
      <p:sp>
        <p:nvSpPr>
          <p:cNvPr id="50" name="Text 48"/>
          <p:cNvSpPr/>
          <p:nvPr/>
        </p:nvSpPr>
        <p:spPr>
          <a:xfrm>
            <a:off x="4956048" y="329641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 &gt; 5000       # mascara booleana</a:t>
            </a:r>
            <a:endParaRPr lang="en-US" sz="850" dirty="0"/>
          </a:p>
        </p:txBody>
      </p:sp>
      <p:sp>
        <p:nvSpPr>
          <p:cNvPr id="51" name="Text 49"/>
          <p:cNvSpPr/>
          <p:nvPr/>
        </p:nvSpPr>
        <p:spPr>
          <a:xfrm>
            <a:off x="4956048" y="344728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2" name="Text 50"/>
          <p:cNvSpPr/>
          <p:nvPr/>
        </p:nvSpPr>
        <p:spPr>
          <a:xfrm>
            <a:off x="4956048" y="359816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Filtrar con mascara</a:t>
            </a:r>
            <a:endParaRPr lang="en-US" sz="850" dirty="0"/>
          </a:p>
        </p:txBody>
      </p:sp>
      <p:sp>
        <p:nvSpPr>
          <p:cNvPr id="53" name="Text 51"/>
          <p:cNvSpPr/>
          <p:nvPr/>
        </p:nvSpPr>
        <p:spPr>
          <a:xfrm>
            <a:off x="4956048" y="374904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primas[primas &gt; 5000]</a:t>
            </a:r>
            <a:endParaRPr lang="en-US" sz="850" dirty="0"/>
          </a:p>
        </p:txBody>
      </p:sp>
      <p:sp>
        <p:nvSpPr>
          <p:cNvPr id="54" name="Text 52"/>
          <p:cNvSpPr/>
          <p:nvPr/>
        </p:nvSpPr>
        <p:spPr>
          <a:xfrm>
            <a:off x="4956048" y="3899916"/>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1    6200</a:t>
            </a:r>
            <a:endParaRPr lang="en-US" sz="850" dirty="0"/>
          </a:p>
        </p:txBody>
      </p:sp>
      <p:sp>
        <p:nvSpPr>
          <p:cNvPr id="55" name="Text 53"/>
          <p:cNvSpPr/>
          <p:nvPr/>
        </p:nvSpPr>
        <p:spPr>
          <a:xfrm>
            <a:off x="4956048" y="4050792"/>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3    14500</a:t>
            </a:r>
            <a:endParaRPr lang="en-US" sz="850" dirty="0"/>
          </a:p>
        </p:txBody>
      </p:sp>
      <p:sp>
        <p:nvSpPr>
          <p:cNvPr id="56" name="Text 54"/>
          <p:cNvSpPr/>
          <p:nvPr/>
        </p:nvSpPr>
        <p:spPr>
          <a:xfrm>
            <a:off x="4956048" y="420166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7" name="Text 55"/>
          <p:cNvSpPr/>
          <p:nvPr/>
        </p:nvSpPr>
        <p:spPr>
          <a:xfrm>
            <a:off x="4956048" y="435254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Atributos utiles</a:t>
            </a:r>
            <a:endParaRPr lang="en-US" sz="850" dirty="0"/>
          </a:p>
        </p:txBody>
      </p:sp>
      <p:sp>
        <p:nvSpPr>
          <p:cNvPr id="58" name="Text 56"/>
          <p:cNvSpPr/>
          <p:nvPr/>
        </p:nvSpPr>
        <p:spPr>
          <a:xfrm>
            <a:off x="4956048" y="450342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primas.dtype    # int64</a:t>
            </a:r>
            <a:endParaRPr lang="en-US" sz="850" dirty="0"/>
          </a:p>
        </p:txBody>
      </p:sp>
      <p:sp>
        <p:nvSpPr>
          <p:cNvPr id="59" name="Text 57"/>
          <p:cNvSpPr/>
          <p:nvPr/>
        </p:nvSpPr>
        <p:spPr>
          <a:xfrm>
            <a:off x="4956048" y="465429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primas.shape    # (5,)</a:t>
            </a:r>
            <a:endParaRPr lang="en-US" sz="850" dirty="0"/>
          </a:p>
        </p:txBody>
      </p:sp>
      <p:sp>
        <p:nvSpPr>
          <p:cNvPr id="60" name="Text 58"/>
          <p:cNvSpPr/>
          <p:nvPr/>
        </p:nvSpPr>
        <p:spPr>
          <a:xfrm>
            <a:off x="4956048" y="480517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primas.values   # array([2400, 6200, ...])</a:t>
            </a:r>
            <a:endParaRPr lang="en-US" sz="850" dirty="0"/>
          </a:p>
        </p:txBody>
      </p:sp>
      <p:sp>
        <p:nvSpPr>
          <p:cNvPr id="61" name="Text 59"/>
          <p:cNvSpPr/>
          <p:nvPr/>
        </p:nvSpPr>
        <p:spPr>
          <a:xfrm>
            <a:off x="4956048" y="495604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primas.index    # RangeIndex(start=0,stop=5)</a:t>
            </a:r>
            <a:endParaRPr lang="en-US" sz="850" dirty="0"/>
          </a:p>
        </p:txBody>
      </p:sp>
      <p:sp>
        <p:nvSpPr>
          <p:cNvPr id="62" name="Shape 60"/>
          <p:cNvSpPr/>
          <p:nvPr/>
        </p:nvSpPr>
        <p:spPr>
          <a:xfrm>
            <a:off x="0" y="4892040"/>
            <a:ext cx="9144000" cy="251460"/>
          </a:xfrm>
          <a:prstGeom prst="rect">
            <a:avLst/>
          </a:prstGeom>
          <a:solidFill>
            <a:srgbClr val="071228"/>
          </a:solidFill>
          <a:ln w="12700">
            <a:solidFill>
              <a:srgbClr val="071228"/>
            </a:solidFill>
            <a:prstDash val="solid"/>
          </a:ln>
        </p:spPr>
      </p:sp>
      <p:sp>
        <p:nvSpPr>
          <p:cNvPr id="63" name="Text 61"/>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64" name="Text 62"/>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T5 · Series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1E8449"/>
          </a:solidFill>
          <a:ln w="12700">
            <a:solidFill>
              <a:srgbClr val="1E8449"/>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T5 · PANDAS · DATAFRAME</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0D1B3E"/>
                </a:solidFill>
              </a:rPr>
              <a:t>DataFrame: La Tabla de Pandas</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Una tabla bidimensional — el equivalente de una hoja de Excel en Python</a:t>
            </a:r>
            <a:endParaRPr lang="en-US" sz="1200" dirty="0"/>
          </a:p>
        </p:txBody>
      </p:sp>
      <p:sp>
        <p:nvSpPr>
          <p:cNvPr id="7" name="Shape 5"/>
          <p:cNvSpPr/>
          <p:nvPr/>
        </p:nvSpPr>
        <p:spPr>
          <a:xfrm>
            <a:off x="347472" y="987552"/>
            <a:ext cx="8449056" cy="530352"/>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493776" y="1042416"/>
            <a:ext cx="8229600" cy="402336"/>
          </a:xfrm>
          <a:prstGeom prst="rect">
            <a:avLst/>
          </a:prstGeom>
          <a:noFill/>
          <a:ln/>
        </p:spPr>
        <p:txBody>
          <a:bodyPr wrap="square" lIns="0" tIns="0" rIns="0" bIns="0" rtlCol="0" anchor="ctr"/>
          <a:lstStyle/>
          <a:p>
            <a:pPr indent="0" marL="0">
              <a:buNone/>
            </a:pPr>
            <a:r>
              <a:rPr lang="en-US" sz="1100" dirty="0">
                <a:solidFill>
                  <a:srgbClr val="374151"/>
                </a:solidFill>
              </a:rPr>
              <a:t>Un DataFrame es una coleccion de Series (columnas) con el mismo indice. Cada columna puede tener un tipo diferente (int, float, str, bool). Es la estructura de datos que usaras el 90% del tiempo en el diplomado.</a:t>
            </a:r>
            <a:endParaRPr lang="en-US" sz="1100" dirty="0"/>
          </a:p>
        </p:txBody>
      </p:sp>
      <p:sp>
        <p:nvSpPr>
          <p:cNvPr id="9" name="Shape 7"/>
          <p:cNvSpPr/>
          <p:nvPr/>
        </p:nvSpPr>
        <p:spPr>
          <a:xfrm>
            <a:off x="347472" y="1609344"/>
            <a:ext cx="4315968" cy="3474720"/>
          </a:xfrm>
          <a:prstGeom prst="rect">
            <a:avLst/>
          </a:prstGeom>
          <a:solidFill>
            <a:srgbClr val="071228"/>
          </a:solidFill>
          <a:ln w="12700">
            <a:solidFill>
              <a:srgbClr val="0D7A8A"/>
            </a:solidFill>
            <a:prstDash val="solid"/>
          </a:ln>
        </p:spPr>
      </p:sp>
      <p:sp>
        <p:nvSpPr>
          <p:cNvPr id="10" name="Shape 8"/>
          <p:cNvSpPr/>
          <p:nvPr/>
        </p:nvSpPr>
        <p:spPr>
          <a:xfrm>
            <a:off x="347472" y="1609344"/>
            <a:ext cx="4315968" cy="292608"/>
          </a:xfrm>
          <a:prstGeom prst="rect">
            <a:avLst/>
          </a:prstGeom>
          <a:solidFill>
            <a:srgbClr val="1E8449"/>
          </a:solidFill>
          <a:ln w="12700">
            <a:solidFill>
              <a:srgbClr val="1E8449"/>
            </a:solidFill>
            <a:prstDash val="solid"/>
          </a:ln>
        </p:spPr>
      </p:sp>
      <p:sp>
        <p:nvSpPr>
          <p:cNvPr id="11" name="Text 9"/>
          <p:cNvSpPr/>
          <p:nvPr/>
        </p:nvSpPr>
        <p:spPr>
          <a:xfrm>
            <a:off x="475488" y="1609344"/>
            <a:ext cx="4187952" cy="292608"/>
          </a:xfrm>
          <a:prstGeom prst="rect">
            <a:avLst/>
          </a:prstGeom>
          <a:noFill/>
          <a:ln/>
        </p:spPr>
        <p:txBody>
          <a:bodyPr wrap="square" lIns="0" tIns="0" rIns="0" bIns="0" rtlCol="0" anchor="ctr"/>
          <a:lstStyle/>
          <a:p>
            <a:pPr indent="0" marL="0">
              <a:buNone/>
            </a:pPr>
            <a:r>
              <a:rPr lang="en-US" sz="950" b="1" dirty="0">
                <a:solidFill>
                  <a:srgbClr val="FFFFFF"/>
                </a:solidFill>
              </a:rPr>
              <a:t>Crear un DataFrame</a:t>
            </a:r>
            <a:endParaRPr lang="en-US" sz="950" dirty="0"/>
          </a:p>
        </p:txBody>
      </p:sp>
      <p:sp>
        <p:nvSpPr>
          <p:cNvPr id="12" name="Text 10"/>
          <p:cNvSpPr/>
          <p:nvPr/>
        </p:nvSpPr>
        <p:spPr>
          <a:xfrm>
            <a:off x="475488" y="195681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import pandas as pd</a:t>
            </a:r>
            <a:endParaRPr lang="en-US" sz="850" dirty="0"/>
          </a:p>
        </p:txBody>
      </p:sp>
      <p:sp>
        <p:nvSpPr>
          <p:cNvPr id="13" name="Text 11"/>
          <p:cNvSpPr/>
          <p:nvPr/>
        </p:nvSpPr>
        <p:spPr>
          <a:xfrm>
            <a:off x="475488" y="210769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4" name="Text 12"/>
          <p:cNvSpPr/>
          <p:nvPr/>
        </p:nvSpPr>
        <p:spPr>
          <a:xfrm>
            <a:off x="475488" y="2258568"/>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Desde un diccionario de listas</a:t>
            </a:r>
            <a:endParaRPr lang="en-US" sz="850" dirty="0"/>
          </a:p>
        </p:txBody>
      </p:sp>
      <p:sp>
        <p:nvSpPr>
          <p:cNvPr id="15" name="Text 13"/>
          <p:cNvSpPr/>
          <p:nvPr/>
        </p:nvSpPr>
        <p:spPr>
          <a:xfrm>
            <a:off x="475488" y="2409444"/>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(la forma mas comun)</a:t>
            </a:r>
            <a:endParaRPr lang="en-US" sz="850" dirty="0"/>
          </a:p>
        </p:txBody>
      </p:sp>
      <p:sp>
        <p:nvSpPr>
          <p:cNvPr id="16" name="Text 14"/>
          <p:cNvSpPr/>
          <p:nvPr/>
        </p:nvSpPr>
        <p:spPr>
          <a:xfrm>
            <a:off x="475488" y="256032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 = pd.DataFrame({</a:t>
            </a:r>
            <a:endParaRPr lang="en-US" sz="850" dirty="0"/>
          </a:p>
        </p:txBody>
      </p:sp>
      <p:sp>
        <p:nvSpPr>
          <p:cNvPr id="17" name="Text 15"/>
          <p:cNvSpPr/>
          <p:nvPr/>
        </p:nvSpPr>
        <p:spPr>
          <a:xfrm>
            <a:off x="475488" y="271119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'poliza':  ['P01','P02','P03','P04'],</a:t>
            </a:r>
            <a:endParaRPr lang="en-US" sz="850" dirty="0"/>
          </a:p>
        </p:txBody>
      </p:sp>
      <p:sp>
        <p:nvSpPr>
          <p:cNvPr id="18" name="Text 16"/>
          <p:cNvSpPr/>
          <p:nvPr/>
        </p:nvSpPr>
        <p:spPr>
          <a:xfrm>
            <a:off x="475488" y="286207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'titular': ['Ana','Luis','Maria','Carlos'],</a:t>
            </a:r>
            <a:endParaRPr lang="en-US" sz="850" dirty="0"/>
          </a:p>
        </p:txBody>
      </p:sp>
      <p:sp>
        <p:nvSpPr>
          <p:cNvPr id="19" name="Text 17"/>
          <p:cNvSpPr/>
          <p:nvPr/>
        </p:nvSpPr>
        <p:spPr>
          <a:xfrm>
            <a:off x="475488" y="301294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'edad':    [28,   45,    32,    62],</a:t>
            </a:r>
            <a:endParaRPr lang="en-US" sz="850" dirty="0"/>
          </a:p>
        </p:txBody>
      </p:sp>
      <p:sp>
        <p:nvSpPr>
          <p:cNvPr id="20" name="Text 18"/>
          <p:cNvSpPr/>
          <p:nvPr/>
        </p:nvSpPr>
        <p:spPr>
          <a:xfrm>
            <a:off x="475488" y="316382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'prima':   [2400, 6200, 1900, 14500],</a:t>
            </a:r>
            <a:endParaRPr lang="en-US" sz="850" dirty="0"/>
          </a:p>
        </p:txBody>
      </p:sp>
      <p:sp>
        <p:nvSpPr>
          <p:cNvPr id="21" name="Text 19"/>
          <p:cNvSpPr/>
          <p:nvPr/>
        </p:nvSpPr>
        <p:spPr>
          <a:xfrm>
            <a:off x="475488" y="331470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'activa':  [True, True, True, False],</a:t>
            </a:r>
            <a:endParaRPr lang="en-US" sz="850" dirty="0"/>
          </a:p>
        </p:txBody>
      </p:sp>
      <p:sp>
        <p:nvSpPr>
          <p:cNvPr id="22" name="Text 20"/>
          <p:cNvSpPr/>
          <p:nvPr/>
        </p:nvSpPr>
        <p:spPr>
          <a:xfrm>
            <a:off x="475488" y="346557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23" name="Text 21"/>
          <p:cNvSpPr/>
          <p:nvPr/>
        </p:nvSpPr>
        <p:spPr>
          <a:xfrm>
            <a:off x="475488" y="361645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4" name="Text 22"/>
          <p:cNvSpPr/>
          <p:nvPr/>
        </p:nvSpPr>
        <p:spPr>
          <a:xfrm>
            <a:off x="475488" y="3767328"/>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Desde una lista de diccionarios</a:t>
            </a:r>
            <a:endParaRPr lang="en-US" sz="850" dirty="0"/>
          </a:p>
        </p:txBody>
      </p:sp>
      <p:sp>
        <p:nvSpPr>
          <p:cNvPr id="25" name="Text 23"/>
          <p:cNvSpPr/>
          <p:nvPr/>
        </p:nvSpPr>
        <p:spPr>
          <a:xfrm>
            <a:off x="475488" y="3918204"/>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(como la cartera que construimos en S3)</a:t>
            </a:r>
            <a:endParaRPr lang="en-US" sz="850" dirty="0"/>
          </a:p>
        </p:txBody>
      </p:sp>
      <p:sp>
        <p:nvSpPr>
          <p:cNvPr id="26" name="Text 24"/>
          <p:cNvSpPr/>
          <p:nvPr/>
        </p:nvSpPr>
        <p:spPr>
          <a:xfrm>
            <a:off x="475488" y="406908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datos = [</a:t>
            </a:r>
            <a:endParaRPr lang="en-US" sz="850" dirty="0"/>
          </a:p>
        </p:txBody>
      </p:sp>
      <p:sp>
        <p:nvSpPr>
          <p:cNvPr id="27" name="Text 25"/>
          <p:cNvSpPr/>
          <p:nvPr/>
        </p:nvSpPr>
        <p:spPr>
          <a:xfrm>
            <a:off x="475488" y="421995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{'poliza':'P01','prima':2400,'edad':28},</a:t>
            </a:r>
            <a:endParaRPr lang="en-US" sz="850" dirty="0"/>
          </a:p>
        </p:txBody>
      </p:sp>
      <p:sp>
        <p:nvSpPr>
          <p:cNvPr id="28" name="Text 26"/>
          <p:cNvSpPr/>
          <p:nvPr/>
        </p:nvSpPr>
        <p:spPr>
          <a:xfrm>
            <a:off x="475488" y="437083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{'poliza':'P02','prima':6200,'edad':45},</a:t>
            </a:r>
            <a:endParaRPr lang="en-US" sz="850" dirty="0"/>
          </a:p>
        </p:txBody>
      </p:sp>
      <p:sp>
        <p:nvSpPr>
          <p:cNvPr id="29" name="Text 27"/>
          <p:cNvSpPr/>
          <p:nvPr/>
        </p:nvSpPr>
        <p:spPr>
          <a:xfrm>
            <a:off x="475488" y="452170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30" name="Text 28"/>
          <p:cNvSpPr/>
          <p:nvPr/>
        </p:nvSpPr>
        <p:spPr>
          <a:xfrm>
            <a:off x="475488" y="467258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df = pd.DataFrame(datos)</a:t>
            </a:r>
            <a:endParaRPr lang="en-US" sz="850" dirty="0"/>
          </a:p>
        </p:txBody>
      </p:sp>
      <p:sp>
        <p:nvSpPr>
          <p:cNvPr id="31" name="Text 29"/>
          <p:cNvSpPr/>
          <p:nvPr/>
        </p:nvSpPr>
        <p:spPr>
          <a:xfrm>
            <a:off x="475488" y="482346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2" name="Text 30"/>
          <p:cNvSpPr/>
          <p:nvPr/>
        </p:nvSpPr>
        <p:spPr>
          <a:xfrm>
            <a:off x="475488" y="4974336"/>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Ver el DataFrame</a:t>
            </a:r>
            <a:endParaRPr lang="en-US" sz="850" dirty="0"/>
          </a:p>
        </p:txBody>
      </p:sp>
      <p:sp>
        <p:nvSpPr>
          <p:cNvPr id="33" name="Text 31"/>
          <p:cNvSpPr/>
          <p:nvPr/>
        </p:nvSpPr>
        <p:spPr>
          <a:xfrm>
            <a:off x="475488" y="512521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           # en Jupyter: tabla visual</a:t>
            </a:r>
            <a:endParaRPr lang="en-US" sz="850" dirty="0"/>
          </a:p>
        </p:txBody>
      </p:sp>
      <p:sp>
        <p:nvSpPr>
          <p:cNvPr id="34" name="Text 32"/>
          <p:cNvSpPr/>
          <p:nvPr/>
        </p:nvSpPr>
        <p:spPr>
          <a:xfrm>
            <a:off x="475488" y="527608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print(cartera)    # en script: texto</a:t>
            </a:r>
            <a:endParaRPr lang="en-US" sz="850" dirty="0"/>
          </a:p>
        </p:txBody>
      </p:sp>
      <p:sp>
        <p:nvSpPr>
          <p:cNvPr id="35" name="Shape 33"/>
          <p:cNvSpPr/>
          <p:nvPr/>
        </p:nvSpPr>
        <p:spPr>
          <a:xfrm>
            <a:off x="4828032" y="1609344"/>
            <a:ext cx="3968496" cy="3474720"/>
          </a:xfrm>
          <a:prstGeom prst="rect">
            <a:avLst/>
          </a:prstGeom>
          <a:solidFill>
            <a:srgbClr val="071228"/>
          </a:solidFill>
          <a:ln w="12700">
            <a:solidFill>
              <a:srgbClr val="0D7A8A"/>
            </a:solidFill>
            <a:prstDash val="solid"/>
          </a:ln>
        </p:spPr>
      </p:sp>
      <p:sp>
        <p:nvSpPr>
          <p:cNvPr id="36" name="Shape 34"/>
          <p:cNvSpPr/>
          <p:nvPr/>
        </p:nvSpPr>
        <p:spPr>
          <a:xfrm>
            <a:off x="4828032" y="1609344"/>
            <a:ext cx="3968496" cy="292608"/>
          </a:xfrm>
          <a:prstGeom prst="rect">
            <a:avLst/>
          </a:prstGeom>
          <a:solidFill>
            <a:srgbClr val="1A5276"/>
          </a:solidFill>
          <a:ln w="12700">
            <a:solidFill>
              <a:srgbClr val="1A5276"/>
            </a:solidFill>
            <a:prstDash val="solid"/>
          </a:ln>
        </p:spPr>
      </p:sp>
      <p:sp>
        <p:nvSpPr>
          <p:cNvPr id="37" name="Text 35"/>
          <p:cNvSpPr/>
          <p:nvPr/>
        </p:nvSpPr>
        <p:spPr>
          <a:xfrm>
            <a:off x="4956048" y="1609344"/>
            <a:ext cx="3840480" cy="292608"/>
          </a:xfrm>
          <a:prstGeom prst="rect">
            <a:avLst/>
          </a:prstGeom>
          <a:noFill/>
          <a:ln/>
        </p:spPr>
        <p:txBody>
          <a:bodyPr wrap="square" lIns="0" tIns="0" rIns="0" bIns="0" rtlCol="0" anchor="ctr"/>
          <a:lstStyle/>
          <a:p>
            <a:pPr indent="0" marL="0">
              <a:buNone/>
            </a:pPr>
            <a:r>
              <a:rPr lang="en-US" sz="950" b="1" dirty="0">
                <a:solidFill>
                  <a:srgbClr val="FFFFFF"/>
                </a:solidFill>
              </a:rPr>
              <a:t>Primeros pasos de exploracion</a:t>
            </a:r>
            <a:endParaRPr lang="en-US" sz="950" dirty="0"/>
          </a:p>
        </p:txBody>
      </p:sp>
      <p:sp>
        <p:nvSpPr>
          <p:cNvPr id="38" name="Text 36"/>
          <p:cNvSpPr/>
          <p:nvPr/>
        </p:nvSpPr>
        <p:spPr>
          <a:xfrm>
            <a:off x="4956048" y="1956816"/>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Forma y dimensiones</a:t>
            </a:r>
            <a:endParaRPr lang="en-US" sz="850" dirty="0"/>
          </a:p>
        </p:txBody>
      </p:sp>
      <p:sp>
        <p:nvSpPr>
          <p:cNvPr id="39" name="Text 37"/>
          <p:cNvSpPr/>
          <p:nvPr/>
        </p:nvSpPr>
        <p:spPr>
          <a:xfrm>
            <a:off x="4956048" y="210769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cartera.shape         # (4, 5)</a:t>
            </a:r>
            <a:endParaRPr lang="en-US" sz="850" dirty="0"/>
          </a:p>
        </p:txBody>
      </p:sp>
      <p:sp>
        <p:nvSpPr>
          <p:cNvPr id="40" name="Text 38"/>
          <p:cNvSpPr/>
          <p:nvPr/>
        </p:nvSpPr>
        <p:spPr>
          <a:xfrm>
            <a:off x="4956048" y="225856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len(cartera)          # 4 filas</a:t>
            </a:r>
            <a:endParaRPr lang="en-US" sz="850" dirty="0"/>
          </a:p>
        </p:txBody>
      </p:sp>
      <p:sp>
        <p:nvSpPr>
          <p:cNvPr id="41" name="Text 39"/>
          <p:cNvSpPr/>
          <p:nvPr/>
        </p:nvSpPr>
        <p:spPr>
          <a:xfrm>
            <a:off x="4956048" y="2409444"/>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2" name="Text 40"/>
          <p:cNvSpPr/>
          <p:nvPr/>
        </p:nvSpPr>
        <p:spPr>
          <a:xfrm>
            <a:off x="4956048" y="2560320"/>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Primeras / ultimas filas</a:t>
            </a:r>
            <a:endParaRPr lang="en-US" sz="850" dirty="0"/>
          </a:p>
        </p:txBody>
      </p:sp>
      <p:sp>
        <p:nvSpPr>
          <p:cNvPr id="43" name="Text 41"/>
          <p:cNvSpPr/>
          <p:nvPr/>
        </p:nvSpPr>
        <p:spPr>
          <a:xfrm>
            <a:off x="4956048" y="271119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cartera.head(2)       # primeras 2</a:t>
            </a:r>
            <a:endParaRPr lang="en-US" sz="850" dirty="0"/>
          </a:p>
        </p:txBody>
      </p:sp>
      <p:sp>
        <p:nvSpPr>
          <p:cNvPr id="44" name="Text 42"/>
          <p:cNvSpPr/>
          <p:nvPr/>
        </p:nvSpPr>
        <p:spPr>
          <a:xfrm>
            <a:off x="4956048" y="286207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cartera.tail(2)       # ultimas 2</a:t>
            </a:r>
            <a:endParaRPr lang="en-US" sz="850" dirty="0"/>
          </a:p>
        </p:txBody>
      </p:sp>
      <p:sp>
        <p:nvSpPr>
          <p:cNvPr id="45" name="Text 43"/>
          <p:cNvSpPr/>
          <p:nvPr/>
        </p:nvSpPr>
        <p:spPr>
          <a:xfrm>
            <a:off x="4956048" y="301294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6" name="Text 44"/>
          <p:cNvSpPr/>
          <p:nvPr/>
        </p:nvSpPr>
        <p:spPr>
          <a:xfrm>
            <a:off x="4956048" y="316382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Info rapida de tipos y nulos</a:t>
            </a:r>
            <a:endParaRPr lang="en-US" sz="850" dirty="0"/>
          </a:p>
        </p:txBody>
      </p:sp>
      <p:sp>
        <p:nvSpPr>
          <p:cNvPr id="47" name="Text 45"/>
          <p:cNvSpPr/>
          <p:nvPr/>
        </p:nvSpPr>
        <p:spPr>
          <a:xfrm>
            <a:off x="4956048" y="331470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cartera.info()</a:t>
            </a:r>
            <a:endParaRPr lang="en-US" sz="850" dirty="0"/>
          </a:p>
        </p:txBody>
      </p:sp>
      <p:sp>
        <p:nvSpPr>
          <p:cNvPr id="48" name="Text 46"/>
          <p:cNvSpPr/>
          <p:nvPr/>
        </p:nvSpPr>
        <p:spPr>
          <a:xfrm>
            <a:off x="4956048" y="3465576"/>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RangeIndex: 4 entries</a:t>
            </a:r>
            <a:endParaRPr lang="en-US" sz="850" dirty="0"/>
          </a:p>
        </p:txBody>
      </p:sp>
      <p:sp>
        <p:nvSpPr>
          <p:cNvPr id="49" name="Text 47"/>
          <p:cNvSpPr/>
          <p:nvPr/>
        </p:nvSpPr>
        <p:spPr>
          <a:xfrm>
            <a:off x="4956048" y="3616452"/>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prima  int64</a:t>
            </a:r>
            <a:endParaRPr lang="en-US" sz="850" dirty="0"/>
          </a:p>
        </p:txBody>
      </p:sp>
      <p:sp>
        <p:nvSpPr>
          <p:cNvPr id="50" name="Text 48"/>
          <p:cNvSpPr/>
          <p:nvPr/>
        </p:nvSpPr>
        <p:spPr>
          <a:xfrm>
            <a:off x="4956048" y="3767328"/>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activa bool</a:t>
            </a:r>
            <a:endParaRPr lang="en-US" sz="850" dirty="0"/>
          </a:p>
        </p:txBody>
      </p:sp>
      <p:sp>
        <p:nvSpPr>
          <p:cNvPr id="51" name="Text 49"/>
          <p:cNvSpPr/>
          <p:nvPr/>
        </p:nvSpPr>
        <p:spPr>
          <a:xfrm>
            <a:off x="4956048" y="391820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a:t>
            </a:r>
            <a:endParaRPr lang="en-US" sz="850" dirty="0"/>
          </a:p>
        </p:txBody>
      </p:sp>
      <p:sp>
        <p:nvSpPr>
          <p:cNvPr id="52" name="Text 50"/>
          <p:cNvSpPr/>
          <p:nvPr/>
        </p:nvSpPr>
        <p:spPr>
          <a:xfrm>
            <a:off x="4956048" y="406908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3" name="Text 51"/>
          <p:cNvSpPr/>
          <p:nvPr/>
        </p:nvSpPr>
        <p:spPr>
          <a:xfrm>
            <a:off x="4956048" y="4219956"/>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Estadisticas descriptivas</a:t>
            </a:r>
            <a:endParaRPr lang="en-US" sz="850" dirty="0"/>
          </a:p>
        </p:txBody>
      </p:sp>
      <p:sp>
        <p:nvSpPr>
          <p:cNvPr id="54" name="Text 52"/>
          <p:cNvSpPr/>
          <p:nvPr/>
        </p:nvSpPr>
        <p:spPr>
          <a:xfrm>
            <a:off x="4956048" y="437083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cartera.describe()</a:t>
            </a:r>
            <a:endParaRPr lang="en-US" sz="850" dirty="0"/>
          </a:p>
        </p:txBody>
      </p:sp>
      <p:sp>
        <p:nvSpPr>
          <p:cNvPr id="55" name="Text 53"/>
          <p:cNvSpPr/>
          <p:nvPr/>
        </p:nvSpPr>
        <p:spPr>
          <a:xfrm>
            <a:off x="4956048" y="452170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6" name="Text 54"/>
          <p:cNvSpPr/>
          <p:nvPr/>
        </p:nvSpPr>
        <p:spPr>
          <a:xfrm>
            <a:off x="4956048" y="467258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Nombres de columnas</a:t>
            </a:r>
            <a:endParaRPr lang="en-US" sz="850" dirty="0"/>
          </a:p>
        </p:txBody>
      </p:sp>
      <p:sp>
        <p:nvSpPr>
          <p:cNvPr id="57" name="Text 55"/>
          <p:cNvSpPr/>
          <p:nvPr/>
        </p:nvSpPr>
        <p:spPr>
          <a:xfrm>
            <a:off x="4956048" y="482346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cartera.columns</a:t>
            </a:r>
            <a:endParaRPr lang="en-US" sz="850" dirty="0"/>
          </a:p>
        </p:txBody>
      </p:sp>
      <p:sp>
        <p:nvSpPr>
          <p:cNvPr id="58" name="Text 56"/>
          <p:cNvSpPr/>
          <p:nvPr/>
        </p:nvSpPr>
        <p:spPr>
          <a:xfrm>
            <a:off x="4956048" y="4974336"/>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Index(['poliza','titular'...])</a:t>
            </a:r>
            <a:endParaRPr lang="en-US" sz="850" dirty="0"/>
          </a:p>
        </p:txBody>
      </p:sp>
      <p:sp>
        <p:nvSpPr>
          <p:cNvPr id="59" name="Text 57"/>
          <p:cNvSpPr/>
          <p:nvPr/>
        </p:nvSpPr>
        <p:spPr>
          <a:xfrm>
            <a:off x="4956048" y="512521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60" name="Text 58"/>
          <p:cNvSpPr/>
          <p:nvPr/>
        </p:nvSpPr>
        <p:spPr>
          <a:xfrm>
            <a:off x="4956048" y="5276088"/>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Tipos de datos</a:t>
            </a:r>
            <a:endParaRPr lang="en-US" sz="850" dirty="0"/>
          </a:p>
        </p:txBody>
      </p:sp>
      <p:sp>
        <p:nvSpPr>
          <p:cNvPr id="61" name="Text 59"/>
          <p:cNvSpPr/>
          <p:nvPr/>
        </p:nvSpPr>
        <p:spPr>
          <a:xfrm>
            <a:off x="4956048" y="5426964"/>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cartera.dtypes</a:t>
            </a:r>
            <a:endParaRPr lang="en-US" sz="850" dirty="0"/>
          </a:p>
        </p:txBody>
      </p:sp>
      <p:sp>
        <p:nvSpPr>
          <p:cNvPr id="62" name="Shape 60"/>
          <p:cNvSpPr/>
          <p:nvPr/>
        </p:nvSpPr>
        <p:spPr>
          <a:xfrm>
            <a:off x="0" y="4892040"/>
            <a:ext cx="9144000" cy="251460"/>
          </a:xfrm>
          <a:prstGeom prst="rect">
            <a:avLst/>
          </a:prstGeom>
          <a:solidFill>
            <a:srgbClr val="071228"/>
          </a:solidFill>
          <a:ln w="12700">
            <a:solidFill>
              <a:srgbClr val="071228"/>
            </a:solidFill>
            <a:prstDash val="solid"/>
          </a:ln>
        </p:spPr>
      </p:sp>
      <p:sp>
        <p:nvSpPr>
          <p:cNvPr id="63" name="Text 61"/>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64" name="Text 62"/>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T5 · DataFrame crear</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0D7A8A"/>
          </a:solidFill>
          <a:ln w="12700">
            <a:solidFill>
              <a:srgbClr val="0D7A8A"/>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T5 · PANDAS · ACCESO Y FILTROS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FFFFFF"/>
                </a:solidFill>
              </a:rPr>
              <a:t>Acceder a Columnas, Filas y Filtrar</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Las operaciones mas usadas en el dia a dia del analisis actuarial</a:t>
            </a:r>
            <a:endParaRPr lang="en-US" sz="1200" dirty="0"/>
          </a:p>
        </p:txBody>
      </p:sp>
      <p:sp>
        <p:nvSpPr>
          <p:cNvPr id="7" name="Shape 5"/>
          <p:cNvSpPr/>
          <p:nvPr/>
        </p:nvSpPr>
        <p:spPr>
          <a:xfrm>
            <a:off x="347472" y="987552"/>
            <a:ext cx="4315968" cy="4041648"/>
          </a:xfrm>
          <a:prstGeom prst="rect">
            <a:avLst/>
          </a:prstGeom>
          <a:solidFill>
            <a:srgbClr val="071228"/>
          </a:solidFill>
          <a:ln w="12700">
            <a:solidFill>
              <a:srgbClr val="0D7A8A"/>
            </a:solidFill>
            <a:prstDash val="solid"/>
          </a:ln>
        </p:spPr>
      </p:sp>
      <p:sp>
        <p:nvSpPr>
          <p:cNvPr id="8" name="Shape 6"/>
          <p:cNvSpPr/>
          <p:nvPr/>
        </p:nvSpPr>
        <p:spPr>
          <a:xfrm>
            <a:off x="347472" y="987552"/>
            <a:ext cx="4315968" cy="292608"/>
          </a:xfrm>
          <a:prstGeom prst="rect">
            <a:avLst/>
          </a:prstGeom>
          <a:solidFill>
            <a:srgbClr val="0D7A8A"/>
          </a:solidFill>
          <a:ln w="12700">
            <a:solidFill>
              <a:srgbClr val="0D7A8A"/>
            </a:solidFill>
            <a:prstDash val="solid"/>
          </a:ln>
        </p:spPr>
      </p:sp>
      <p:sp>
        <p:nvSpPr>
          <p:cNvPr id="9" name="Text 7"/>
          <p:cNvSpPr/>
          <p:nvPr/>
        </p:nvSpPr>
        <p:spPr>
          <a:xfrm>
            <a:off x="475488" y="987552"/>
            <a:ext cx="4187952" cy="292608"/>
          </a:xfrm>
          <a:prstGeom prst="rect">
            <a:avLst/>
          </a:prstGeom>
          <a:noFill/>
          <a:ln/>
        </p:spPr>
        <p:txBody>
          <a:bodyPr wrap="square" lIns="0" tIns="0" rIns="0" bIns="0" rtlCol="0" anchor="ctr"/>
          <a:lstStyle/>
          <a:p>
            <a:pPr indent="0" marL="0">
              <a:buNone/>
            </a:pPr>
            <a:r>
              <a:rPr lang="en-US" sz="950" b="1" dirty="0">
                <a:solidFill>
                  <a:srgbClr val="FFFFFF"/>
                </a:solidFill>
              </a:rPr>
              <a:t>Acceder a columnas y filas</a:t>
            </a:r>
            <a:endParaRPr lang="en-US" sz="950" dirty="0"/>
          </a:p>
        </p:txBody>
      </p:sp>
      <p:sp>
        <p:nvSpPr>
          <p:cNvPr id="10" name="Text 8"/>
          <p:cNvSpPr/>
          <p:nvPr/>
        </p:nvSpPr>
        <p:spPr>
          <a:xfrm>
            <a:off x="475488" y="1335024"/>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Una columna → Serie</a:t>
            </a:r>
            <a:endParaRPr lang="en-US" sz="850" dirty="0"/>
          </a:p>
        </p:txBody>
      </p:sp>
      <p:sp>
        <p:nvSpPr>
          <p:cNvPr id="11" name="Text 9"/>
          <p:cNvSpPr/>
          <p:nvPr/>
        </p:nvSpPr>
        <p:spPr>
          <a:xfrm>
            <a:off x="475488" y="148590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cartera['prima']</a:t>
            </a:r>
            <a:endParaRPr lang="en-US" sz="850" dirty="0"/>
          </a:p>
        </p:txBody>
      </p:sp>
      <p:sp>
        <p:nvSpPr>
          <p:cNvPr id="12" name="Text 10"/>
          <p:cNvSpPr/>
          <p:nvPr/>
        </p:nvSpPr>
        <p:spPr>
          <a:xfrm>
            <a:off x="475488" y="163677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cartera.prima          # notacion punto</a:t>
            </a:r>
            <a:endParaRPr lang="en-US" sz="850" dirty="0"/>
          </a:p>
        </p:txBody>
      </p:sp>
      <p:sp>
        <p:nvSpPr>
          <p:cNvPr id="13" name="Text 11"/>
          <p:cNvSpPr/>
          <p:nvPr/>
        </p:nvSpPr>
        <p:spPr>
          <a:xfrm>
            <a:off x="475488" y="178765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4" name="Text 12"/>
          <p:cNvSpPr/>
          <p:nvPr/>
        </p:nvSpPr>
        <p:spPr>
          <a:xfrm>
            <a:off x="475488" y="1938528"/>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Multiples columnas → DataFrame</a:t>
            </a:r>
            <a:endParaRPr lang="en-US" sz="850" dirty="0"/>
          </a:p>
        </p:txBody>
      </p:sp>
      <p:sp>
        <p:nvSpPr>
          <p:cNvPr id="15" name="Text 13"/>
          <p:cNvSpPr/>
          <p:nvPr/>
        </p:nvSpPr>
        <p:spPr>
          <a:xfrm>
            <a:off x="475488" y="208940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cartera[['titular','prima','edad']]</a:t>
            </a:r>
            <a:endParaRPr lang="en-US" sz="850" dirty="0"/>
          </a:p>
        </p:txBody>
      </p:sp>
      <p:sp>
        <p:nvSpPr>
          <p:cNvPr id="16" name="Text 14"/>
          <p:cNvSpPr/>
          <p:nvPr/>
        </p:nvSpPr>
        <p:spPr>
          <a:xfrm>
            <a:off x="475488" y="224028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7" name="Text 15"/>
          <p:cNvSpPr/>
          <p:nvPr/>
        </p:nvSpPr>
        <p:spPr>
          <a:xfrm>
            <a:off x="475488" y="2391156"/>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Fila por posicion — .iloc[]</a:t>
            </a:r>
            <a:endParaRPr lang="en-US" sz="850" dirty="0"/>
          </a:p>
        </p:txBody>
      </p:sp>
      <p:sp>
        <p:nvSpPr>
          <p:cNvPr id="18" name="Text 16"/>
          <p:cNvSpPr/>
          <p:nvPr/>
        </p:nvSpPr>
        <p:spPr>
          <a:xfrm>
            <a:off x="475488" y="254203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cartera.iloc[0]        # primera fila</a:t>
            </a:r>
            <a:endParaRPr lang="en-US" sz="850" dirty="0"/>
          </a:p>
        </p:txBody>
      </p:sp>
      <p:sp>
        <p:nvSpPr>
          <p:cNvPr id="19" name="Text 17"/>
          <p:cNvSpPr/>
          <p:nvPr/>
        </p:nvSpPr>
        <p:spPr>
          <a:xfrm>
            <a:off x="475488" y="269290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cartera.iloc[-1]       # ultima fila</a:t>
            </a:r>
            <a:endParaRPr lang="en-US" sz="850" dirty="0"/>
          </a:p>
        </p:txBody>
      </p:sp>
      <p:sp>
        <p:nvSpPr>
          <p:cNvPr id="20" name="Text 18"/>
          <p:cNvSpPr/>
          <p:nvPr/>
        </p:nvSpPr>
        <p:spPr>
          <a:xfrm>
            <a:off x="475488" y="284378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cartera.iloc[1:3]      # filas 1 y 2</a:t>
            </a:r>
            <a:endParaRPr lang="en-US" sz="850" dirty="0"/>
          </a:p>
        </p:txBody>
      </p:sp>
      <p:sp>
        <p:nvSpPr>
          <p:cNvPr id="21" name="Text 19"/>
          <p:cNvSpPr/>
          <p:nvPr/>
        </p:nvSpPr>
        <p:spPr>
          <a:xfrm>
            <a:off x="475488" y="299466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2" name="Text 20"/>
          <p:cNvSpPr/>
          <p:nvPr/>
        </p:nvSpPr>
        <p:spPr>
          <a:xfrm>
            <a:off x="475488" y="3145536"/>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Fila por etiqueta — .loc[]</a:t>
            </a:r>
            <a:endParaRPr lang="en-US" sz="850" dirty="0"/>
          </a:p>
        </p:txBody>
      </p:sp>
      <p:sp>
        <p:nvSpPr>
          <p:cNvPr id="23" name="Text 21"/>
          <p:cNvSpPr/>
          <p:nvPr/>
        </p:nvSpPr>
        <p:spPr>
          <a:xfrm>
            <a:off x="475488" y="3296412"/>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(cuando el index tiene etiquetas)</a:t>
            </a:r>
            <a:endParaRPr lang="en-US" sz="850" dirty="0"/>
          </a:p>
        </p:txBody>
      </p:sp>
      <p:sp>
        <p:nvSpPr>
          <p:cNvPr id="24" name="Text 22"/>
          <p:cNvSpPr/>
          <p:nvPr/>
        </p:nvSpPr>
        <p:spPr>
          <a:xfrm>
            <a:off x="475488" y="344728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cartera.loc[0]         # indice 0</a:t>
            </a:r>
            <a:endParaRPr lang="en-US" sz="850" dirty="0"/>
          </a:p>
        </p:txBody>
      </p:sp>
      <p:sp>
        <p:nvSpPr>
          <p:cNvPr id="25" name="Text 23"/>
          <p:cNvSpPr/>
          <p:nvPr/>
        </p:nvSpPr>
        <p:spPr>
          <a:xfrm>
            <a:off x="475488" y="3598164"/>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6" name="Text 24"/>
          <p:cNvSpPr/>
          <p:nvPr/>
        </p:nvSpPr>
        <p:spPr>
          <a:xfrm>
            <a:off x="475488" y="3749040"/>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Celda individual</a:t>
            </a:r>
            <a:endParaRPr lang="en-US" sz="850" dirty="0"/>
          </a:p>
        </p:txBody>
      </p:sp>
      <p:sp>
        <p:nvSpPr>
          <p:cNvPr id="27" name="Text 25"/>
          <p:cNvSpPr/>
          <p:nvPr/>
        </p:nvSpPr>
        <p:spPr>
          <a:xfrm>
            <a:off x="475488" y="389991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cartera.iloc[2, 3]     # fila 2, col 3</a:t>
            </a:r>
            <a:endParaRPr lang="en-US" sz="850" dirty="0"/>
          </a:p>
        </p:txBody>
      </p:sp>
      <p:sp>
        <p:nvSpPr>
          <p:cNvPr id="28" name="Text 26"/>
          <p:cNvSpPr/>
          <p:nvPr/>
        </p:nvSpPr>
        <p:spPr>
          <a:xfrm>
            <a:off x="475488" y="405079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cartera.loc[0,'prima'] # fila 0, prima</a:t>
            </a:r>
            <a:endParaRPr lang="en-US" sz="850" dirty="0"/>
          </a:p>
        </p:txBody>
      </p:sp>
      <p:sp>
        <p:nvSpPr>
          <p:cNvPr id="29" name="Text 27"/>
          <p:cNvSpPr/>
          <p:nvPr/>
        </p:nvSpPr>
        <p:spPr>
          <a:xfrm>
            <a:off x="475488" y="4201668"/>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0" name="Text 28"/>
          <p:cNvSpPr/>
          <p:nvPr/>
        </p:nvSpPr>
        <p:spPr>
          <a:xfrm>
            <a:off x="475488" y="4352544"/>
            <a:ext cx="4059936"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Operaciones sobre columna</a:t>
            </a:r>
            <a:endParaRPr lang="en-US" sz="850" dirty="0"/>
          </a:p>
        </p:txBody>
      </p:sp>
      <p:sp>
        <p:nvSpPr>
          <p:cNvPr id="31" name="Text 29"/>
          <p:cNvSpPr/>
          <p:nvPr/>
        </p:nvSpPr>
        <p:spPr>
          <a:xfrm>
            <a:off x="475488" y="4503420"/>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cartera['prima'].sum()</a:t>
            </a:r>
            <a:endParaRPr lang="en-US" sz="850" dirty="0"/>
          </a:p>
        </p:txBody>
      </p:sp>
      <p:sp>
        <p:nvSpPr>
          <p:cNvPr id="32" name="Text 30"/>
          <p:cNvSpPr/>
          <p:nvPr/>
        </p:nvSpPr>
        <p:spPr>
          <a:xfrm>
            <a:off x="475488" y="4654296"/>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cartera['prima'].mean()</a:t>
            </a:r>
            <a:endParaRPr lang="en-US" sz="850" dirty="0"/>
          </a:p>
        </p:txBody>
      </p:sp>
      <p:sp>
        <p:nvSpPr>
          <p:cNvPr id="33" name="Text 31"/>
          <p:cNvSpPr/>
          <p:nvPr/>
        </p:nvSpPr>
        <p:spPr>
          <a:xfrm>
            <a:off x="475488" y="4805172"/>
            <a:ext cx="4059936"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cartera['edad'].max()</a:t>
            </a:r>
            <a:endParaRPr lang="en-US" sz="850" dirty="0"/>
          </a:p>
        </p:txBody>
      </p:sp>
      <p:sp>
        <p:nvSpPr>
          <p:cNvPr id="34" name="Shape 32"/>
          <p:cNvSpPr/>
          <p:nvPr/>
        </p:nvSpPr>
        <p:spPr>
          <a:xfrm>
            <a:off x="4828032" y="987552"/>
            <a:ext cx="3968496" cy="4041648"/>
          </a:xfrm>
          <a:prstGeom prst="rect">
            <a:avLst/>
          </a:prstGeom>
          <a:solidFill>
            <a:srgbClr val="071228"/>
          </a:solidFill>
          <a:ln w="12700">
            <a:solidFill>
              <a:srgbClr val="0D7A8A"/>
            </a:solidFill>
            <a:prstDash val="solid"/>
          </a:ln>
        </p:spPr>
      </p:sp>
      <p:sp>
        <p:nvSpPr>
          <p:cNvPr id="35" name="Shape 33"/>
          <p:cNvSpPr/>
          <p:nvPr/>
        </p:nvSpPr>
        <p:spPr>
          <a:xfrm>
            <a:off x="4828032" y="987552"/>
            <a:ext cx="3968496" cy="292608"/>
          </a:xfrm>
          <a:prstGeom prst="rect">
            <a:avLst/>
          </a:prstGeom>
          <a:solidFill>
            <a:srgbClr val="1E8449"/>
          </a:solidFill>
          <a:ln w="12700">
            <a:solidFill>
              <a:srgbClr val="1E8449"/>
            </a:solidFill>
            <a:prstDash val="solid"/>
          </a:ln>
        </p:spPr>
      </p:sp>
      <p:sp>
        <p:nvSpPr>
          <p:cNvPr id="36" name="Text 34"/>
          <p:cNvSpPr/>
          <p:nvPr/>
        </p:nvSpPr>
        <p:spPr>
          <a:xfrm>
            <a:off x="4956048" y="987552"/>
            <a:ext cx="3840480" cy="292608"/>
          </a:xfrm>
          <a:prstGeom prst="rect">
            <a:avLst/>
          </a:prstGeom>
          <a:noFill/>
          <a:ln/>
        </p:spPr>
        <p:txBody>
          <a:bodyPr wrap="square" lIns="0" tIns="0" rIns="0" bIns="0" rtlCol="0" anchor="ctr"/>
          <a:lstStyle/>
          <a:p>
            <a:pPr indent="0" marL="0">
              <a:buNone/>
            </a:pPr>
            <a:r>
              <a:rPr lang="en-US" sz="950" b="1" dirty="0">
                <a:solidFill>
                  <a:srgbClr val="FFFFFF"/>
                </a:solidFill>
              </a:rPr>
              <a:t>Filtrar filas (boolean indexing)</a:t>
            </a:r>
            <a:endParaRPr lang="en-US" sz="950" dirty="0"/>
          </a:p>
        </p:txBody>
      </p:sp>
      <p:sp>
        <p:nvSpPr>
          <p:cNvPr id="37" name="Text 35"/>
          <p:cNvSpPr/>
          <p:nvPr/>
        </p:nvSpPr>
        <p:spPr>
          <a:xfrm>
            <a:off x="4956048" y="133502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Filtro simple — condicion booleana</a:t>
            </a:r>
            <a:endParaRPr lang="en-US" sz="850" dirty="0"/>
          </a:p>
        </p:txBody>
      </p:sp>
      <p:sp>
        <p:nvSpPr>
          <p:cNvPr id="38" name="Text 36"/>
          <p:cNvSpPr/>
          <p:nvPr/>
        </p:nvSpPr>
        <p:spPr>
          <a:xfrm>
            <a:off x="4956048" y="148590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cartera[cartera['prima'] &gt; 5000]</a:t>
            </a:r>
            <a:endParaRPr lang="en-US" sz="850" dirty="0"/>
          </a:p>
        </p:txBody>
      </p:sp>
      <p:sp>
        <p:nvSpPr>
          <p:cNvPr id="39" name="Text 37"/>
          <p:cNvSpPr/>
          <p:nvPr/>
        </p:nvSpPr>
        <p:spPr>
          <a:xfrm>
            <a:off x="4956048" y="163677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0" name="Text 38"/>
          <p:cNvSpPr/>
          <p:nvPr/>
        </p:nvSpPr>
        <p:spPr>
          <a:xfrm>
            <a:off x="4956048" y="1787652"/>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Filtro con AND (&amp;)</a:t>
            </a:r>
            <a:endParaRPr lang="en-US" sz="850" dirty="0"/>
          </a:p>
        </p:txBody>
      </p:sp>
      <p:sp>
        <p:nvSpPr>
          <p:cNvPr id="41" name="Text 39"/>
          <p:cNvSpPr/>
          <p:nvPr/>
        </p:nvSpPr>
        <p:spPr>
          <a:xfrm>
            <a:off x="4956048" y="193852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a:t>
            </a:r>
            <a:endParaRPr lang="en-US" sz="850" dirty="0"/>
          </a:p>
        </p:txBody>
      </p:sp>
      <p:sp>
        <p:nvSpPr>
          <p:cNvPr id="42" name="Text 40"/>
          <p:cNvSpPr/>
          <p:nvPr/>
        </p:nvSpPr>
        <p:spPr>
          <a:xfrm>
            <a:off x="4956048" y="2089404"/>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(cartera['prima'] &gt; 2000) &amp;</a:t>
            </a:r>
            <a:endParaRPr lang="en-US" sz="850" dirty="0"/>
          </a:p>
        </p:txBody>
      </p:sp>
      <p:sp>
        <p:nvSpPr>
          <p:cNvPr id="43" name="Text 41"/>
          <p:cNvSpPr/>
          <p:nvPr/>
        </p:nvSpPr>
        <p:spPr>
          <a:xfrm>
            <a:off x="4956048" y="224028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(cartera['activa'] == True)</a:t>
            </a:r>
            <a:endParaRPr lang="en-US" sz="850" dirty="0"/>
          </a:p>
        </p:txBody>
      </p:sp>
      <p:sp>
        <p:nvSpPr>
          <p:cNvPr id="44" name="Text 42"/>
          <p:cNvSpPr/>
          <p:nvPr/>
        </p:nvSpPr>
        <p:spPr>
          <a:xfrm>
            <a:off x="4956048" y="239115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45" name="Text 43"/>
          <p:cNvSpPr/>
          <p:nvPr/>
        </p:nvSpPr>
        <p:spPr>
          <a:xfrm>
            <a:off x="4956048" y="254203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6" name="Text 44"/>
          <p:cNvSpPr/>
          <p:nvPr/>
        </p:nvSpPr>
        <p:spPr>
          <a:xfrm>
            <a:off x="4956048" y="2692908"/>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Filtro con OR (|)</a:t>
            </a:r>
            <a:endParaRPr lang="en-US" sz="850" dirty="0"/>
          </a:p>
        </p:txBody>
      </p:sp>
      <p:sp>
        <p:nvSpPr>
          <p:cNvPr id="47" name="Text 45"/>
          <p:cNvSpPr/>
          <p:nvPr/>
        </p:nvSpPr>
        <p:spPr>
          <a:xfrm>
            <a:off x="4956048" y="2843784"/>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a:t>
            </a:r>
            <a:endParaRPr lang="en-US" sz="850" dirty="0"/>
          </a:p>
        </p:txBody>
      </p:sp>
      <p:sp>
        <p:nvSpPr>
          <p:cNvPr id="48" name="Text 46"/>
          <p:cNvSpPr/>
          <p:nvPr/>
        </p:nvSpPr>
        <p:spPr>
          <a:xfrm>
            <a:off x="4956048" y="299466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(cartera['edad'] &lt; 30) |</a:t>
            </a:r>
            <a:endParaRPr lang="en-US" sz="850" dirty="0"/>
          </a:p>
        </p:txBody>
      </p:sp>
      <p:sp>
        <p:nvSpPr>
          <p:cNvPr id="49" name="Text 47"/>
          <p:cNvSpPr/>
          <p:nvPr/>
        </p:nvSpPr>
        <p:spPr>
          <a:xfrm>
            <a:off x="4956048" y="314553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(cartera['prima'] &gt; 10000)</a:t>
            </a:r>
            <a:endParaRPr lang="en-US" sz="850" dirty="0"/>
          </a:p>
        </p:txBody>
      </p:sp>
      <p:sp>
        <p:nvSpPr>
          <p:cNvPr id="50" name="Text 48"/>
          <p:cNvSpPr/>
          <p:nvPr/>
        </p:nvSpPr>
        <p:spPr>
          <a:xfrm>
            <a:off x="4956048" y="329641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51" name="Text 49"/>
          <p:cNvSpPr/>
          <p:nvPr/>
        </p:nvSpPr>
        <p:spPr>
          <a:xfrm>
            <a:off x="4956048" y="3447288"/>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2" name="Text 50"/>
          <p:cNvSpPr/>
          <p:nvPr/>
        </p:nvSpPr>
        <p:spPr>
          <a:xfrm>
            <a:off x="4956048" y="3598164"/>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.query() — forma legible</a:t>
            </a:r>
            <a:endParaRPr lang="en-US" sz="850" dirty="0"/>
          </a:p>
        </p:txBody>
      </p:sp>
      <p:sp>
        <p:nvSpPr>
          <p:cNvPr id="53" name="Text 51"/>
          <p:cNvSpPr/>
          <p:nvPr/>
        </p:nvSpPr>
        <p:spPr>
          <a:xfrm>
            <a:off x="4956048" y="374904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cartera.query('prima &gt; 5000')</a:t>
            </a:r>
            <a:endParaRPr lang="en-US" sz="850" dirty="0"/>
          </a:p>
        </p:txBody>
      </p:sp>
      <p:sp>
        <p:nvSpPr>
          <p:cNvPr id="54" name="Text 52"/>
          <p:cNvSpPr/>
          <p:nvPr/>
        </p:nvSpPr>
        <p:spPr>
          <a:xfrm>
            <a:off x="4956048" y="389991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cartera.query('edad &gt; 40 &amp; activa')</a:t>
            </a:r>
            <a:endParaRPr lang="en-US" sz="850" dirty="0"/>
          </a:p>
        </p:txBody>
      </p:sp>
      <p:sp>
        <p:nvSpPr>
          <p:cNvPr id="55" name="Text 53"/>
          <p:cNvSpPr/>
          <p:nvPr/>
        </p:nvSpPr>
        <p:spPr>
          <a:xfrm>
            <a:off x="4956048" y="405079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6" name="Text 54"/>
          <p:cNvSpPr/>
          <p:nvPr/>
        </p:nvSpPr>
        <p:spPr>
          <a:xfrm>
            <a:off x="4956048" y="4201668"/>
            <a:ext cx="374904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Guardar el resultado filtrado</a:t>
            </a:r>
            <a:endParaRPr lang="en-US" sz="850" dirty="0"/>
          </a:p>
        </p:txBody>
      </p:sp>
      <p:sp>
        <p:nvSpPr>
          <p:cNvPr id="57" name="Text 55"/>
          <p:cNvSpPr/>
          <p:nvPr/>
        </p:nvSpPr>
        <p:spPr>
          <a:xfrm>
            <a:off x="4956048" y="4352544"/>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polizas_activas = cartera[</a:t>
            </a:r>
            <a:endParaRPr lang="en-US" sz="850" dirty="0"/>
          </a:p>
        </p:txBody>
      </p:sp>
      <p:sp>
        <p:nvSpPr>
          <p:cNvPr id="58" name="Text 56"/>
          <p:cNvSpPr/>
          <p:nvPr/>
        </p:nvSpPr>
        <p:spPr>
          <a:xfrm>
            <a:off x="4956048" y="4503420"/>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cartera['activa'] == True</a:t>
            </a:r>
            <a:endParaRPr lang="en-US" sz="850" dirty="0"/>
          </a:p>
        </p:txBody>
      </p:sp>
      <p:sp>
        <p:nvSpPr>
          <p:cNvPr id="59" name="Text 57"/>
          <p:cNvSpPr/>
          <p:nvPr/>
        </p:nvSpPr>
        <p:spPr>
          <a:xfrm>
            <a:off x="4956048" y="4654296"/>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60" name="Text 58"/>
          <p:cNvSpPr/>
          <p:nvPr/>
        </p:nvSpPr>
        <p:spPr>
          <a:xfrm>
            <a:off x="4956048" y="4805172"/>
            <a:ext cx="374904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print(f'{len(polizas_activas)} activas')</a:t>
            </a:r>
            <a:endParaRPr lang="en-US" sz="850" dirty="0"/>
          </a:p>
        </p:txBody>
      </p:sp>
      <p:sp>
        <p:nvSpPr>
          <p:cNvPr id="61" name="Shape 59"/>
          <p:cNvSpPr/>
          <p:nvPr/>
        </p:nvSpPr>
        <p:spPr>
          <a:xfrm>
            <a:off x="0" y="4892040"/>
            <a:ext cx="9144000" cy="251460"/>
          </a:xfrm>
          <a:prstGeom prst="rect">
            <a:avLst/>
          </a:prstGeom>
          <a:solidFill>
            <a:srgbClr val="071228"/>
          </a:solidFill>
          <a:ln w="12700">
            <a:solidFill>
              <a:srgbClr val="071228"/>
            </a:solidFill>
            <a:prstDash val="solid"/>
          </a:ln>
        </p:spPr>
      </p:sp>
      <p:sp>
        <p:nvSpPr>
          <p:cNvPr id="62" name="Text 60"/>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63" name="Text 61"/>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T5 · Acceso y filtros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926080" cy="256032"/>
          </a:xfrm>
          <a:prstGeom prst="rect">
            <a:avLst/>
          </a:prstGeom>
          <a:solidFill>
            <a:srgbClr val="1E8449"/>
          </a:solidFill>
          <a:ln w="12700">
            <a:solidFill>
              <a:srgbClr val="1E8449"/>
            </a:solidFill>
            <a:prstDash val="solid"/>
          </a:ln>
        </p:spPr>
      </p:sp>
      <p:sp>
        <p:nvSpPr>
          <p:cNvPr id="4" name="Text 2"/>
          <p:cNvSpPr/>
          <p:nvPr/>
        </p:nvSpPr>
        <p:spPr>
          <a:xfrm>
            <a:off x="365760" y="566928"/>
            <a:ext cx="292608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T5 · PANDAS · COLUMNAS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0D1B3E"/>
                </a:solidFill>
              </a:rPr>
              <a:t>Agregar Columnas y Calculos sobre DataFrames</a:t>
            </a:r>
            <a:endParaRPr lang="en-US" sz="26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Crear variables derivadas — lo que mas haras en T5 y modulos siguientes</a:t>
            </a:r>
            <a:endParaRPr lang="en-US" sz="1200" dirty="0"/>
          </a:p>
        </p:txBody>
      </p:sp>
      <p:sp>
        <p:nvSpPr>
          <p:cNvPr id="7" name="Shape 5"/>
          <p:cNvSpPr/>
          <p:nvPr/>
        </p:nvSpPr>
        <p:spPr>
          <a:xfrm>
            <a:off x="347472" y="987552"/>
            <a:ext cx="8449056" cy="4041648"/>
          </a:xfrm>
          <a:prstGeom prst="rect">
            <a:avLst/>
          </a:prstGeom>
          <a:solidFill>
            <a:srgbClr val="071228"/>
          </a:solidFill>
          <a:ln w="12700">
            <a:solidFill>
              <a:srgbClr val="0D7A8A"/>
            </a:solidFill>
            <a:prstDash val="solid"/>
          </a:ln>
        </p:spPr>
      </p:sp>
      <p:sp>
        <p:nvSpPr>
          <p:cNvPr id="8" name="Shape 6"/>
          <p:cNvSpPr/>
          <p:nvPr/>
        </p:nvSpPr>
        <p:spPr>
          <a:xfrm>
            <a:off x="347472" y="987552"/>
            <a:ext cx="8449056" cy="292608"/>
          </a:xfrm>
          <a:prstGeom prst="rect">
            <a:avLst/>
          </a:prstGeom>
          <a:solidFill>
            <a:srgbClr val="1E8449"/>
          </a:solidFill>
          <a:ln w="12700">
            <a:solidFill>
              <a:srgbClr val="1E8449"/>
            </a:solidFill>
            <a:prstDash val="solid"/>
          </a:ln>
        </p:spPr>
      </p:sp>
      <p:sp>
        <p:nvSpPr>
          <p:cNvPr id="9" name="Text 7"/>
          <p:cNvSpPr/>
          <p:nvPr/>
        </p:nvSpPr>
        <p:spPr>
          <a:xfrm>
            <a:off x="475488" y="987552"/>
            <a:ext cx="8229600" cy="292608"/>
          </a:xfrm>
          <a:prstGeom prst="rect">
            <a:avLst/>
          </a:prstGeom>
          <a:noFill/>
          <a:ln/>
        </p:spPr>
        <p:txBody>
          <a:bodyPr wrap="square" lIns="0" tIns="0" rIns="0" bIns="0" rtlCol="0" anchor="ctr"/>
          <a:lstStyle/>
          <a:p>
            <a:pPr indent="0" marL="0">
              <a:buNone/>
            </a:pPr>
            <a:r>
              <a:rPr lang="en-US" sz="1000" b="1" dirty="0">
                <a:solidFill>
                  <a:srgbClr val="FFFFFF"/>
                </a:solidFill>
              </a:rPr>
              <a:t>Agregar columnas derivadas a una cartera actuarial</a:t>
            </a:r>
            <a:endParaRPr lang="en-US" sz="1000" dirty="0"/>
          </a:p>
        </p:txBody>
      </p:sp>
      <p:sp>
        <p:nvSpPr>
          <p:cNvPr id="10" name="Text 8"/>
          <p:cNvSpPr/>
          <p:nvPr/>
        </p:nvSpPr>
        <p:spPr>
          <a:xfrm>
            <a:off x="475488" y="133502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import pandas as pd</a:t>
            </a:r>
            <a:endParaRPr lang="en-US" sz="850" dirty="0"/>
          </a:p>
        </p:txBody>
      </p:sp>
      <p:sp>
        <p:nvSpPr>
          <p:cNvPr id="11" name="Text 9"/>
          <p:cNvSpPr/>
          <p:nvPr/>
        </p:nvSpPr>
        <p:spPr>
          <a:xfrm>
            <a:off x="475488" y="148590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2" name="Text 10"/>
          <p:cNvSpPr/>
          <p:nvPr/>
        </p:nvSpPr>
        <p:spPr>
          <a:xfrm>
            <a:off x="475488" y="163677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 = pd.DataFrame({</a:t>
            </a:r>
            <a:endParaRPr lang="en-US" sz="850" dirty="0"/>
          </a:p>
        </p:txBody>
      </p:sp>
      <p:sp>
        <p:nvSpPr>
          <p:cNvPr id="13" name="Text 11"/>
          <p:cNvSpPr/>
          <p:nvPr/>
        </p:nvSpPr>
        <p:spPr>
          <a:xfrm>
            <a:off x="475488" y="178765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'poliza':    ['P01','P02','P03','P04','P05'],</a:t>
            </a:r>
            <a:endParaRPr lang="en-US" sz="850" dirty="0"/>
          </a:p>
        </p:txBody>
      </p:sp>
      <p:sp>
        <p:nvSpPr>
          <p:cNvPr id="14" name="Text 12"/>
          <p:cNvSpPr/>
          <p:nvPr/>
        </p:nvSpPr>
        <p:spPr>
          <a:xfrm>
            <a:off x="475488" y="193852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'prima':     [2400, 6200, 1900, 14500, 3200],</a:t>
            </a:r>
            <a:endParaRPr lang="en-US" sz="850" dirty="0"/>
          </a:p>
        </p:txBody>
      </p:sp>
      <p:sp>
        <p:nvSpPr>
          <p:cNvPr id="15" name="Text 13"/>
          <p:cNvSpPr/>
          <p:nvPr/>
        </p:nvSpPr>
        <p:spPr>
          <a:xfrm>
            <a:off x="475488" y="208940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'suma_aseg': [300_000, 1_000_000, 200_000, 2_000_000, 500_000],</a:t>
            </a:r>
            <a:endParaRPr lang="en-US" sz="850" dirty="0"/>
          </a:p>
        </p:txBody>
      </p:sp>
      <p:sp>
        <p:nvSpPr>
          <p:cNvPr id="16" name="Text 14"/>
          <p:cNvSpPr/>
          <p:nvPr/>
        </p:nvSpPr>
        <p:spPr>
          <a:xfrm>
            <a:off x="475488" y="224028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'siniest':   [0, 1, 0, 3, 0],</a:t>
            </a:r>
            <a:endParaRPr lang="en-US" sz="850" dirty="0"/>
          </a:p>
        </p:txBody>
      </p:sp>
      <p:sp>
        <p:nvSpPr>
          <p:cNvPr id="17" name="Text 15"/>
          <p:cNvSpPr/>
          <p:nvPr/>
        </p:nvSpPr>
        <p:spPr>
          <a:xfrm>
            <a:off x="475488" y="239115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'edad':      [28, 45, 32, 62, 38],</a:t>
            </a:r>
            <a:endParaRPr lang="en-US" sz="850" dirty="0"/>
          </a:p>
        </p:txBody>
      </p:sp>
      <p:sp>
        <p:nvSpPr>
          <p:cNvPr id="18" name="Text 16"/>
          <p:cNvSpPr/>
          <p:nvPr/>
        </p:nvSpPr>
        <p:spPr>
          <a:xfrm>
            <a:off x="475488" y="254203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19" name="Text 17"/>
          <p:cNvSpPr/>
          <p:nvPr/>
        </p:nvSpPr>
        <p:spPr>
          <a:xfrm>
            <a:off x="475488" y="269290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0" name="Text 18"/>
          <p:cNvSpPr/>
          <p:nvPr/>
        </p:nvSpPr>
        <p:spPr>
          <a:xfrm>
            <a:off x="475488" y="2843784"/>
            <a:ext cx="822960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Columnas derivadas por operacion ────────────────────────────────────────</a:t>
            </a:r>
            <a:endParaRPr lang="en-US" sz="850" dirty="0"/>
          </a:p>
        </p:txBody>
      </p:sp>
      <p:sp>
        <p:nvSpPr>
          <p:cNvPr id="21" name="Text 19"/>
          <p:cNvSpPr/>
          <p:nvPr/>
        </p:nvSpPr>
        <p:spPr>
          <a:xfrm>
            <a:off x="475488" y="299466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cartera['prima_mensual'] = cartera['prima'] / 12</a:t>
            </a:r>
            <a:endParaRPr lang="en-US" sz="850" dirty="0"/>
          </a:p>
        </p:txBody>
      </p:sp>
      <p:sp>
        <p:nvSpPr>
          <p:cNvPr id="22" name="Text 20"/>
          <p:cNvSpPr/>
          <p:nvPr/>
        </p:nvSpPr>
        <p:spPr>
          <a:xfrm>
            <a:off x="475488" y="314553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cartera['tasa_implicita'] = cartera['prima'] / cartera['suma_aseg']</a:t>
            </a:r>
            <a:endParaRPr lang="en-US" sz="850" dirty="0"/>
          </a:p>
        </p:txBody>
      </p:sp>
      <p:sp>
        <p:nvSpPr>
          <p:cNvPr id="23" name="Text 21"/>
          <p:cNvSpPr/>
          <p:nvPr/>
        </p:nvSpPr>
        <p:spPr>
          <a:xfrm>
            <a:off x="475488" y="329641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4" name="Text 22"/>
          <p:cNvSpPr/>
          <p:nvPr/>
        </p:nvSpPr>
        <p:spPr>
          <a:xfrm>
            <a:off x="475488" y="3447288"/>
            <a:ext cx="822960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Columna categorica con condicion ────────────────────────────────────────</a:t>
            </a:r>
            <a:endParaRPr lang="en-US" sz="850" dirty="0"/>
          </a:p>
        </p:txBody>
      </p:sp>
      <p:sp>
        <p:nvSpPr>
          <p:cNvPr id="25" name="Text 23"/>
          <p:cNvSpPr/>
          <p:nvPr/>
        </p:nvSpPr>
        <p:spPr>
          <a:xfrm>
            <a:off x="475488" y="359816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cartera['riesgo'] = 'BAJO'   # valor por defecto</a:t>
            </a:r>
            <a:endParaRPr lang="en-US" sz="850" dirty="0"/>
          </a:p>
        </p:txBody>
      </p:sp>
      <p:sp>
        <p:nvSpPr>
          <p:cNvPr id="26" name="Text 24"/>
          <p:cNvSpPr/>
          <p:nvPr/>
        </p:nvSpPr>
        <p:spPr>
          <a:xfrm>
            <a:off x="475488" y="374904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cartera.loc[cartera['siniest'] &gt;= 1, 'riesgo'] = 'MEDIO'</a:t>
            </a:r>
            <a:endParaRPr lang="en-US" sz="850" dirty="0"/>
          </a:p>
        </p:txBody>
      </p:sp>
      <p:sp>
        <p:nvSpPr>
          <p:cNvPr id="27" name="Text 25"/>
          <p:cNvSpPr/>
          <p:nvPr/>
        </p:nvSpPr>
        <p:spPr>
          <a:xfrm>
            <a:off x="475488" y="389991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cartera.loc[cartera['siniest'] &gt;= 3, 'riesgo'] = 'ALTO'</a:t>
            </a:r>
            <a:endParaRPr lang="en-US" sz="850" dirty="0"/>
          </a:p>
        </p:txBody>
      </p:sp>
      <p:sp>
        <p:nvSpPr>
          <p:cNvPr id="28" name="Text 26"/>
          <p:cNvSpPr/>
          <p:nvPr/>
        </p:nvSpPr>
        <p:spPr>
          <a:xfrm>
            <a:off x="475488" y="405079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9" name="Text 27"/>
          <p:cNvSpPr/>
          <p:nvPr/>
        </p:nvSpPr>
        <p:spPr>
          <a:xfrm>
            <a:off x="475488" y="4201668"/>
            <a:ext cx="822960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Columna con pd.cut — rangos de edad ─────────────────────────────────────</a:t>
            </a:r>
            <a:endParaRPr lang="en-US" sz="850" dirty="0"/>
          </a:p>
        </p:txBody>
      </p:sp>
      <p:sp>
        <p:nvSpPr>
          <p:cNvPr id="30" name="Text 28"/>
          <p:cNvSpPr/>
          <p:nvPr/>
        </p:nvSpPr>
        <p:spPr>
          <a:xfrm>
            <a:off x="475488" y="435254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cartera['grupo_edad'] = pd.cut(</a:t>
            </a:r>
            <a:endParaRPr lang="en-US" sz="850" dirty="0"/>
          </a:p>
        </p:txBody>
      </p:sp>
      <p:sp>
        <p:nvSpPr>
          <p:cNvPr id="31" name="Text 29"/>
          <p:cNvSpPr/>
          <p:nvPr/>
        </p:nvSpPr>
        <p:spPr>
          <a:xfrm>
            <a:off x="475488" y="450342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cartera['edad'],</a:t>
            </a:r>
            <a:endParaRPr lang="en-US" sz="850" dirty="0"/>
          </a:p>
        </p:txBody>
      </p:sp>
      <p:sp>
        <p:nvSpPr>
          <p:cNvPr id="32" name="Text 30"/>
          <p:cNvSpPr/>
          <p:nvPr/>
        </p:nvSpPr>
        <p:spPr>
          <a:xfrm>
            <a:off x="475488" y="465429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bins=[0, 30, 45, 60, 100],</a:t>
            </a:r>
            <a:endParaRPr lang="en-US" sz="850" dirty="0"/>
          </a:p>
        </p:txBody>
      </p:sp>
      <p:sp>
        <p:nvSpPr>
          <p:cNvPr id="33" name="Text 31"/>
          <p:cNvSpPr/>
          <p:nvPr/>
        </p:nvSpPr>
        <p:spPr>
          <a:xfrm>
            <a:off x="475488" y="480517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labels=['18-30', '31-45', '46-60', '61+']</a:t>
            </a:r>
            <a:endParaRPr lang="en-US" sz="850" dirty="0"/>
          </a:p>
        </p:txBody>
      </p:sp>
      <p:sp>
        <p:nvSpPr>
          <p:cNvPr id="34" name="Text 32"/>
          <p:cNvSpPr/>
          <p:nvPr/>
        </p:nvSpPr>
        <p:spPr>
          <a:xfrm>
            <a:off x="475488" y="495604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35" name="Text 33"/>
          <p:cNvSpPr/>
          <p:nvPr/>
        </p:nvSpPr>
        <p:spPr>
          <a:xfrm>
            <a:off x="475488" y="510692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6" name="Text 34"/>
          <p:cNvSpPr/>
          <p:nvPr/>
        </p:nvSpPr>
        <p:spPr>
          <a:xfrm>
            <a:off x="475488" y="5257800"/>
            <a:ext cx="8229600" cy="150876"/>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Ver resultado ────────────────────────────────────────────────────────────</a:t>
            </a:r>
            <a:endParaRPr lang="en-US" sz="850" dirty="0"/>
          </a:p>
        </p:txBody>
      </p:sp>
      <p:sp>
        <p:nvSpPr>
          <p:cNvPr id="37" name="Text 35"/>
          <p:cNvSpPr/>
          <p:nvPr/>
        </p:nvSpPr>
        <p:spPr>
          <a:xfrm>
            <a:off x="475488" y="540867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cartera[['poliza','prima','prima_mensual','tasa_implicita','riesgo','grupo_edad']]</a:t>
            </a:r>
            <a:endParaRPr lang="en-US" sz="850" dirty="0"/>
          </a:p>
        </p:txBody>
      </p:sp>
      <p:sp>
        <p:nvSpPr>
          <p:cNvPr id="38" name="Shape 36"/>
          <p:cNvSpPr/>
          <p:nvPr/>
        </p:nvSpPr>
        <p:spPr>
          <a:xfrm>
            <a:off x="0" y="4892040"/>
            <a:ext cx="9144000" cy="251460"/>
          </a:xfrm>
          <a:prstGeom prst="rect">
            <a:avLst/>
          </a:prstGeom>
          <a:solidFill>
            <a:srgbClr val="071228"/>
          </a:solidFill>
          <a:ln w="12700">
            <a:solidFill>
              <a:srgbClr val="071228"/>
            </a:solidFill>
            <a:prstDash val="solid"/>
          </a:ln>
        </p:spPr>
      </p:sp>
      <p:sp>
        <p:nvSpPr>
          <p:cNvPr id="39" name="Text 37"/>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40" name="Text 38"/>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T5 · Columnas derivadas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Text 1"/>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600" b="1" dirty="0">
                <a:solidFill>
                  <a:srgbClr val="FFFFFF"/>
                </a:solidFill>
              </a:rPr>
              <a:t>Ejercicio Integrador</a:t>
            </a:r>
            <a:endParaRPr lang="en-US" sz="26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25 minutos — modulos propios + pandas juntos</a:t>
            </a:r>
            <a:endParaRPr lang="en-US" sz="1200" dirty="0"/>
          </a:p>
        </p:txBody>
      </p:sp>
      <p:sp>
        <p:nvSpPr>
          <p:cNvPr id="5" name="Shape 3"/>
          <p:cNvSpPr/>
          <p:nvPr/>
        </p:nvSpPr>
        <p:spPr>
          <a:xfrm>
            <a:off x="347472" y="987552"/>
            <a:ext cx="8449056" cy="969264"/>
          </a:xfrm>
          <a:prstGeom prst="rect">
            <a:avLst/>
          </a:prstGeom>
          <a:solidFill>
            <a:srgbClr val="071228"/>
          </a:solidFill>
          <a:ln w="12700">
            <a:solidFill>
              <a:srgbClr val="0D7A8A"/>
            </a:solidFill>
            <a:prstDash val="solid"/>
          </a:ln>
        </p:spPr>
      </p:sp>
      <p:sp>
        <p:nvSpPr>
          <p:cNvPr id="6" name="Shape 4"/>
          <p:cNvSpPr/>
          <p:nvPr/>
        </p:nvSpPr>
        <p:spPr>
          <a:xfrm>
            <a:off x="347472" y="987552"/>
            <a:ext cx="8449056" cy="292608"/>
          </a:xfrm>
          <a:prstGeom prst="rect">
            <a:avLst/>
          </a:prstGeom>
          <a:solidFill>
            <a:srgbClr val="1A5276"/>
          </a:solidFill>
          <a:ln w="12700">
            <a:solidFill>
              <a:srgbClr val="1A5276"/>
            </a:solidFill>
            <a:prstDash val="solid"/>
          </a:ln>
        </p:spPr>
      </p:sp>
      <p:sp>
        <p:nvSpPr>
          <p:cNvPr id="7" name="Text 5"/>
          <p:cNvSpPr/>
          <p:nvPr/>
        </p:nvSpPr>
        <p:spPr>
          <a:xfrm>
            <a:off x="475488" y="987552"/>
            <a:ext cx="8229600" cy="292608"/>
          </a:xfrm>
          <a:prstGeom prst="rect">
            <a:avLst/>
          </a:prstGeom>
          <a:noFill/>
          <a:ln/>
        </p:spPr>
        <p:txBody>
          <a:bodyPr wrap="square" lIns="0" tIns="0" rIns="0" bIns="0" rtlCol="0" anchor="ctr"/>
          <a:lstStyle/>
          <a:p>
            <a:pPr indent="0" marL="0">
              <a:buNone/>
            </a:pPr>
            <a:r>
              <a:rPr lang="en-US" sz="1000" b="1" dirty="0">
                <a:solidFill>
                  <a:srgbClr val="FFFFFF"/>
                </a:solidFill>
              </a:rPr>
              <a:t>Datos de la cartera</a:t>
            </a:r>
            <a:endParaRPr lang="en-US" sz="1000" dirty="0"/>
          </a:p>
        </p:txBody>
      </p:sp>
      <p:sp>
        <p:nvSpPr>
          <p:cNvPr id="8" name="Text 6"/>
          <p:cNvSpPr/>
          <p:nvPr/>
        </p:nvSpPr>
        <p:spPr>
          <a:xfrm>
            <a:off x="475488" y="1335024"/>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import pandas as pd</a:t>
            </a:r>
            <a:endParaRPr lang="en-US" sz="850" dirty="0"/>
          </a:p>
        </p:txBody>
      </p:sp>
      <p:sp>
        <p:nvSpPr>
          <p:cNvPr id="9" name="Text 7"/>
          <p:cNvSpPr/>
          <p:nvPr/>
        </p:nvSpPr>
        <p:spPr>
          <a:xfrm>
            <a:off x="475488" y="1485900"/>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cartera = pd.DataFrame({'poliza':['A-01','A-02','A-03','A-04','A-05'],</a:t>
            </a:r>
            <a:endParaRPr lang="en-US" sz="850" dirty="0"/>
          </a:p>
        </p:txBody>
      </p:sp>
      <p:sp>
        <p:nvSpPr>
          <p:cNvPr id="10" name="Text 8"/>
          <p:cNvSpPr/>
          <p:nvPr/>
        </p:nvSpPr>
        <p:spPr>
          <a:xfrm>
            <a:off x="475488" y="1636776"/>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'nombre':['Sofia','Miguel','Laura','Roberto','Carmen'], 'edad':[24,38,31,55,42],</a:t>
            </a:r>
            <a:endParaRPr lang="en-US" sz="850" dirty="0"/>
          </a:p>
        </p:txBody>
      </p:sp>
      <p:sp>
        <p:nvSpPr>
          <p:cNvPr id="11" name="Text 9"/>
          <p:cNvSpPr/>
          <p:nvPr/>
        </p:nvSpPr>
        <p:spPr>
          <a:xfrm>
            <a:off x="475488" y="1787652"/>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'vehiculo':['Sedan','SUV','Hatchback','SUV','Sedan'], 'siniest':[0,1,0,2,0],</a:t>
            </a:r>
            <a:endParaRPr lang="en-US" sz="850" dirty="0"/>
          </a:p>
        </p:txBody>
      </p:sp>
      <p:sp>
        <p:nvSpPr>
          <p:cNvPr id="12" name="Text 10"/>
          <p:cNvSpPr/>
          <p:nvPr/>
        </p:nvSpPr>
        <p:spPr>
          <a:xfrm>
            <a:off x="475488" y="1938528"/>
            <a:ext cx="8229600" cy="15087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'suma':[300_000,500_000,250_000,600_000,350_000]})</a:t>
            </a:r>
            <a:endParaRPr lang="en-US" sz="850" dirty="0"/>
          </a:p>
        </p:txBody>
      </p:sp>
      <p:sp>
        <p:nvSpPr>
          <p:cNvPr id="13" name="Text 11"/>
          <p:cNvSpPr/>
          <p:nvPr/>
        </p:nvSpPr>
        <p:spPr>
          <a:xfrm>
            <a:off x="347472" y="2029968"/>
            <a:ext cx="8412480" cy="256032"/>
          </a:xfrm>
          <a:prstGeom prst="rect">
            <a:avLst/>
          </a:prstGeom>
          <a:noFill/>
          <a:ln/>
        </p:spPr>
        <p:txBody>
          <a:bodyPr wrap="square" lIns="0" tIns="0" rIns="0" bIns="0" rtlCol="0" anchor="ctr"/>
          <a:lstStyle/>
          <a:p>
            <a:pPr indent="0" marL="0">
              <a:buNone/>
            </a:pPr>
            <a:r>
              <a:rPr lang="en-US" sz="1300" b="1" dirty="0">
                <a:solidFill>
                  <a:srgbClr val="FFFFFF"/>
                </a:solidFill>
              </a:rPr>
              <a:t>Tareas:</a:t>
            </a:r>
            <a:endParaRPr lang="en-US" sz="1300" dirty="0"/>
          </a:p>
        </p:txBody>
      </p:sp>
      <p:sp>
        <p:nvSpPr>
          <p:cNvPr id="14" name="Text 12"/>
          <p:cNvSpPr/>
          <p:nvPr/>
        </p:nvSpPr>
        <p:spPr>
          <a:xfrm>
            <a:off x="438912" y="2340864"/>
            <a:ext cx="8357616" cy="347472"/>
          </a:xfrm>
          <a:prstGeom prst="rect">
            <a:avLst/>
          </a:prstGeom>
          <a:noFill/>
          <a:ln/>
        </p:spPr>
        <p:txBody>
          <a:bodyPr wrap="square" lIns="0" tIns="0" rIns="0" bIns="0" rtlCol="0" anchor="ctr"/>
          <a:lstStyle/>
          <a:p>
            <a:pPr indent="0" marL="0">
              <a:buNone/>
            </a:pPr>
            <a:r>
              <a:rPr lang="en-US" sz="1100" dirty="0">
                <a:solidFill>
                  <a:srgbClr val="F0F4F8"/>
                </a:solidFill>
              </a:rPr>
              <a:t>1. En mi_modulo.py agrega la funcion calcular_prima_autos(suma, vehiculo) — usa un dict de tarifas por vehiculo.</a:t>
            </a:r>
            <a:endParaRPr lang="en-US" sz="1100" dirty="0"/>
          </a:p>
        </p:txBody>
      </p:sp>
      <p:sp>
        <p:nvSpPr>
          <p:cNvPr id="15" name="Text 13"/>
          <p:cNvSpPr/>
          <p:nvPr/>
        </p:nvSpPr>
        <p:spPr>
          <a:xfrm>
            <a:off x="438912" y="2743200"/>
            <a:ext cx="8357616" cy="347472"/>
          </a:xfrm>
          <a:prstGeom prst="rect">
            <a:avLst/>
          </a:prstGeom>
          <a:noFill/>
          <a:ln/>
        </p:spPr>
        <p:txBody>
          <a:bodyPr wrap="square" lIns="0" tIns="0" rIns="0" bIns="0" rtlCol="0" anchor="ctr"/>
          <a:lstStyle/>
          <a:p>
            <a:pPr indent="0" marL="0">
              <a:buNone/>
            </a:pPr>
            <a:r>
              <a:rPr lang="en-US" sz="1100" dirty="0">
                <a:solidFill>
                  <a:srgbClr val="F0F4F8"/>
                </a:solidFill>
              </a:rPr>
              <a:t>2. Importa tu modulo en el notebook y aplica calcular_prima_autos() a toda la cartera para crear la columna 'prima'.</a:t>
            </a:r>
            <a:endParaRPr lang="en-US" sz="1100" dirty="0"/>
          </a:p>
        </p:txBody>
      </p:sp>
      <p:sp>
        <p:nvSpPr>
          <p:cNvPr id="16" name="Text 14"/>
          <p:cNvSpPr/>
          <p:nvPr/>
        </p:nvSpPr>
        <p:spPr>
          <a:xfrm>
            <a:off x="438912" y="3145536"/>
            <a:ext cx="8357616" cy="347472"/>
          </a:xfrm>
          <a:prstGeom prst="rect">
            <a:avLst/>
          </a:prstGeom>
          <a:noFill/>
          <a:ln/>
        </p:spPr>
        <p:txBody>
          <a:bodyPr wrap="square" lIns="0" tIns="0" rIns="0" bIns="0" rtlCol="0" anchor="ctr"/>
          <a:lstStyle/>
          <a:p>
            <a:pPr indent="0" marL="0">
              <a:buNone/>
            </a:pPr>
            <a:r>
              <a:rPr lang="en-US" sz="1100" dirty="0">
                <a:solidFill>
                  <a:srgbClr val="F0F4F8"/>
                </a:solidFill>
              </a:rPr>
              <a:t>3. Crea la columna 'riesgo' con clasificar_riesgo() de tu modulo (usando el campo siniest).</a:t>
            </a:r>
            <a:endParaRPr lang="en-US" sz="1100" dirty="0"/>
          </a:p>
        </p:txBody>
      </p:sp>
      <p:sp>
        <p:nvSpPr>
          <p:cNvPr id="17" name="Text 15"/>
          <p:cNvSpPr/>
          <p:nvPr/>
        </p:nvSpPr>
        <p:spPr>
          <a:xfrm>
            <a:off x="438912" y="3547872"/>
            <a:ext cx="8357616" cy="347472"/>
          </a:xfrm>
          <a:prstGeom prst="rect">
            <a:avLst/>
          </a:prstGeom>
          <a:noFill/>
          <a:ln/>
        </p:spPr>
        <p:txBody>
          <a:bodyPr wrap="square" lIns="0" tIns="0" rIns="0" bIns="0" rtlCol="0" anchor="ctr"/>
          <a:lstStyle/>
          <a:p>
            <a:pPr indent="0" marL="0">
              <a:buNone/>
            </a:pPr>
            <a:r>
              <a:rPr lang="en-US" sz="1100" dirty="0">
                <a:solidFill>
                  <a:srgbClr val="F0F4F8"/>
                </a:solidFill>
              </a:rPr>
              <a:t>4. Crea la columna 'grupo_edad' usando pd.cut().</a:t>
            </a:r>
            <a:endParaRPr lang="en-US" sz="1100" dirty="0"/>
          </a:p>
        </p:txBody>
      </p:sp>
      <p:sp>
        <p:nvSpPr>
          <p:cNvPr id="18" name="Text 16"/>
          <p:cNvSpPr/>
          <p:nvPr/>
        </p:nvSpPr>
        <p:spPr>
          <a:xfrm>
            <a:off x="438912" y="3950208"/>
            <a:ext cx="8357616" cy="347472"/>
          </a:xfrm>
          <a:prstGeom prst="rect">
            <a:avLst/>
          </a:prstGeom>
          <a:noFill/>
          <a:ln/>
        </p:spPr>
        <p:txBody>
          <a:bodyPr wrap="square" lIns="0" tIns="0" rIns="0" bIns="0" rtlCol="0" anchor="ctr"/>
          <a:lstStyle/>
          <a:p>
            <a:pPr indent="0" marL="0">
              <a:buNone/>
            </a:pPr>
            <a:r>
              <a:rPr lang="en-US" sz="1100" dirty="0">
                <a:solidFill>
                  <a:srgbClr val="F0F4F8"/>
                </a:solidFill>
              </a:rPr>
              <a:t>5. Filtra las polizas de alto riesgo e imprime su nombre, vehiculo, prima y grupo de edad.</a:t>
            </a:r>
            <a:endParaRPr lang="en-US" sz="1100" dirty="0"/>
          </a:p>
        </p:txBody>
      </p:sp>
      <p:sp>
        <p:nvSpPr>
          <p:cNvPr id="19" name="Text 17"/>
          <p:cNvSpPr/>
          <p:nvPr/>
        </p:nvSpPr>
        <p:spPr>
          <a:xfrm>
            <a:off x="438912" y="4352544"/>
            <a:ext cx="8357616" cy="347472"/>
          </a:xfrm>
          <a:prstGeom prst="rect">
            <a:avLst/>
          </a:prstGeom>
          <a:noFill/>
          <a:ln/>
        </p:spPr>
        <p:txBody>
          <a:bodyPr wrap="square" lIns="0" tIns="0" rIns="0" bIns="0" rtlCol="0" anchor="ctr"/>
          <a:lstStyle/>
          <a:p>
            <a:pPr indent="0" marL="0">
              <a:buNone/>
            </a:pPr>
            <a:r>
              <a:rPr lang="en-US" sz="1100" dirty="0">
                <a:solidFill>
                  <a:srgbClr val="F0F4F8"/>
                </a:solidFill>
              </a:rPr>
              <a:t>6. Bonus: calcula la prima total y promedio de la cartera con .sum() y .mean().</a:t>
            </a:r>
            <a:endParaRPr lang="en-US" sz="1100" dirty="0"/>
          </a:p>
        </p:txBody>
      </p:sp>
      <p:sp>
        <p:nvSpPr>
          <p:cNvPr id="20" name="Shape 18"/>
          <p:cNvSpPr/>
          <p:nvPr/>
        </p:nvSpPr>
        <p:spPr>
          <a:xfrm>
            <a:off x="0" y="4892040"/>
            <a:ext cx="9144000" cy="251460"/>
          </a:xfrm>
          <a:prstGeom prst="rect">
            <a:avLst/>
          </a:prstGeom>
          <a:solidFill>
            <a:srgbClr val="071228"/>
          </a:solidFill>
          <a:ln w="12700">
            <a:solidFill>
              <a:srgbClr val="071228"/>
            </a:solidFill>
            <a:prstDash val="solid"/>
          </a:ln>
        </p:spPr>
      </p:sp>
      <p:sp>
        <p:nvSpPr>
          <p:cNvPr id="21" name="Text 19"/>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6  ·  Sabado 25 de abril 2026</a:t>
            </a:r>
            <a:endParaRPr lang="en-US" sz="850" dirty="0"/>
          </a:p>
        </p:txBody>
      </p:sp>
      <p:sp>
        <p:nvSpPr>
          <p:cNvPr id="22" name="Text 20"/>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Ejercicio Integrador</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sp>
      <p:sp>
        <p:nvSpPr>
          <p:cNvPr id="3" name="Shape 1"/>
          <p:cNvSpPr/>
          <p:nvPr/>
        </p:nvSpPr>
        <p:spPr>
          <a:xfrm>
            <a:off x="0" y="4389120"/>
            <a:ext cx="9144000" cy="754380"/>
          </a:xfrm>
          <a:prstGeom prst="rect">
            <a:avLst/>
          </a:prstGeom>
          <a:solidFill>
            <a:srgbClr val="071228"/>
          </a:solidFill>
          <a:ln w="12700">
            <a:solidFill>
              <a:srgbClr val="071228"/>
            </a:solidFill>
            <a:prstDash val="solid"/>
          </a:ln>
        </p:spPr>
      </p:sp>
      <p:sp>
        <p:nvSpPr>
          <p:cNvPr id="4" name="Text 2"/>
          <p:cNvSpPr/>
          <p:nvPr/>
        </p:nvSpPr>
        <p:spPr>
          <a:xfrm>
            <a:off x="411480" y="292608"/>
            <a:ext cx="8229600" cy="512064"/>
          </a:xfrm>
          <a:prstGeom prst="rect">
            <a:avLst/>
          </a:prstGeom>
          <a:noFill/>
          <a:ln/>
        </p:spPr>
        <p:txBody>
          <a:bodyPr wrap="square" lIns="0" tIns="0" rIns="0" bIns="0" rtlCol="0" anchor="ctr"/>
          <a:lstStyle/>
          <a:p>
            <a:pPr indent="0" marL="0">
              <a:buNone/>
            </a:pPr>
            <a:r>
              <a:rPr lang="en-US" sz="2200" b="1" dirty="0">
                <a:solidFill>
                  <a:srgbClr val="FFFFFF"/>
                </a:solidFill>
              </a:rPr>
              <a:t>Sesion 6 — T4 completo + T5 arranca</a:t>
            </a:r>
            <a:endParaRPr lang="en-US" sz="2200" dirty="0"/>
          </a:p>
        </p:txBody>
      </p:sp>
      <p:sp>
        <p:nvSpPr>
          <p:cNvPr id="5" name="Text 3"/>
          <p:cNvSpPr/>
          <p:nvPr/>
        </p:nvSpPr>
        <p:spPr>
          <a:xfrm>
            <a:off x="411480" y="822960"/>
            <a:ext cx="8229600" cy="274320"/>
          </a:xfrm>
          <a:prstGeom prst="rect">
            <a:avLst/>
          </a:prstGeom>
          <a:noFill/>
          <a:ln/>
        </p:spPr>
        <p:txBody>
          <a:bodyPr wrap="square" lIns="0" tIns="0" rIns="0" bIns="0" rtlCol="0" anchor="ctr"/>
          <a:lstStyle/>
          <a:p>
            <a:pPr indent="0" marL="0">
              <a:buNone/>
            </a:pPr>
            <a:r>
              <a:rPr lang="en-US" sz="1300" dirty="0">
                <a:solidFill>
                  <a:srgbClr val="A8D8EA"/>
                </a:solidFill>
              </a:rPr>
              <a:t>4 horas completadas</a:t>
            </a:r>
            <a:endParaRPr lang="en-US" sz="1300" dirty="0"/>
          </a:p>
        </p:txBody>
      </p:sp>
      <p:pic>
        <p:nvPicPr>
          <p:cNvPr id="6" name="Image 0" descr="preencoded.png">    </p:cNvPr>
          <p:cNvPicPr>
            <a:picLocks noChangeAspect="1"/>
          </p:cNvPicPr>
          <p:nvPr/>
        </p:nvPicPr>
        <p:blipFill>
          <a:blip r:embed="rId1"/>
          <a:stretch>
            <a:fillRect/>
          </a:stretch>
        </p:blipFill>
        <p:spPr>
          <a:xfrm>
            <a:off x="411480" y="1335024"/>
            <a:ext cx="219456" cy="219456"/>
          </a:xfrm>
          <a:prstGeom prst="rect">
            <a:avLst/>
          </a:prstGeom>
        </p:spPr>
      </p:pic>
      <p:sp>
        <p:nvSpPr>
          <p:cNvPr id="7" name="Text 4"/>
          <p:cNvSpPr/>
          <p:nvPr/>
        </p:nvSpPr>
        <p:spPr>
          <a:xfrm>
            <a:off x="749808" y="1316736"/>
            <a:ext cx="8046720" cy="310896"/>
          </a:xfrm>
          <a:prstGeom prst="rect">
            <a:avLst/>
          </a:prstGeom>
          <a:noFill/>
          <a:ln/>
        </p:spPr>
        <p:txBody>
          <a:bodyPr wrap="square" lIns="0" tIns="0" rIns="0" bIns="0" rtlCol="0" anchor="ctr"/>
          <a:lstStyle/>
          <a:p>
            <a:pPr indent="0" marL="0">
              <a:buNone/>
            </a:pPr>
            <a:r>
              <a:rPr lang="en-US" sz="1200" dirty="0">
                <a:solidFill>
                  <a:srgbClr val="F0F4F8"/>
                </a:solidFill>
              </a:rPr>
              <a:t>Modulos propios: crear un .py con funciones y usarlo desde el notebook</a:t>
            </a:r>
            <a:endParaRPr lang="en-US" sz="1200" dirty="0"/>
          </a:p>
        </p:txBody>
      </p:sp>
      <p:pic>
        <p:nvPicPr>
          <p:cNvPr id="8" name="Image 1" descr="preencoded.png">    </p:cNvPr>
          <p:cNvPicPr>
            <a:picLocks noChangeAspect="1"/>
          </p:cNvPicPr>
          <p:nvPr/>
        </p:nvPicPr>
        <p:blipFill>
          <a:blip r:embed="rId2"/>
          <a:stretch>
            <a:fillRect/>
          </a:stretch>
        </p:blipFill>
        <p:spPr>
          <a:xfrm>
            <a:off x="411480" y="1755648"/>
            <a:ext cx="219456" cy="219456"/>
          </a:xfrm>
          <a:prstGeom prst="rect">
            <a:avLst/>
          </a:prstGeom>
        </p:spPr>
      </p:pic>
      <p:sp>
        <p:nvSpPr>
          <p:cNvPr id="9" name="Text 5"/>
          <p:cNvSpPr/>
          <p:nvPr/>
        </p:nvSpPr>
        <p:spPr>
          <a:xfrm>
            <a:off x="749808" y="1737360"/>
            <a:ext cx="8046720" cy="310896"/>
          </a:xfrm>
          <a:prstGeom prst="rect">
            <a:avLst/>
          </a:prstGeom>
          <a:noFill/>
          <a:ln/>
        </p:spPr>
        <p:txBody>
          <a:bodyPr wrap="square" lIns="0" tIns="0" rIns="0" bIns="0" rtlCol="0" anchor="ctr"/>
          <a:lstStyle/>
          <a:p>
            <a:pPr indent="0" marL="0">
              <a:buNone/>
            </a:pPr>
            <a:r>
              <a:rPr lang="en-US" sz="1200" dirty="0">
                <a:solidFill>
                  <a:srgbClr val="F0F4F8"/>
                </a:solidFill>
              </a:rPr>
              <a:t>tabla_tarifas.py: clase actuarial real con docstrings y __repr__</a:t>
            </a:r>
            <a:endParaRPr lang="en-US" sz="1200" dirty="0"/>
          </a:p>
        </p:txBody>
      </p:sp>
      <p:pic>
        <p:nvPicPr>
          <p:cNvPr id="10" name="Image 2" descr="preencoded.png">    </p:cNvPr>
          <p:cNvPicPr>
            <a:picLocks noChangeAspect="1"/>
          </p:cNvPicPr>
          <p:nvPr/>
        </p:nvPicPr>
        <p:blipFill>
          <a:blip r:embed="rId3"/>
          <a:stretch>
            <a:fillRect/>
          </a:stretch>
        </p:blipFill>
        <p:spPr>
          <a:xfrm>
            <a:off x="411480" y="2176272"/>
            <a:ext cx="219456" cy="219456"/>
          </a:xfrm>
          <a:prstGeom prst="rect">
            <a:avLst/>
          </a:prstGeom>
        </p:spPr>
      </p:pic>
      <p:sp>
        <p:nvSpPr>
          <p:cNvPr id="11" name="Text 6"/>
          <p:cNvSpPr/>
          <p:nvPr/>
        </p:nvSpPr>
        <p:spPr>
          <a:xfrm>
            <a:off x="749808" y="2157984"/>
            <a:ext cx="8046720" cy="310896"/>
          </a:xfrm>
          <a:prstGeom prst="rect">
            <a:avLst/>
          </a:prstGeom>
          <a:noFill/>
          <a:ln/>
        </p:spPr>
        <p:txBody>
          <a:bodyPr wrap="square" lIns="0" tIns="0" rIns="0" bIns="0" rtlCol="0" anchor="ctr"/>
          <a:lstStyle/>
          <a:p>
            <a:pPr indent="0" marL="0">
              <a:buNone/>
            </a:pPr>
            <a:r>
              <a:rPr lang="en-US" sz="1200" dirty="0">
                <a:solidFill>
                  <a:srgbClr val="F0F4F8"/>
                </a:solidFill>
              </a:rPr>
              <a:t>Scripts .py: if __name__ == '__main__' — ejecutar desde terminal</a:t>
            </a:r>
            <a:endParaRPr lang="en-US" sz="1200" dirty="0"/>
          </a:p>
        </p:txBody>
      </p:sp>
      <p:pic>
        <p:nvPicPr>
          <p:cNvPr id="12" name="Image 3" descr="preencoded.png">    </p:cNvPr>
          <p:cNvPicPr>
            <a:picLocks noChangeAspect="1"/>
          </p:cNvPicPr>
          <p:nvPr/>
        </p:nvPicPr>
        <p:blipFill>
          <a:blip r:embed="rId4"/>
          <a:stretch>
            <a:fillRect/>
          </a:stretch>
        </p:blipFill>
        <p:spPr>
          <a:xfrm>
            <a:off x="411480" y="2596896"/>
            <a:ext cx="219456" cy="219456"/>
          </a:xfrm>
          <a:prstGeom prst="rect">
            <a:avLst/>
          </a:prstGeom>
        </p:spPr>
      </p:pic>
      <p:sp>
        <p:nvSpPr>
          <p:cNvPr id="13" name="Text 7"/>
          <p:cNvSpPr/>
          <p:nvPr/>
        </p:nvSpPr>
        <p:spPr>
          <a:xfrm>
            <a:off x="749808" y="2578608"/>
            <a:ext cx="8046720" cy="310896"/>
          </a:xfrm>
          <a:prstGeom prst="rect">
            <a:avLst/>
          </a:prstGeom>
          <a:noFill/>
          <a:ln/>
        </p:spPr>
        <p:txBody>
          <a:bodyPr wrap="square" lIns="0" tIns="0" rIns="0" bIns="0" rtlCol="0" anchor="ctr"/>
          <a:lstStyle/>
          <a:p>
            <a:pPr indent="0" marL="0">
              <a:buNone/>
            </a:pPr>
            <a:r>
              <a:rPr lang="en-US" sz="1200" dirty="0">
                <a:solidFill>
                  <a:srgbClr val="F0F4F8"/>
                </a:solidFill>
              </a:rPr>
              <a:t>T4 COMPLETO: funciones, modulos, excepciones, scripts</a:t>
            </a:r>
            <a:endParaRPr lang="en-US" sz="1200" dirty="0"/>
          </a:p>
        </p:txBody>
      </p:sp>
      <p:pic>
        <p:nvPicPr>
          <p:cNvPr id="14" name="Image 4" descr="preencoded.png">    </p:cNvPr>
          <p:cNvPicPr>
            <a:picLocks noChangeAspect="1"/>
          </p:cNvPicPr>
          <p:nvPr/>
        </p:nvPicPr>
        <p:blipFill>
          <a:blip r:embed="rId5"/>
          <a:stretch>
            <a:fillRect/>
          </a:stretch>
        </p:blipFill>
        <p:spPr>
          <a:xfrm>
            <a:off x="411480" y="3017520"/>
            <a:ext cx="219456" cy="219456"/>
          </a:xfrm>
          <a:prstGeom prst="rect">
            <a:avLst/>
          </a:prstGeom>
        </p:spPr>
      </p:pic>
      <p:sp>
        <p:nvSpPr>
          <p:cNvPr id="15" name="Text 8"/>
          <p:cNvSpPr/>
          <p:nvPr/>
        </p:nvSpPr>
        <p:spPr>
          <a:xfrm>
            <a:off x="749808" y="2999232"/>
            <a:ext cx="8046720" cy="310896"/>
          </a:xfrm>
          <a:prstGeom prst="rect">
            <a:avLst/>
          </a:prstGeom>
          <a:noFill/>
          <a:ln/>
        </p:spPr>
        <p:txBody>
          <a:bodyPr wrap="square" lIns="0" tIns="0" rIns="0" bIns="0" rtlCol="0" anchor="ctr"/>
          <a:lstStyle/>
          <a:p>
            <a:pPr indent="0" marL="0">
              <a:buNone/>
            </a:pPr>
            <a:r>
              <a:rPr lang="en-US" sz="1200" dirty="0">
                <a:solidFill>
                  <a:srgbClr val="F0F4F8"/>
                </a:solidFill>
              </a:rPr>
              <a:t>Pandas Series: array con etiquetas, operaciones vectorizadas</a:t>
            </a:r>
            <a:endParaRPr lang="en-US" sz="1200" dirty="0"/>
          </a:p>
        </p:txBody>
      </p:sp>
      <p:pic>
        <p:nvPicPr>
          <p:cNvPr id="16" name="Image 5" descr="preencoded.png">    </p:cNvPr>
          <p:cNvPicPr>
            <a:picLocks noChangeAspect="1"/>
          </p:cNvPicPr>
          <p:nvPr/>
        </p:nvPicPr>
        <p:blipFill>
          <a:blip r:embed="rId6"/>
          <a:stretch>
            <a:fillRect/>
          </a:stretch>
        </p:blipFill>
        <p:spPr>
          <a:xfrm>
            <a:off x="411480" y="3438144"/>
            <a:ext cx="219456" cy="219456"/>
          </a:xfrm>
          <a:prstGeom prst="rect">
            <a:avLst/>
          </a:prstGeom>
        </p:spPr>
      </p:pic>
      <p:sp>
        <p:nvSpPr>
          <p:cNvPr id="17" name="Text 9"/>
          <p:cNvSpPr/>
          <p:nvPr/>
        </p:nvSpPr>
        <p:spPr>
          <a:xfrm>
            <a:off x="749808" y="3419856"/>
            <a:ext cx="8046720" cy="310896"/>
          </a:xfrm>
          <a:prstGeom prst="rect">
            <a:avLst/>
          </a:prstGeom>
          <a:noFill/>
          <a:ln/>
        </p:spPr>
        <p:txBody>
          <a:bodyPr wrap="square" lIns="0" tIns="0" rIns="0" bIns="0" rtlCol="0" anchor="ctr"/>
          <a:lstStyle/>
          <a:p>
            <a:pPr indent="0" marL="0">
              <a:buNone/>
            </a:pPr>
            <a:r>
              <a:rPr lang="en-US" sz="1200" dirty="0">
                <a:solidFill>
                  <a:srgbClr val="F0F4F8"/>
                </a:solidFill>
              </a:rPr>
              <a:t>Pandas DataFrame: crear, explorar, acceder, filtrar, columnas derivadas</a:t>
            </a:r>
            <a:endParaRPr lang="en-US" sz="1200" dirty="0"/>
          </a:p>
        </p:txBody>
      </p:sp>
      <p:sp>
        <p:nvSpPr>
          <p:cNvPr id="18" name="Shape 10"/>
          <p:cNvSpPr/>
          <p:nvPr/>
        </p:nvSpPr>
        <p:spPr>
          <a:xfrm>
            <a:off x="411480" y="4005072"/>
            <a:ext cx="8321040" cy="329184"/>
          </a:xfrm>
          <a:prstGeom prst="rect">
            <a:avLst/>
          </a:prstGeom>
          <a:solidFill>
            <a:srgbClr val="1A5276"/>
          </a:solidFill>
          <a:ln w="12700">
            <a:solidFill>
              <a:srgbClr val="1A5276"/>
            </a:solidFill>
            <a:prstDash val="solid"/>
          </a:ln>
          <a:effectLst>
            <a:outerShdw sx="100000" sy="100000" kx="0" ky="0" algn="bl" rotWithShape="0" blurRad="101600" dist="38100" dir="8100000">
              <a:srgbClr val="000000">
                <a:alpha val="10000"/>
              </a:srgbClr>
            </a:outerShdw>
          </a:effectLst>
        </p:spPr>
      </p:sp>
      <p:sp>
        <p:nvSpPr>
          <p:cNvPr id="19" name="Shape 11"/>
          <p:cNvSpPr/>
          <p:nvPr/>
        </p:nvSpPr>
        <p:spPr>
          <a:xfrm>
            <a:off x="411480" y="4005072"/>
            <a:ext cx="91440" cy="329184"/>
          </a:xfrm>
          <a:prstGeom prst="rect">
            <a:avLst/>
          </a:prstGeom>
          <a:solidFill>
            <a:srgbClr val="F4A261"/>
          </a:solidFill>
          <a:ln w="12700">
            <a:solidFill>
              <a:srgbClr val="F4A261"/>
            </a:solidFill>
            <a:prstDash val="solid"/>
          </a:ln>
        </p:spPr>
      </p:sp>
      <p:pic>
        <p:nvPicPr>
          <p:cNvPr id="20" name="Image 6" descr="preencoded.png">    </p:cNvPr>
          <p:cNvPicPr>
            <a:picLocks noChangeAspect="1"/>
          </p:cNvPicPr>
          <p:nvPr/>
        </p:nvPicPr>
        <p:blipFill>
          <a:blip r:embed="rId7"/>
          <a:stretch>
            <a:fillRect/>
          </a:stretch>
        </p:blipFill>
        <p:spPr>
          <a:xfrm>
            <a:off x="594360" y="4059936"/>
            <a:ext cx="201168" cy="201168"/>
          </a:xfrm>
          <a:prstGeom prst="rect">
            <a:avLst/>
          </a:prstGeom>
        </p:spPr>
      </p:pic>
      <p:sp>
        <p:nvSpPr>
          <p:cNvPr id="21" name="Text 12"/>
          <p:cNvSpPr/>
          <p:nvPr/>
        </p:nvSpPr>
        <p:spPr>
          <a:xfrm>
            <a:off x="914400" y="4041648"/>
            <a:ext cx="7589520" cy="256032"/>
          </a:xfrm>
          <a:prstGeom prst="rect">
            <a:avLst/>
          </a:prstGeom>
          <a:noFill/>
          <a:ln/>
        </p:spPr>
        <p:txBody>
          <a:bodyPr wrap="square" lIns="0" tIns="0" rIns="0" bIns="0" rtlCol="0" anchor="ctr"/>
          <a:lstStyle/>
          <a:p>
            <a:pPr indent="0" marL="0">
              <a:buNone/>
            </a:pPr>
            <a:r>
              <a:rPr lang="en-US" sz="1000" b="1" dirty="0">
                <a:solidFill>
                  <a:srgbClr val="FFFFFF"/>
                </a:solidFill>
              </a:rPr>
              <a:t>Proxima sesion: Mie 29 de abril · 18:00-21:00 h  ·  T5 Pandas: merge, groupby, nulos, lectura de archivos</a:t>
            </a:r>
            <a:endParaRPr lang="en-US" sz="1000" dirty="0"/>
          </a:p>
        </p:txBody>
      </p:sp>
      <p:sp>
        <p:nvSpPr>
          <p:cNvPr id="22" name="Text 13"/>
          <p:cNvSpPr/>
          <p:nvPr/>
        </p:nvSpPr>
        <p:spPr>
          <a:xfrm>
            <a:off x="274320" y="4462272"/>
            <a:ext cx="8595360" cy="256032"/>
          </a:xfrm>
          <a:prstGeom prst="rect">
            <a:avLst/>
          </a:prstGeom>
          <a:noFill/>
          <a:ln/>
        </p:spPr>
        <p:txBody>
          <a:bodyPr wrap="square" lIns="0" tIns="0" rIns="0" bIns="0" rtlCol="0" anchor="ctr"/>
          <a:lstStyle/>
          <a:p>
            <a:pPr algn="ctr" indent="0" marL="0">
              <a:buNone/>
            </a:pPr>
            <a:r>
              <a:rPr lang="en-US" sz="900" dirty="0">
                <a:solidFill>
                  <a:srgbClr val="8FA3B1"/>
                </a:solidFill>
              </a:rPr>
              <a:t>Facultad de Ciencias · UNAM  ·  Diplomado ML en Seguros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2026-04-24T17:59:25Z</dcterms:created>
  <dcterms:modified xsi:type="dcterms:W3CDTF">2026-04-24T17:59:25Z</dcterms:modified>
</cp:coreProperties>
</file>